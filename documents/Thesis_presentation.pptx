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63">
  <p:sldMasterIdLst>
    <p:sldMasterId id="2147483660" r:id="rId1"/>
    <p:sldMasterId id="2147483672" r:id="rId2"/>
  </p:sldMasterIdLst>
  <p:notesMasterIdLst>
    <p:notesMasterId r:id="rId61"/>
  </p:notesMasterIdLst>
  <p:handoutMasterIdLst>
    <p:handoutMasterId r:id="rId62"/>
  </p:handoutMasterIdLst>
  <p:sldIdLst>
    <p:sldId id="256" r:id="rId3"/>
    <p:sldId id="391" r:id="rId4"/>
    <p:sldId id="396" r:id="rId5"/>
    <p:sldId id="469" r:id="rId6"/>
    <p:sldId id="392" r:id="rId7"/>
    <p:sldId id="471" r:id="rId8"/>
    <p:sldId id="394" r:id="rId9"/>
    <p:sldId id="463" r:id="rId10"/>
    <p:sldId id="462" r:id="rId11"/>
    <p:sldId id="430" r:id="rId12"/>
    <p:sldId id="431" r:id="rId13"/>
    <p:sldId id="435" r:id="rId14"/>
    <p:sldId id="441" r:id="rId15"/>
    <p:sldId id="472" r:id="rId16"/>
    <p:sldId id="467" r:id="rId17"/>
    <p:sldId id="473" r:id="rId18"/>
    <p:sldId id="464" r:id="rId19"/>
    <p:sldId id="470" r:id="rId20"/>
    <p:sldId id="453" r:id="rId21"/>
    <p:sldId id="449" r:id="rId22"/>
    <p:sldId id="451" r:id="rId23"/>
    <p:sldId id="452" r:id="rId24"/>
    <p:sldId id="455" r:id="rId25"/>
    <p:sldId id="468" r:id="rId26"/>
    <p:sldId id="402" r:id="rId27"/>
    <p:sldId id="412" r:id="rId28"/>
    <p:sldId id="415" r:id="rId29"/>
    <p:sldId id="411" r:id="rId30"/>
    <p:sldId id="458" r:id="rId31"/>
    <p:sldId id="465" r:id="rId32"/>
    <p:sldId id="424" r:id="rId33"/>
    <p:sldId id="459" r:id="rId34"/>
    <p:sldId id="460" r:id="rId35"/>
    <p:sldId id="420" r:id="rId36"/>
    <p:sldId id="422" r:id="rId37"/>
    <p:sldId id="423" r:id="rId38"/>
    <p:sldId id="426" r:id="rId39"/>
    <p:sldId id="433" r:id="rId40"/>
    <p:sldId id="432" r:id="rId41"/>
    <p:sldId id="439" r:id="rId42"/>
    <p:sldId id="466" r:id="rId43"/>
    <p:sldId id="461" r:id="rId44"/>
    <p:sldId id="436" r:id="rId45"/>
    <p:sldId id="437" r:id="rId46"/>
    <p:sldId id="438" r:id="rId47"/>
    <p:sldId id="446" r:id="rId48"/>
    <p:sldId id="445" r:id="rId49"/>
    <p:sldId id="444" r:id="rId50"/>
    <p:sldId id="454" r:id="rId51"/>
    <p:sldId id="457" r:id="rId52"/>
    <p:sldId id="405" r:id="rId53"/>
    <p:sldId id="404" r:id="rId54"/>
    <p:sldId id="408" r:id="rId55"/>
    <p:sldId id="410" r:id="rId56"/>
    <p:sldId id="447" r:id="rId57"/>
    <p:sldId id="421" r:id="rId58"/>
    <p:sldId id="425" r:id="rId59"/>
    <p:sldId id="427" r:id="rId6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jid" initials="m" lastIdx="1" clrIdx="0">
    <p:extLst>
      <p:ext uri="{19B8F6BF-5375-455C-9EA6-DF929625EA0E}">
        <p15:presenceInfo xmlns:p15="http://schemas.microsoft.com/office/powerpoint/2012/main" userId="majid"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9582"/>
    <a:srgbClr val="2842AE"/>
    <a:srgbClr val="BD867C"/>
    <a:srgbClr val="61D6FF"/>
    <a:srgbClr val="B9EDFF"/>
    <a:srgbClr val="66FFCC"/>
    <a:srgbClr val="4861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12" autoAdjust="0"/>
    <p:restoredTop sz="95052" autoAdjust="0"/>
  </p:normalViewPr>
  <p:slideViewPr>
    <p:cSldViewPr>
      <p:cViewPr>
        <p:scale>
          <a:sx n="100" d="100"/>
          <a:sy n="100" d="100"/>
        </p:scale>
        <p:origin x="2148" y="28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61"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6860E3-773C-4F8B-9D69-9A4772CDB789}" type="datetimeFigureOut">
              <a:rPr lang="en-US" smtClean="0"/>
              <a:t>8/13/2024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FE9F82D-DAF4-4134-9F1E-22C394080253}" type="slidenum">
              <a:rPr lang="en-US" smtClean="0"/>
              <a:t>‹#›</a:t>
            </a:fld>
            <a:endParaRPr lang="en-US"/>
          </a:p>
        </p:txBody>
      </p:sp>
    </p:spTree>
    <p:extLst>
      <p:ext uri="{BB962C8B-B14F-4D97-AF65-F5344CB8AC3E}">
        <p14:creationId xmlns:p14="http://schemas.microsoft.com/office/powerpoint/2010/main" val="355346202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EEC136-3EA2-4161-9D14-B64004542BD5}" type="datetimeFigureOut">
              <a:rPr lang="en-US" smtClean="0"/>
              <a:t>8/13/2024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2EBCA6-06A9-4F6C-9A95-1587199EA654}" type="slidenum">
              <a:rPr lang="en-US" smtClean="0"/>
              <a:t>‹#›</a:t>
            </a:fld>
            <a:endParaRPr lang="en-US"/>
          </a:p>
        </p:txBody>
      </p:sp>
    </p:spTree>
    <p:extLst>
      <p:ext uri="{BB962C8B-B14F-4D97-AF65-F5344CB8AC3E}">
        <p14:creationId xmlns:p14="http://schemas.microsoft.com/office/powerpoint/2010/main" val="3676673252"/>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Tree>
    <p:extLst>
      <p:ext uri="{BB962C8B-B14F-4D97-AF65-F5344CB8AC3E}">
        <p14:creationId xmlns:p14="http://schemas.microsoft.com/office/powerpoint/2010/main" val="5241063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265926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603848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730150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33971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9735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62091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055354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3771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409585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21842561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99427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25813053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4776496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11911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3943977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351727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2533365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1918795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12395108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6846656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38058005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26543184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054239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i-FI" b="0" i="0" u="none" baseline="0" dirty="0"/>
              <a:t>[1]	M. S. Hossain Lipu</a:t>
            </a:r>
            <a:r>
              <a:rPr lang="fi-FI" b="0" i="1" u="none" baseline="0" dirty="0"/>
              <a:t> et al.</a:t>
            </a:r>
            <a:r>
              <a:rPr lang="en-US" b="0" i="0" u="none" baseline="0" dirty="0"/>
              <a:t>, "Intelligent algorithms and control strategies for battery management system in electric vehicles: Progress, challenges and future outlook," </a:t>
            </a:r>
            <a:r>
              <a:rPr lang="en-US" b="0" i="1" u="none" baseline="0" dirty="0"/>
              <a:t>Journal of Cleaner Production, </a:t>
            </a:r>
            <a:r>
              <a:rPr lang="nl-NL" b="0" i="0" u="none" baseline="0" dirty="0"/>
              <a:t>vol. 292, p. 126044, 2021/04/10/ 2021, doi: https://doi.org/10.1016/j.jclepro.2021.126044.</a:t>
            </a:r>
          </a:p>
          <a:p>
            <a:endParaRPr lang="en-US" b="0" i="1" u="none" baseline="0" dirty="0"/>
          </a:p>
        </p:txBody>
      </p:sp>
    </p:spTree>
    <p:extLst>
      <p:ext uri="{BB962C8B-B14F-4D97-AF65-F5344CB8AC3E}">
        <p14:creationId xmlns:p14="http://schemas.microsoft.com/office/powerpoint/2010/main" val="4862596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7712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118969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R. </a:t>
            </a:r>
            <a:r>
              <a:rPr lang="en-US" b="0" i="0" u="none" baseline="0" dirty="0" err="1"/>
              <a:t>Chaibi</a:t>
            </a:r>
            <a:r>
              <a:rPr lang="en-US" b="0" i="0" u="none" baseline="0" dirty="0"/>
              <a:t>, and N. E. B. Amara, "Hardware implementation of an algorithm based on </a:t>
            </a:r>
            <a:r>
              <a:rPr lang="en-US" b="0" i="0" u="none" baseline="0" dirty="0" err="1"/>
              <a:t>kalman</a:t>
            </a:r>
            <a:r>
              <a:rPr lang="en-US" b="0" i="0" u="none" baseline="0" dirty="0"/>
              <a:t> </a:t>
            </a:r>
            <a:r>
              <a:rPr lang="en-US" b="0" i="0" u="none" baseline="0" dirty="0" err="1"/>
              <a:t>filtrer</a:t>
            </a:r>
            <a:r>
              <a:rPr lang="en-US" b="0" i="0" u="none" baseline="0" dirty="0"/>
              <a:t> for monitoring low capacity Li-ion batteries," in </a:t>
            </a:r>
            <a:r>
              <a:rPr lang="en-US" b="0" i="1" u="none" baseline="0" dirty="0"/>
              <a:t>2016 7th International Renewable Energy Congress (IREC)</a:t>
            </a:r>
            <a:r>
              <a:rPr lang="en-US" b="0" i="0" u="none" baseline="0" dirty="0"/>
              <a:t>, 2016: IEEE, pp. 1-6. </a:t>
            </a:r>
          </a:p>
          <a:p>
            <a:endParaRPr lang="en-US" b="0" i="1" u="none" baseline="0" dirty="0"/>
          </a:p>
        </p:txBody>
      </p:sp>
    </p:spTree>
    <p:extLst>
      <p:ext uri="{BB962C8B-B14F-4D97-AF65-F5344CB8AC3E}">
        <p14:creationId xmlns:p14="http://schemas.microsoft.com/office/powerpoint/2010/main" val="12212988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15175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N. </a:t>
            </a:r>
            <a:r>
              <a:rPr lang="en-US" b="0" i="0" u="none" baseline="0" dirty="0" err="1"/>
              <a:t>Ghaeminezhad</a:t>
            </a:r>
            <a:r>
              <a:rPr lang="en-US" b="0" i="0" u="none" baseline="0" dirty="0"/>
              <a:t>, Q. Ouyang, X. Hu, G. Xu, and Z. Wang, "Active cell equalization topologies analysis for battery packs: A systematic review," </a:t>
            </a:r>
            <a:r>
              <a:rPr lang="en-US" b="0" i="1" u="none" baseline="0" dirty="0"/>
              <a:t>IEEE Transactions on Power Electronics, </a:t>
            </a:r>
            <a:r>
              <a:rPr lang="en-US" b="0" i="0" u="none" baseline="0" dirty="0"/>
              <a:t>vol. 36, no. 8, pp. 9119-9135, 2021.</a:t>
            </a:r>
          </a:p>
          <a:p>
            <a:endParaRPr lang="en-US" b="0" i="1" u="none" baseline="0" dirty="0"/>
          </a:p>
        </p:txBody>
      </p:sp>
    </p:spTree>
    <p:extLst>
      <p:ext uri="{BB962C8B-B14F-4D97-AF65-F5344CB8AC3E}">
        <p14:creationId xmlns:p14="http://schemas.microsoft.com/office/powerpoint/2010/main" val="8451395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Q. Ouyang, J. Chen, C. Xu, and H. Su, "Cell balancing control for serially connected lithium-ion batteries," in </a:t>
            </a:r>
            <a:r>
              <a:rPr lang="en-US" b="0" i="1" u="none" baseline="0" dirty="0"/>
              <a:t>2016 American control conference (ACC)</a:t>
            </a:r>
            <a:r>
              <a:rPr lang="en-US" b="0" i="0" u="none" baseline="0" dirty="0"/>
              <a:t>, 2016: IEEE, pp. 3095-3100. </a:t>
            </a:r>
          </a:p>
          <a:p>
            <a:endParaRPr lang="en-US" b="0" i="1" u="none" baseline="0" dirty="0"/>
          </a:p>
        </p:txBody>
      </p:sp>
    </p:spTree>
    <p:extLst>
      <p:ext uri="{BB962C8B-B14F-4D97-AF65-F5344CB8AC3E}">
        <p14:creationId xmlns:p14="http://schemas.microsoft.com/office/powerpoint/2010/main" val="16355940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Wei, X. Zhao, and H. Dai, "The application of </a:t>
            </a:r>
            <a:r>
              <a:rPr lang="en-US" b="0" i="0" u="none" baseline="0" dirty="0" err="1"/>
              <a:t>flyback</a:t>
            </a:r>
            <a:r>
              <a:rPr lang="en-US" b="0" i="0" u="none" baseline="0" dirty="0"/>
              <a:t> DC/DC converter in Li-ion batteries active balancing," in </a:t>
            </a:r>
            <a:r>
              <a:rPr lang="en-US" b="0" i="1" u="none" baseline="0" dirty="0"/>
              <a:t>2009 IEEE Vehicle Power and Propulsion Conference</a:t>
            </a:r>
            <a:r>
              <a:rPr lang="en-US" b="0" i="0" u="none" baseline="0" dirty="0"/>
              <a:t>, 2009: IEEE, pp. 1654-1656. </a:t>
            </a:r>
          </a:p>
          <a:p>
            <a:endParaRPr lang="en-US" b="0" i="1" u="none" baseline="0" dirty="0"/>
          </a:p>
        </p:txBody>
      </p:sp>
    </p:spTree>
    <p:extLst>
      <p:ext uri="{BB962C8B-B14F-4D97-AF65-F5344CB8AC3E}">
        <p14:creationId xmlns:p14="http://schemas.microsoft.com/office/powerpoint/2010/main" val="9412390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M. </a:t>
            </a:r>
            <a:r>
              <a:rPr lang="en-US" b="0" i="0" u="none" baseline="0" dirty="0" err="1"/>
              <a:t>Daowd</a:t>
            </a:r>
            <a:r>
              <a:rPr lang="en-US" b="0" i="0" u="none" baseline="0" dirty="0"/>
              <a:t>, M. Antoine, N. Omar, P. Van den </a:t>
            </a:r>
            <a:r>
              <a:rPr lang="en-US" b="0" i="0" u="none" baseline="0" dirty="0" err="1"/>
              <a:t>Bossche</a:t>
            </a:r>
            <a:r>
              <a:rPr lang="en-US" b="0" i="0" u="none" baseline="0" dirty="0"/>
              <a:t>, and J. Van </a:t>
            </a:r>
            <a:r>
              <a:rPr lang="en-US" b="0" i="0" u="none" baseline="0" dirty="0" err="1"/>
              <a:t>Mierlo</a:t>
            </a:r>
            <a:r>
              <a:rPr lang="en-US" b="0" i="0" u="none" baseline="0" dirty="0"/>
              <a:t>, "Single switched capacitor battery balancing system enhancements," </a:t>
            </a:r>
            <a:r>
              <a:rPr lang="en-US" b="0" i="1" u="none" baseline="0" dirty="0"/>
              <a:t>Energies, </a:t>
            </a:r>
            <a:r>
              <a:rPr lang="en-US" b="0" i="0" u="none" baseline="0" dirty="0"/>
              <a:t>vol. 6, no. 4, pp. 2149-2174, 2013.</a:t>
            </a:r>
          </a:p>
          <a:p>
            <a:endParaRPr lang="en-US" b="0" i="1" u="none" baseline="0" dirty="0"/>
          </a:p>
        </p:txBody>
      </p:sp>
    </p:spTree>
    <p:extLst>
      <p:ext uri="{BB962C8B-B14F-4D97-AF65-F5344CB8AC3E}">
        <p14:creationId xmlns:p14="http://schemas.microsoft.com/office/powerpoint/2010/main" val="6871943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26000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830211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57031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510295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13739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Shah, M. </a:t>
            </a:r>
            <a:r>
              <a:rPr lang="en-US" b="0" i="0" u="none" baseline="0" dirty="0" err="1"/>
              <a:t>Murali</a:t>
            </a:r>
            <a:r>
              <a:rPr lang="en-US" b="0" i="0" u="none" baseline="0" dirty="0"/>
              <a:t>, and P. Gandhi, "A practical approach of active cell balancing in a battery management system," in </a:t>
            </a:r>
            <a:r>
              <a:rPr lang="en-US" b="0" i="1" u="none" baseline="0" dirty="0"/>
              <a:t>2018 IEEE International Conference on Power Electronics, Drives and Energy Systems (PEDES)</a:t>
            </a:r>
            <a:r>
              <a:rPr lang="en-US" b="0" i="0" u="none" baseline="0" dirty="0"/>
              <a:t>, 2018: IEEE, pp. 1-6. </a:t>
            </a:r>
          </a:p>
          <a:p>
            <a:r>
              <a:rPr lang="en-US" b="0" i="0" u="none" baseline="0" dirty="0"/>
              <a:t>[2]	</a:t>
            </a:r>
            <a:r>
              <a:rPr lang="en-US" b="0" i="0" u="none" baseline="0" dirty="0" err="1"/>
              <a:t>ti</a:t>
            </a:r>
            <a:r>
              <a:rPr lang="en-US" b="0" i="0" u="none" baseline="0" dirty="0"/>
              <a:t>, "Active chipset reference design guide, reference guide," 2013. [Online]. Available: https://www.ti.com/lit/pdf/sluuas6,.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[3]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0" u="none" baseline="0" dirty="0"/>
          </a:p>
          <a:p>
            <a:endParaRPr lang="en-US" b="0" i="1" u="none" baseline="0" dirty="0"/>
          </a:p>
        </p:txBody>
      </p:sp>
    </p:spTree>
    <p:extLst>
      <p:ext uri="{BB962C8B-B14F-4D97-AF65-F5344CB8AC3E}">
        <p14:creationId xmlns:p14="http://schemas.microsoft.com/office/powerpoint/2010/main" val="612718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389486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0821321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a:p>
            <a:endParaRPr lang="en-US" b="0" i="1" u="none" baseline="0" dirty="0"/>
          </a:p>
        </p:txBody>
      </p:sp>
    </p:spTree>
    <p:extLst>
      <p:ext uri="{BB962C8B-B14F-4D97-AF65-F5344CB8AC3E}">
        <p14:creationId xmlns:p14="http://schemas.microsoft.com/office/powerpoint/2010/main" val="5846007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9756476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7193051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32104773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baseline="-25000" dirty="0"/>
          </a:p>
        </p:txBody>
      </p:sp>
    </p:spTree>
    <p:extLst>
      <p:ext uri="{BB962C8B-B14F-4D97-AF65-F5344CB8AC3E}">
        <p14:creationId xmlns:p14="http://schemas.microsoft.com/office/powerpoint/2010/main" val="203321244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a:p>
            <a:endParaRPr lang="en-US" dirty="0"/>
          </a:p>
        </p:txBody>
      </p:sp>
    </p:spTree>
    <p:extLst>
      <p:ext uri="{BB962C8B-B14F-4D97-AF65-F5344CB8AC3E}">
        <p14:creationId xmlns:p14="http://schemas.microsoft.com/office/powerpoint/2010/main" val="28655774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8179040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37304649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9203525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K. </a:t>
            </a:r>
            <a:r>
              <a:rPr lang="en-US" b="0" i="0" u="none" baseline="0" dirty="0" err="1"/>
              <a:t>Movassagh</a:t>
            </a:r>
            <a:r>
              <a:rPr lang="en-US" b="0" i="0" u="none" baseline="0" dirty="0"/>
              <a:t>, A. Raihan, B. </a:t>
            </a:r>
            <a:r>
              <a:rPr lang="en-US" b="0" i="0" u="none" baseline="0" dirty="0" err="1"/>
              <a:t>Balasingam</a:t>
            </a:r>
            <a:r>
              <a:rPr lang="en-US" b="0" i="0" u="none" baseline="0" dirty="0"/>
              <a:t>, and K. </a:t>
            </a:r>
            <a:r>
              <a:rPr lang="en-US" b="0" i="0" u="none" baseline="0" dirty="0" err="1"/>
              <a:t>Pattipati</a:t>
            </a:r>
            <a:r>
              <a:rPr lang="en-US" b="0" i="0" u="none" baseline="0" dirty="0"/>
              <a:t>, "A Critical Look at Coulomb Counting Approach for State of Charge Estimation in Batteries," </a:t>
            </a:r>
            <a:r>
              <a:rPr lang="en-US" b="0" i="1" u="none" baseline="0" dirty="0"/>
              <a:t>Energies, </a:t>
            </a:r>
            <a:r>
              <a:rPr lang="en-US" b="0" i="0" u="none" baseline="0" dirty="0"/>
              <a:t>vol. 14, no. 14, p. 4074, 2021. [Online]. Available: https://www.mdpi.com/1996-1073/14/14/4074.</a:t>
            </a:r>
          </a:p>
          <a:p>
            <a:endParaRPr lang="en-US" b="0" i="1" u="none" baseline="0" dirty="0"/>
          </a:p>
        </p:txBody>
      </p:sp>
    </p:spTree>
    <p:extLst>
      <p:ext uri="{BB962C8B-B14F-4D97-AF65-F5344CB8AC3E}">
        <p14:creationId xmlns:p14="http://schemas.microsoft.com/office/powerpoint/2010/main" val="13423377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N. Omar, and N. E. B. Amara, "Improved OCV Model of a Li-Ion NMC Battery for Online SOC Estimation Using the Extended Kalman Filter," </a:t>
            </a:r>
            <a:r>
              <a:rPr lang="en-US" b="0" i="1" u="none" baseline="0" dirty="0"/>
              <a:t>Energies, </a:t>
            </a:r>
            <a:r>
              <a:rPr lang="en-US" b="0" i="0" u="none" baseline="0" dirty="0"/>
              <a:t>vol. 10, no. 6, p. 764, 2017. [Online]. Available: https://www.mdpi.com/1996-1073/10/6/764.</a:t>
            </a:r>
          </a:p>
          <a:p>
            <a:endParaRPr lang="en-US" b="0" i="1" u="none" baseline="0" dirty="0"/>
          </a:p>
        </p:txBody>
      </p:sp>
    </p:spTree>
    <p:extLst>
      <p:ext uri="{BB962C8B-B14F-4D97-AF65-F5344CB8AC3E}">
        <p14:creationId xmlns:p14="http://schemas.microsoft.com/office/powerpoint/2010/main" val="219284065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J. Nadeau, M. Dubois, A. Desrochers, and N. Denis, "Ageing estimation of lithium-ion batteries applied to a three-wheel PHEV roadster," in </a:t>
            </a:r>
            <a:r>
              <a:rPr lang="en-US" b="0" i="1" u="none" baseline="0" dirty="0"/>
              <a:t>2013 IEEE Vehicle Power and Propulsion Conference (VPPC)</a:t>
            </a:r>
            <a:r>
              <a:rPr lang="en-US" b="0" i="0" u="none" baseline="0" dirty="0"/>
              <a:t>, 2013: IEEE, pp. 1-6. </a:t>
            </a:r>
          </a:p>
          <a:p>
            <a:endParaRPr lang="en-US" b="0" i="1" u="none" baseline="0" dirty="0"/>
          </a:p>
        </p:txBody>
      </p:sp>
    </p:spTree>
    <p:extLst>
      <p:ext uri="{BB962C8B-B14F-4D97-AF65-F5344CB8AC3E}">
        <p14:creationId xmlns:p14="http://schemas.microsoft.com/office/powerpoint/2010/main" val="226087476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Ding</a:t>
            </a:r>
            <a:r>
              <a:rPr lang="en-US" b="0" i="1" u="none" baseline="0" dirty="0"/>
              <a:t> et al.</a:t>
            </a:r>
            <a:r>
              <a:rPr lang="en-US" b="0" i="0" u="none" baseline="0" dirty="0"/>
              <a:t>, "A novel active equalization topology for series-connected lithium-ion battery packs," </a:t>
            </a:r>
            <a:r>
              <a:rPr lang="en-US" b="0" i="1" u="none" baseline="0" dirty="0"/>
              <a:t>IEEE Transactions on Industry Applications, </a:t>
            </a:r>
            <a:r>
              <a:rPr lang="en-US" b="0" i="0" u="none" baseline="0" dirty="0"/>
              <a:t>vol. 56, no. 6, pp. 6892-6903, 2020.</a:t>
            </a:r>
          </a:p>
          <a:p>
            <a:endParaRPr lang="en-US" b="0" i="1" u="none" baseline="0" dirty="0"/>
          </a:p>
        </p:txBody>
      </p:sp>
    </p:spTree>
    <p:extLst>
      <p:ext uri="{BB962C8B-B14F-4D97-AF65-F5344CB8AC3E}">
        <p14:creationId xmlns:p14="http://schemas.microsoft.com/office/powerpoint/2010/main" val="306472553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2165661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223324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58834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4217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2F33C8-C791-4D5C-A762-F1444BAB6895}"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3DD26C-48B8-45C9-95EB-0EA6E3001BE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79586F-0E80-4B87-99A0-AC67FF591324}"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411467-27C9-4EF3-A44B-DA78076DC202}"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AD91F66-80B8-4A19-B3B6-8291C1CA85B4}" type="datetime1">
              <a:rPr lang="en-US" smtClean="0"/>
              <a:t>8/13/2024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E7606D0-D078-44A0-89CE-A2CEC3D33077}" type="datetime1">
              <a:rPr lang="en-US" smtClean="0"/>
              <a:t>8/13/2024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8D3E4-BCCE-4F4E-9DEF-708980C29233}" type="datetime1">
              <a:rPr lang="en-US" smtClean="0"/>
              <a:t>8/13/2024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B8D7E03-6B66-491F-9181-D81578D55D63}"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A99FA1F-D7CC-4837-8992-E30AF8B71F8D}"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90075E-631E-4B85-B7A9-78F4247B9156}"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9BF593-2376-4A79-8724-50302707B81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5" name="Group 24"/>
          <p:cNvGrpSpPr/>
          <p:nvPr/>
        </p:nvGrpSpPr>
        <p:grpSpPr>
          <a:xfrm>
            <a:off x="203200" y="0"/>
            <a:ext cx="3778250" cy="6858001"/>
            <a:chOff x="203200" y="0"/>
            <a:chExt cx="3778250" cy="6858001"/>
          </a:xfrm>
        </p:grpSpPr>
        <p:sp>
          <p:nvSpPr>
            <p:cNvPr id="14" name="Freeform 6"/>
            <p:cNvSpPr/>
            <p:nvPr/>
          </p:nvSpPr>
          <p:spPr bwMode="auto">
            <a:xfrm>
              <a:off x="641350" y="0"/>
              <a:ext cx="1365250" cy="3971925"/>
            </a:xfrm>
            <a:custGeom>
              <a:avLst/>
              <a:gdLst/>
              <a:ahLst/>
              <a:cxnLst/>
              <a:rect l="0" t="0" r="r" b="b"/>
              <a:pathLst>
                <a:path w="860" h="2502">
                  <a:moveTo>
                    <a:pt x="0" y="2445"/>
                  </a:moveTo>
                  <a:lnTo>
                    <a:pt x="228" y="2502"/>
                  </a:lnTo>
                  <a:lnTo>
                    <a:pt x="860" y="0"/>
                  </a:lnTo>
                  <a:lnTo>
                    <a:pt x="620" y="0"/>
                  </a:lnTo>
                  <a:lnTo>
                    <a:pt x="0" y="2445"/>
                  </a:lnTo>
                  <a:close/>
                </a:path>
              </a:pathLst>
            </a:custGeom>
            <a:solidFill>
              <a:schemeClr val="accent1"/>
            </a:solidFill>
            <a:ln>
              <a:noFill/>
            </a:ln>
          </p:spPr>
        </p:sp>
        <p:sp>
          <p:nvSpPr>
            <p:cNvPr id="15" name="Freeform 7"/>
            <p:cNvSpPr/>
            <p:nvPr/>
          </p:nvSpPr>
          <p:spPr bwMode="auto">
            <a:xfrm>
              <a:off x="203200" y="0"/>
              <a:ext cx="1336675" cy="3862388"/>
            </a:xfrm>
            <a:custGeom>
              <a:avLst/>
              <a:gdLst/>
              <a:ahLst/>
              <a:cxnLst/>
              <a:rect l="0" t="0" r="r" b="b"/>
              <a:pathLst>
                <a:path w="842" h="2433">
                  <a:moveTo>
                    <a:pt x="842" y="0"/>
                  </a:moveTo>
                  <a:lnTo>
                    <a:pt x="602" y="0"/>
                  </a:lnTo>
                  <a:lnTo>
                    <a:pt x="0" y="2376"/>
                  </a:lnTo>
                  <a:lnTo>
                    <a:pt x="228" y="2433"/>
                  </a:lnTo>
                  <a:lnTo>
                    <a:pt x="842" y="0"/>
                  </a:lnTo>
                  <a:close/>
                </a:path>
              </a:pathLst>
            </a:custGeom>
            <a:solidFill>
              <a:schemeClr val="tx1">
                <a:lumMod val="65000"/>
                <a:lumOff val="35000"/>
              </a:schemeClr>
            </a:solidFill>
            <a:ln>
              <a:noFill/>
            </a:ln>
          </p:spPr>
        </p:sp>
        <p:sp>
          <p:nvSpPr>
            <p:cNvPr id="16" name="Freeform 8"/>
            <p:cNvSpPr/>
            <p:nvPr/>
          </p:nvSpPr>
          <p:spPr bwMode="auto">
            <a:xfrm>
              <a:off x="207963" y="3776663"/>
              <a:ext cx="1936750" cy="3081338"/>
            </a:xfrm>
            <a:custGeom>
              <a:avLst/>
              <a:gdLst/>
              <a:ahLst/>
              <a:cxnLst/>
              <a:rect l="0" t="0" r="r" b="b"/>
              <a:pathLst>
                <a:path w="1220" h="1941">
                  <a:moveTo>
                    <a:pt x="0" y="0"/>
                  </a:moveTo>
                  <a:lnTo>
                    <a:pt x="1166" y="1941"/>
                  </a:lnTo>
                  <a:lnTo>
                    <a:pt x="1220" y="1941"/>
                  </a:lnTo>
                  <a:lnTo>
                    <a:pt x="0" y="0"/>
                  </a:lnTo>
                  <a:close/>
                </a:path>
              </a:pathLst>
            </a:custGeom>
            <a:solidFill>
              <a:schemeClr val="tx1">
                <a:lumMod val="85000"/>
                <a:lumOff val="15000"/>
              </a:schemeClr>
            </a:solidFill>
            <a:ln>
              <a:noFill/>
            </a:ln>
          </p:spPr>
        </p:sp>
        <p:sp>
          <p:nvSpPr>
            <p:cNvPr id="20" name="Freeform 9"/>
            <p:cNvSpPr/>
            <p:nvPr/>
          </p:nvSpPr>
          <p:spPr bwMode="auto">
            <a:xfrm>
              <a:off x="646113" y="3886200"/>
              <a:ext cx="2373313" cy="2971800"/>
            </a:xfrm>
            <a:custGeom>
              <a:avLst/>
              <a:gdLst/>
              <a:ahLst/>
              <a:cxnLst/>
              <a:rect l="0" t="0" r="r" b="b"/>
              <a:pathLst>
                <a:path w="1495" h="1872">
                  <a:moveTo>
                    <a:pt x="1495" y="1872"/>
                  </a:moveTo>
                  <a:lnTo>
                    <a:pt x="0" y="0"/>
                  </a:lnTo>
                  <a:lnTo>
                    <a:pt x="1442" y="1872"/>
                  </a:lnTo>
                  <a:lnTo>
                    <a:pt x="1495" y="1872"/>
                  </a:lnTo>
                  <a:close/>
                </a:path>
              </a:pathLst>
            </a:custGeom>
            <a:solidFill>
              <a:schemeClr val="accent1">
                <a:lumMod val="50000"/>
              </a:schemeClr>
            </a:solidFill>
            <a:ln>
              <a:noFill/>
            </a:ln>
          </p:spPr>
        </p:sp>
        <p:sp>
          <p:nvSpPr>
            <p:cNvPr id="21" name="Freeform 10"/>
            <p:cNvSpPr/>
            <p:nvPr/>
          </p:nvSpPr>
          <p:spPr bwMode="auto">
            <a:xfrm>
              <a:off x="641350" y="3881438"/>
              <a:ext cx="3340100" cy="2976563"/>
            </a:xfrm>
            <a:custGeom>
              <a:avLst/>
              <a:gdLst/>
              <a:ahLst/>
              <a:cxnLst/>
              <a:rect l="0" t="0" r="r" b="b"/>
              <a:pathLst>
                <a:path w="2104" h="1875">
                  <a:moveTo>
                    <a:pt x="0" y="0"/>
                  </a:moveTo>
                  <a:lnTo>
                    <a:pt x="3" y="3"/>
                  </a:lnTo>
                  <a:lnTo>
                    <a:pt x="1498" y="1875"/>
                  </a:lnTo>
                  <a:lnTo>
                    <a:pt x="2104" y="1875"/>
                  </a:lnTo>
                  <a:lnTo>
                    <a:pt x="228" y="57"/>
                  </a:lnTo>
                  <a:lnTo>
                    <a:pt x="0" y="0"/>
                  </a:lnTo>
                  <a:close/>
                </a:path>
              </a:pathLst>
            </a:custGeom>
            <a:solidFill>
              <a:schemeClr val="accent1">
                <a:lumMod val="75000"/>
              </a:schemeClr>
            </a:solidFill>
            <a:ln>
              <a:noFill/>
            </a:ln>
          </p:spPr>
        </p:sp>
        <p:sp>
          <p:nvSpPr>
            <p:cNvPr id="22" name="Freeform 11"/>
            <p:cNvSpPr/>
            <p:nvPr/>
          </p:nvSpPr>
          <p:spPr bwMode="auto">
            <a:xfrm>
              <a:off x="203200" y="3771900"/>
              <a:ext cx="2660650" cy="3086100"/>
            </a:xfrm>
            <a:custGeom>
              <a:avLst/>
              <a:gdLst/>
              <a:ahLst/>
              <a:cxnLst/>
              <a:rect l="0" t="0" r="r" b="b"/>
              <a:pathLst>
                <a:path w="1676" h="1944">
                  <a:moveTo>
                    <a:pt x="1676" y="1944"/>
                  </a:moveTo>
                  <a:lnTo>
                    <a:pt x="264" y="111"/>
                  </a:lnTo>
                  <a:lnTo>
                    <a:pt x="225" y="60"/>
                  </a:lnTo>
                  <a:lnTo>
                    <a:pt x="228" y="60"/>
                  </a:lnTo>
                  <a:lnTo>
                    <a:pt x="264" y="111"/>
                  </a:lnTo>
                  <a:lnTo>
                    <a:pt x="234" y="69"/>
                  </a:lnTo>
                  <a:lnTo>
                    <a:pt x="228" y="57"/>
                  </a:lnTo>
                  <a:lnTo>
                    <a:pt x="222" y="54"/>
                  </a:lnTo>
                  <a:lnTo>
                    <a:pt x="0" y="0"/>
                  </a:lnTo>
                  <a:lnTo>
                    <a:pt x="3" y="3"/>
                  </a:lnTo>
                  <a:lnTo>
                    <a:pt x="1223" y="1944"/>
                  </a:lnTo>
                  <a:lnTo>
                    <a:pt x="1676" y="1944"/>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1739673" y="914401"/>
            <a:ext cx="6947127" cy="3488266"/>
          </a:xfrm>
        </p:spPr>
        <p:txBody>
          <a:bodyPr anchor="b">
            <a:normAutofit/>
          </a:bodyPr>
          <a:lstStyle>
            <a:lvl1pPr algn="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924238" y="4402666"/>
            <a:ext cx="5762563" cy="1364531"/>
          </a:xfrm>
        </p:spPr>
        <p:txBody>
          <a:bodyPr anchor="t">
            <a:normAutofit/>
          </a:bodyPr>
          <a:lstStyle>
            <a:lvl1pPr marL="0" indent="0" algn="r">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325773" y="6117336"/>
            <a:ext cx="857473" cy="365125"/>
          </a:xfrm>
        </p:spPr>
        <p:txBody>
          <a:bodyPr/>
          <a:lstStyle/>
          <a:p>
            <a:fld id="{9BC887E4-74DD-469A-BB68-5D653A4964D8}" type="datetime1">
              <a:rPr lang="en-US" smtClean="0"/>
              <a:t>8/13/2024</a:t>
            </a:fld>
            <a:endParaRPr lang="en-US"/>
          </a:p>
        </p:txBody>
      </p:sp>
      <p:sp>
        <p:nvSpPr>
          <p:cNvPr id="5" name="Footer Placeholder 4"/>
          <p:cNvSpPr>
            <a:spLocks noGrp="1"/>
          </p:cNvSpPr>
          <p:nvPr>
            <p:ph type="ftr" sz="quarter" idx="11"/>
          </p:nvPr>
        </p:nvSpPr>
        <p:spPr>
          <a:xfrm>
            <a:off x="3623733" y="6117336"/>
            <a:ext cx="3609438" cy="365125"/>
          </a:xfrm>
        </p:spPr>
        <p:txBody>
          <a:bodyPr/>
          <a:lstStyle/>
          <a:p>
            <a:endParaRPr lang="en-US"/>
          </a:p>
        </p:txBody>
      </p:sp>
      <p:sp>
        <p:nvSpPr>
          <p:cNvPr id="6" name="Slide Number Placeholder 5"/>
          <p:cNvSpPr>
            <a:spLocks noGrp="1"/>
          </p:cNvSpPr>
          <p:nvPr>
            <p:ph type="sldNum" sz="quarter" idx="12"/>
          </p:nvPr>
        </p:nvSpPr>
        <p:spPr>
          <a:xfrm>
            <a:off x="8275320" y="6117336"/>
            <a:ext cx="411480" cy="365125"/>
          </a:xfrm>
        </p:spPr>
        <p:txBody>
          <a:bodyPr/>
          <a:lstStyle/>
          <a:p>
            <a:fld id="{7FC2E40A-4446-4E2B-B9AD-16F559E28E02}" type="slidenum">
              <a:rPr lang="en-US" smtClean="0"/>
              <a:t>‹#›</a:t>
            </a:fld>
            <a:endParaRPr lang="en-US"/>
          </a:p>
        </p:txBody>
      </p:sp>
      <p:sp>
        <p:nvSpPr>
          <p:cNvPr id="23" name="Freeform 12"/>
          <p:cNvSpPr/>
          <p:nvPr/>
        </p:nvSpPr>
        <p:spPr bwMode="auto">
          <a:xfrm>
            <a:off x="203200" y="3771900"/>
            <a:ext cx="361950" cy="90488"/>
          </a:xfrm>
          <a:custGeom>
            <a:avLst/>
            <a:gdLst/>
            <a:ahLst/>
            <a:cxnLst/>
            <a:rect l="0" t="0" r="r" b="b"/>
            <a:pathLst>
              <a:path w="228" h="57">
                <a:moveTo>
                  <a:pt x="228" y="57"/>
                </a:moveTo>
                <a:lnTo>
                  <a:pt x="0" y="0"/>
                </a:lnTo>
                <a:lnTo>
                  <a:pt x="222" y="54"/>
                </a:lnTo>
                <a:lnTo>
                  <a:pt x="228" y="57"/>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3"/>
          <p:cNvSpPr/>
          <p:nvPr/>
        </p:nvSpPr>
        <p:spPr bwMode="auto">
          <a:xfrm>
            <a:off x="560388" y="3867150"/>
            <a:ext cx="61913" cy="80963"/>
          </a:xfrm>
          <a:custGeom>
            <a:avLst/>
            <a:gdLst/>
            <a:ahLst/>
            <a:cxnLst/>
            <a:rect l="0" t="0" r="r" b="b"/>
            <a:pathLst>
              <a:path w="39" h="51">
                <a:moveTo>
                  <a:pt x="0" y="0"/>
                </a:moveTo>
                <a:lnTo>
                  <a:pt x="39" y="51"/>
                </a:lnTo>
                <a:lnTo>
                  <a:pt x="3" y="0"/>
                </a:lnTo>
                <a:lnTo>
                  <a:pt x="0" y="0"/>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Tree>
    <p:extLst>
      <p:ext uri="{BB962C8B-B14F-4D97-AF65-F5344CB8AC3E}">
        <p14:creationId xmlns:p14="http://schemas.microsoft.com/office/powerpoint/2010/main" val="3281991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457201"/>
            <a:ext cx="7704667" cy="1981200"/>
          </a:xfrm>
        </p:spPr>
        <p:txBody>
          <a:bodyPr/>
          <a:lstStyle/>
          <a:p>
            <a:r>
              <a:rPr lang="en-US"/>
              <a:t>Click to edit Master title style</a:t>
            </a:r>
            <a:endParaRPr lang="en-US" dirty="0"/>
          </a:p>
        </p:txBody>
      </p:sp>
      <p:sp>
        <p:nvSpPr>
          <p:cNvPr id="3" name="Content Placeholder 2"/>
          <p:cNvSpPr>
            <a:spLocks noGrp="1"/>
          </p:cNvSpPr>
          <p:nvPr>
            <p:ph idx="1"/>
          </p:nvPr>
        </p:nvSpPr>
        <p:spPr>
          <a:xfrm>
            <a:off x="982133" y="2667000"/>
            <a:ext cx="7704667" cy="333281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344329" y="6108173"/>
            <a:ext cx="857473" cy="365125"/>
          </a:xfrm>
        </p:spPr>
        <p:txBody>
          <a:bodyPr/>
          <a:lstStyle/>
          <a:p>
            <a:fld id="{62708018-F7F3-4C2F-8E03-D84A23E63DCE}" type="datetime1">
              <a:rPr lang="en-US" smtClean="0"/>
              <a:t>8/13/2024</a:t>
            </a:fld>
            <a:endParaRPr lang="en-US"/>
          </a:p>
        </p:txBody>
      </p:sp>
      <p:sp>
        <p:nvSpPr>
          <p:cNvPr id="5" name="Footer Placeholder 4"/>
          <p:cNvSpPr>
            <a:spLocks noGrp="1"/>
          </p:cNvSpPr>
          <p:nvPr>
            <p:ph type="ftr" sz="quarter" idx="11"/>
          </p:nvPr>
        </p:nvSpPr>
        <p:spPr>
          <a:xfrm>
            <a:off x="1972647" y="6108173"/>
            <a:ext cx="5314517" cy="365125"/>
          </a:xfrm>
        </p:spPr>
        <p:txBody>
          <a:bodyPr/>
          <a:lstStyle/>
          <a:p>
            <a:endParaRPr lang="en-US"/>
          </a:p>
        </p:txBody>
      </p:sp>
      <p:sp>
        <p:nvSpPr>
          <p:cNvPr id="6" name="Slide Number Placeholder 5"/>
          <p:cNvSpPr>
            <a:spLocks noGrp="1"/>
          </p:cNvSpPr>
          <p:nvPr>
            <p:ph type="sldNum" sz="quarter" idx="12"/>
          </p:nvPr>
        </p:nvSpPr>
        <p:spPr>
          <a:xfrm>
            <a:off x="8258967" y="6108173"/>
            <a:ext cx="42783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3171549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986995" y="2666998"/>
            <a:ext cx="6699805" cy="2360071"/>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986998" y="5027070"/>
            <a:ext cx="6699802"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F7FD5E-E5D1-419C-9E8E-06AFAA2EACFB}"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273317" y="6116070"/>
            <a:ext cx="41348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128589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685801"/>
            <a:ext cx="7704667"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82133" y="2667000"/>
            <a:ext cx="3739896" cy="336867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946904" y="2667000"/>
            <a:ext cx="3739896" cy="334682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CB3035D-0264-439F-9B8B-A3046626387F}"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120466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329481" y="2658533"/>
            <a:ext cx="3456291"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13523"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61710" y="2667000"/>
            <a:ext cx="3467806"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957266"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C60FB1-91E5-4533-BA34-31E451504F76}" type="datetime1">
              <a:rPr lang="en-US" smtClean="0"/>
              <a:t>8/13/2024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6634068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BE82B9-7741-4AF2-AA70-134028B877B9}" type="datetime1">
              <a:rPr lang="en-US" smtClean="0"/>
              <a:t>8/13/2024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9309219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40CC08-3CB7-4BD3-9E7C-E18358FFE96C}" type="datetime1">
              <a:rPr lang="en-US" smtClean="0"/>
              <a:t>8/13/2024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4781688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1600200"/>
            <a:ext cx="2662534"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947553" y="685800"/>
            <a:ext cx="4681962"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3524" y="2971800"/>
            <a:ext cx="2662534"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536C4-DE95-4406-A21D-864D3C70B6E8}"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296092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2332" y="1752599"/>
            <a:ext cx="4070679"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5697495" y="914400"/>
            <a:ext cx="2461371"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2332" y="3124199"/>
            <a:ext cx="4070679"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E85CCF0-6175-4FE0-A492-6D78E2842D5F}"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477272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3" y="4732865"/>
            <a:ext cx="751599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89975" y="932112"/>
            <a:ext cx="6171065"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3523" y="5299603"/>
            <a:ext cx="751599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93EC261-6863-4192-A663-459CB6E10DFC}" type="datetime1">
              <a:rPr lang="en-US" smtClean="0"/>
              <a:t>8/13/2024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143648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685800"/>
            <a:ext cx="751599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343400"/>
            <a:ext cx="7515992"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C54E06-EA5A-4665-A543-E2AB76215404}"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0112511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598235" y="3428999"/>
            <a:ext cx="6631128"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13523" y="4343400"/>
            <a:ext cx="751599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536A75-F382-4826-A01C-81EB10C62E9C}"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56948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13525" y="3308581"/>
            <a:ext cx="751598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777381"/>
            <a:ext cx="751599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755AF2-B59B-4622-8846-E82064C8BD0D}"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083626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13525" y="3886200"/>
            <a:ext cx="751599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775200"/>
            <a:ext cx="751599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555CE1-366E-4233-AF71-00754A578A3F}"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507402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13525" y="685801"/>
            <a:ext cx="7515991"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13524" y="3505200"/>
            <a:ext cx="7515992"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343400"/>
            <a:ext cx="7515992"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131A79-D5E8-482F-995E-BA8BE9225100}"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218348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32616B-815C-48D7-8254-CE6F277D8EE1}"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5243141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1393" y="685800"/>
            <a:ext cx="1328123"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13524" y="685800"/>
            <a:ext cx="6016373"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F733968-3591-4F01-AE5E-B07C1F3365BA}" type="datetime1">
              <a:rPr lang="en-US" smtClean="0"/>
              <a:t>8/13/2024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39326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fld id="{DD93E8A1-BF70-4AAD-8DED-D83C0E6B392D}" type="datetime1">
              <a:rPr lang="en-US" smtClean="0"/>
              <a:t>8/13/2024</a:t>
            </a:fld>
            <a:endParaRPr lang="en-US"/>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endParaRPr lang="en-US"/>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fld id="{7FC2E40A-4446-4E2B-B9AD-16F559E28E02}"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4" name="Group 13"/>
          <p:cNvGrpSpPr/>
          <p:nvPr/>
        </p:nvGrpSpPr>
        <p:grpSpPr>
          <a:xfrm>
            <a:off x="0" y="0"/>
            <a:ext cx="2132013" cy="6858001"/>
            <a:chOff x="0" y="0"/>
            <a:chExt cx="2132013" cy="6858001"/>
          </a:xfrm>
        </p:grpSpPr>
        <p:sp>
          <p:nvSpPr>
            <p:cNvPr id="15" name="Freeform 6"/>
            <p:cNvSpPr/>
            <p:nvPr/>
          </p:nvSpPr>
          <p:spPr bwMode="auto">
            <a:xfrm>
              <a:off x="0" y="0"/>
              <a:ext cx="1073150" cy="5291138"/>
            </a:xfrm>
            <a:custGeom>
              <a:avLst/>
              <a:gdLst/>
              <a:ahLst/>
              <a:cxnLst/>
              <a:rect l="0" t="0" r="r" b="b"/>
              <a:pathLst>
                <a:path w="676" h="3333">
                  <a:moveTo>
                    <a:pt x="0" y="3132"/>
                  </a:moveTo>
                  <a:lnTo>
                    <a:pt x="0" y="3312"/>
                  </a:lnTo>
                  <a:lnTo>
                    <a:pt x="126" y="3333"/>
                  </a:lnTo>
                  <a:lnTo>
                    <a:pt x="676" y="0"/>
                  </a:lnTo>
                  <a:lnTo>
                    <a:pt x="514" y="0"/>
                  </a:lnTo>
                  <a:lnTo>
                    <a:pt x="0" y="3132"/>
                  </a:lnTo>
                  <a:close/>
                </a:path>
              </a:pathLst>
            </a:custGeom>
            <a:solidFill>
              <a:schemeClr val="accent1"/>
            </a:solidFill>
            <a:ln>
              <a:noFill/>
            </a:ln>
          </p:spPr>
        </p:sp>
        <p:sp>
          <p:nvSpPr>
            <p:cNvPr id="16" name="Freeform 7"/>
            <p:cNvSpPr/>
            <p:nvPr/>
          </p:nvSpPr>
          <p:spPr bwMode="auto">
            <a:xfrm>
              <a:off x="0" y="0"/>
              <a:ext cx="758825" cy="4624388"/>
            </a:xfrm>
            <a:custGeom>
              <a:avLst/>
              <a:gdLst/>
              <a:ahLst/>
              <a:cxnLst/>
              <a:rect l="0" t="0" r="r" b="b"/>
              <a:pathLst>
                <a:path w="478" h="2913">
                  <a:moveTo>
                    <a:pt x="478" y="0"/>
                  </a:moveTo>
                  <a:lnTo>
                    <a:pt x="318" y="0"/>
                  </a:lnTo>
                  <a:lnTo>
                    <a:pt x="0" y="1938"/>
                  </a:lnTo>
                  <a:lnTo>
                    <a:pt x="0" y="2913"/>
                  </a:lnTo>
                  <a:lnTo>
                    <a:pt x="478" y="0"/>
                  </a:lnTo>
                  <a:close/>
                </a:path>
              </a:pathLst>
            </a:custGeom>
            <a:solidFill>
              <a:schemeClr val="tx1">
                <a:lumMod val="65000"/>
                <a:lumOff val="35000"/>
              </a:schemeClr>
            </a:solidFill>
            <a:ln>
              <a:noFill/>
            </a:ln>
          </p:spPr>
        </p:sp>
        <p:sp>
          <p:nvSpPr>
            <p:cNvPr id="17" name="Freeform 8"/>
            <p:cNvSpPr/>
            <p:nvPr/>
          </p:nvSpPr>
          <p:spPr bwMode="auto">
            <a:xfrm>
              <a:off x="0" y="5662613"/>
              <a:ext cx="906463" cy="1195388"/>
            </a:xfrm>
            <a:custGeom>
              <a:avLst/>
              <a:gdLst/>
              <a:ahLst/>
              <a:cxnLst/>
              <a:rect l="0" t="0" r="r" b="b"/>
              <a:pathLst>
                <a:path w="571" h="753">
                  <a:moveTo>
                    <a:pt x="0" y="0"/>
                  </a:moveTo>
                  <a:lnTo>
                    <a:pt x="0" y="12"/>
                  </a:lnTo>
                  <a:lnTo>
                    <a:pt x="538" y="753"/>
                  </a:lnTo>
                  <a:lnTo>
                    <a:pt x="571" y="753"/>
                  </a:lnTo>
                  <a:lnTo>
                    <a:pt x="0" y="0"/>
                  </a:lnTo>
                  <a:close/>
                </a:path>
              </a:pathLst>
            </a:custGeom>
            <a:solidFill>
              <a:schemeClr val="tx1">
                <a:lumMod val="85000"/>
                <a:lumOff val="15000"/>
              </a:schemeClr>
            </a:solidFill>
            <a:ln>
              <a:noFill/>
            </a:ln>
          </p:spPr>
        </p:sp>
        <p:sp>
          <p:nvSpPr>
            <p:cNvPr id="18" name="Freeform 9"/>
            <p:cNvSpPr/>
            <p:nvPr/>
          </p:nvSpPr>
          <p:spPr bwMode="auto">
            <a:xfrm>
              <a:off x="0" y="5295900"/>
              <a:ext cx="1487488" cy="1562100"/>
            </a:xfrm>
            <a:custGeom>
              <a:avLst/>
              <a:gdLst/>
              <a:ahLst/>
              <a:cxnLst/>
              <a:rect l="0" t="0" r="r" b="b"/>
              <a:pathLst>
                <a:path w="937" h="984">
                  <a:moveTo>
                    <a:pt x="0" y="0"/>
                  </a:moveTo>
                  <a:lnTo>
                    <a:pt x="0" y="3"/>
                  </a:lnTo>
                  <a:lnTo>
                    <a:pt x="901" y="984"/>
                  </a:lnTo>
                  <a:lnTo>
                    <a:pt x="937" y="984"/>
                  </a:lnTo>
                  <a:lnTo>
                    <a:pt x="0" y="0"/>
                  </a:lnTo>
                  <a:close/>
                </a:path>
              </a:pathLst>
            </a:custGeom>
            <a:solidFill>
              <a:schemeClr val="accent1">
                <a:lumMod val="50000"/>
              </a:schemeClr>
            </a:solidFill>
            <a:ln>
              <a:noFill/>
            </a:ln>
          </p:spPr>
        </p:sp>
        <p:sp>
          <p:nvSpPr>
            <p:cNvPr id="19" name="Freeform 10"/>
            <p:cNvSpPr/>
            <p:nvPr/>
          </p:nvSpPr>
          <p:spPr bwMode="auto">
            <a:xfrm>
              <a:off x="0" y="5257800"/>
              <a:ext cx="2132013" cy="1600200"/>
            </a:xfrm>
            <a:custGeom>
              <a:avLst/>
              <a:gdLst/>
              <a:ahLst/>
              <a:cxnLst/>
              <a:rect l="0" t="0" r="r" b="b"/>
              <a:pathLst>
                <a:path w="1343" h="1008">
                  <a:moveTo>
                    <a:pt x="0" y="24"/>
                  </a:moveTo>
                  <a:lnTo>
                    <a:pt x="937" y="1008"/>
                  </a:lnTo>
                  <a:lnTo>
                    <a:pt x="1343" y="1008"/>
                  </a:lnTo>
                  <a:lnTo>
                    <a:pt x="126" y="21"/>
                  </a:lnTo>
                  <a:lnTo>
                    <a:pt x="0" y="0"/>
                  </a:lnTo>
                  <a:lnTo>
                    <a:pt x="0" y="24"/>
                  </a:lnTo>
                  <a:close/>
                </a:path>
              </a:pathLst>
            </a:custGeom>
            <a:solidFill>
              <a:schemeClr val="accent1">
                <a:lumMod val="75000"/>
              </a:schemeClr>
            </a:solidFill>
            <a:ln>
              <a:noFill/>
            </a:ln>
          </p:spPr>
        </p:sp>
        <p:sp>
          <p:nvSpPr>
            <p:cNvPr id="20" name="Freeform 11"/>
            <p:cNvSpPr/>
            <p:nvPr/>
          </p:nvSpPr>
          <p:spPr bwMode="auto">
            <a:xfrm>
              <a:off x="0" y="5357813"/>
              <a:ext cx="1377950" cy="1500188"/>
            </a:xfrm>
            <a:custGeom>
              <a:avLst/>
              <a:gdLst/>
              <a:ahLst/>
              <a:cxnLst/>
              <a:rect l="0" t="0" r="r" b="b"/>
              <a:pathLst>
                <a:path w="868" h="945">
                  <a:moveTo>
                    <a:pt x="0" y="192"/>
                  </a:moveTo>
                  <a:lnTo>
                    <a:pt x="571" y="945"/>
                  </a:lnTo>
                  <a:lnTo>
                    <a:pt x="868" y="945"/>
                  </a:lnTo>
                  <a:lnTo>
                    <a:pt x="0" y="0"/>
                  </a:lnTo>
                  <a:lnTo>
                    <a:pt x="0" y="192"/>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982133" y="457201"/>
            <a:ext cx="7704667" cy="1981200"/>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82134" y="2667000"/>
            <a:ext cx="7704666" cy="335699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358679" y="6116070"/>
            <a:ext cx="85747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5A70397-56CE-487B-B742-7DCBAE992F4C}" type="datetime1">
              <a:rPr lang="en-US" smtClean="0"/>
              <a:t>8/13/2024</a:t>
            </a:fld>
            <a:endParaRPr lang="en-US"/>
          </a:p>
        </p:txBody>
      </p:sp>
      <p:sp>
        <p:nvSpPr>
          <p:cNvPr id="5" name="Footer Placeholder 4"/>
          <p:cNvSpPr>
            <a:spLocks noGrp="1"/>
          </p:cNvSpPr>
          <p:nvPr>
            <p:ph type="ftr" sz="quarter" idx="3"/>
          </p:nvPr>
        </p:nvSpPr>
        <p:spPr>
          <a:xfrm>
            <a:off x="1986997" y="6116070"/>
            <a:ext cx="531451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8273317" y="6116070"/>
            <a:ext cx="41348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FC2E40A-4446-4E2B-B9AD-16F559E28E02}" type="slidenum">
              <a:rPr lang="en-US" smtClean="0"/>
              <a:t>‹#›</a:t>
            </a:fld>
            <a:endParaRPr lang="en-US"/>
          </a:p>
        </p:txBody>
      </p:sp>
    </p:spTree>
    <p:extLst>
      <p:ext uri="{BB962C8B-B14F-4D97-AF65-F5344CB8AC3E}">
        <p14:creationId xmlns:p14="http://schemas.microsoft.com/office/powerpoint/2010/main" val="25016720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hf hdr="0" ftr="0" dt="0"/>
  <p:txStyles>
    <p:titleStyle>
      <a:lvl1pPr algn="ctr" defTabSz="457200" rtl="1" eaLnBrk="1" latinLnBrk="0" hangingPunct="1">
        <a:spcBef>
          <a:spcPct val="0"/>
        </a:spcBef>
        <a:buNone/>
        <a:defRPr sz="4000" kern="1200" cap="none">
          <a:ln w="3175" cmpd="sng">
            <a:noFill/>
          </a:ln>
          <a:solidFill>
            <a:schemeClr val="tx1"/>
          </a:solidFill>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285750" indent="-285750" algn="r" defTabSz="457200" rtl="1"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r" defTabSz="457200" rtl="1"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r" defTabSz="457200" rtl="1"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r" defTabSz="457200" rtl="1"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3.png"/><Relationship Id="rId4" Type="http://schemas.openxmlformats.org/officeDocument/2006/relationships/image" Target="../media/image12.png"/><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21.jpeg"/><Relationship Id="rId7"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10" Type="http://schemas.openxmlformats.org/officeDocument/2006/relationships/image" Target="../media/image3.png"/><Relationship Id="rId4" Type="http://schemas.openxmlformats.org/officeDocument/2006/relationships/image" Target="../media/image22.png"/><Relationship Id="rId9"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emf"/></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emf"/></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1.jpe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2.emf"/><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41.png"/><Relationship Id="rId4" Type="http://schemas.openxmlformats.org/officeDocument/2006/relationships/image" Target="../media/image37.jpeg"/><Relationship Id="rId9"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8" Type="http://schemas.openxmlformats.org/officeDocument/2006/relationships/image" Target="../media/image44.emf"/><Relationship Id="rId3" Type="http://schemas.openxmlformats.org/officeDocument/2006/relationships/image" Target="../media/image3.png"/><Relationship Id="rId7" Type="http://schemas.openxmlformats.org/officeDocument/2006/relationships/image" Target="../media/image43.emf"/><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45.emf"/></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png"/><Relationship Id="rId7"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38.png"/><Relationship Id="rId5" Type="http://schemas.openxmlformats.org/officeDocument/2006/relationships/image" Target="../media/image57.png"/><Relationship Id="rId10" Type="http://schemas.openxmlformats.org/officeDocument/2006/relationships/image" Target="../media/image29.png"/><Relationship Id="rId4" Type="http://schemas.openxmlformats.org/officeDocument/2006/relationships/image" Target="../media/image56.png"/><Relationship Id="rId9" Type="http://schemas.openxmlformats.org/officeDocument/2006/relationships/image" Target="../media/image28.png"/></Relationships>
</file>

<file path=ppt/slides/_rels/slide40.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69.png"/></Relationships>
</file>

<file path=ppt/slides/_rels/slide49.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8.png"/><Relationship Id="rId4" Type="http://schemas.openxmlformats.org/officeDocument/2006/relationships/image" Target="../media/image81.png"/></Relationships>
</file>

<file path=ppt/slides/_rels/slide5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83.jp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5.png"/><Relationship Id="rId4" Type="http://schemas.openxmlformats.org/officeDocument/2006/relationships/image" Target="../media/image84.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86.png"/></Relationships>
</file>

<file path=ppt/slides/_rels/slide56.xml.rels><?xml version="1.0" encoding="UTF-8" standalone="yes"?>
<Relationships xmlns="http://schemas.openxmlformats.org/package/2006/relationships"><Relationship Id="rId3" Type="http://schemas.openxmlformats.org/officeDocument/2006/relationships/image" Target="../media/image87.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88.jp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89.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3"/>
          <p:cNvSpPr>
            <a:spLocks/>
          </p:cNvSpPr>
          <p:nvPr/>
        </p:nvSpPr>
        <p:spPr bwMode="gray">
          <a:xfrm>
            <a:off x="1028700" y="2486098"/>
            <a:ext cx="2019300" cy="1112395"/>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5" name="Freeform 4"/>
          <p:cNvSpPr>
            <a:spLocks/>
          </p:cNvSpPr>
          <p:nvPr/>
        </p:nvSpPr>
        <p:spPr bwMode="gray">
          <a:xfrm rot="10800000">
            <a:off x="6053270" y="1338130"/>
            <a:ext cx="1924050" cy="1147968"/>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6" name="Rectangle 5"/>
          <p:cNvSpPr>
            <a:spLocks noChangeArrowheads="1"/>
          </p:cNvSpPr>
          <p:nvPr/>
        </p:nvSpPr>
        <p:spPr bwMode="gray">
          <a:xfrm>
            <a:off x="1208088" y="1566304"/>
            <a:ext cx="6629400" cy="1832164"/>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همسان‌سازی فعال و سریع پک باتری با استفاده از مبدل دوطرفه با دامنه ولتاژ کاری وسیع و الگوریتم</a:t>
            </a:r>
          </a:p>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بهبودیافته خوشه بندی </a:t>
            </a:r>
            <a:r>
              <a:rPr lang="en-US" sz="2400" b="1" kern="0" dirty="0">
                <a:solidFill>
                  <a:srgbClr val="FFFFFF"/>
                </a:solidFill>
                <a:latin typeface="Times New Roman" panose="02020603050405020304" pitchFamily="18" charset="0"/>
                <a:cs typeface="B Nazanin" pitchFamily="2" charset="-78"/>
              </a:rPr>
              <a:t>PSO-DBSCAN</a:t>
            </a:r>
          </a:p>
        </p:txBody>
      </p:sp>
      <p:sp>
        <p:nvSpPr>
          <p:cNvPr id="7" name="Freeform 6"/>
          <p:cNvSpPr>
            <a:spLocks/>
          </p:cNvSpPr>
          <p:nvPr/>
        </p:nvSpPr>
        <p:spPr bwMode="gray">
          <a:xfrm>
            <a:off x="1073388" y="5180676"/>
            <a:ext cx="2019300" cy="786923"/>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8" name="Freeform 7"/>
          <p:cNvSpPr>
            <a:spLocks/>
          </p:cNvSpPr>
          <p:nvPr/>
        </p:nvSpPr>
        <p:spPr bwMode="gray">
          <a:xfrm rot="10800000">
            <a:off x="6068404" y="4419600"/>
            <a:ext cx="1924050" cy="769620"/>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9" name="Rectangle 8"/>
          <p:cNvSpPr>
            <a:spLocks noChangeArrowheads="1"/>
          </p:cNvSpPr>
          <p:nvPr/>
        </p:nvSpPr>
        <p:spPr bwMode="gray">
          <a:xfrm>
            <a:off x="1227138" y="4571076"/>
            <a:ext cx="6629400" cy="1219200"/>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marL="0" marR="0" lvl="0" indent="0" algn="ctr" defTabSz="914400" rtl="1" eaLnBrk="1" fontAlgn="base" latinLnBrk="0" hangingPunct="1">
              <a:lnSpc>
                <a:spcPct val="100000"/>
              </a:lnSpc>
              <a:spcBef>
                <a:spcPct val="0"/>
              </a:spcBef>
              <a:spcAft>
                <a:spcPct val="0"/>
              </a:spcAft>
              <a:buClrTx/>
              <a:buSzTx/>
              <a:buFontTx/>
              <a:buNone/>
              <a:tabLst/>
              <a:defRPr/>
            </a:pPr>
            <a:r>
              <a:rPr lang="fa-IR" sz="1600" b="1" kern="0" dirty="0">
                <a:solidFill>
                  <a:srgbClr val="FFFFFF"/>
                </a:solidFill>
                <a:latin typeface="Times New Roman" panose="02020603050405020304" pitchFamily="18" charset="0"/>
                <a:cs typeface="B Nazanin" pitchFamily="2" charset="-78"/>
              </a:rPr>
              <a:t>ارائه دهنده: مهدی امیری نسب</a:t>
            </a:r>
            <a:endPar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استاد راهنما: دکتر سید حسین</a:t>
            </a:r>
            <a:r>
              <a:rPr kumimoji="0" lang="fa-IR" sz="16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 پیشگر</a:t>
            </a:r>
            <a:endParaRPr kumimoji="0" lang="en-US"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2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بهمن1401</a:t>
            </a:r>
            <a:endParaRPr kumimoji="0" lang="en-US" sz="1400" b="0"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pic>
        <p:nvPicPr>
          <p:cNvPr id="12" name="Picture 11" descr="پرونده:Azad University logo.png - ویکی‌پدیا، دانشنامهٔ آزاد">
            <a:extLst>
              <a:ext uri="{FF2B5EF4-FFF2-40B4-BE49-F238E27FC236}">
                <a16:creationId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Slide Number Placeholder 3">
            <a:extLst>
              <a:ext uri="{FF2B5EF4-FFF2-40B4-BE49-F238E27FC236}">
                <a16:creationId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30815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پرونده:Azad University logo.png - ویکی‌پدیا، دانشنامهٔ آزاد">
            <a:extLst>
              <a:ext uri="{FF2B5EF4-FFF2-40B4-BE49-F238E27FC236}">
                <a16:creationId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 name="Rounded Rectangle 175">
            <a:extLst>
              <a:ext uri="{FF2B5EF4-FFF2-40B4-BE49-F238E27FC236}">
                <a16:creationId xmlns:a16="http://schemas.microsoft.com/office/drawing/2014/main" id="{51A82317-0D93-4108-A801-C3395CCA75DF}"/>
              </a:ext>
            </a:extLst>
          </p:cNvPr>
          <p:cNvSpPr/>
          <p:nvPr/>
        </p:nvSpPr>
        <p:spPr bwMode="auto">
          <a:xfrm>
            <a:off x="6477000" y="914400"/>
            <a:ext cx="1905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fa-IR"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فهرست</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16" name="AutoShape 5">
            <a:extLst>
              <a:ext uri="{FF2B5EF4-FFF2-40B4-BE49-F238E27FC236}">
                <a16:creationId xmlns:a16="http://schemas.microsoft.com/office/drawing/2014/main"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a:solidFill>
                  <a:srgbClr val="000000"/>
                </a:solidFill>
                <a:latin typeface="Times New Roman" panose="02020603050405020304" pitchFamily="18" charset="0"/>
                <a:cs typeface="B Nazanin" pitchFamily="2" charset="-78"/>
              </a:rPr>
              <a:t>طراحی و پیاده سازی همسان ساز پیشنهادی</a:t>
            </a:r>
            <a:endParaRPr lang="en-US" b="1" dirty="0">
              <a:solidFill>
                <a:srgbClr val="000000"/>
              </a:solidFill>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a16="http://schemas.microsoft.com/office/drawing/2014/main"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 پیشنهادی</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a16="http://schemas.microsoft.com/office/drawing/2014/main"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سازی باتری</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باتری ها</a:t>
            </a:r>
            <a:endParaRPr lang="en-US" b="1" dirty="0">
              <a:solidFill>
                <a:srgbClr val="000000"/>
              </a:solidFill>
              <a:latin typeface="Times New Roman" panose="02020603050405020304" pitchFamily="18" charset="0"/>
              <a:cs typeface="B Nazanin" pitchFamily="2" charset="-78"/>
            </a:endParaRPr>
          </a:p>
        </p:txBody>
      </p:sp>
      <p:grpSp>
        <p:nvGrpSpPr>
          <p:cNvPr id="20" name="Group 9">
            <a:extLst>
              <a:ext uri="{FF2B5EF4-FFF2-40B4-BE49-F238E27FC236}">
                <a16:creationId xmlns:a16="http://schemas.microsoft.com/office/drawing/2014/main"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a16="http://schemas.microsoft.com/office/drawing/2014/main"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a16="http://schemas.microsoft.com/office/drawing/2014/main"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a16="http://schemas.microsoft.com/office/drawing/2014/main"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a16="http://schemas.microsoft.com/office/drawing/2014/main"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a16="http://schemas.microsoft.com/office/drawing/2014/main"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a16="http://schemas.microsoft.com/office/drawing/2014/main"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a16="http://schemas.microsoft.com/office/drawing/2014/main"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a16="http://schemas.microsoft.com/office/drawing/2014/main"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a16="http://schemas.microsoft.com/office/drawing/2014/main"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a16="http://schemas.microsoft.com/office/drawing/2014/main"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a16="http://schemas.microsoft.com/office/drawing/2014/main"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a16="http://schemas.microsoft.com/office/drawing/2014/main"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a16="http://schemas.microsoft.com/office/drawing/2014/main"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a16="http://schemas.microsoft.com/office/drawing/2014/main"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a16="http://schemas.microsoft.com/office/drawing/2014/main"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a16="http://schemas.microsoft.com/office/drawing/2014/main"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a16="http://schemas.microsoft.com/office/drawing/2014/main"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a16="http://schemas.microsoft.com/office/drawing/2014/main"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a16="http://schemas.microsoft.com/office/drawing/2014/main"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a16="http://schemas.microsoft.com/office/drawing/2014/main"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a16="http://schemas.microsoft.com/office/drawing/2014/main"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329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12" descr="5 Things That Affect Your Charging Speed | EVgo"/>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id="{11A20114-C948-4DAF-A269-D7BF1A2ECCA0}"/>
              </a:ext>
            </a:extLst>
          </p:cNvPr>
          <p:cNvSpPr>
            <a:spLocks noChangeArrowheads="1"/>
          </p:cNvSpPr>
          <p:nvPr/>
        </p:nvSpPr>
        <p:spPr bwMode="gray">
          <a:xfrm flipH="1">
            <a:off x="6244699" y="57140"/>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id="{0B1385E1-F22C-4E22-B9F0-ABF9FDBFB523}"/>
              </a:ext>
            </a:extLst>
          </p:cNvPr>
          <p:cNvSpPr>
            <a:spLocks noChangeArrowheads="1"/>
          </p:cNvSpPr>
          <p:nvPr/>
        </p:nvSpPr>
        <p:spPr bwMode="gray">
          <a:xfrm flipH="1">
            <a:off x="4188613" y="57140"/>
            <a:ext cx="2056086"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AutoShape 3">
            <a:extLst>
              <a:ext uri="{FF2B5EF4-FFF2-40B4-BE49-F238E27FC236}">
                <a16:creationId xmlns:a16="http://schemas.microsoft.com/office/drawing/2014/main" id="{1CD00EE2-C4EE-4D69-8F26-AAC81AE4FD2D}"/>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20876701-2968-48DD-B50F-5C9094C03348}"/>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F2243B26-1BE2-43AD-8F71-213A0F7242A7}"/>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id="{8499BA6C-A469-45E7-8896-73165F3CE066}"/>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88B0CAF5-84F0-44BE-BF0F-DBA7B08A51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080A61E5-91DA-486A-AFFC-B76A86A698DD}"/>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id="{4BBC7487-44D3-400B-AF80-552EEB9DBB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Rounded Rectangle 175">
            <a:extLst>
              <a:ext uri="{FF2B5EF4-FFF2-40B4-BE49-F238E27FC236}">
                <a16:creationId xmlns:a16="http://schemas.microsoft.com/office/drawing/2014/main" id="{B38C8568-40F1-4259-922B-CCD5A8161046}"/>
              </a:ext>
            </a:extLst>
          </p:cNvPr>
          <p:cNvSpPr/>
          <p:nvPr/>
        </p:nvSpPr>
        <p:spPr bwMode="auto">
          <a:xfrm>
            <a:off x="7689952" y="938628"/>
            <a:ext cx="1384096" cy="4240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lang="fa-IR" sz="2200" b="1" kern="0" dirty="0">
                <a:solidFill>
                  <a:srgbClr val="FFFFFF"/>
                </a:solidFill>
                <a:latin typeface="Times New Roman" panose="02020603050405020304" pitchFamily="18" charset="0"/>
                <a:cs typeface="B Nazanin" pitchFamily="2" charset="-78"/>
              </a:rPr>
              <a:t>باتری ها</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2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a:t>
            </a:fld>
            <a:endParaRPr lang="fa-IR" sz="1800" dirty="0">
              <a:solidFill>
                <a:schemeClr val="tx1"/>
              </a:solidFill>
              <a:cs typeface="B Lotus" panose="00000400000000000000" pitchFamily="2" charset="-78"/>
            </a:endParaRPr>
          </a:p>
        </p:txBody>
      </p:sp>
      <p:sp>
        <p:nvSpPr>
          <p:cNvPr id="11" name="TextBox 10"/>
          <p:cNvSpPr txBox="1"/>
          <p:nvPr/>
        </p:nvSpPr>
        <p:spPr>
          <a:xfrm>
            <a:off x="6499957" y="4986891"/>
            <a:ext cx="617477" cy="369332"/>
          </a:xfrm>
          <a:prstGeom prst="rect">
            <a:avLst/>
          </a:prstGeom>
          <a:noFill/>
        </p:spPr>
        <p:txBody>
          <a:bodyPr wrap="none" rtlCol="1">
            <a:spAutoFit/>
          </a:bodyPr>
          <a:lstStyle/>
          <a:p>
            <a:r>
              <a:rPr lang="fa-IR" dirty="0">
                <a:cs typeface="B Lotus" panose="00000400000000000000" pitchFamily="2" charset="-78"/>
              </a:rPr>
              <a:t>(الف)</a:t>
            </a:r>
          </a:p>
        </p:txBody>
      </p:sp>
      <p:sp>
        <p:nvSpPr>
          <p:cNvPr id="44" name="TextBox 43"/>
          <p:cNvSpPr txBox="1"/>
          <p:nvPr/>
        </p:nvSpPr>
        <p:spPr>
          <a:xfrm>
            <a:off x="1683168" y="4986891"/>
            <a:ext cx="503664" cy="369332"/>
          </a:xfrm>
          <a:prstGeom prst="rect">
            <a:avLst/>
          </a:prstGeom>
          <a:noFill/>
        </p:spPr>
        <p:txBody>
          <a:bodyPr wrap="none" rtlCol="1">
            <a:spAutoFit/>
          </a:bodyPr>
          <a:lstStyle/>
          <a:p>
            <a:r>
              <a:rPr lang="fa-IR" dirty="0">
                <a:cs typeface="B Lotus" panose="00000400000000000000" pitchFamily="2" charset="-78"/>
              </a:rPr>
              <a:t>(ب)</a:t>
            </a:r>
          </a:p>
        </p:txBody>
      </p:sp>
      <p:graphicFrame>
        <p:nvGraphicFramePr>
          <p:cNvPr id="45" name="Table 44">
            <a:extLst>
              <a:ext uri="{FF2B5EF4-FFF2-40B4-BE49-F238E27FC236}">
                <a16:creationId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1351947245"/>
              </p:ext>
            </p:extLst>
          </p:nvPr>
        </p:nvGraphicFramePr>
        <p:xfrm>
          <a:off x="1683168" y="5953153"/>
          <a:ext cx="5937250" cy="548640"/>
        </p:xfrm>
        <a:graphic>
          <a:graphicData uri="http://schemas.openxmlformats.org/drawingml/2006/table">
            <a:tbl>
              <a:tblPr rtl="1" firstRow="1" firstCol="1" bandRow="1"/>
              <a:tblGrid>
                <a:gridCol w="5937250">
                  <a:extLst>
                    <a:ext uri="{9D8B030D-6E8A-4147-A177-3AD203B41FA5}">
                      <a16:colId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نمونه</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ای از باتری ها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100% و</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شکل (الف) و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80%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(ب) را مشاهده میکنید.</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val="3545091448"/>
                  </a:ext>
                </a:extLst>
              </a:tr>
            </a:tbl>
          </a:graphicData>
        </a:graphic>
      </p:graphicFrame>
      <p:pic>
        <p:nvPicPr>
          <p:cNvPr id="18" name="Picture 17"/>
          <p:cNvPicPr>
            <a:picLocks noChangeAspect="1"/>
          </p:cNvPicPr>
          <p:nvPr/>
        </p:nvPicPr>
        <p:blipFill>
          <a:blip r:embed="rId4"/>
          <a:stretch>
            <a:fillRect/>
          </a:stretch>
        </p:blipFill>
        <p:spPr>
          <a:xfrm>
            <a:off x="215900" y="1833197"/>
            <a:ext cx="8203370" cy="3132568"/>
          </a:xfrm>
          <a:prstGeom prst="rect">
            <a:avLst/>
          </a:prstGeom>
        </p:spPr>
      </p:pic>
    </p:spTree>
    <p:extLst>
      <p:ext uri="{BB962C8B-B14F-4D97-AF65-F5344CB8AC3E}">
        <p14:creationId xmlns:p14="http://schemas.microsoft.com/office/powerpoint/2010/main" val="2573271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29182" y="2002126"/>
            <a:ext cx="6400800" cy="4492619"/>
          </a:xfrm>
          <a:prstGeom prst="rect">
            <a:avLst/>
          </a:prstGeom>
        </p:spPr>
      </p:pic>
      <p:pic>
        <p:nvPicPr>
          <p:cNvPr id="4" name="Picture 3">
            <a:extLst>
              <a:ext uri="{FF2B5EF4-FFF2-40B4-BE49-F238E27FC236}">
                <a16:creationId xmlns:a16="http://schemas.microsoft.com/office/drawing/2014/main" id="{CA4B7323-47E7-4CC4-91B7-36AF4E6EAE28}"/>
              </a:ext>
            </a:extLst>
          </p:cNvPr>
          <p:cNvPicPr>
            <a:picLocks noChangeAspect="1"/>
          </p:cNvPicPr>
          <p:nvPr/>
        </p:nvPicPr>
        <p:blipFill>
          <a:blip r:embed="rId4"/>
          <a:stretch>
            <a:fillRect/>
          </a:stretch>
        </p:blipFill>
        <p:spPr>
          <a:xfrm>
            <a:off x="304800" y="968931"/>
            <a:ext cx="1077212" cy="721184"/>
          </a:xfrm>
          <a:prstGeom prst="rect">
            <a:avLst/>
          </a:prstGeom>
        </p:spPr>
      </p:pic>
      <p:sp>
        <p:nvSpPr>
          <p:cNvPr id="147" name="TextBox 146">
            <a:extLst>
              <a:ext uri="{FF2B5EF4-FFF2-40B4-BE49-F238E27FC236}">
                <a16:creationId xmlns:a16="http://schemas.microsoft.com/office/drawing/2014/main" id="{F43469DC-7F5B-471E-BD74-ED709E621F63}"/>
              </a:ext>
            </a:extLst>
          </p:cNvPr>
          <p:cNvSpPr txBox="1"/>
          <p:nvPr/>
        </p:nvSpPr>
        <p:spPr>
          <a:xfrm>
            <a:off x="6104415" y="1803113"/>
            <a:ext cx="2964274" cy="369332"/>
          </a:xfrm>
          <a:prstGeom prst="rect">
            <a:avLst/>
          </a:prstGeom>
          <a:noFill/>
        </p:spPr>
        <p:txBody>
          <a:bodyPr wrap="none" rtlCol="0">
            <a:spAutoFit/>
          </a:bodyPr>
          <a:lstStyle/>
          <a:p>
            <a:pPr algn="r" rtl="1"/>
            <a:r>
              <a:rPr lang="fa-IR" b="1" dirty="0">
                <a:cs typeface="B Nazanin" panose="00000400000000000000" pitchFamily="2" charset="-78"/>
              </a:rPr>
              <a:t>الزام سیستم مدیریت همسان سازی</a:t>
            </a:r>
          </a:p>
        </p:txBody>
      </p:sp>
      <p:sp>
        <p:nvSpPr>
          <p:cNvPr id="49"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70345"/>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3 اجبار به قطع فرآیندهای شارژ توسط سلول1 در (الف) و دشارژ توسط سلول3 در (ب)</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6"/>
          <a:stretch>
            <a:fillRect/>
          </a:stretch>
        </p:blipFill>
        <p:spPr>
          <a:xfrm>
            <a:off x="685800" y="4713947"/>
            <a:ext cx="715500" cy="946933"/>
          </a:xfrm>
          <a:prstGeom prst="rect">
            <a:avLst/>
          </a:prstGeom>
        </p:spPr>
      </p:pic>
      <p:pic>
        <p:nvPicPr>
          <p:cNvPr id="3" name="Picture 2"/>
          <p:cNvPicPr>
            <a:picLocks noChangeAspect="1"/>
          </p:cNvPicPr>
          <p:nvPr/>
        </p:nvPicPr>
        <p:blipFill>
          <a:blip r:embed="rId7"/>
          <a:stretch>
            <a:fillRect/>
          </a:stretch>
        </p:blipFill>
        <p:spPr>
          <a:xfrm>
            <a:off x="685800" y="2375146"/>
            <a:ext cx="715500" cy="946933"/>
          </a:xfrm>
          <a:prstGeom prst="rect">
            <a:avLst/>
          </a:prstGeom>
        </p:spPr>
      </p:pic>
      <p:sp>
        <p:nvSpPr>
          <p:cNvPr id="33" name="AutoShape 10">
            <a:extLst>
              <a:ext uri="{FF2B5EF4-FFF2-40B4-BE49-F238E27FC236}">
                <a16:creationId xmlns:a16="http://schemas.microsoft.com/office/drawing/2014/main"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a16="http://schemas.microsoft.com/office/drawing/2014/main"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a16="http://schemas.microsoft.com/office/drawing/2014/main"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308257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1258398" y="1417182"/>
            <a:ext cx="5433533" cy="4815247"/>
          </a:xfrm>
          <a:prstGeom prst="rect">
            <a:avLst/>
          </a:prstGeom>
        </p:spPr>
      </p:pic>
      <p:sp>
        <p:nvSpPr>
          <p:cNvPr id="40" name="AutoShape 8">
            <a:extLst>
              <a:ext uri="{FF2B5EF4-FFF2-40B4-BE49-F238E27FC236}">
                <a16:creationId xmlns:a16="http://schemas.microsoft.com/office/drawing/2014/main" id="{8F20B4C9-B3D8-4F53-B706-ABAA7A1E1148}"/>
              </a:ext>
            </a:extLst>
          </p:cNvPr>
          <p:cNvSpPr>
            <a:spLocks noChangeAspect="1" noChangeArrowheads="1"/>
          </p:cNvSpPr>
          <p:nvPr/>
        </p:nvSpPr>
        <p:spPr bwMode="gray">
          <a:xfrm>
            <a:off x="6666177" y="361249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غیر </a:t>
            </a:r>
            <a:r>
              <a:rPr lang="fa-IR" b="1" dirty="0" err="1">
                <a:cs typeface="B Nazanin" panose="00000400000000000000" pitchFamily="2" charset="-78"/>
              </a:rPr>
              <a:t>اتلافی</a:t>
            </a:r>
            <a:r>
              <a:rPr lang="fa-IR" b="1" dirty="0">
                <a:cs typeface="B Nazanin" panose="00000400000000000000" pitchFamily="2" charset="-78"/>
              </a:rPr>
              <a:t> (فعال)</a:t>
            </a:r>
            <a:endParaRPr lang="en-US" b="1" dirty="0">
              <a:solidFill>
                <a:srgbClr val="000000"/>
              </a:solidFill>
              <a:latin typeface="Times New Roman" panose="02020603050405020304" pitchFamily="18" charset="0"/>
              <a:cs typeface="B Nazanin" pitchFamily="2" charset="-78"/>
            </a:endParaRPr>
          </a:p>
        </p:txBody>
      </p:sp>
      <p:sp>
        <p:nvSpPr>
          <p:cNvPr id="36"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8373283" y="2731839"/>
            <a:ext cx="1558261" cy="1540827"/>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8492801" y="2851475"/>
            <a:ext cx="1302398" cy="1269069"/>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4" name="Picture 3">
            <a:extLst>
              <a:ext uri="{FF2B5EF4-FFF2-40B4-BE49-F238E27FC236}">
                <a16:creationId xmlns:a16="http://schemas.microsoft.com/office/drawing/2014/main" id="{CA4B7323-47E7-4CC4-91B7-36AF4E6EAE28}"/>
              </a:ext>
            </a:extLst>
          </p:cNvPr>
          <p:cNvPicPr>
            <a:picLocks noChangeAspect="1"/>
          </p:cNvPicPr>
          <p:nvPr/>
        </p:nvPicPr>
        <p:blipFill>
          <a:blip r:embed="rId4"/>
          <a:stretch>
            <a:fillRect/>
          </a:stretch>
        </p:blipFill>
        <p:spPr>
          <a:xfrm>
            <a:off x="141988" y="915374"/>
            <a:ext cx="1077212" cy="721184"/>
          </a:xfrm>
          <a:prstGeom prst="rect">
            <a:avLst/>
          </a:prstGeom>
        </p:spPr>
      </p:pic>
      <p:sp>
        <p:nvSpPr>
          <p:cNvPr id="147" name="TextBox 146">
            <a:extLst>
              <a:ext uri="{FF2B5EF4-FFF2-40B4-BE49-F238E27FC236}">
                <a16:creationId xmlns:a16="http://schemas.microsoft.com/office/drawing/2014/main" id="{F43469DC-7F5B-471E-BD74-ED709E621F63}"/>
              </a:ext>
            </a:extLst>
          </p:cNvPr>
          <p:cNvSpPr txBox="1"/>
          <p:nvPr/>
        </p:nvSpPr>
        <p:spPr>
          <a:xfrm>
            <a:off x="5562600" y="1803113"/>
            <a:ext cx="3506089" cy="369332"/>
          </a:xfrm>
          <a:prstGeom prst="rect">
            <a:avLst/>
          </a:prstGeom>
          <a:noFill/>
        </p:spPr>
        <p:txBody>
          <a:bodyPr wrap="none" rtlCol="0">
            <a:spAutoFit/>
          </a:bodyPr>
          <a:lstStyle/>
          <a:p>
            <a:pPr algn="r" rtl="1"/>
            <a:r>
              <a:rPr lang="fa-IR" b="1" dirty="0">
                <a:cs typeface="B Nazanin" panose="00000400000000000000" pitchFamily="2" charset="-78"/>
              </a:rPr>
              <a:t>دسته بندی سیستم مدیریت همسان سازی</a:t>
            </a:r>
          </a:p>
        </p:txBody>
      </p:sp>
      <p:sp>
        <p:nvSpPr>
          <p:cNvPr id="1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663515" y="288443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اتلافی</a:t>
            </a:r>
            <a:r>
              <a:rPr lang="fa-IR" b="1" dirty="0">
                <a:cs typeface="B Nazanin" panose="00000400000000000000" pitchFamily="2" charset="-78"/>
              </a:rPr>
              <a:t> (منفعل)</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249898" y="2959794"/>
            <a:ext cx="381000" cy="381000"/>
            <a:chOff x="2078" y="1680"/>
            <a:chExt cx="1615" cy="1615"/>
          </a:xfrm>
        </p:grpSpPr>
        <p:sp>
          <p:nvSpPr>
            <p:cNvPr id="1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id="{90C43403-B77E-474E-A638-C5BD6540DB40}"/>
              </a:ext>
            </a:extLst>
          </p:cNvPr>
          <p:cNvSpPr txBox="1"/>
          <p:nvPr/>
        </p:nvSpPr>
        <p:spPr>
          <a:xfrm>
            <a:off x="7619388" y="6074218"/>
            <a:ext cx="53172" cy="61471"/>
          </a:xfrm>
          <a:prstGeom prst="rect">
            <a:avLst/>
          </a:prstGeom>
          <a:noFill/>
        </p:spPr>
        <p:txBody>
          <a:bodyPr wrap="square" lIns="0" tIns="0" rIns="0" bIns="0" rtlCol="0">
            <a:spAutoFit/>
          </a:bodyPr>
          <a:lstStyle/>
          <a:p>
            <a:endParaRPr lang="en-US" dirty="0"/>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8226635" y="3674700"/>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Rectangle 42">
            <a:extLst>
              <a:ext uri="{FF2B5EF4-FFF2-40B4-BE49-F238E27FC236}">
                <a16:creationId xmlns:a16="http://schemas.microsoft.com/office/drawing/2014/main" id="{C3F19017-216F-4550-A669-620D7BF54535}"/>
              </a:ext>
            </a:extLst>
          </p:cNvPr>
          <p:cNvSpPr/>
          <p:nvPr/>
        </p:nvSpPr>
        <p:spPr>
          <a:xfrm>
            <a:off x="0" y="6356217"/>
            <a:ext cx="7950328"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4 پیش از همسان سازی (الف)</a:t>
            </a:r>
            <a:r>
              <a:rPr lang="fa-IR" dirty="0"/>
              <a:t> </a:t>
            </a:r>
            <a:r>
              <a:rPr lang="fa-IR" dirty="0">
                <a:latin typeface="Times New Roman" panose="02020603050405020304" pitchFamily="18" charset="0"/>
                <a:ea typeface="Calibri" panose="020F0502020204030204" pitchFamily="34" charset="0"/>
                <a:cs typeface="B Lotus" panose="00000400000000000000" pitchFamily="2" charset="-78"/>
              </a:rPr>
              <a:t>همسان سازی </a:t>
            </a:r>
            <a:r>
              <a:rPr lang="fa-IR" dirty="0">
                <a:cs typeface="B Nazanin" panose="00000400000000000000" pitchFamily="2" charset="-78"/>
              </a:rPr>
              <a:t>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همسان سازی </a:t>
            </a:r>
            <a:r>
              <a:rPr lang="fa-IR" dirty="0">
                <a:cs typeface="B Nazanin" panose="00000400000000000000" pitchFamily="2" charset="-78"/>
              </a:rPr>
              <a:t>غیر 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3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a:t>
            </a:fld>
            <a:endParaRPr lang="fa-IR" sz="1800" dirty="0">
              <a:solidFill>
                <a:schemeClr val="tx1"/>
              </a:solidFill>
              <a:cs typeface="B Lotus" panose="00000400000000000000" pitchFamily="2" charset="-78"/>
            </a:endParaRPr>
          </a:p>
        </p:txBody>
      </p:sp>
      <p:sp>
        <p:nvSpPr>
          <p:cNvPr id="50" name="Rounded Rectangle 175">
            <a:extLst>
              <a:ext uri="{FF2B5EF4-FFF2-40B4-BE49-F238E27FC236}">
                <a16:creationId xmlns:a16="http://schemas.microsoft.com/office/drawing/2014/main" id="{5E717F78-E889-43C7-BE28-20218594366D}"/>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51" name="Picture 50" descr="پرونده:Azad University logo.png - ویکی‌پدیا، دانشنامهٔ آزاد">
            <a:extLst>
              <a:ext uri="{FF2B5EF4-FFF2-40B4-BE49-F238E27FC236}">
                <a16:creationId xmlns:a16="http://schemas.microsoft.com/office/drawing/2014/main" id="{CD3C0576-F09C-4280-8B14-1CCFC26E95B7}"/>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3" name="AutoShape 10">
            <a:extLst>
              <a:ext uri="{FF2B5EF4-FFF2-40B4-BE49-F238E27FC236}">
                <a16:creationId xmlns:a16="http://schemas.microsoft.com/office/drawing/2014/main" id="{D6C9540C-B64F-46A9-8B92-EAB21CE36CDE}"/>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54" name="AutoShape 3">
            <a:extLst>
              <a:ext uri="{FF2B5EF4-FFF2-40B4-BE49-F238E27FC236}">
                <a16:creationId xmlns:a16="http://schemas.microsoft.com/office/drawing/2014/main" id="{485B2B8D-A72E-4A69-89E8-541EC8CA44C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57" name="AutoShape 3">
            <a:extLst>
              <a:ext uri="{FF2B5EF4-FFF2-40B4-BE49-F238E27FC236}">
                <a16:creationId xmlns:a16="http://schemas.microsoft.com/office/drawing/2014/main" id="{EF45C0D6-D395-4223-B481-D4FF54657503}"/>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8" name="AutoShape 3">
            <a:extLst>
              <a:ext uri="{FF2B5EF4-FFF2-40B4-BE49-F238E27FC236}">
                <a16:creationId xmlns:a16="http://schemas.microsoft.com/office/drawing/2014/main" id="{A0B0E20F-7FEC-430C-B288-503452C56EBD}"/>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1" name="Rectangle 60">
            <a:extLst>
              <a:ext uri="{FF2B5EF4-FFF2-40B4-BE49-F238E27FC236}">
                <a16:creationId xmlns:a16="http://schemas.microsoft.com/office/drawing/2014/main" id="{7AA3DC7F-EAD5-4970-AC11-56A9269645E3}"/>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2" name="Rectangle 61">
            <a:extLst>
              <a:ext uri="{FF2B5EF4-FFF2-40B4-BE49-F238E27FC236}">
                <a16:creationId xmlns:a16="http://schemas.microsoft.com/office/drawing/2014/main" id="{CF63D6AB-4291-4E90-8A94-4D8D0B518991}"/>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7" name="Rectangle 66">
            <a:extLst>
              <a:ext uri="{FF2B5EF4-FFF2-40B4-BE49-F238E27FC236}">
                <a16:creationId xmlns:a16="http://schemas.microsoft.com/office/drawing/2014/main" id="{2303513B-642F-45E3-9CA3-6690303DB148}"/>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8" name="Rectangle 67">
            <a:extLst>
              <a:ext uri="{FF2B5EF4-FFF2-40B4-BE49-F238E27FC236}">
                <a16:creationId xmlns:a16="http://schemas.microsoft.com/office/drawing/2014/main" id="{77F01E1C-B3E5-47D7-8AFA-D963AF9418D2}"/>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706485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8">
            <a:extLst>
              <a:ext uri="{FF2B5EF4-FFF2-40B4-BE49-F238E27FC236}">
                <a16:creationId xmlns:a16="http://schemas.microsoft.com/office/drawing/2014/main" id="{2F35A0BE-ACAE-464F-966C-4598FD947DFB}"/>
              </a:ext>
            </a:extLst>
          </p:cNvPr>
          <p:cNvSpPr>
            <a:spLocks noChangeArrowheads="1"/>
          </p:cNvSpPr>
          <p:nvPr/>
        </p:nvSpPr>
        <p:spPr bwMode="gray">
          <a:xfrm>
            <a:off x="4208971" y="4041816"/>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err="1">
                <a:cs typeface="B Nazanin" panose="00000400000000000000" pitchFamily="2" charset="-78"/>
              </a:rPr>
              <a:t>غیرمجاور</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id="{1D001561-C43A-44D9-81F9-A023B7BC3B1F}"/>
              </a:ext>
            </a:extLst>
          </p:cNvPr>
          <p:cNvSpPr>
            <a:spLocks noChangeArrowheads="1"/>
          </p:cNvSpPr>
          <p:nvPr/>
        </p:nvSpPr>
        <p:spPr bwMode="gray">
          <a:xfrm>
            <a:off x="4577930" y="2727042"/>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sp>
        <p:nvSpPr>
          <p:cNvPr id="139" name="AutoShape 8">
            <a:extLst>
              <a:ext uri="{FF2B5EF4-FFF2-40B4-BE49-F238E27FC236}">
                <a16:creationId xmlns:a16="http://schemas.microsoft.com/office/drawing/2014/main" id="{AD67BECF-64ED-4C10-BDF8-B54A15D16C17}"/>
              </a:ext>
            </a:extLst>
          </p:cNvPr>
          <p:cNvSpPr>
            <a:spLocks noChangeAspect="1" noChangeArrowheads="1"/>
          </p:cNvSpPr>
          <p:nvPr/>
        </p:nvSpPr>
        <p:spPr bwMode="gray">
          <a:xfrm>
            <a:off x="4595159" y="5378530"/>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 </a:t>
            </a:r>
            <a:r>
              <a:rPr lang="fa-IR" b="1" dirty="0" err="1">
                <a:cs typeface="B Nazanin" panose="00000400000000000000" pitchFamily="2" charset="-78"/>
              </a:rPr>
              <a:t>مسقیم</a:t>
            </a:r>
            <a:endParaRPr lang="en-US" b="1" dirty="0">
              <a:solidFill>
                <a:srgbClr val="000000"/>
              </a:solidFill>
              <a:latin typeface="Times New Roman" panose="02020603050405020304" pitchFamily="18" charset="0"/>
              <a:cs typeface="B Nazanin" pitchFamily="2" charset="-78"/>
            </a:endParaRPr>
          </a:p>
        </p:txBody>
      </p:sp>
      <p:sp>
        <p:nvSpPr>
          <p:cNvPr id="14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a:t>
            </a:fld>
            <a:endParaRPr lang="fa-IR" sz="1800" dirty="0">
              <a:solidFill>
                <a:schemeClr val="tx1"/>
              </a:solidFill>
              <a:cs typeface="B Lotus" panose="00000400000000000000" pitchFamily="2" charset="-78"/>
            </a:endParaRPr>
          </a:p>
        </p:txBody>
      </p:sp>
      <p:pic>
        <p:nvPicPr>
          <p:cNvPr id="149" name="Picture 148">
            <a:extLst>
              <a:ext uri="{FF2B5EF4-FFF2-40B4-BE49-F238E27FC236}">
                <a16:creationId xmlns:a16="http://schemas.microsoft.com/office/drawing/2014/main" id="{E448CBB6-205F-4A19-B760-D7DB914CD91E}"/>
              </a:ext>
            </a:extLst>
          </p:cNvPr>
          <p:cNvPicPr>
            <a:picLocks noChangeAspect="1"/>
          </p:cNvPicPr>
          <p:nvPr/>
        </p:nvPicPr>
        <p:blipFill>
          <a:blip r:embed="rId3"/>
          <a:stretch>
            <a:fillRect/>
          </a:stretch>
        </p:blipFill>
        <p:spPr>
          <a:xfrm>
            <a:off x="370588" y="932649"/>
            <a:ext cx="1676480" cy="1122389"/>
          </a:xfrm>
          <a:prstGeom prst="rect">
            <a:avLst/>
          </a:prstGeom>
        </p:spPr>
      </p:pic>
      <p:sp>
        <p:nvSpPr>
          <p:cNvPr id="182"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3"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5" name="TextBox 184">
            <a:extLst>
              <a:ext uri="{FF2B5EF4-FFF2-40B4-BE49-F238E27FC236}">
                <a16:creationId xmlns:a16="http://schemas.microsoft.com/office/drawing/2014/main" id="{F43469DC-7F5B-471E-BD74-ED709E621F63}"/>
              </a:ext>
            </a:extLst>
          </p:cNvPr>
          <p:cNvSpPr txBox="1"/>
          <p:nvPr/>
        </p:nvSpPr>
        <p:spPr>
          <a:xfrm>
            <a:off x="5139383" y="2092656"/>
            <a:ext cx="2392001" cy="369332"/>
          </a:xfrm>
          <a:prstGeom prst="rect">
            <a:avLst/>
          </a:prstGeom>
          <a:noFill/>
        </p:spPr>
        <p:txBody>
          <a:bodyPr wrap="none" rtlCol="0">
            <a:spAutoFit/>
          </a:bodyPr>
          <a:lstStyle/>
          <a:p>
            <a:pPr algn="r" rtl="1"/>
            <a:r>
              <a:rPr lang="fa-IR" b="1" dirty="0">
                <a:cs typeface="B Nazanin" panose="00000400000000000000" pitchFamily="2" charset="-78"/>
              </a:rPr>
              <a:t>توپولوژی های همسان سازی</a:t>
            </a:r>
          </a:p>
        </p:txBody>
      </p:sp>
      <p:grpSp>
        <p:nvGrpSpPr>
          <p:cNvPr id="187"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88"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9"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0"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1"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2"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3"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97"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98"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9"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0"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1"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2"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3"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04"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205"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6"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7"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8"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9"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10"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1"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8" name="Rectangle 47">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9" name="Rectangle 48">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0612543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835796" y="2534512"/>
            <a:ext cx="6309820"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a16="http://schemas.microsoft.com/office/drawing/2014/main"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a:t>
            </a:r>
            <a:r>
              <a:rPr lang="fa-IR" dirty="0" err="1">
                <a:cs typeface="B Lotus" panose="00000400000000000000" pitchFamily="2" charset="-78"/>
              </a:rPr>
              <a:t>خوشه‌بندی</a:t>
            </a:r>
            <a:endParaRPr lang="fa-IR" dirty="0">
              <a:cs typeface="B Lotus" panose="00000400000000000000" pitchFamily="2" charset="-78"/>
            </a:endParaRP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sp>
        <p:nvSpPr>
          <p:cNvPr id="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همسان‌سازی فعال پک باتری مستهلک با استفاده از مبدل ولتاژ</a:t>
            </a:r>
            <a:br>
              <a:rPr lang="en-US" dirty="0">
                <a:cs typeface="B Lotus" panose="00000400000000000000" pitchFamily="2" charset="-78"/>
              </a:rPr>
            </a:br>
            <a:r>
              <a:rPr lang="fa-IR" dirty="0">
                <a:cs typeface="B Lotus" panose="00000400000000000000" pitchFamily="2" charset="-78"/>
              </a:rPr>
              <a:t> دوطرفه با دامنه ولتاژ کاری وسیع و الگوریتم خوشه‌بندی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2"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7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0" name="Rectangle 79"/>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1" name="Rectangle 80"/>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82" name="Picture 81"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8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4" name="Rectangle 8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8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86" name="Rectangle 8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009715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29" name="Rectangle 42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0" name="Rectangle 42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2393380" y="1903199"/>
            <a:ext cx="6307815" cy="427593"/>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9" name="TextBox 18"/>
          <p:cNvSpPr txBox="1"/>
          <p:nvPr/>
        </p:nvSpPr>
        <p:spPr>
          <a:xfrm>
            <a:off x="209088" y="5329937"/>
            <a:ext cx="2392001"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 ماژولار</a:t>
            </a:r>
          </a:p>
        </p:txBody>
      </p:sp>
      <p:sp>
        <p:nvSpPr>
          <p:cNvPr id="21" name="TextBox 20"/>
          <p:cNvSpPr txBox="1"/>
          <p:nvPr/>
        </p:nvSpPr>
        <p:spPr>
          <a:xfrm>
            <a:off x="2747801" y="347487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6" name="TextBox 25"/>
          <p:cNvSpPr txBox="1"/>
          <p:nvPr/>
        </p:nvSpPr>
        <p:spPr>
          <a:xfrm>
            <a:off x="3734542" y="5114494"/>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منظم سازی و جفت کردن کمترین به بیشترین</a:t>
            </a:r>
            <a:endParaRPr lang="en-US" sz="1400" dirty="0">
              <a:latin typeface="Times New Roman" panose="02020603050405020304" pitchFamily="18" charset="0"/>
              <a:cs typeface="B Lotus" panose="00000400000000000000" pitchFamily="2" charset="-78"/>
            </a:endParaRPr>
          </a:p>
        </p:txBody>
      </p:sp>
      <p:pic>
        <p:nvPicPr>
          <p:cNvPr id="29" name="Picture 28"/>
          <p:cNvPicPr>
            <a:picLocks noChangeAspect="1"/>
          </p:cNvPicPr>
          <p:nvPr/>
        </p:nvPicPr>
        <p:blipFill>
          <a:blip r:embed="rId3"/>
          <a:stretch>
            <a:fillRect/>
          </a:stretch>
        </p:blipFill>
        <p:spPr>
          <a:xfrm>
            <a:off x="7376051" y="3578659"/>
            <a:ext cx="247650" cy="250160"/>
          </a:xfrm>
          <a:prstGeom prst="rect">
            <a:avLst/>
          </a:prstGeom>
        </p:spPr>
      </p:pic>
      <p:pic>
        <p:nvPicPr>
          <p:cNvPr id="32" name="Picture 31"/>
          <p:cNvPicPr>
            <a:picLocks noChangeAspect="1"/>
          </p:cNvPicPr>
          <p:nvPr/>
        </p:nvPicPr>
        <p:blipFill>
          <a:blip r:embed="rId4"/>
          <a:stretch>
            <a:fillRect/>
          </a:stretch>
        </p:blipFill>
        <p:spPr>
          <a:xfrm>
            <a:off x="7821371" y="3449489"/>
            <a:ext cx="610743" cy="586411"/>
          </a:xfrm>
          <a:prstGeom prst="rect">
            <a:avLst/>
          </a:prstGeom>
        </p:spPr>
      </p:pic>
      <p:pic>
        <p:nvPicPr>
          <p:cNvPr id="33" name="Picture 32"/>
          <p:cNvPicPr>
            <a:picLocks noChangeAspect="1"/>
          </p:cNvPicPr>
          <p:nvPr/>
        </p:nvPicPr>
        <p:blipFill>
          <a:blip r:embed="rId5"/>
          <a:stretch>
            <a:fillRect/>
          </a:stretch>
        </p:blipFill>
        <p:spPr>
          <a:xfrm>
            <a:off x="7821371" y="4167098"/>
            <a:ext cx="611904" cy="481300"/>
          </a:xfrm>
          <a:prstGeom prst="rect">
            <a:avLst/>
          </a:prstGeom>
        </p:spPr>
      </p:pic>
      <p:sp>
        <p:nvSpPr>
          <p:cNvPr id="35" name="TextBox 34"/>
          <p:cNvSpPr txBox="1"/>
          <p:nvPr/>
        </p:nvSpPr>
        <p:spPr>
          <a:xfrm>
            <a:off x="6399068" y="3452989"/>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36" name="TextBox 35"/>
          <p:cNvSpPr txBox="1"/>
          <p:nvPr/>
        </p:nvSpPr>
        <p:spPr>
          <a:xfrm>
            <a:off x="6836311" y="5329937"/>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a:t>
            </a:r>
            <a:endParaRPr lang="en-US" sz="1400" dirty="0">
              <a:latin typeface="Times New Roman" panose="02020603050405020304" pitchFamily="18" charset="0"/>
              <a:cs typeface="B Lotus" panose="00000400000000000000" pitchFamily="2" charset="-78"/>
            </a:endParaRPr>
          </a:p>
        </p:txBody>
      </p:sp>
      <p:pic>
        <p:nvPicPr>
          <p:cNvPr id="3" name="Picture 2"/>
          <p:cNvPicPr>
            <a:picLocks noChangeAspect="1"/>
          </p:cNvPicPr>
          <p:nvPr/>
        </p:nvPicPr>
        <p:blipFill>
          <a:blip r:embed="rId6"/>
          <a:stretch>
            <a:fillRect/>
          </a:stretch>
        </p:blipFill>
        <p:spPr>
          <a:xfrm>
            <a:off x="4002578" y="3156364"/>
            <a:ext cx="1603699" cy="1603699"/>
          </a:xfrm>
          <a:prstGeom prst="rect">
            <a:avLst/>
          </a:prstGeom>
        </p:spPr>
      </p:pic>
      <p:pic>
        <p:nvPicPr>
          <p:cNvPr id="37" name="Picture 36"/>
          <p:cNvPicPr>
            <a:picLocks noChangeAspect="1"/>
          </p:cNvPicPr>
          <p:nvPr/>
        </p:nvPicPr>
        <p:blipFill>
          <a:blip r:embed="rId7"/>
          <a:stretch>
            <a:fillRect/>
          </a:stretch>
        </p:blipFill>
        <p:spPr>
          <a:xfrm>
            <a:off x="7376051" y="4279658"/>
            <a:ext cx="247650" cy="263198"/>
          </a:xfrm>
          <a:prstGeom prst="rect">
            <a:avLst/>
          </a:prstGeom>
        </p:spPr>
      </p:pic>
      <p:grpSp>
        <p:nvGrpSpPr>
          <p:cNvPr id="5" name="Group 4"/>
          <p:cNvGrpSpPr/>
          <p:nvPr/>
        </p:nvGrpSpPr>
        <p:grpSpPr>
          <a:xfrm>
            <a:off x="868231" y="2889680"/>
            <a:ext cx="651217" cy="2137065"/>
            <a:chOff x="990600" y="2205591"/>
            <a:chExt cx="651217" cy="2137065"/>
          </a:xfrm>
        </p:grpSpPr>
        <p:pic>
          <p:nvPicPr>
            <p:cNvPr id="20" name="Picture 1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205591"/>
              <a:ext cx="651217" cy="586472"/>
            </a:xfrm>
            <a:prstGeom prst="rect">
              <a:avLst/>
            </a:prstGeom>
            <a:noFill/>
            <a:ln>
              <a:noFill/>
            </a:ln>
          </p:spPr>
        </p:pic>
        <p:pic>
          <p:nvPicPr>
            <p:cNvPr id="39" name="Picture 38"/>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840649"/>
              <a:ext cx="651217" cy="586472"/>
            </a:xfrm>
            <a:prstGeom prst="rect">
              <a:avLst/>
            </a:prstGeom>
            <a:noFill/>
            <a:ln>
              <a:noFill/>
            </a:ln>
          </p:spPr>
        </p:pic>
        <p:pic>
          <p:nvPicPr>
            <p:cNvPr id="40" name="Picture 3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3756184"/>
              <a:ext cx="651217" cy="586472"/>
            </a:xfrm>
            <a:prstGeom prst="rect">
              <a:avLst/>
            </a:prstGeom>
            <a:noFill/>
            <a:ln>
              <a:noFill/>
            </a:ln>
          </p:spPr>
        </p:pic>
        <p:pic>
          <p:nvPicPr>
            <p:cNvPr id="4" name="Picture 3"/>
            <p:cNvPicPr>
              <a:picLocks noChangeAspect="1"/>
            </p:cNvPicPr>
            <p:nvPr/>
          </p:nvPicPr>
          <p:blipFill>
            <a:blip r:embed="rId9"/>
            <a:stretch>
              <a:fillRect/>
            </a:stretch>
          </p:blipFill>
          <p:spPr>
            <a:xfrm>
              <a:off x="1192449" y="3439425"/>
              <a:ext cx="247517" cy="324923"/>
            </a:xfrm>
            <a:prstGeom prst="rect">
              <a:avLst/>
            </a:prstGeom>
          </p:spPr>
        </p:pic>
      </p:grpSp>
      <p:grpSp>
        <p:nvGrpSpPr>
          <p:cNvPr id="41"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510695" y="1922462"/>
            <a:ext cx="381000" cy="381000"/>
            <a:chOff x="2078" y="1680"/>
            <a:chExt cx="1615" cy="1615"/>
          </a:xfrm>
        </p:grpSpPr>
        <p:sp>
          <p:nvSpPr>
            <p:cNvPr id="42"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38" name="Picture 3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51" name="Rectangle 50">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53"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5" name="Rectangle 54">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6"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81945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524804" y="1526708"/>
            <a:ext cx="8000892" cy="4293217"/>
          </a:xfrm>
          <a:prstGeom prst="rect">
            <a:avLst/>
          </a:prstGeom>
        </p:spPr>
      </p:pic>
      <p:sp>
        <p:nvSpPr>
          <p:cNvPr id="4" name="TextBox 3"/>
          <p:cNvSpPr txBox="1"/>
          <p:nvPr/>
        </p:nvSpPr>
        <p:spPr>
          <a:xfrm>
            <a:off x="777257" y="5882077"/>
            <a:ext cx="6756979" cy="369332"/>
          </a:xfrm>
          <a:prstGeom prst="rect">
            <a:avLst/>
          </a:prstGeom>
          <a:noFill/>
        </p:spPr>
        <p:txBody>
          <a:bodyPr wrap="none" rtlCol="0">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8 </a:t>
            </a:r>
            <a:r>
              <a:rPr lang="fa-IR" dirty="0">
                <a:latin typeface="Times New Roman" panose="02020603050405020304" pitchFamily="18" charset="0"/>
                <a:cs typeface="B Lotus" panose="00000400000000000000" pitchFamily="2" charset="-78"/>
              </a:rPr>
              <a:t>پیکربندی سیستم همسان سازی پیشنهادی در پک باتری خودرو و در سطح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Rectangle 25">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id="{F43469DC-7F5B-471E-BD74-ED709E621F63}"/>
              </a:ext>
            </a:extLst>
          </p:cNvPr>
          <p:cNvSpPr txBox="1"/>
          <p:nvPr/>
        </p:nvSpPr>
        <p:spPr>
          <a:xfrm>
            <a:off x="121352" y="816890"/>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9</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30898649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725018" y="5950109"/>
            <a:ext cx="334097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9 </a:t>
            </a:r>
            <a:r>
              <a:rPr lang="fa-IR" dirty="0">
                <a:latin typeface="Times New Roman" panose="02020603050405020304" pitchFamily="18" charset="0"/>
                <a:cs typeface="B Lotus" panose="00000400000000000000" pitchFamily="2" charset="-78"/>
              </a:rPr>
              <a:t>مدل شبیه سازی شده یک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356907" y="1371058"/>
            <a:ext cx="8077200" cy="4579051"/>
          </a:xfrm>
          <a:prstGeom prst="rect">
            <a:avLst/>
          </a:prstGeom>
        </p:spPr>
      </p:pic>
      <p:sp>
        <p:nvSpPr>
          <p:cNvPr id="20" name="Rounded Rectangle 175">
            <a:extLst>
              <a:ext uri="{FF2B5EF4-FFF2-40B4-BE49-F238E27FC236}">
                <a16:creationId xmlns:a16="http://schemas.microsoft.com/office/drawing/2014/main" id="{AACCE7D9-540A-47B9-8964-41031B797FDD}"/>
              </a:ext>
            </a:extLst>
          </p:cNvPr>
          <p:cNvSpPr/>
          <p:nvPr/>
        </p:nvSpPr>
        <p:spPr bwMode="auto">
          <a:xfrm>
            <a:off x="7383708" y="827369"/>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36674" y="899622"/>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10</a:t>
            </a:fld>
            <a:endParaRPr lang="fa-IR" sz="1800" dirty="0">
              <a:solidFill>
                <a:schemeClr val="tx1"/>
              </a:solidFill>
              <a:cs typeface="B Lotus" panose="00000400000000000000" pitchFamily="2" charset="-78"/>
            </a:endParaRPr>
          </a:p>
        </p:txBody>
      </p:sp>
      <p:sp>
        <p:nvSpPr>
          <p:cNvPr id="18" name="Rectangle 17"/>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5121071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03917" y="6065484"/>
            <a:ext cx="3506089" cy="369332"/>
          </a:xfrm>
          <a:prstGeom prst="rect">
            <a:avLst/>
          </a:prstGeom>
          <a:noFill/>
        </p:spPr>
        <p:txBody>
          <a:bodyPr wrap="none" rtlCol="0">
            <a:spAutoFit/>
          </a:bodyPr>
          <a:lstStyle/>
          <a:p>
            <a:pPr algn="ctr"/>
            <a:r>
              <a:rPr lang="fa-IR" dirty="0">
                <a:latin typeface="Times New Roman" panose="02020603050405020304" pitchFamily="18" charset="0"/>
                <a:ea typeface="Calibri" panose="020F0502020204030204" pitchFamily="34" charset="0"/>
                <a:cs typeface="B Lotus" panose="00000400000000000000" pitchFamily="2" charset="-78"/>
              </a:rPr>
              <a:t>شکل 10 فلوچارت الگوریتم همسان‌سازی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20" name="Picture 19"/>
          <p:cNvPicPr/>
          <p:nvPr/>
        </p:nvPicPr>
        <p:blipFill>
          <a:blip r:embed="rId3">
            <a:extLst>
              <a:ext uri="{28A0092B-C50C-407E-A947-70E740481C1C}">
                <a14:useLocalDpi xmlns:a14="http://schemas.microsoft.com/office/drawing/2010/main" val="0"/>
              </a:ext>
            </a:extLst>
          </a:blip>
          <a:stretch>
            <a:fillRect/>
          </a:stretch>
        </p:blipFill>
        <p:spPr>
          <a:xfrm>
            <a:off x="855949" y="1125617"/>
            <a:ext cx="7338601" cy="4907500"/>
          </a:xfrm>
          <a:prstGeom prst="rect">
            <a:avLst/>
          </a:prstGeom>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64476" y="812338"/>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11</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300792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6680" y="4496953"/>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42586" y="2714641"/>
            <a:ext cx="2206490" cy="1428979"/>
          </a:xfrm>
          <a:prstGeom prst="rect">
            <a:avLst/>
          </a:prstGeom>
          <a:noFill/>
          <a:ln>
            <a:noFill/>
          </a:ln>
        </p:spPr>
      </p:pic>
      <p:sp>
        <p:nvSpPr>
          <p:cNvPr id="19" name="TextBox 18"/>
          <p:cNvSpPr txBox="1"/>
          <p:nvPr/>
        </p:nvSpPr>
        <p:spPr>
          <a:xfrm>
            <a:off x="2964074"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grpSp>
        <p:nvGrpSpPr>
          <p:cNvPr id="11" name="Group 10"/>
          <p:cNvGrpSpPr/>
          <p:nvPr/>
        </p:nvGrpSpPr>
        <p:grpSpPr>
          <a:xfrm>
            <a:off x="3941058" y="2708408"/>
            <a:ext cx="1977889" cy="1631758"/>
            <a:chOff x="3352800" y="2129958"/>
            <a:chExt cx="2469779" cy="1962379"/>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2509" y="2129958"/>
              <a:ext cx="1970413" cy="1962379"/>
            </a:xfrm>
            <a:prstGeom prst="rect">
              <a:avLst/>
            </a:prstGeom>
          </p:spPr>
        </p:pic>
        <p:pic>
          <p:nvPicPr>
            <p:cNvPr id="6" name="Picture 5"/>
            <p:cNvPicPr>
              <a:picLocks noChangeAspect="1"/>
            </p:cNvPicPr>
            <p:nvPr/>
          </p:nvPicPr>
          <p:blipFill>
            <a:blip r:embed="rId5"/>
            <a:stretch>
              <a:fillRect/>
            </a:stretch>
          </p:blipFill>
          <p:spPr>
            <a:xfrm>
              <a:off x="3352800" y="2711192"/>
              <a:ext cx="691014" cy="521361"/>
            </a:xfrm>
            <a:prstGeom prst="rect">
              <a:avLst/>
            </a:prstGeom>
          </p:spPr>
        </p:pic>
        <p:pic>
          <p:nvPicPr>
            <p:cNvPr id="9" name="Picture 8"/>
            <p:cNvPicPr>
              <a:picLocks noChangeAspect="1"/>
            </p:cNvPicPr>
            <p:nvPr/>
          </p:nvPicPr>
          <p:blipFill>
            <a:blip r:embed="rId6"/>
            <a:stretch>
              <a:fillRect/>
            </a:stretch>
          </p:blipFill>
          <p:spPr>
            <a:xfrm>
              <a:off x="5029200" y="3217313"/>
              <a:ext cx="793379" cy="368852"/>
            </a:xfrm>
            <a:prstGeom prst="rect">
              <a:avLst/>
            </a:prstGeom>
          </p:spPr>
        </p:pic>
      </p:grpSp>
      <p:sp>
        <p:nvSpPr>
          <p:cNvPr id="28" name="TextBox 27"/>
          <p:cNvSpPr txBox="1"/>
          <p:nvPr/>
        </p:nvSpPr>
        <p:spPr>
          <a:xfrm>
            <a:off x="3769419" y="4506152"/>
            <a:ext cx="2272812" cy="738664"/>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GA</a:t>
            </a:r>
            <a:r>
              <a:rPr lang="fa-IR" sz="1400" dirty="0">
                <a:latin typeface="Times New Roman" panose="02020603050405020304" pitchFamily="18" charset="0"/>
                <a:cs typeface="B Lotus" panose="00000400000000000000" pitchFamily="2" charset="-78"/>
              </a:rPr>
              <a:t> و </a:t>
            </a:r>
            <a:r>
              <a:rPr lang="en-US" sz="1400" dirty="0">
                <a:latin typeface="Times New Roman" panose="02020603050405020304" pitchFamily="18" charset="0"/>
                <a:cs typeface="B Lotus" panose="00000400000000000000" pitchFamily="2" charset="-78"/>
              </a:rPr>
              <a:t>K-means</a:t>
            </a:r>
            <a:r>
              <a:rPr lang="fa-IR" sz="1400" dirty="0">
                <a:latin typeface="Times New Roman" panose="02020603050405020304" pitchFamily="18" charset="0"/>
                <a:cs typeface="B Lotus" panose="00000400000000000000" pitchFamily="2" charset="-78"/>
              </a:rPr>
              <a:t> بمنظور یافتن حد وسط زمان سازی و میزان همسان سازی</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10928" y="3007766"/>
            <a:ext cx="1057224" cy="1198909"/>
            <a:chOff x="7554537" y="3065788"/>
            <a:chExt cx="1057224" cy="1198909"/>
          </a:xfrm>
        </p:grpSpPr>
        <p:pic>
          <p:nvPicPr>
            <p:cNvPr id="21" name="Picture 20"/>
            <p:cNvPicPr>
              <a:picLocks noChangeAspect="1"/>
            </p:cNvPicPr>
            <p:nvPr/>
          </p:nvPicPr>
          <p:blipFill>
            <a:blip r:embed="rId7"/>
            <a:stretch>
              <a:fillRect/>
            </a:stretch>
          </p:blipFill>
          <p:spPr>
            <a:xfrm>
              <a:off x="7554537" y="3194958"/>
              <a:ext cx="247650" cy="250160"/>
            </a:xfrm>
            <a:prstGeom prst="rect">
              <a:avLst/>
            </a:prstGeom>
          </p:spPr>
        </p:pic>
        <p:pic>
          <p:nvPicPr>
            <p:cNvPr id="22" name="Picture 21"/>
            <p:cNvPicPr>
              <a:picLocks noChangeAspect="1"/>
            </p:cNvPicPr>
            <p:nvPr/>
          </p:nvPicPr>
          <p:blipFill>
            <a:blip r:embed="rId8"/>
            <a:stretch>
              <a:fillRect/>
            </a:stretch>
          </p:blipFill>
          <p:spPr>
            <a:xfrm>
              <a:off x="7999857" y="3065788"/>
              <a:ext cx="610743" cy="586411"/>
            </a:xfrm>
            <a:prstGeom prst="rect">
              <a:avLst/>
            </a:prstGeom>
          </p:spPr>
        </p:pic>
        <p:pic>
          <p:nvPicPr>
            <p:cNvPr id="24" name="Picture 23"/>
            <p:cNvPicPr>
              <a:picLocks noChangeAspect="1"/>
            </p:cNvPicPr>
            <p:nvPr/>
          </p:nvPicPr>
          <p:blipFill>
            <a:blip r:embed="rId9"/>
            <a:stretch>
              <a:fillRect/>
            </a:stretch>
          </p:blipFill>
          <p:spPr>
            <a:xfrm>
              <a:off x="7999857" y="3783397"/>
              <a:ext cx="611904" cy="481300"/>
            </a:xfrm>
            <a:prstGeom prst="rect">
              <a:avLst/>
            </a:prstGeom>
          </p:spPr>
        </p:pic>
        <p:pic>
          <p:nvPicPr>
            <p:cNvPr id="38" name="Picture 37"/>
            <p:cNvPicPr>
              <a:picLocks noChangeAspect="1"/>
            </p:cNvPicPr>
            <p:nvPr/>
          </p:nvPicPr>
          <p:blipFill>
            <a:blip r:embed="rId7"/>
            <a:stretch>
              <a:fillRect/>
            </a:stretch>
          </p:blipFill>
          <p:spPr>
            <a:xfrm>
              <a:off x="7560281" y="3895149"/>
              <a:ext cx="247650" cy="250160"/>
            </a:xfrm>
            <a:prstGeom prst="rect">
              <a:avLst/>
            </a:prstGeom>
          </p:spPr>
        </p:pic>
      </p:grpSp>
      <p:sp>
        <p:nvSpPr>
          <p:cNvPr id="39" name="TextBox 38"/>
          <p:cNvSpPr txBox="1"/>
          <p:nvPr/>
        </p:nvSpPr>
        <p:spPr>
          <a:xfrm>
            <a:off x="6433945"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71188" y="4405850"/>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60"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6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Rectangle 6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4" name="Rectangle 6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65" name="Picture 6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7" name="Rectangle 6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6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9" name="Rectangle 6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0" name="TextBox 69">
            <a:extLst>
              <a:ext uri="{FF2B5EF4-FFF2-40B4-BE49-F238E27FC236}">
                <a16:creationId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12</a:t>
            </a:fld>
            <a:endParaRPr lang="en-US"/>
          </a:p>
        </p:txBody>
      </p:sp>
      <p:sp>
        <p:nvSpPr>
          <p:cNvPr id="2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572194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13</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4"/>
          <a:stretch>
            <a:fillRect/>
          </a:stretch>
        </p:blipFill>
        <p:spPr>
          <a:xfrm>
            <a:off x="85165" y="1830481"/>
            <a:ext cx="8906435" cy="4132315"/>
          </a:xfrm>
          <a:prstGeom prst="rect">
            <a:avLst/>
          </a:prstGeom>
        </p:spPr>
      </p:pic>
      <p:sp>
        <p:nvSpPr>
          <p:cNvPr id="37" name="TextBox 36"/>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8" name="Rectangle 37"/>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106795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14</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4"/>
          <a:stretch>
            <a:fillRect/>
          </a:stretch>
        </p:blipFill>
        <p:spPr>
          <a:xfrm>
            <a:off x="85165" y="1830481"/>
            <a:ext cx="8906435" cy="4132315"/>
          </a:xfrm>
          <a:prstGeom prst="rect">
            <a:avLst/>
          </a:prstGeom>
        </p:spPr>
      </p:pic>
      <p:grpSp>
        <p:nvGrpSpPr>
          <p:cNvPr id="26" name="Group 25"/>
          <p:cNvGrpSpPr/>
          <p:nvPr/>
        </p:nvGrpSpPr>
        <p:grpSpPr>
          <a:xfrm>
            <a:off x="4922520" y="4372036"/>
            <a:ext cx="4191000" cy="1511418"/>
            <a:chOff x="9102590" y="2006844"/>
            <a:chExt cx="4495800" cy="1786464"/>
          </a:xfrm>
        </p:grpSpPr>
        <p:pic>
          <p:nvPicPr>
            <p:cNvPr id="30" name="Picture 29"/>
            <p:cNvPicPr/>
            <p:nvPr/>
          </p:nvPicPr>
          <p:blipFill>
            <a:blip r:embed="rId5"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3" name="Rounded Rectangle 32"/>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4" name="Straight Connector 33"/>
            <p:cNvCxnSpPr/>
            <p:nvPr/>
          </p:nvCxnSpPr>
          <p:spPr>
            <a:xfrm flipV="1">
              <a:off x="9144000" y="2006844"/>
              <a:ext cx="154770" cy="1008739"/>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p:cNvCxnSpPr/>
            <p:nvPr/>
          </p:nvCxnSpPr>
          <p:spPr>
            <a:xfrm flipH="1" flipV="1">
              <a:off x="9298771" y="2006845"/>
              <a:ext cx="4210242" cy="991486"/>
            </a:xfrm>
            <a:prstGeom prst="line">
              <a:avLst/>
            </a:prstGeom>
          </p:spPr>
          <p:style>
            <a:lnRef idx="2">
              <a:schemeClr val="dk1"/>
            </a:lnRef>
            <a:fillRef idx="0">
              <a:schemeClr val="dk1"/>
            </a:fillRef>
            <a:effectRef idx="1">
              <a:schemeClr val="dk1"/>
            </a:effectRef>
            <a:fontRef idx="minor">
              <a:schemeClr val="tx1"/>
            </a:fontRef>
          </p:style>
        </p:cxnSp>
      </p:grpSp>
      <p:sp>
        <p:nvSpPr>
          <p:cNvPr id="36" name="TextBox 35"/>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 </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7" name="Rectangle 36"/>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4019638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905436" y="6071674"/>
            <a:ext cx="709556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12 مقادیر تابع تناسب و نتایج دسته‌بندی بهینه شده با ضرایب متفاوت در شبیه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sp>
        <p:nvSpPr>
          <p:cNvPr id="23"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4" name="Group 3"/>
          <p:cNvGrpSpPr/>
          <p:nvPr/>
        </p:nvGrpSpPr>
        <p:grpSpPr>
          <a:xfrm>
            <a:off x="228600" y="904863"/>
            <a:ext cx="8725328" cy="5303188"/>
            <a:chOff x="304800" y="899720"/>
            <a:chExt cx="8725328" cy="5475760"/>
          </a:xfrm>
        </p:grpSpPr>
        <p:pic>
          <p:nvPicPr>
            <p:cNvPr id="19" name="Picture 18"/>
            <p:cNvPicPr/>
            <p:nvPr/>
          </p:nvPicPr>
          <p:blipFill rotWithShape="1">
            <a:blip r:embed="rId4" cstate="print">
              <a:extLst>
                <a:ext uri="{28A0092B-C50C-407E-A947-70E740481C1C}">
                  <a14:useLocalDpi xmlns:a14="http://schemas.microsoft.com/office/drawing/2010/main" val="0"/>
                </a:ext>
              </a:extLst>
            </a:blip>
            <a:srcRect t="66089"/>
            <a:stretch/>
          </p:blipFill>
          <p:spPr bwMode="auto">
            <a:xfrm>
              <a:off x="304800" y="3750487"/>
              <a:ext cx="8725328" cy="2582759"/>
            </a:xfrm>
            <a:prstGeom prst="rect">
              <a:avLst/>
            </a:prstGeom>
            <a:noFill/>
            <a:ln>
              <a:noFill/>
            </a:ln>
          </p:spPr>
        </p:pic>
        <p:pic>
          <p:nvPicPr>
            <p:cNvPr id="31" name="Picture 30"/>
            <p:cNvPicPr/>
            <p:nvPr/>
          </p:nvPicPr>
          <p:blipFill rotWithShape="1">
            <a:blip r:embed="rId4" cstate="print">
              <a:extLst>
                <a:ext uri="{28A0092B-C50C-407E-A947-70E740481C1C}">
                  <a14:useLocalDpi xmlns:a14="http://schemas.microsoft.com/office/drawing/2010/main" val="0"/>
                </a:ext>
              </a:extLst>
            </a:blip>
            <a:srcRect b="66533"/>
            <a:stretch/>
          </p:blipFill>
          <p:spPr bwMode="auto">
            <a:xfrm>
              <a:off x="418672" y="899720"/>
              <a:ext cx="8611456" cy="2890600"/>
            </a:xfrm>
            <a:prstGeom prst="rect">
              <a:avLst/>
            </a:prstGeom>
            <a:noFill/>
            <a:ln>
              <a:noFill/>
            </a:ln>
          </p:spPr>
        </p:pic>
        <p:pic>
          <p:nvPicPr>
            <p:cNvPr id="21" name="Picture 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25250" y="3298749"/>
              <a:ext cx="413300" cy="225964"/>
            </a:xfrm>
            <a:prstGeom prst="rect">
              <a:avLst/>
            </a:prstGeom>
          </p:spPr>
        </p:pic>
        <p:pic>
          <p:nvPicPr>
            <p:cNvPr id="26" name="Picture 2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3401" y="6161128"/>
              <a:ext cx="336998" cy="214352"/>
            </a:xfrm>
            <a:prstGeom prst="rect">
              <a:avLst/>
            </a:prstGeom>
          </p:spPr>
        </p:pic>
      </p:gr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15</a:t>
            </a:fld>
            <a:endParaRPr lang="fa-IR" sz="1800" dirty="0">
              <a:solidFill>
                <a:schemeClr val="tx1"/>
              </a:solidFill>
              <a:cs typeface="B Lotus" panose="00000400000000000000" pitchFamily="2" charset="-78"/>
            </a:endParaRPr>
          </a:p>
        </p:txBody>
      </p:sp>
      <p:sp>
        <p:nvSpPr>
          <p:cNvPr id="39" name="Rectangle 38"/>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965845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863258" y="5564865"/>
            <a:ext cx="7323980"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ارزیابی نتایج پیاده سازی عملی روش های ذکر شده در به همراه زمان محاسباتی و همسان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sp>
        <p:nvSpPr>
          <p:cNvPr id="23"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16</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ext uri="{D42A27DB-BD31-4B8C-83A1-F6EECF244321}">
                <p14:modId xmlns:p14="http://schemas.microsoft.com/office/powerpoint/2010/main" val="1247129214"/>
              </p:ext>
            </p:extLst>
          </p:nvPr>
        </p:nvGraphicFramePr>
        <p:xfrm>
          <a:off x="543584" y="2516206"/>
          <a:ext cx="7963329" cy="2873493"/>
        </p:xfrm>
        <a:graphic>
          <a:graphicData uri="http://schemas.openxmlformats.org/drawingml/2006/table">
            <a:tbl>
              <a:tblPr rtl="1" firstRow="1" firstCol="1" bandRow="1"/>
              <a:tblGrid>
                <a:gridCol w="2629692">
                  <a:extLst>
                    <a:ext uri="{9D8B030D-6E8A-4147-A177-3AD203B41FA5}">
                      <a16:colId xmlns:a16="http://schemas.microsoft.com/office/drawing/2014/main" val="20001"/>
                    </a:ext>
                  </a:extLst>
                </a:gridCol>
                <a:gridCol w="1355663">
                  <a:extLst>
                    <a:ext uri="{9D8B030D-6E8A-4147-A177-3AD203B41FA5}">
                      <a16:colId xmlns:a16="http://schemas.microsoft.com/office/drawing/2014/main" val="20002"/>
                    </a:ext>
                  </a:extLst>
                </a:gridCol>
                <a:gridCol w="1220095">
                  <a:extLst>
                    <a:ext uri="{9D8B030D-6E8A-4147-A177-3AD203B41FA5}">
                      <a16:colId xmlns:a16="http://schemas.microsoft.com/office/drawing/2014/main" val="20003"/>
                    </a:ext>
                  </a:extLst>
                </a:gridCol>
                <a:gridCol w="1525120">
                  <a:extLst>
                    <a:ext uri="{9D8B030D-6E8A-4147-A177-3AD203B41FA5}">
                      <a16:colId xmlns:a16="http://schemas.microsoft.com/office/drawing/2014/main" val="20004"/>
                    </a:ext>
                  </a:extLst>
                </a:gridCol>
                <a:gridCol w="1232759">
                  <a:extLst>
                    <a:ext uri="{9D8B030D-6E8A-4147-A177-3AD203B41FA5}">
                      <a16:colId xmlns:a16="http://schemas.microsoft.com/office/drawing/2014/main" val="20005"/>
                    </a:ext>
                  </a:extLst>
                </a:gridCol>
              </a:tblGrid>
              <a:tr h="1245850">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پارامتر</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روش</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محاسباتی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همسان‌سازی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ظرفیت قابل استفاده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Ah</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نسبت ظرفیت کل به ظرفیت قابل استفاده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502359">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همسان‌سازی با آستانه ثابت (اتلافی)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0.010</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2366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1/858</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84/49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بدون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0/037</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1641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1/9079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86/72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همراه با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(4:6)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6/656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1325</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1/9101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86/82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0"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40" name="Rectangle 39"/>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904416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TextBox 25">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4"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DBSCAN</a:t>
            </a:r>
            <a:r>
              <a:rPr lang="fa-IR" sz="1400" dirty="0">
                <a:latin typeface="Times New Roman" panose="02020603050405020304" pitchFamily="18" charset="0"/>
                <a:cs typeface="B Lotus" panose="00000400000000000000" pitchFamily="2" charset="-78"/>
              </a:rPr>
              <a:t> بمنظور یافتن نزدیکترین و دورترین نقاط به یکدیگر</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5"/>
            <a:stretch>
              <a:fillRect/>
            </a:stretch>
          </p:blipFill>
          <p:spPr>
            <a:xfrm>
              <a:off x="7554537" y="3194958"/>
              <a:ext cx="247650" cy="250160"/>
            </a:xfrm>
            <a:prstGeom prst="rect">
              <a:avLst/>
            </a:prstGeom>
          </p:spPr>
        </p:pic>
        <p:pic>
          <p:nvPicPr>
            <p:cNvPr id="22" name="Picture 21"/>
            <p:cNvPicPr>
              <a:picLocks noChangeAspect="1"/>
            </p:cNvPicPr>
            <p:nvPr/>
          </p:nvPicPr>
          <p:blipFill>
            <a:blip r:embed="rId6"/>
            <a:stretch>
              <a:fillRect/>
            </a:stretch>
          </p:blipFill>
          <p:spPr>
            <a:xfrm>
              <a:off x="7999857" y="3065788"/>
              <a:ext cx="610743" cy="586411"/>
            </a:xfrm>
            <a:prstGeom prst="rect">
              <a:avLst/>
            </a:prstGeom>
          </p:spPr>
        </p:pic>
        <p:pic>
          <p:nvPicPr>
            <p:cNvPr id="24" name="Picture 23"/>
            <p:cNvPicPr>
              <a:picLocks noChangeAspect="1"/>
            </p:cNvPicPr>
            <p:nvPr/>
          </p:nvPicPr>
          <p:blipFill>
            <a:blip r:embed="rId7"/>
            <a:stretch>
              <a:fillRect/>
            </a:stretch>
          </p:blipFill>
          <p:spPr>
            <a:xfrm>
              <a:off x="7999857" y="3783397"/>
              <a:ext cx="611904" cy="481300"/>
            </a:xfrm>
            <a:prstGeom prst="rect">
              <a:avLst/>
            </a:prstGeom>
          </p:spPr>
        </p:pic>
        <p:pic>
          <p:nvPicPr>
            <p:cNvPr id="38" name="Picture 37"/>
            <p:cNvPicPr>
              <a:picLocks noChangeAspect="1"/>
            </p:cNvPicPr>
            <p:nvPr/>
          </p:nvPicPr>
          <p:blipFill>
            <a:blip r:embed="rId5"/>
            <a:stretch>
              <a:fillRect/>
            </a:stretch>
          </p:blipFill>
          <p:spPr>
            <a:xfrm>
              <a:off x="7560281" y="3895149"/>
              <a:ext cx="247650" cy="25016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8"/>
          <a:stretch>
            <a:fillRect/>
          </a:stretch>
        </p:blipFill>
        <p:spPr>
          <a:xfrm>
            <a:off x="4154756" y="3034951"/>
            <a:ext cx="1452563" cy="1452563"/>
          </a:xfrm>
          <a:prstGeom prst="rect">
            <a:avLst/>
          </a:prstGeom>
        </p:spPr>
      </p:pic>
      <p:sp>
        <p:nvSpPr>
          <p:cNvPr id="40"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روشی بهینه و سریع برای همسان‌سازی فعال پک باتری مستهلک با استفاده از مبدل ولتاژ</a:t>
            </a:r>
            <a:r>
              <a:rPr lang="en-US" sz="1600" dirty="0">
                <a:cs typeface="B Lotus" panose="00000400000000000000" pitchFamily="2" charset="-78"/>
              </a:rPr>
              <a:t> </a:t>
            </a:r>
            <a:r>
              <a:rPr lang="fa-IR" sz="1600" dirty="0">
                <a:cs typeface="B Lotus" panose="00000400000000000000" pitchFamily="2" charset="-78"/>
              </a:rPr>
              <a:t>دوطرفه با دامنه ولتاژ کاری وسیع</a:t>
            </a:r>
          </a:p>
          <a:p>
            <a:pPr algn="r" rtl="1" fontAlgn="base">
              <a:spcBef>
                <a:spcPct val="0"/>
              </a:spcBef>
              <a:spcAft>
                <a:spcPct val="0"/>
              </a:spcAft>
            </a:pPr>
            <a:r>
              <a:rPr lang="fa-IR" sz="1600" dirty="0">
                <a:cs typeface="B Lotus" panose="00000400000000000000" pitchFamily="2" charset="-78"/>
              </a:rPr>
              <a:t> و الگوریتم خوشه‌بندی </a:t>
            </a:r>
            <a:r>
              <a:rPr lang="en-US" sz="1600" i="1" dirty="0">
                <a:latin typeface="Times New Roman" panose="02020603050405020304" pitchFamily="18" charset="0"/>
                <a:cs typeface="Times New Roman" panose="02020603050405020304" pitchFamily="18" charset="0"/>
              </a:rPr>
              <a:t>DBSCAN</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p:txBody>
          <a:bodyPr/>
          <a:lstStyle/>
          <a:p>
            <a:fld id="{7FC2E40A-4446-4E2B-B9AD-16F559E28E02}" type="slidenum">
              <a:rPr lang="en-US" smtClean="0"/>
              <a:t>17</a:t>
            </a:fld>
            <a:endParaRPr lang="en-US"/>
          </a:p>
        </p:txBody>
      </p:sp>
      <p:sp>
        <p:nvSpPr>
          <p:cNvPr id="34"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6" name="Rectangle 35"/>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0"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53" name="Rectangle 52">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54"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5" name="Rectangle 54">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6"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102128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BC95E25-1BC4-4BA6-800E-CB747C68872A}"/>
              </a:ext>
            </a:extLst>
          </p:cNvPr>
          <p:cNvSpPr/>
          <p:nvPr/>
        </p:nvSpPr>
        <p:spPr>
          <a:xfrm>
            <a:off x="1552854" y="6104824"/>
            <a:ext cx="5049780"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a:t>
            </a:r>
            <a:r>
              <a:rPr lang="fa-IR" dirty="0">
                <a:latin typeface="Times New Roman" panose="02020603050405020304" pitchFamily="18" charset="0"/>
                <a:cs typeface="B Lotus" panose="00000400000000000000" pitchFamily="2" charset="-78"/>
              </a:rPr>
              <a:t>نحوه خوشه بندی</a:t>
            </a:r>
            <a:r>
              <a:rPr lang="en-US" dirty="0">
                <a:latin typeface="Times New Roman" panose="02020603050405020304" pitchFamily="18" charset="0"/>
                <a:cs typeface="B Lotus" panose="00000400000000000000" pitchFamily="2" charset="-78"/>
              </a:rPr>
              <a:t>DBSCAN</a:t>
            </a:r>
            <a:r>
              <a:rPr lang="fa-IR" dirty="0">
                <a:latin typeface="Times New Roman" panose="02020603050405020304" pitchFamily="18" charset="0"/>
                <a:cs typeface="B Lotus" panose="00000400000000000000" pitchFamily="2" charset="-78"/>
              </a:rPr>
              <a:t> به شعاع </a:t>
            </a:r>
            <a:r>
              <a:rPr lang="en-US" b="1" dirty="0"/>
              <a:t>ɛ</a:t>
            </a:r>
            <a:r>
              <a:rPr lang="fa-IR" dirty="0">
                <a:latin typeface="Times New Roman" panose="02020603050405020304" pitchFamily="18" charset="0"/>
                <a:cs typeface="B Lotus" panose="00000400000000000000" pitchFamily="2" charset="-78"/>
              </a:rPr>
              <a:t> و حداقل نقاط 5.</a:t>
            </a:r>
            <a:endParaRPr lang="en-US" dirty="0"/>
          </a:p>
        </p:txBody>
      </p:sp>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18</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grpSp>
        <p:nvGrpSpPr>
          <p:cNvPr id="8" name="Group 7"/>
          <p:cNvGrpSpPr/>
          <p:nvPr/>
        </p:nvGrpSpPr>
        <p:grpSpPr>
          <a:xfrm>
            <a:off x="575493" y="1683836"/>
            <a:ext cx="7899513" cy="3903001"/>
            <a:chOff x="533400" y="1657956"/>
            <a:chExt cx="7899513" cy="3903001"/>
          </a:xfrm>
        </p:grpSpPr>
        <p:pic>
          <p:nvPicPr>
            <p:cNvPr id="6" name="Picture 5"/>
            <p:cNvPicPr>
              <a:picLocks noChangeAspect="1"/>
            </p:cNvPicPr>
            <p:nvPr/>
          </p:nvPicPr>
          <p:blipFill rotWithShape="1">
            <a:blip r:embed="rId4"/>
            <a:srcRect l="1431"/>
            <a:stretch/>
          </p:blipFill>
          <p:spPr>
            <a:xfrm>
              <a:off x="533400" y="1657956"/>
              <a:ext cx="7899513" cy="3903001"/>
            </a:xfrm>
            <a:prstGeom prst="rect">
              <a:avLst/>
            </a:prstGeom>
          </p:spPr>
        </p:pic>
        <p:pic>
          <p:nvPicPr>
            <p:cNvPr id="7" name="Picture 6"/>
            <p:cNvPicPr>
              <a:picLocks noChangeAspect="1"/>
            </p:cNvPicPr>
            <p:nvPr/>
          </p:nvPicPr>
          <p:blipFill>
            <a:blip r:embed="rId5"/>
            <a:stretch>
              <a:fillRect/>
            </a:stretch>
          </p:blipFill>
          <p:spPr>
            <a:xfrm>
              <a:off x="2206062" y="2971800"/>
              <a:ext cx="760219" cy="1072000"/>
            </a:xfrm>
            <a:prstGeom prst="rect">
              <a:avLst/>
            </a:prstGeom>
          </p:spPr>
        </p:pic>
      </p:gr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4147205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371C0AE6-C772-4760-8F2C-92733C382053}"/>
              </a:ext>
            </a:extLst>
          </p:cNvPr>
          <p:cNvPicPr/>
          <p:nvPr/>
        </p:nvPicPr>
        <p:blipFill>
          <a:blip r:embed="rId3">
            <a:extLst>
              <a:ext uri="{28A0092B-C50C-407E-A947-70E740481C1C}">
                <a14:useLocalDpi xmlns:a14="http://schemas.microsoft.com/office/drawing/2010/main" val="0"/>
              </a:ext>
            </a:extLst>
          </a:blip>
          <a:stretch>
            <a:fillRect/>
          </a:stretch>
        </p:blipFill>
        <p:spPr>
          <a:xfrm>
            <a:off x="857165" y="1496489"/>
            <a:ext cx="7010400" cy="4451218"/>
          </a:xfrm>
          <a:prstGeom prst="rect">
            <a:avLst/>
          </a:prstGeom>
        </p:spPr>
      </p:pic>
      <p:sp>
        <p:nvSpPr>
          <p:cNvPr id="20" name="Text Box 63">
            <a:extLst>
              <a:ext uri="{FF2B5EF4-FFF2-40B4-BE49-F238E27FC236}">
                <a16:creationId xmlns:a16="http://schemas.microsoft.com/office/drawing/2014/main" id="{7DE4DEE4-712A-4CFA-A055-E6C6E9E30DE0}"/>
              </a:ext>
            </a:extLst>
          </p:cNvPr>
          <p:cNvSpPr txBox="1"/>
          <p:nvPr/>
        </p:nvSpPr>
        <p:spPr>
          <a:xfrm>
            <a:off x="1957029" y="5951813"/>
            <a:ext cx="4579620" cy="276999"/>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dirty="0">
                <a:latin typeface="Times New Roman" panose="02020603050405020304" pitchFamily="18" charset="0"/>
                <a:ea typeface="Calibri" panose="020F0502020204030204" pitchFamily="34" charset="0"/>
                <a:cs typeface="B Lotus" panose="00000400000000000000" pitchFamily="2" charset="-78"/>
              </a:rPr>
              <a:t>شکل 14 </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a:t>
            </a:r>
            <a:r>
              <a:rPr lang="fa-IR" sz="16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الگوریتم</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همسان‌سازی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TextBox 36">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8"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19</a:t>
            </a:fld>
            <a:endParaRPr lang="en-US"/>
          </a:p>
        </p:txBody>
      </p:sp>
      <p:sp>
        <p:nvSpPr>
          <p:cNvPr id="3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3" name="Picture 42"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5" name="Rectangle 4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6"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51" name="Rectangle 50"/>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1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19</a:t>
            </a:fld>
            <a:endParaRPr lang="fa-IR" sz="1800" dirty="0">
              <a:solidFill>
                <a:schemeClr val="tx1"/>
              </a:solidFill>
              <a:cs typeface="B Lotus" panose="00000400000000000000" pitchFamily="2" charset="-78"/>
            </a:endParaRPr>
          </a:p>
        </p:txBody>
      </p:sp>
      <p:sp>
        <p:nvSpPr>
          <p:cNvPr id="21" name="Rectangle 20"/>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191651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25F6269-095B-45A9-87C4-41FB340F4A57}"/>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304800" y="1619600"/>
            <a:ext cx="8534401" cy="4545820"/>
          </a:xfrm>
          <a:prstGeom prst="rect">
            <a:avLst/>
          </a:prstGeom>
        </p:spPr>
      </p:pic>
      <p:sp>
        <p:nvSpPr>
          <p:cNvPr id="3" name="Rectangle 2">
            <a:extLst>
              <a:ext uri="{FF2B5EF4-FFF2-40B4-BE49-F238E27FC236}">
                <a16:creationId xmlns:a16="http://schemas.microsoft.com/office/drawing/2014/main" id="{E1064F08-C24D-4F6A-BE26-383C44EF2475}"/>
              </a:ext>
            </a:extLst>
          </p:cNvPr>
          <p:cNvSpPr/>
          <p:nvPr/>
        </p:nvSpPr>
        <p:spPr>
          <a:xfrm>
            <a:off x="1667553" y="6052213"/>
            <a:ext cx="4419800" cy="369332"/>
          </a:xfrm>
          <a:prstGeom prst="rect">
            <a:avLst/>
          </a:prstGeom>
        </p:spPr>
        <p:txBody>
          <a:bodyPr wrap="none">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15 ساختار توپولوژی ارائه شده در طرح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20</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Rectangle 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20</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41428666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BC95E25-1BC4-4BA6-800E-CB747C68872A}"/>
              </a:ext>
            </a:extLst>
          </p:cNvPr>
          <p:cNvSpPr/>
          <p:nvPr/>
        </p:nvSpPr>
        <p:spPr>
          <a:xfrm>
            <a:off x="2055148" y="5955820"/>
            <a:ext cx="414087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16 نمایی از فرآیند انتقال شارژ سلول به سلول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id="{D6F540C4-43BB-4171-AD37-C1F0B4C57C3E}"/>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774" y="1568376"/>
            <a:ext cx="7910548" cy="4387444"/>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21</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21</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3629911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BC95E25-1BC4-4BA6-800E-CB747C68872A}"/>
              </a:ext>
            </a:extLst>
          </p:cNvPr>
          <p:cNvSpPr/>
          <p:nvPr/>
        </p:nvSpPr>
        <p:spPr>
          <a:xfrm>
            <a:off x="1969628" y="5875485"/>
            <a:ext cx="4047903"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17 نمایی از فرآیند انتقال شارژ گروه به گروه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id="{D6F540C4-43BB-4171-AD37-C1F0B4C57C3E}"/>
              </a:ext>
            </a:extLst>
          </p:cNvPr>
          <p:cNvPicPr/>
          <p:nvPr/>
        </p:nvPicPr>
        <p:blipFill>
          <a:blip r:embed="rId3">
            <a:extLst>
              <a:ext uri="{28A0092B-C50C-407E-A947-70E740481C1C}">
                <a14:useLocalDpi xmlns:a14="http://schemas.microsoft.com/office/drawing/2010/main" val="0"/>
              </a:ext>
            </a:extLst>
          </a:blip>
          <a:stretch>
            <a:fillRect/>
          </a:stretch>
        </p:blipFill>
        <p:spPr>
          <a:xfrm>
            <a:off x="390925" y="1533870"/>
            <a:ext cx="7991075" cy="4375877"/>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22</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22</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29226274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402C14E-057E-4F2D-854C-AF69C4E6CBD7}"/>
              </a:ext>
            </a:extLst>
          </p:cNvPr>
          <p:cNvSpPr/>
          <p:nvPr/>
        </p:nvSpPr>
        <p:spPr>
          <a:xfrm>
            <a:off x="-12231" y="6006516"/>
            <a:ext cx="4475473"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19 وضعیت باتری در شرایط مختلف تعادل (الف) وضعیت باتری در حالت تعادل در ایستا، (ب) وضعیت باتری در حالت تعادل در شارژ، (ج) وضعیت باتری در حالت تعادل در دشارژ در شبیه سازی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23</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7" name="Group 6"/>
          <p:cNvGrpSpPr/>
          <p:nvPr/>
        </p:nvGrpSpPr>
        <p:grpSpPr>
          <a:xfrm>
            <a:off x="503855" y="751889"/>
            <a:ext cx="3711832" cy="5316953"/>
            <a:chOff x="631568" y="909186"/>
            <a:chExt cx="3711832" cy="5316953"/>
          </a:xfrm>
        </p:grpSpPr>
        <p:pic>
          <p:nvPicPr>
            <p:cNvPr id="18" name="Picture 17"/>
            <p:cNvPicPr/>
            <p:nvPr/>
          </p:nvPicPr>
          <p:blipFill>
            <a:blip r:embed="rId4" cstate="print">
              <a:extLst>
                <a:ext uri="{28A0092B-C50C-407E-A947-70E740481C1C}">
                  <a14:useLocalDpi xmlns:a14="http://schemas.microsoft.com/office/drawing/2010/main" val="0"/>
                </a:ext>
              </a:extLst>
            </a:blip>
            <a:stretch>
              <a:fillRect/>
            </a:stretch>
          </p:blipFill>
          <p:spPr>
            <a:xfrm>
              <a:off x="631568" y="909186"/>
              <a:ext cx="3711832" cy="5316953"/>
            </a:xfrm>
            <a:prstGeom prst="rect">
              <a:avLst/>
            </a:prstGeom>
          </p:spPr>
        </p:pic>
        <p:grpSp>
          <p:nvGrpSpPr>
            <p:cNvPr id="5" name="Group 4"/>
            <p:cNvGrpSpPr/>
            <p:nvPr/>
          </p:nvGrpSpPr>
          <p:grpSpPr>
            <a:xfrm>
              <a:off x="2393380" y="2545157"/>
              <a:ext cx="288925" cy="3661932"/>
              <a:chOff x="2393380" y="2545157"/>
              <a:chExt cx="288925" cy="3661932"/>
            </a:xfrm>
          </p:grpSpPr>
          <p:pic>
            <p:nvPicPr>
              <p:cNvPr id="40" name="Picture 39"/>
              <p:cNvPicPr/>
              <p:nvPr/>
            </p:nvPicPr>
            <p:blipFill>
              <a:blip r:embed="rId5">
                <a:extLst>
                  <a:ext uri="{28A0092B-C50C-407E-A947-70E740481C1C}">
                    <a14:useLocalDpi xmlns:a14="http://schemas.microsoft.com/office/drawing/2010/main" val="0"/>
                  </a:ext>
                </a:extLst>
              </a:blip>
              <a:stretch>
                <a:fillRect/>
              </a:stretch>
            </p:blipFill>
            <p:spPr>
              <a:xfrm>
                <a:off x="2393380" y="2545157"/>
                <a:ext cx="288925" cy="173355"/>
              </a:xfrm>
              <a:prstGeom prst="rect">
                <a:avLst/>
              </a:prstGeom>
            </p:spPr>
          </p:pic>
          <p:pic>
            <p:nvPicPr>
              <p:cNvPr id="41" name="Picture 40"/>
              <p:cNvPicPr/>
              <p:nvPr/>
            </p:nvPicPr>
            <p:blipFill>
              <a:blip r:embed="rId6">
                <a:extLst>
                  <a:ext uri="{28A0092B-C50C-407E-A947-70E740481C1C}">
                    <a14:useLocalDpi xmlns:a14="http://schemas.microsoft.com/office/drawing/2010/main" val="0"/>
                  </a:ext>
                </a:extLst>
              </a:blip>
              <a:stretch>
                <a:fillRect/>
              </a:stretch>
            </p:blipFill>
            <p:spPr>
              <a:xfrm>
                <a:off x="2421320" y="4297491"/>
                <a:ext cx="233045" cy="162560"/>
              </a:xfrm>
              <a:prstGeom prst="rect">
                <a:avLst/>
              </a:prstGeom>
            </p:spPr>
          </p:pic>
          <p:pic>
            <p:nvPicPr>
              <p:cNvPr id="42" name="Picture 41"/>
              <p:cNvPicPr/>
              <p:nvPr/>
            </p:nvPicPr>
            <p:blipFill>
              <a:blip r:embed="rId7">
                <a:extLst>
                  <a:ext uri="{28A0092B-C50C-407E-A947-70E740481C1C}">
                    <a14:useLocalDpi xmlns:a14="http://schemas.microsoft.com/office/drawing/2010/main" val="0"/>
                  </a:ext>
                </a:extLst>
              </a:blip>
              <a:stretch>
                <a:fillRect/>
              </a:stretch>
            </p:blipFill>
            <p:spPr>
              <a:xfrm>
                <a:off x="2414335" y="6022304"/>
                <a:ext cx="247015" cy="184785"/>
              </a:xfrm>
              <a:prstGeom prst="rect">
                <a:avLst/>
              </a:prstGeom>
            </p:spPr>
          </p:pic>
        </p:grpSp>
      </p:grpSp>
      <p:grpSp>
        <p:nvGrpSpPr>
          <p:cNvPr id="8" name="Group 7"/>
          <p:cNvGrpSpPr/>
          <p:nvPr/>
        </p:nvGrpSpPr>
        <p:grpSpPr>
          <a:xfrm>
            <a:off x="4482051" y="751889"/>
            <a:ext cx="4229436" cy="5316953"/>
            <a:chOff x="4609764" y="909186"/>
            <a:chExt cx="4267536" cy="5309333"/>
          </a:xfrm>
        </p:grpSpPr>
        <p:grpSp>
          <p:nvGrpSpPr>
            <p:cNvPr id="2" name="Group 1"/>
            <p:cNvGrpSpPr/>
            <p:nvPr/>
          </p:nvGrpSpPr>
          <p:grpSpPr>
            <a:xfrm>
              <a:off x="4609764" y="909186"/>
              <a:ext cx="4267536" cy="5186814"/>
              <a:chOff x="4525250" y="748577"/>
              <a:chExt cx="4417060" cy="6042328"/>
            </a:xfrm>
          </p:grpSpPr>
          <p:pic>
            <p:nvPicPr>
              <p:cNvPr id="36" name="Picture 35"/>
              <p:cNvPicPr/>
              <p:nvPr/>
            </p:nvPicPr>
            <p:blipFill>
              <a:blip r:embed="rId8">
                <a:extLst>
                  <a:ext uri="{28A0092B-C50C-407E-A947-70E740481C1C}">
                    <a14:useLocalDpi xmlns:a14="http://schemas.microsoft.com/office/drawing/2010/main" val="0"/>
                  </a:ext>
                </a:extLst>
              </a:blip>
              <a:stretch>
                <a:fillRect/>
              </a:stretch>
            </p:blipFill>
            <p:spPr>
              <a:xfrm>
                <a:off x="4534775" y="748577"/>
                <a:ext cx="4407535" cy="1954530"/>
              </a:xfrm>
              <a:prstGeom prst="rect">
                <a:avLst/>
              </a:prstGeom>
            </p:spPr>
          </p:pic>
          <p:pic>
            <p:nvPicPr>
              <p:cNvPr id="38" name="Picture 37"/>
              <p:cNvPicPr/>
              <p:nvPr/>
            </p:nvPicPr>
            <p:blipFill>
              <a:blip r:embed="rId9">
                <a:extLst>
                  <a:ext uri="{28A0092B-C50C-407E-A947-70E740481C1C}">
                    <a14:useLocalDpi xmlns:a14="http://schemas.microsoft.com/office/drawing/2010/main" val="0"/>
                  </a:ext>
                </a:extLst>
              </a:blip>
              <a:stretch>
                <a:fillRect/>
              </a:stretch>
            </p:blipFill>
            <p:spPr>
              <a:xfrm>
                <a:off x="4525250" y="2703107"/>
                <a:ext cx="4417060" cy="2091055"/>
              </a:xfrm>
              <a:prstGeom prst="rect">
                <a:avLst/>
              </a:prstGeom>
            </p:spPr>
          </p:pic>
          <p:pic>
            <p:nvPicPr>
              <p:cNvPr id="39" name="Picture 38"/>
              <p:cNvPicPr/>
              <p:nvPr/>
            </p:nvPicPr>
            <p:blipFill>
              <a:blip r:embed="rId10">
                <a:extLst>
                  <a:ext uri="{28A0092B-C50C-407E-A947-70E740481C1C}">
                    <a14:useLocalDpi xmlns:a14="http://schemas.microsoft.com/office/drawing/2010/main" val="0"/>
                  </a:ext>
                </a:extLst>
              </a:blip>
              <a:stretch>
                <a:fillRect/>
              </a:stretch>
            </p:blipFill>
            <p:spPr>
              <a:xfrm>
                <a:off x="4534775" y="4795100"/>
                <a:ext cx="4407535" cy="1995805"/>
              </a:xfrm>
              <a:prstGeom prst="rect">
                <a:avLst/>
              </a:prstGeom>
            </p:spPr>
          </p:pic>
        </p:grpSp>
        <p:pic>
          <p:nvPicPr>
            <p:cNvPr id="43" name="Picture 42"/>
            <p:cNvPicPr/>
            <p:nvPr/>
          </p:nvPicPr>
          <p:blipFill>
            <a:blip r:embed="rId5">
              <a:extLst>
                <a:ext uri="{28A0092B-C50C-407E-A947-70E740481C1C}">
                  <a14:useLocalDpi xmlns:a14="http://schemas.microsoft.com/office/drawing/2010/main" val="0"/>
                </a:ext>
              </a:extLst>
            </a:blip>
            <a:stretch>
              <a:fillRect/>
            </a:stretch>
          </p:blipFill>
          <p:spPr>
            <a:xfrm>
              <a:off x="6746428" y="2556587"/>
              <a:ext cx="288925" cy="173355"/>
            </a:xfrm>
            <a:prstGeom prst="rect">
              <a:avLst/>
            </a:prstGeom>
          </p:spPr>
        </p:pic>
        <p:pic>
          <p:nvPicPr>
            <p:cNvPr id="44" name="Picture 43"/>
            <p:cNvPicPr/>
            <p:nvPr/>
          </p:nvPicPr>
          <p:blipFill>
            <a:blip r:embed="rId6">
              <a:extLst>
                <a:ext uri="{28A0092B-C50C-407E-A947-70E740481C1C}">
                  <a14:useLocalDpi xmlns:a14="http://schemas.microsoft.com/office/drawing/2010/main" val="0"/>
                </a:ext>
              </a:extLst>
            </a:blip>
            <a:stretch>
              <a:fillRect/>
            </a:stretch>
          </p:blipFill>
          <p:spPr>
            <a:xfrm>
              <a:off x="6774368" y="4308921"/>
              <a:ext cx="233045" cy="162560"/>
            </a:xfrm>
            <a:prstGeom prst="rect">
              <a:avLst/>
            </a:prstGeom>
          </p:spPr>
        </p:pic>
        <p:pic>
          <p:nvPicPr>
            <p:cNvPr id="45" name="Picture 44"/>
            <p:cNvPicPr/>
            <p:nvPr/>
          </p:nvPicPr>
          <p:blipFill>
            <a:blip r:embed="rId7">
              <a:extLst>
                <a:ext uri="{28A0092B-C50C-407E-A947-70E740481C1C}">
                  <a14:useLocalDpi xmlns:a14="http://schemas.microsoft.com/office/drawing/2010/main" val="0"/>
                </a:ext>
              </a:extLst>
            </a:blip>
            <a:stretch>
              <a:fillRect/>
            </a:stretch>
          </p:blipFill>
          <p:spPr>
            <a:xfrm>
              <a:off x="6767383" y="6033734"/>
              <a:ext cx="247015" cy="184785"/>
            </a:xfrm>
            <a:prstGeom prst="rect">
              <a:avLst/>
            </a:prstGeom>
          </p:spPr>
        </p:pic>
      </p:grpSp>
      <p:sp>
        <p:nvSpPr>
          <p:cNvPr id="47" name="Rectangle 46">
            <a:extLst>
              <a:ext uri="{FF2B5EF4-FFF2-40B4-BE49-F238E27FC236}">
                <a16:creationId xmlns:a16="http://schemas.microsoft.com/office/drawing/2014/main" id="{1402C14E-057E-4F2D-854C-AF69C4E6CBD7}"/>
              </a:ext>
            </a:extLst>
          </p:cNvPr>
          <p:cNvSpPr/>
          <p:nvPr/>
        </p:nvSpPr>
        <p:spPr>
          <a:xfrm>
            <a:off x="4548919" y="6003057"/>
            <a:ext cx="4618750"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18 وضعیت باتری در شرایط مختلف تعادل (الف) وضعیت باتری در حالت تعادل در ایستا، (ب) وضعیت باتری در حالت تعادل در شارژ، (ج) وضعیت باتری در حالت تعادل در دشارژ در پیاده سازی عملی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0" y="5573992"/>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23</a:t>
            </a:fld>
            <a:endParaRPr lang="fa-IR" sz="1800" dirty="0">
              <a:solidFill>
                <a:schemeClr val="tx1"/>
              </a:solidFill>
              <a:cs typeface="B Lotus" panose="00000400000000000000" pitchFamily="2" charset="-78"/>
            </a:endParaRPr>
          </a:p>
        </p:txBody>
      </p:sp>
      <p:sp>
        <p:nvSpPr>
          <p:cNvPr id="33" name="Rectangle 32"/>
          <p:cNvSpPr/>
          <p:nvPr/>
        </p:nvSpPr>
        <p:spPr>
          <a:xfrm>
            <a:off x="418672" y="6499576"/>
            <a:ext cx="8725328" cy="369332"/>
          </a:xfrm>
          <a:prstGeom prst="rect">
            <a:avLst/>
          </a:prstGeom>
        </p:spPr>
        <p:txBody>
          <a:bodyPr wrap="square">
            <a:spAutoFit/>
          </a:bodyPr>
          <a:lstStyle/>
          <a:p>
            <a:r>
              <a:rPr lang="en-US" sz="900" dirty="0"/>
              <a:t>[4]         </a:t>
            </a:r>
            <a:r>
              <a:rPr lang="en-US" sz="900" dirty="0" err="1"/>
              <a:t>Difrancesco</a:t>
            </a:r>
            <a:r>
              <a:rPr lang="en-US" sz="900" dirty="0"/>
              <a:t>, Paul-Mark &amp; </a:t>
            </a:r>
            <a:r>
              <a:rPr lang="en-US" sz="900" dirty="0" err="1"/>
              <a:t>Bonneau</a:t>
            </a:r>
            <a:r>
              <a:rPr lang="en-US" sz="900" dirty="0"/>
              <a:t>, David &amp; Hutchinson, D.. (2020). The Implications of M3C2 Projection Diameter on 3D Semi-Automated </a:t>
            </a:r>
            <a:r>
              <a:rPr lang="en-US" sz="900" dirty="0" err="1"/>
              <a:t>Rockfall</a:t>
            </a:r>
            <a:r>
              <a:rPr lang="en-US" sz="900" dirty="0"/>
              <a:t> Extraction from Sequential Terrestrial Laser Scanning Point Clouds. Remote Sensing. 12. 1885. 10.3390/rs12111885. </a:t>
            </a:r>
            <a:endParaRPr lang="en-US" sz="900" i="1" dirty="0"/>
          </a:p>
        </p:txBody>
      </p:sp>
    </p:spTree>
    <p:extLst>
      <p:ext uri="{BB962C8B-B14F-4D97-AF65-F5344CB8AC3E}">
        <p14:creationId xmlns:p14="http://schemas.microsoft.com/office/powerpoint/2010/main" val="15376804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 name="Rectangle 1"/>
          <p:cNvSpPr/>
          <p:nvPr/>
        </p:nvSpPr>
        <p:spPr>
          <a:xfrm>
            <a:off x="1930091" y="2967335"/>
            <a:ext cx="5283819" cy="923330"/>
          </a:xfrm>
          <a:prstGeom prst="rect">
            <a:avLst/>
          </a:prstGeom>
          <a:noFill/>
        </p:spPr>
        <p:txBody>
          <a:bodyPr wrap="none" lIns="91440" tIns="45720" rIns="91440" bIns="45720">
            <a:spAutoFit/>
          </a:bodyPr>
          <a:lstStyle/>
          <a:p>
            <a:pPr algn="ctr"/>
            <a:r>
              <a:rPr lang="fa-IR"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rPr>
              <a:t>سپاس از همراهی شما</a:t>
            </a:r>
            <a:endParaRPr lang="en-US"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endParaRPr>
          </a:p>
        </p:txBody>
      </p:sp>
      <p:sp>
        <p:nvSpPr>
          <p:cNvPr id="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1866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175">
            <a:extLst>
              <a:ext uri="{FF2B5EF4-FFF2-40B4-BE49-F238E27FC236}">
                <a16:creationId xmlns:a16="http://schemas.microsoft.com/office/drawing/2014/main" id="{AACCE7D9-540A-47B9-8964-41031B797FD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838200" y="1680852"/>
            <a:ext cx="7586768" cy="4246254"/>
          </a:xfrm>
          <a:prstGeom prst="rect">
            <a:avLst/>
          </a:prstGeom>
        </p:spPr>
      </p:pic>
      <p:graphicFrame>
        <p:nvGraphicFramePr>
          <p:cNvPr id="6" name="Table 5">
            <a:extLst>
              <a:ext uri="{FF2B5EF4-FFF2-40B4-BE49-F238E27FC236}">
                <a16:creationId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832894626"/>
              </p:ext>
            </p:extLst>
          </p:nvPr>
        </p:nvGraphicFramePr>
        <p:xfrm>
          <a:off x="1219988" y="6189772"/>
          <a:ext cx="5937250" cy="274320"/>
        </p:xfrm>
        <a:graphic>
          <a:graphicData uri="http://schemas.openxmlformats.org/drawingml/2006/table">
            <a:tbl>
              <a:tblPr rtl="1" firstRow="1" firstCol="1" bandRow="1"/>
              <a:tblGrid>
                <a:gridCol w="5937250">
                  <a:extLst>
                    <a:ext uri="{9D8B030D-6E8A-4147-A177-3AD203B41FA5}">
                      <a16:colId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 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2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نمایی </a:t>
                      </a:r>
                      <a:r>
                        <a:rPr lang="fa-IR" sz="1800" i="0" dirty="0">
                          <a:solidFill>
                            <a:srgbClr val="000000"/>
                          </a:solidFill>
                          <a:effectLst/>
                          <a:latin typeface="Times New Roman" panose="02020603050405020304" pitchFamily="18" charset="0"/>
                          <a:ea typeface="Calibri" panose="020F0502020204030204" pitchFamily="34" charset="0"/>
                          <a:cs typeface="B Lotus" panose="00000400000000000000" pitchFamily="2" charset="-78"/>
                        </a:rPr>
                        <a:t>کلی</a:t>
                      </a:r>
                      <a:r>
                        <a:rPr lang="fa-IR" sz="1800" i="0" dirty="0">
                          <a:effectLst/>
                          <a:latin typeface="Times New Roman" panose="02020603050405020304" pitchFamily="18" charset="0"/>
                          <a:ea typeface="Calibri" panose="020F0502020204030204" pitchFamily="34" charset="0"/>
                          <a:cs typeface="B Lotus" panose="00000400000000000000" pitchFamily="2" charset="-78"/>
                        </a:rPr>
                        <a:t> از یک سیستم مدیریت باتری</a:t>
                      </a:r>
                      <a:r>
                        <a:rPr lang="fa-IR" sz="1800" b="0" i="0" u="none" baseline="0" dirty="0">
                          <a:solidFill>
                            <a:srgbClr val="B9EDFF"/>
                          </a:solidFill>
                          <a:effectLst/>
                          <a:latin typeface="Times New Roman" panose="02020603050405020304" pitchFamily="18" charset="0"/>
                          <a:ea typeface="Calibri" panose="020F0502020204030204" pitchFamily="34" charset="0"/>
                          <a:cs typeface="B Lotus" panose="00000400000000000000" pitchFamily="2" charset="-78"/>
                        </a:rPr>
                        <a:t>[1]</a:t>
                      </a:r>
                      <a:r>
                        <a:rPr lang="fa-IR" sz="1800" i="0" dirty="0">
                          <a:effectLst/>
                          <a:latin typeface="Times New Roman" panose="02020603050405020304" pitchFamily="18" charset="0"/>
                          <a:ea typeface="Calibri" panose="020F0502020204030204" pitchFamily="34" charset="0"/>
                          <a:cs typeface="B Lotus" panose="00000400000000000000" pitchFamily="2" charset="-78"/>
                        </a:rPr>
                        <a:t>.</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val="3545091448"/>
                  </a:ext>
                </a:extLst>
              </a:tr>
            </a:tbl>
          </a:graphicData>
        </a:graphic>
      </p:graphicFrame>
      <p:sp>
        <p:nvSpPr>
          <p:cNvPr id="19" name="AutoShape 12" descr="5 Things That Affect Your Charging Speed | EVgo">
            <a:extLst>
              <a:ext uri="{FF2B5EF4-FFF2-40B4-BE49-F238E27FC236}">
                <a16:creationId xmlns:a16="http://schemas.microsoft.com/office/drawing/2014/main" id="{9FC30CD2-AA30-4A93-A17A-37F04B64613B}"/>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2" descr="What is the Depth of Discharge (DoD) Estimation of a Lithium Ion Battery?">
            <a:extLst>
              <a:ext uri="{FF2B5EF4-FFF2-40B4-BE49-F238E27FC236}">
                <a16:creationId xmlns:a16="http://schemas.microsoft.com/office/drawing/2014/main" id="{DCC75CF4-D017-47DB-A4EA-EF5A00FE0AA3}"/>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AutoShape 10">
            <a:extLst>
              <a:ext uri="{FF2B5EF4-FFF2-40B4-BE49-F238E27FC236}">
                <a16:creationId xmlns:a16="http://schemas.microsoft.com/office/drawing/2014/main" id="{877B21A1-48F2-45D3-A3C9-699CED3D286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AutoShape 3">
            <a:extLst>
              <a:ext uri="{FF2B5EF4-FFF2-40B4-BE49-F238E27FC236}">
                <a16:creationId xmlns:a16="http://schemas.microsoft.com/office/drawing/2014/main" id="{B6220E46-BF40-46E0-B229-3EF4520FD5C6}"/>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AutoShape 3">
            <a:extLst>
              <a:ext uri="{FF2B5EF4-FFF2-40B4-BE49-F238E27FC236}">
                <a16:creationId xmlns:a16="http://schemas.microsoft.com/office/drawing/2014/main" id="{D99647C8-E5C1-49E3-8C3B-4552D824EA8C}"/>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4" name="AutoShape 3">
            <a:extLst>
              <a:ext uri="{FF2B5EF4-FFF2-40B4-BE49-F238E27FC236}">
                <a16:creationId xmlns:a16="http://schemas.microsoft.com/office/drawing/2014/main" id="{EFC9E916-0EF8-4213-85C7-2E628E5884E9}"/>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id="{B6584EB5-4B22-4F76-A5E1-6A1187A9B490}"/>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id="{A38D9D75-FD64-4480-9D82-733A3B3C3331}"/>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F02EBD0C-AFA0-474F-BE64-0EA60EC68E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DDDEB1DB-0ACC-4D22-95D2-8BAAFDDC801E}"/>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id="{C0B2DF2F-55E8-4FDB-99B0-0D64E013D73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831784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Rounded Rectangle 175">
            <a:extLst>
              <a:ext uri="{FF2B5EF4-FFF2-40B4-BE49-F238E27FC236}">
                <a16:creationId xmlns:a16="http://schemas.microsoft.com/office/drawing/2014/main" id="{AACCE7D9-540A-47B9-8964-41031B797FDD}"/>
              </a:ext>
            </a:extLst>
          </p:cNvPr>
          <p:cNvSpPr/>
          <p:nvPr/>
        </p:nvSpPr>
        <p:spPr bwMode="auto">
          <a:xfrm>
            <a:off x="4953000" y="1227144"/>
            <a:ext cx="3429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47" name="TextBox 146">
            <a:extLst>
              <a:ext uri="{FF2B5EF4-FFF2-40B4-BE49-F238E27FC236}">
                <a16:creationId xmlns:a16="http://schemas.microsoft.com/office/drawing/2014/main" id="{F43469DC-7F5B-471E-BD74-ED709E621F63}"/>
              </a:ext>
            </a:extLst>
          </p:cNvPr>
          <p:cNvSpPr txBox="1"/>
          <p:nvPr/>
        </p:nvSpPr>
        <p:spPr>
          <a:xfrm>
            <a:off x="5344567" y="2092656"/>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1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3142755" y="271625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مبتنی بر ولتاژ</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id="{90C43403-B77E-474E-A638-C5BD6540DB40}"/>
              </a:ext>
            </a:extLst>
          </p:cNvPr>
          <p:cNvSpPr txBox="1"/>
          <p:nvPr/>
        </p:nvSpPr>
        <p:spPr>
          <a:xfrm>
            <a:off x="2992949" y="3109915"/>
            <a:ext cx="65" cy="276999"/>
          </a:xfrm>
          <a:prstGeom prst="rect">
            <a:avLst/>
          </a:prstGeom>
          <a:noFill/>
        </p:spPr>
        <p:txBody>
          <a:bodyPr wrap="none" lIns="0" tIns="0" rIns="0" bIns="0" rtlCol="0">
            <a:spAutoFit/>
          </a:bodyPr>
          <a:lstStyle/>
          <a:p>
            <a:endParaRPr lang="en-US" dirty="0"/>
          </a:p>
        </p:txBody>
      </p:sp>
      <p:sp>
        <p:nvSpPr>
          <p:cNvPr id="1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2819444" y="404181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وضعیت </a:t>
            </a:r>
            <a:r>
              <a:rPr lang="fa-IR" b="1" dirty="0" err="1">
                <a:solidFill>
                  <a:srgbClr val="000000"/>
                </a:solidFill>
                <a:latin typeface="Times New Roman" panose="02020603050405020304" pitchFamily="18" charset="0"/>
                <a:cs typeface="B Nazanin" pitchFamily="2" charset="-78"/>
              </a:rPr>
              <a:t>شارژ</a:t>
            </a:r>
            <a:r>
              <a:rPr lang="fa-IR" b="1" dirty="0">
                <a:solidFill>
                  <a:srgbClr val="000000"/>
                </a:solidFill>
                <a:latin typeface="Times New Roman" panose="02020603050405020304" pitchFamily="18" charset="0"/>
                <a:cs typeface="B Nazanin" pitchFamily="2" charset="-78"/>
              </a:rPr>
              <a:t> (</a:t>
            </a:r>
            <a:r>
              <a:rPr lang="en-US" b="1" dirty="0">
                <a:solidFill>
                  <a:srgbClr val="000000"/>
                </a:solidFill>
                <a:latin typeface="Times New Roman" panose="02020603050405020304" pitchFamily="18" charset="0"/>
                <a:cs typeface="B Nazanin" pitchFamily="2" charset="-78"/>
              </a:rPr>
              <a:t>SOC</a:t>
            </a:r>
            <a:r>
              <a:rPr lang="fa-IR" b="1" dirty="0">
                <a:solidFill>
                  <a:srgbClr val="000000"/>
                </a:solidFill>
                <a:latin typeface="Times New Roman" panose="02020603050405020304" pitchFamily="18" charset="0"/>
                <a:cs typeface="B Nazanin"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3216550" y="536737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ظرفیت باقی مانده </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176"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44" name="Picture 43">
            <a:extLst>
              <a:ext uri="{FF2B5EF4-FFF2-40B4-BE49-F238E27FC236}">
                <a16:creationId xmlns:a16="http://schemas.microsoft.com/office/drawing/2014/main" id="{E448CBB6-205F-4A19-B760-D7DB914CD91E}"/>
              </a:ext>
            </a:extLst>
          </p:cNvPr>
          <p:cNvPicPr>
            <a:picLocks noChangeAspect="1"/>
          </p:cNvPicPr>
          <p:nvPr/>
        </p:nvPicPr>
        <p:blipFill>
          <a:blip r:embed="rId4"/>
          <a:stretch>
            <a:fillRect/>
          </a:stretch>
        </p:blipFill>
        <p:spPr>
          <a:xfrm>
            <a:off x="370588" y="932649"/>
            <a:ext cx="1676480" cy="1122389"/>
          </a:xfrm>
          <a:prstGeom prst="rect">
            <a:avLst/>
          </a:prstGeom>
        </p:spPr>
      </p:pic>
      <p:sp>
        <p:nvSpPr>
          <p:cNvPr id="4" name="Slide Number Placeholder 3">
            <a:extLst>
              <a:ext uri="{FF2B5EF4-FFF2-40B4-BE49-F238E27FC236}">
                <a16:creationId xmlns:a16="http://schemas.microsoft.com/office/drawing/2014/main" id="{2362C952-6708-4F88-B2DA-95AF1E3F0EFF}"/>
              </a:ext>
            </a:extLst>
          </p:cNvPr>
          <p:cNvSpPr>
            <a:spLocks noGrp="1"/>
          </p:cNvSpPr>
          <p:nvPr>
            <p:ph type="sldNum" sz="quarter" idx="12"/>
          </p:nvPr>
        </p:nvSpPr>
        <p:spPr/>
        <p:txBody>
          <a:bodyPr/>
          <a:lstStyle/>
          <a:p>
            <a:fld id="{7FC2E40A-4446-4E2B-B9AD-16F559E28E02}" type="slidenum">
              <a:rPr lang="en-US" smtClean="0"/>
              <a:t>26</a:t>
            </a:fld>
            <a:endParaRPr lang="en-US"/>
          </a:p>
        </p:txBody>
      </p:sp>
      <p:sp>
        <p:nvSpPr>
          <p:cNvPr id="4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1" name="Rectangle 50">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252865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Box 23">
            <a:extLst>
              <a:ext uri="{FF2B5EF4-FFF2-40B4-BE49-F238E27FC236}">
                <a16:creationId xmlns:a16="http://schemas.microsoft.com/office/drawing/2014/main" id="{F43469DC-7F5B-471E-BD74-ED709E621F63}"/>
              </a:ext>
            </a:extLst>
          </p:cNvPr>
          <p:cNvSpPr txBox="1"/>
          <p:nvPr/>
        </p:nvSpPr>
        <p:spPr>
          <a:xfrm>
            <a:off x="6667382" y="2357681"/>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3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 name="Rectangle 7"/>
          <p:cNvSpPr/>
          <p:nvPr/>
        </p:nvSpPr>
        <p:spPr>
          <a:xfrm>
            <a:off x="1381438" y="6397883"/>
            <a:ext cx="5857561"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5 همسان سازی مبتنی بر ولتاژ(الف)، </a:t>
            </a:r>
            <a:r>
              <a:rPr lang="en-US" dirty="0">
                <a:latin typeface="Times New Roman" panose="02020603050405020304" pitchFamily="18" charset="0"/>
                <a:ea typeface="Calibri" panose="020F0502020204030204" pitchFamily="34" charset="0"/>
                <a:cs typeface="B Lotus" panose="00000400000000000000" pitchFamily="2" charset="-78"/>
              </a:rPr>
              <a:t>SOC</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و ظرفیت باقی مانده</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27</a:t>
            </a:fld>
            <a:endParaRPr lang="fa-IR" sz="1800" dirty="0">
              <a:solidFill>
                <a:schemeClr val="tx1"/>
              </a:solidFill>
              <a:cs typeface="B Lotus" panose="00000400000000000000" pitchFamily="2" charset="-78"/>
            </a:endParaRPr>
          </a:p>
        </p:txBody>
      </p:sp>
      <p:grpSp>
        <p:nvGrpSpPr>
          <p:cNvPr id="2" name="Group 1"/>
          <p:cNvGrpSpPr/>
          <p:nvPr/>
        </p:nvGrpSpPr>
        <p:grpSpPr>
          <a:xfrm>
            <a:off x="196008" y="986340"/>
            <a:ext cx="7752756" cy="5465819"/>
            <a:chOff x="196008" y="986340"/>
            <a:chExt cx="7752756" cy="5465819"/>
          </a:xfrm>
        </p:grpSpPr>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6008" y="1850482"/>
              <a:ext cx="416468" cy="249895"/>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282" y="3570351"/>
              <a:ext cx="335920" cy="192226"/>
            </a:xfrm>
            <a:prstGeom prst="rect">
              <a:avLst/>
            </a:prstGeom>
          </p:spPr>
        </p:pic>
        <p:pic>
          <p:nvPicPr>
            <p:cNvPr id="27" name="Picture 2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1844" y="5232551"/>
              <a:ext cx="304800" cy="203212"/>
            </a:xfrm>
            <a:prstGeom prst="rect">
              <a:avLst/>
            </a:prstGeom>
          </p:spPr>
        </p:pic>
        <p:pic>
          <p:nvPicPr>
            <p:cNvPr id="4" name="Picture 3"/>
            <p:cNvPicPr>
              <a:picLocks noChangeAspect="1"/>
            </p:cNvPicPr>
            <p:nvPr/>
          </p:nvPicPr>
          <p:blipFill>
            <a:blip r:embed="rId7"/>
            <a:stretch>
              <a:fillRect/>
            </a:stretch>
          </p:blipFill>
          <p:spPr>
            <a:xfrm>
              <a:off x="644106" y="986340"/>
              <a:ext cx="4126993" cy="1541063"/>
            </a:xfrm>
            <a:prstGeom prst="rect">
              <a:avLst/>
            </a:prstGeom>
          </p:spPr>
        </p:pic>
        <p:pic>
          <p:nvPicPr>
            <p:cNvPr id="5" name="Picture 4"/>
            <p:cNvPicPr>
              <a:picLocks noChangeAspect="1"/>
            </p:cNvPicPr>
            <p:nvPr/>
          </p:nvPicPr>
          <p:blipFill>
            <a:blip r:embed="rId8"/>
            <a:stretch>
              <a:fillRect/>
            </a:stretch>
          </p:blipFill>
          <p:spPr>
            <a:xfrm>
              <a:off x="2482350" y="2671490"/>
              <a:ext cx="3466674" cy="1572772"/>
            </a:xfrm>
            <a:prstGeom prst="rect">
              <a:avLst/>
            </a:prstGeom>
          </p:spPr>
        </p:pic>
        <p:pic>
          <p:nvPicPr>
            <p:cNvPr id="9" name="Picture 8"/>
            <p:cNvPicPr>
              <a:picLocks noChangeAspect="1"/>
            </p:cNvPicPr>
            <p:nvPr/>
          </p:nvPicPr>
          <p:blipFill>
            <a:blip r:embed="rId9"/>
            <a:stretch>
              <a:fillRect/>
            </a:stretch>
          </p:blipFill>
          <p:spPr>
            <a:xfrm>
              <a:off x="4482090" y="4308622"/>
              <a:ext cx="3466674" cy="2143537"/>
            </a:xfrm>
            <a:prstGeom prst="rect">
              <a:avLst/>
            </a:prstGeom>
          </p:spPr>
        </p:pic>
      </p:grpSp>
    </p:spTree>
    <p:extLst>
      <p:ext uri="{BB962C8B-B14F-4D97-AF65-F5344CB8AC3E}">
        <p14:creationId xmlns:p14="http://schemas.microsoft.com/office/powerpoint/2010/main" val="3884691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634824" y="1905000"/>
            <a:ext cx="2151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200" b="1" dirty="0">
                <a:solidFill>
                  <a:srgbClr val="000000"/>
                </a:solidFill>
                <a:latin typeface="Times New Roman" panose="02020603050405020304" pitchFamily="18" charset="0"/>
                <a:cs typeface="B Nazanin" pitchFamily="2" charset="-78"/>
              </a:rPr>
              <a:t>مبتنی بر مدل (تخمین فیلتر کامن)</a:t>
            </a:r>
            <a:endParaRPr lang="en-US" sz="1200"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43025" y="198120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7361" y="3127386"/>
            <a:ext cx="65" cy="276999"/>
          </a:xfrm>
          <a:prstGeom prst="rect">
            <a:avLst/>
          </a:prstGeom>
          <a:noFill/>
        </p:spPr>
        <p:txBody>
          <a:bodyPr wrap="none" lIns="0" tIns="0" rIns="0" bIns="0" rtlCol="0">
            <a:spAutoFit/>
          </a:bodyPr>
          <a:lstStyle/>
          <a:p>
            <a:endParaRPr lang="en-US" dirty="0"/>
          </a:p>
        </p:txBody>
      </p:sp>
      <p:pic>
        <p:nvPicPr>
          <p:cNvPr id="29" name="Picture 28"/>
          <p:cNvPicPr/>
          <p:nvPr/>
        </p:nvPicPr>
        <p:blipFill>
          <a:blip r:embed="rId3">
            <a:extLst>
              <a:ext uri="{28A0092B-C50C-407E-A947-70E740481C1C}">
                <a14:useLocalDpi xmlns:a14="http://schemas.microsoft.com/office/drawing/2010/main" val="0"/>
              </a:ext>
            </a:extLst>
          </a:blip>
          <a:stretch>
            <a:fillRect/>
          </a:stretch>
        </p:blipFill>
        <p:spPr bwMode="auto">
          <a:xfrm>
            <a:off x="253084" y="1369303"/>
            <a:ext cx="6246873" cy="4879985"/>
          </a:xfrm>
          <a:prstGeom prst="rect">
            <a:avLst/>
          </a:prstGeom>
          <a:noFill/>
          <a:ln>
            <a:noFill/>
          </a:ln>
        </p:spPr>
      </p:pic>
      <p:sp>
        <p:nvSpPr>
          <p:cNvPr id="30" name="Rounded Rectangle 175">
            <a:extLst>
              <a:ext uri="{FF2B5EF4-FFF2-40B4-BE49-F238E27FC236}">
                <a16:creationId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9" name="TextBox 48">
            <a:extLst>
              <a:ext uri="{FF2B5EF4-FFF2-40B4-BE49-F238E27FC236}">
                <a16:creationId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0" name="Rectangle 49"/>
          <p:cNvSpPr/>
          <p:nvPr/>
        </p:nvSpPr>
        <p:spPr>
          <a:xfrm>
            <a:off x="520700" y="6297324"/>
            <a:ext cx="5417476"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نمونه ساده شده از تخمین</a:t>
            </a:r>
            <a:r>
              <a:rPr lang="en-US" dirty="0">
                <a:latin typeface="Times New Roman" panose="02020603050405020304" pitchFamily="18" charset="0"/>
                <a:ea typeface="Calibri" panose="020F0502020204030204" pitchFamily="34" charset="0"/>
                <a:cs typeface="B Lotus" panose="00000400000000000000" pitchFamily="2" charset="-78"/>
              </a:rPr>
              <a:t>SOC </a:t>
            </a:r>
            <a:r>
              <a:rPr lang="fa-IR" dirty="0">
                <a:latin typeface="Times New Roman" panose="02020603050405020304" pitchFamily="18" charset="0"/>
                <a:ea typeface="Calibri" panose="020F0502020204030204" pitchFamily="34" charset="0"/>
                <a:cs typeface="B Lotus" panose="00000400000000000000" pitchFamily="2" charset="-78"/>
              </a:rPr>
              <a:t> توسط فیلتر کالمن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17750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7699972" y="2644054"/>
            <a:ext cx="2915072" cy="288245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7" name="TextBox 146">
            <a:extLst>
              <a:ext uri="{FF2B5EF4-FFF2-40B4-BE49-F238E27FC236}">
                <a16:creationId xmlns:a16="http://schemas.microsoft.com/office/drawing/2014/main" id="{F43469DC-7F5B-471E-BD74-ED709E621F63}"/>
              </a:ext>
            </a:extLst>
          </p:cNvPr>
          <p:cNvSpPr txBox="1"/>
          <p:nvPr/>
        </p:nvSpPr>
        <p:spPr>
          <a:xfrm>
            <a:off x="6543464" y="2128566"/>
            <a:ext cx="1794081" cy="369332"/>
          </a:xfrm>
          <a:prstGeom prst="rect">
            <a:avLst/>
          </a:prstGeom>
          <a:noFill/>
        </p:spPr>
        <p:txBody>
          <a:bodyPr wrap="none" rtlCol="0">
            <a:spAutoFit/>
          </a:bodyPr>
          <a:lstStyle/>
          <a:p>
            <a:pPr algn="r" rtl="1"/>
            <a:r>
              <a:rPr lang="fa-IR" b="1" dirty="0">
                <a:cs typeface="B Nazanin" panose="00000400000000000000" pitchFamily="2" charset="-78"/>
              </a:rPr>
              <a:t>اهداف همسان سازی</a:t>
            </a:r>
          </a:p>
        </p:txBody>
      </p:sp>
      <p:sp>
        <p:nvSpPr>
          <p:cNvPr id="1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4268152" y="2670060"/>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زمان همسان سازی</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4216868" y="4877401"/>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انرژی همسان سازی</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7998416" y="2738896"/>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955551" y="4941255"/>
            <a:ext cx="381000" cy="381000"/>
            <a:chOff x="2078" y="1680"/>
            <a:chExt cx="1615" cy="1615"/>
          </a:xfrm>
        </p:grpSpPr>
        <p:sp>
          <p:nvSpPr>
            <p:cNvPr id="176"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0"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925789" y="2889558"/>
            <a:ext cx="2436423" cy="2374074"/>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TextBox 49">
            <a:extLst>
              <a:ext uri="{FF2B5EF4-FFF2-40B4-BE49-F238E27FC236}">
                <a16:creationId xmlns:a16="http://schemas.microsoft.com/office/drawing/2014/main" id="{90C43403-B77E-474E-A638-C5BD6540DB40}"/>
              </a:ext>
            </a:extLst>
          </p:cNvPr>
          <p:cNvSpPr txBox="1"/>
          <p:nvPr/>
        </p:nvSpPr>
        <p:spPr>
          <a:xfrm>
            <a:off x="7595700" y="4944624"/>
            <a:ext cx="65" cy="276999"/>
          </a:xfrm>
          <a:prstGeom prst="rect">
            <a:avLst/>
          </a:prstGeom>
          <a:noFill/>
        </p:spPr>
        <p:txBody>
          <a:bodyPr wrap="none" lIns="0" tIns="0" rIns="0" bIns="0" rtlCol="0">
            <a:spAutoFit/>
          </a:bodyPr>
          <a:lstStyle/>
          <a:p>
            <a:endParaRPr lang="en-US" dirty="0"/>
          </a:p>
        </p:txBody>
      </p:sp>
      <p:pic>
        <p:nvPicPr>
          <p:cNvPr id="70" name="Picture 69">
            <a:extLst>
              <a:ext uri="{FF2B5EF4-FFF2-40B4-BE49-F238E27FC236}">
                <a16:creationId xmlns:a16="http://schemas.microsoft.com/office/drawing/2014/main" id="{C17EC267-B607-46C8-9DBF-B26628F2B82B}"/>
              </a:ext>
            </a:extLst>
          </p:cNvPr>
          <p:cNvPicPr>
            <a:picLocks noChangeAspect="1"/>
          </p:cNvPicPr>
          <p:nvPr/>
        </p:nvPicPr>
        <p:blipFill>
          <a:blip r:embed="rId3"/>
          <a:stretch>
            <a:fillRect/>
          </a:stretch>
        </p:blipFill>
        <p:spPr>
          <a:xfrm>
            <a:off x="740300" y="2068626"/>
            <a:ext cx="2252663" cy="1579514"/>
          </a:xfrm>
          <a:prstGeom prst="rect">
            <a:avLst/>
          </a:prstGeom>
        </p:spPr>
      </p:pic>
      <p:sp>
        <p:nvSpPr>
          <p:cNvPr id="71" name="Arrow: Left 8">
            <a:extLst>
              <a:ext uri="{FF2B5EF4-FFF2-40B4-BE49-F238E27FC236}">
                <a16:creationId xmlns:a16="http://schemas.microsoft.com/office/drawing/2014/main" id="{885AF64E-0448-429C-BCDF-56907CBFD9B5}"/>
              </a:ext>
            </a:extLst>
          </p:cNvPr>
          <p:cNvSpPr/>
          <p:nvPr/>
        </p:nvSpPr>
        <p:spPr>
          <a:xfrm>
            <a:off x="2541922" y="3762440"/>
            <a:ext cx="304800" cy="76200"/>
          </a:xfrm>
          <a:prstGeom prst="leftArrow">
            <a:avLst/>
          </a:prstGeom>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a:extLst>
              <a:ext uri="{FF2B5EF4-FFF2-40B4-BE49-F238E27FC236}">
                <a16:creationId xmlns:a16="http://schemas.microsoft.com/office/drawing/2014/main" id="{CA0BFFC7-B227-45A5-925E-FECEF55C79E2}"/>
              </a:ext>
            </a:extLst>
          </p:cNvPr>
          <p:cNvCxnSpPr>
            <a:cxnSpLocks/>
          </p:cNvCxnSpPr>
          <p:nvPr/>
        </p:nvCxnSpPr>
        <p:spPr>
          <a:xfrm flipH="1">
            <a:off x="2532956" y="2066264"/>
            <a:ext cx="8966" cy="177978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77" name="Picture 4" descr="Climate Innovation - Maximizing Part Load Efficiency">
            <a:extLst>
              <a:ext uri="{FF2B5EF4-FFF2-40B4-BE49-F238E27FC236}">
                <a16:creationId xmlns:a16="http://schemas.microsoft.com/office/drawing/2014/main" id="{263AA18B-D7D5-414A-9317-002C648939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8" y="4093418"/>
            <a:ext cx="1895272" cy="1895272"/>
          </a:xfrm>
          <a:prstGeom prst="rect">
            <a:avLst/>
          </a:prstGeom>
          <a:noFill/>
          <a:extLst>
            <a:ext uri="{909E8E84-426E-40DD-AFC4-6F175D3DCCD1}">
              <a14:hiddenFill xmlns:a14="http://schemas.microsoft.com/office/drawing/2010/main">
                <a:solidFill>
                  <a:srgbClr val="FFFFFF"/>
                </a:solidFill>
              </a14:hiddenFill>
            </a:ext>
          </a:extLst>
        </p:spPr>
      </p:pic>
      <p:sp>
        <p:nvSpPr>
          <p:cNvPr id="60" name="Rounded Rectangle 175">
            <a:extLst>
              <a:ext uri="{FF2B5EF4-FFF2-40B4-BE49-F238E27FC236}">
                <a16:creationId xmlns:a16="http://schemas.microsoft.com/office/drawing/2014/main" id="{D8E27344-2AB1-4A61-B14B-D9C7962F785E}"/>
              </a:ext>
            </a:extLst>
          </p:cNvPr>
          <p:cNvSpPr/>
          <p:nvPr/>
        </p:nvSpPr>
        <p:spPr bwMode="auto">
          <a:xfrm>
            <a:off x="6324600" y="117801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61" name="Picture 60"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4" name="Rectangle 63">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66"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8" name="Rectangle 67">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9" name="Rectangle 68">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29</a:t>
            </a:fld>
            <a:endParaRPr lang="en-US"/>
          </a:p>
        </p:txBody>
      </p:sp>
      <p:sp>
        <p:nvSpPr>
          <p:cNvPr id="3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5023973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ounded Rectangle 175">
            <a:extLst>
              <a:ext uri="{FF2B5EF4-FFF2-40B4-BE49-F238E27FC236}">
                <a16:creationId xmlns:a16="http://schemas.microsoft.com/office/drawing/2014/main" id="{D8E27344-2AB1-4A61-B14B-D9C7962F785E}"/>
              </a:ext>
            </a:extLst>
          </p:cNvPr>
          <p:cNvSpPr/>
          <p:nvPr/>
        </p:nvSpPr>
        <p:spPr bwMode="auto">
          <a:xfrm>
            <a:off x="7456486" y="874277"/>
            <a:ext cx="1802143" cy="297229"/>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12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2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p:cNvSpPr/>
          <p:nvPr/>
        </p:nvSpPr>
        <p:spPr>
          <a:xfrm>
            <a:off x="2348903" y="6430123"/>
            <a:ext cx="3922869" cy="369332"/>
          </a:xfrm>
          <a:prstGeom prst="rect">
            <a:avLst/>
          </a:prstGeom>
        </p:spPr>
        <p:txBody>
          <a:bodyPr wrap="none">
            <a:spAutoFit/>
          </a:bodyPr>
          <a:lstStyle/>
          <a:p>
            <a:pPr algn="r" rtl="1" fontAlgn="base">
              <a:spcBef>
                <a:spcPct val="0"/>
              </a:spcBef>
              <a:spcAft>
                <a:spcPct val="0"/>
              </a:spcAft>
            </a:pPr>
            <a:r>
              <a:rPr lang="fa-IR" dirty="0">
                <a:cs typeface="B Nazanin" panose="00000400000000000000" pitchFamily="2" charset="-78"/>
              </a:rPr>
              <a:t>ارزیابی توپولوژی‌های نام‌برده شده در ابعاد مختلف </a:t>
            </a:r>
            <a:r>
              <a:rPr lang="fa-IR" dirty="0">
                <a:solidFill>
                  <a:srgbClr val="61D6FF"/>
                </a:solidFill>
                <a:cs typeface="B Nazanin" panose="00000400000000000000" pitchFamily="2" charset="-78"/>
              </a:rPr>
              <a:t>[1]</a:t>
            </a:r>
            <a:r>
              <a:rPr lang="fa-IR" dirty="0">
                <a:cs typeface="B Nazanin" panose="00000400000000000000" pitchFamily="2" charset="-78"/>
              </a:rPr>
              <a:t>.</a:t>
            </a:r>
            <a:endParaRPr lang="en-US" dirty="0">
              <a:solidFill>
                <a:srgbClr val="000000"/>
              </a:solidFill>
              <a:latin typeface="Times New Roman" panose="02020603050405020304" pitchFamily="18" charset="0"/>
              <a:cs typeface="B Nazanin"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1282533090"/>
              </p:ext>
            </p:extLst>
          </p:nvPr>
        </p:nvGraphicFramePr>
        <p:xfrm>
          <a:off x="234009" y="1293921"/>
          <a:ext cx="8229599" cy="4975460"/>
        </p:xfrm>
        <a:graphic>
          <a:graphicData uri="http://schemas.openxmlformats.org/drawingml/2006/table">
            <a:tbl>
              <a:tblPr rtl="1" firstRow="1" firstCol="1" bandRow="1"/>
              <a:tblGrid>
                <a:gridCol w="1175657">
                  <a:extLst>
                    <a:ext uri="{9D8B030D-6E8A-4147-A177-3AD203B41FA5}">
                      <a16:colId xmlns:a16="http://schemas.microsoft.com/office/drawing/2014/main" val="20000"/>
                    </a:ext>
                  </a:extLst>
                </a:gridCol>
                <a:gridCol w="1175657">
                  <a:extLst>
                    <a:ext uri="{9D8B030D-6E8A-4147-A177-3AD203B41FA5}">
                      <a16:colId xmlns:a16="http://schemas.microsoft.com/office/drawing/2014/main" val="20001"/>
                    </a:ext>
                  </a:extLst>
                </a:gridCol>
                <a:gridCol w="1175657">
                  <a:extLst>
                    <a:ext uri="{9D8B030D-6E8A-4147-A177-3AD203B41FA5}">
                      <a16:colId xmlns:a16="http://schemas.microsoft.com/office/drawing/2014/main" val="20002"/>
                    </a:ext>
                  </a:extLst>
                </a:gridCol>
                <a:gridCol w="1175657">
                  <a:extLst>
                    <a:ext uri="{9D8B030D-6E8A-4147-A177-3AD203B41FA5}">
                      <a16:colId xmlns:a16="http://schemas.microsoft.com/office/drawing/2014/main" val="20003"/>
                    </a:ext>
                  </a:extLst>
                </a:gridCol>
                <a:gridCol w="1175657">
                  <a:extLst>
                    <a:ext uri="{9D8B030D-6E8A-4147-A177-3AD203B41FA5}">
                      <a16:colId xmlns:a16="http://schemas.microsoft.com/office/drawing/2014/main" val="20004"/>
                    </a:ext>
                  </a:extLst>
                </a:gridCol>
                <a:gridCol w="1175657">
                  <a:extLst>
                    <a:ext uri="{9D8B030D-6E8A-4147-A177-3AD203B41FA5}">
                      <a16:colId xmlns:a16="http://schemas.microsoft.com/office/drawing/2014/main" val="20005"/>
                    </a:ext>
                  </a:extLst>
                </a:gridCol>
                <a:gridCol w="1175657">
                  <a:extLst>
                    <a:ext uri="{9D8B030D-6E8A-4147-A177-3AD203B41FA5}">
                      <a16:colId xmlns:a16="http://schemas.microsoft.com/office/drawing/2014/main" val="20006"/>
                    </a:ext>
                  </a:extLst>
                </a:gridCol>
              </a:tblGrid>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توپولوژی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در الگوریتم</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توان تلفاتی</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میانگین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سلول به سلول مستقیم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لایه‌ای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4949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ترکیبی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4</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2/7</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729451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rotWithShape="1">
          <a:blip r:embed="rId3">
            <a:extLst>
              <a:ext uri="{28A0092B-C50C-407E-A947-70E740481C1C}">
                <a14:useLocalDpi xmlns:a14="http://schemas.microsoft.com/office/drawing/2010/main" val="0"/>
              </a:ext>
            </a:extLst>
          </a:blip>
          <a:srcRect b="1281"/>
          <a:stretch/>
        </p:blipFill>
        <p:spPr bwMode="auto">
          <a:xfrm>
            <a:off x="618951" y="2009934"/>
            <a:ext cx="8486677" cy="4194532"/>
          </a:xfrm>
          <a:prstGeom prst="rect">
            <a:avLst/>
          </a:prstGeom>
          <a:noFill/>
          <a:ln>
            <a:noFill/>
          </a:ln>
        </p:spPr>
      </p:pic>
      <p:sp>
        <p:nvSpPr>
          <p:cNvPr id="3" name="Rectangle 2"/>
          <p:cNvSpPr/>
          <p:nvPr/>
        </p:nvSpPr>
        <p:spPr>
          <a:xfrm>
            <a:off x="2910887" y="6152866"/>
            <a:ext cx="2767103"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مدار همسان سازی انتقال مجاور </a:t>
            </a:r>
            <a:r>
              <a:rPr lang="fa-IR" sz="1600" dirty="0">
                <a:solidFill>
                  <a:srgbClr val="61D6FF"/>
                </a:solidFill>
                <a:cs typeface="B Lotus" panose="00000400000000000000" pitchFamily="2" charset="-78"/>
              </a:rPr>
              <a:t>[1]</a:t>
            </a:r>
            <a:r>
              <a:rPr lang="fa-IR" sz="1600" b="1" dirty="0">
                <a:cs typeface="B Lotus" panose="00000400000000000000" pitchFamily="2" charset="-78"/>
              </a:rPr>
              <a:t>.</a:t>
            </a:r>
            <a:endParaRPr lang="en-US" b="1" dirty="0">
              <a:solidFill>
                <a:srgbClr val="000000"/>
              </a:solidFill>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5026345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026629" y="5791200"/>
            <a:ext cx="429797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همسان‌ساز ترانسفورماتور چندسیم‌پیچه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346210" y="1343033"/>
            <a:ext cx="8350115" cy="4100508"/>
          </a:xfrm>
          <a:prstGeom prst="rect">
            <a:avLst/>
          </a:prstGeom>
        </p:spPr>
      </p:pic>
      <p:sp>
        <p:nvSpPr>
          <p:cNvPr id="3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1"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TextBox 44">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293885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78942" y="6105269"/>
            <a:ext cx="2686954"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مدار سوئیچ خازنی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5" name="Picture 14"/>
          <p:cNvPicPr/>
          <p:nvPr/>
        </p:nvPicPr>
        <p:blipFill>
          <a:blip r:embed="rId3" cstate="print">
            <a:extLst>
              <a:ext uri="{28A0092B-C50C-407E-A947-70E740481C1C}">
                <a14:useLocalDpi xmlns:a14="http://schemas.microsoft.com/office/drawing/2010/main" val="0"/>
              </a:ext>
            </a:extLst>
          </a:blip>
          <a:stretch>
            <a:fillRect/>
          </a:stretch>
        </p:blipFill>
        <p:spPr bwMode="auto">
          <a:xfrm>
            <a:off x="693800" y="1946760"/>
            <a:ext cx="3751792" cy="4176558"/>
          </a:xfrm>
          <a:prstGeom prst="rect">
            <a:avLst/>
          </a:prstGeom>
          <a:noFill/>
          <a:ln>
            <a:noFill/>
          </a:ln>
        </p:spPr>
      </p:pic>
      <p:pic>
        <p:nvPicPr>
          <p:cNvPr id="4" name="Picture 3"/>
          <p:cNvPicPr>
            <a:picLocks noChangeAspect="1"/>
          </p:cNvPicPr>
          <p:nvPr/>
        </p:nvPicPr>
        <p:blipFill>
          <a:blip r:embed="rId4"/>
          <a:stretch>
            <a:fillRect/>
          </a:stretch>
        </p:blipFill>
        <p:spPr>
          <a:xfrm>
            <a:off x="5257800" y="1905000"/>
            <a:ext cx="3008569" cy="4167033"/>
          </a:xfrm>
          <a:prstGeom prst="rect">
            <a:avLst/>
          </a:prstGeom>
        </p:spPr>
      </p:pic>
      <p:sp>
        <p:nvSpPr>
          <p:cNvPr id="18" name="Rectangle 17"/>
          <p:cNvSpPr/>
          <p:nvPr/>
        </p:nvSpPr>
        <p:spPr>
          <a:xfrm>
            <a:off x="5058792" y="6123318"/>
            <a:ext cx="3067951" cy="369332"/>
          </a:xfrm>
          <a:prstGeom prst="rect">
            <a:avLst/>
          </a:prstGeom>
        </p:spPr>
        <p:txBody>
          <a:bodyPr wrap="square">
            <a:spAutoFit/>
          </a:bodyPr>
          <a:lstStyle/>
          <a:p>
            <a:pPr algn="r" rtl="1" fontAlgn="base">
              <a:spcBef>
                <a:spcPct val="0"/>
              </a:spcBef>
              <a:spcAft>
                <a:spcPct val="0"/>
              </a:spcAft>
            </a:pPr>
            <a:r>
              <a:rPr lang="fa-IR" b="1" dirty="0">
                <a:cs typeface="B Nazanin" panose="00000400000000000000" pitchFamily="2" charset="-78"/>
              </a:rPr>
              <a:t>ساختار مدار سوئیچ </a:t>
            </a:r>
            <a:r>
              <a:rPr lang="fa-IR" b="1" dirty="0" err="1">
                <a:cs typeface="B Nazanin" panose="00000400000000000000" pitchFamily="2" charset="-78"/>
              </a:rPr>
              <a:t>خازنی</a:t>
            </a:r>
            <a:r>
              <a:rPr lang="fa-IR" b="1" dirty="0">
                <a:cs typeface="B Nazanin" panose="00000400000000000000" pitchFamily="2" charset="-78"/>
              </a:rPr>
              <a:t> </a:t>
            </a:r>
            <a:r>
              <a:rPr lang="fa-IR" b="1" dirty="0" err="1">
                <a:cs typeface="B Nazanin" panose="00000400000000000000" pitchFamily="2" charset="-78"/>
              </a:rPr>
              <a:t>دوبل</a:t>
            </a:r>
            <a:r>
              <a:rPr lang="fa-IR" b="1" dirty="0">
                <a:cs typeface="B Nazanin" panose="00000400000000000000" pitchFamily="2" charset="-78"/>
              </a:rPr>
              <a:t>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sp>
        <p:nvSpPr>
          <p:cNvPr id="17"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Rectangle 32">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2" name="Slide Number Placeholder 1"/>
          <p:cNvSpPr>
            <a:spLocks noGrp="1"/>
          </p:cNvSpPr>
          <p:nvPr>
            <p:ph type="sldNum" sz="quarter" idx="12"/>
          </p:nvPr>
        </p:nvSpPr>
        <p:spPr/>
        <p:txBody>
          <a:bodyPr/>
          <a:lstStyle/>
          <a:p>
            <a:fld id="{7FC2E40A-4446-4E2B-B9AD-16F559E28E02}" type="slidenum">
              <a:rPr lang="en-US" smtClean="0"/>
              <a:t>33</a:t>
            </a:fld>
            <a:endParaRPr lang="en-US"/>
          </a:p>
        </p:txBody>
      </p:sp>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113893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9780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4"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4137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TextBox 35">
            <a:extLst>
              <a:ext uri="{FF2B5EF4-FFF2-40B4-BE49-F238E27FC236}">
                <a16:creationId xmlns:a16="http://schemas.microsoft.com/office/drawing/2014/main" id="{E582C850-2AD4-4453-BC7F-ADB7F3A6B2EB}"/>
              </a:ext>
            </a:extLst>
          </p:cNvPr>
          <p:cNvSpPr txBox="1"/>
          <p:nvPr/>
        </p:nvSpPr>
        <p:spPr>
          <a:xfrm>
            <a:off x="4367529" y="2083916"/>
            <a:ext cx="65" cy="276999"/>
          </a:xfrm>
          <a:prstGeom prst="rect">
            <a:avLst/>
          </a:prstGeom>
          <a:noFill/>
        </p:spPr>
        <p:txBody>
          <a:bodyPr wrap="none" lIns="0" tIns="0" rIns="0" bIns="0" rtlCol="0">
            <a:spAutoFit/>
          </a:bodyPr>
          <a:lstStyle/>
          <a:p>
            <a:endParaRPr lang="en-US" dirty="0"/>
          </a:p>
        </p:txBody>
      </p:sp>
      <p:grpSp>
        <p:nvGrpSpPr>
          <p:cNvPr id="56" name="Group 16">
            <a:extLst>
              <a:ext uri="{FF2B5EF4-FFF2-40B4-BE49-F238E27FC236}">
                <a16:creationId xmlns:a16="http://schemas.microsoft.com/office/drawing/2014/main" id="{48F23651-6D61-40C8-8FEE-2BD1F065F699}"/>
              </a:ext>
            </a:extLst>
          </p:cNvPr>
          <p:cNvGrpSpPr>
            <a:grpSpLocks noChangeAspect="1"/>
          </p:cNvGrpSpPr>
          <p:nvPr/>
        </p:nvGrpSpPr>
        <p:grpSpPr bwMode="auto">
          <a:xfrm>
            <a:off x="4895495" y="1671627"/>
            <a:ext cx="381000" cy="381000"/>
            <a:chOff x="2078" y="1680"/>
            <a:chExt cx="1615" cy="1615"/>
          </a:xfrm>
        </p:grpSpPr>
        <p:sp>
          <p:nvSpPr>
            <p:cNvPr id="57" name="Oval 17">
              <a:extLst>
                <a:ext uri="{FF2B5EF4-FFF2-40B4-BE49-F238E27FC236}">
                  <a16:creationId xmlns:a16="http://schemas.microsoft.com/office/drawing/2014/main" id="{1BD467B5-241D-41EF-813B-C90434382B1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18">
              <a:extLst>
                <a:ext uri="{FF2B5EF4-FFF2-40B4-BE49-F238E27FC236}">
                  <a16:creationId xmlns:a16="http://schemas.microsoft.com/office/drawing/2014/main" id="{B5F0A1C3-3226-420B-A01C-C859D0007CD2}"/>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19">
              <a:extLst>
                <a:ext uri="{FF2B5EF4-FFF2-40B4-BE49-F238E27FC236}">
                  <a16:creationId xmlns:a16="http://schemas.microsoft.com/office/drawing/2014/main" id="{F5DE5234-D6B7-46A1-9EAB-6D52E6637BD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0">
              <a:extLst>
                <a:ext uri="{FF2B5EF4-FFF2-40B4-BE49-F238E27FC236}">
                  <a16:creationId xmlns:a16="http://schemas.microsoft.com/office/drawing/2014/main" id="{CB389E40-FA61-419E-BEF4-B93947EC57D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1">
              <a:extLst>
                <a:ext uri="{FF2B5EF4-FFF2-40B4-BE49-F238E27FC236}">
                  <a16:creationId xmlns:a16="http://schemas.microsoft.com/office/drawing/2014/main" id="{212D8A55-5449-439A-90FC-160FB3B6DB5C}"/>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2">
              <a:extLst>
                <a:ext uri="{FF2B5EF4-FFF2-40B4-BE49-F238E27FC236}">
                  <a16:creationId xmlns:a16="http://schemas.microsoft.com/office/drawing/2014/main" id="{82243F0D-BC4E-453E-AF30-E2C16B4BF936}"/>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66" name="AutoShape 8">
            <a:extLst>
              <a:ext uri="{FF2B5EF4-FFF2-40B4-BE49-F238E27FC236}">
                <a16:creationId xmlns:a16="http://schemas.microsoft.com/office/drawing/2014/main" id="{2F0F3ECB-625C-4903-B10F-E7745C98B387}"/>
              </a:ext>
            </a:extLst>
          </p:cNvPr>
          <p:cNvSpPr>
            <a:spLocks noChangeAspect="1" noChangeArrowheads="1"/>
          </p:cNvSpPr>
          <p:nvPr/>
        </p:nvSpPr>
        <p:spPr bwMode="gray">
          <a:xfrm>
            <a:off x="2863808" y="1591645"/>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grpSp>
        <p:nvGrpSpPr>
          <p:cNvPr id="81" name="Group 16">
            <a:extLst>
              <a:ext uri="{FF2B5EF4-FFF2-40B4-BE49-F238E27FC236}">
                <a16:creationId xmlns:a16="http://schemas.microsoft.com/office/drawing/2014/main" id="{2044EBB7-106C-4578-9CBF-500EE6F658F0}"/>
              </a:ext>
            </a:extLst>
          </p:cNvPr>
          <p:cNvGrpSpPr>
            <a:grpSpLocks noChangeAspect="1"/>
          </p:cNvGrpSpPr>
          <p:nvPr/>
        </p:nvGrpSpPr>
        <p:grpSpPr bwMode="auto">
          <a:xfrm>
            <a:off x="4880633" y="2221214"/>
            <a:ext cx="381000" cy="381000"/>
            <a:chOff x="2078" y="1680"/>
            <a:chExt cx="1615" cy="1615"/>
          </a:xfrm>
        </p:grpSpPr>
        <p:sp>
          <p:nvSpPr>
            <p:cNvPr id="82" name="Oval 17">
              <a:extLst>
                <a:ext uri="{FF2B5EF4-FFF2-40B4-BE49-F238E27FC236}">
                  <a16:creationId xmlns:a16="http://schemas.microsoft.com/office/drawing/2014/main" id="{4225F4B0-A869-446D-B74C-3E03CDDCFB10}"/>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3" name="Oval 18">
              <a:extLst>
                <a:ext uri="{FF2B5EF4-FFF2-40B4-BE49-F238E27FC236}">
                  <a16:creationId xmlns:a16="http://schemas.microsoft.com/office/drawing/2014/main" id="{26B960CA-3F48-4292-808D-CB9959F3CBF1}"/>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4" name="Oval 19">
              <a:extLst>
                <a:ext uri="{FF2B5EF4-FFF2-40B4-BE49-F238E27FC236}">
                  <a16:creationId xmlns:a16="http://schemas.microsoft.com/office/drawing/2014/main" id="{545D9F2F-5471-4FD7-B846-BDE25308EC72}"/>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5" name="Oval 20">
              <a:extLst>
                <a:ext uri="{FF2B5EF4-FFF2-40B4-BE49-F238E27FC236}">
                  <a16:creationId xmlns:a16="http://schemas.microsoft.com/office/drawing/2014/main" id="{56A24BAD-299E-4E54-BA04-C1A4AF14E815}"/>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6" name="Oval 21">
              <a:extLst>
                <a:ext uri="{FF2B5EF4-FFF2-40B4-BE49-F238E27FC236}">
                  <a16:creationId xmlns:a16="http://schemas.microsoft.com/office/drawing/2014/main" id="{5F055675-6400-4B29-B9E1-FE2FFC85A79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7" name="Oval 22">
              <a:extLst>
                <a:ext uri="{FF2B5EF4-FFF2-40B4-BE49-F238E27FC236}">
                  <a16:creationId xmlns:a16="http://schemas.microsoft.com/office/drawing/2014/main" id="{170B74C0-C3D8-44A8-8278-4D8F89FBD858}"/>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88" name="AutoShape 8">
            <a:extLst>
              <a:ext uri="{FF2B5EF4-FFF2-40B4-BE49-F238E27FC236}">
                <a16:creationId xmlns:a16="http://schemas.microsoft.com/office/drawing/2014/main" id="{FD6AFBCA-B6AC-43F5-8D01-3342F74CB5FD}"/>
              </a:ext>
            </a:extLst>
          </p:cNvPr>
          <p:cNvSpPr>
            <a:spLocks noChangeAspect="1" noChangeArrowheads="1"/>
          </p:cNvSpPr>
          <p:nvPr/>
        </p:nvSpPr>
        <p:spPr bwMode="gray">
          <a:xfrm>
            <a:off x="2848946" y="2141232"/>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sp>
        <p:nvSpPr>
          <p:cNvPr id="89" name="TextBox 88">
            <a:extLst>
              <a:ext uri="{FF2B5EF4-FFF2-40B4-BE49-F238E27FC236}">
                <a16:creationId xmlns:a16="http://schemas.microsoft.com/office/drawing/2014/main" id="{5382B4C5-8F91-4918-A48A-9E9F395AB00C}"/>
              </a:ext>
            </a:extLst>
          </p:cNvPr>
          <p:cNvSpPr txBox="1"/>
          <p:nvPr/>
        </p:nvSpPr>
        <p:spPr>
          <a:xfrm>
            <a:off x="4379697" y="2630441"/>
            <a:ext cx="65" cy="276999"/>
          </a:xfrm>
          <a:prstGeom prst="rect">
            <a:avLst/>
          </a:prstGeom>
          <a:noFill/>
        </p:spPr>
        <p:txBody>
          <a:bodyPr wrap="none" lIns="0" tIns="0" rIns="0" bIns="0" rtlCol="0">
            <a:spAutoFit/>
          </a:bodyPr>
          <a:lstStyle/>
          <a:p>
            <a:endParaRPr lang="en-US" dirty="0"/>
          </a:p>
        </p:txBody>
      </p:sp>
      <p:grpSp>
        <p:nvGrpSpPr>
          <p:cNvPr id="90" name="Group 16">
            <a:extLst>
              <a:ext uri="{FF2B5EF4-FFF2-40B4-BE49-F238E27FC236}">
                <a16:creationId xmlns:a16="http://schemas.microsoft.com/office/drawing/2014/main" id="{FBD3D725-34E3-459A-BB18-C8AB09E88E3C}"/>
              </a:ext>
            </a:extLst>
          </p:cNvPr>
          <p:cNvGrpSpPr>
            <a:grpSpLocks noChangeAspect="1"/>
          </p:cNvGrpSpPr>
          <p:nvPr/>
        </p:nvGrpSpPr>
        <p:grpSpPr bwMode="auto">
          <a:xfrm>
            <a:off x="4892801" y="2767739"/>
            <a:ext cx="381000" cy="381000"/>
            <a:chOff x="2078" y="1680"/>
            <a:chExt cx="1615" cy="1615"/>
          </a:xfrm>
        </p:grpSpPr>
        <p:sp>
          <p:nvSpPr>
            <p:cNvPr id="91" name="Oval 17">
              <a:extLst>
                <a:ext uri="{FF2B5EF4-FFF2-40B4-BE49-F238E27FC236}">
                  <a16:creationId xmlns:a16="http://schemas.microsoft.com/office/drawing/2014/main" id="{753B3D21-4E3E-4862-87A5-658F4B7CB996}"/>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2" name="Oval 18">
              <a:extLst>
                <a:ext uri="{FF2B5EF4-FFF2-40B4-BE49-F238E27FC236}">
                  <a16:creationId xmlns:a16="http://schemas.microsoft.com/office/drawing/2014/main" id="{5D02CEFB-28FA-40CB-8F52-0B404E0C379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3" name="Oval 19">
              <a:extLst>
                <a:ext uri="{FF2B5EF4-FFF2-40B4-BE49-F238E27FC236}">
                  <a16:creationId xmlns:a16="http://schemas.microsoft.com/office/drawing/2014/main" id="{F762C7DF-14CE-41AE-8E7D-59D2FCBD5B2B}"/>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4" name="Oval 20">
              <a:extLst>
                <a:ext uri="{FF2B5EF4-FFF2-40B4-BE49-F238E27FC236}">
                  <a16:creationId xmlns:a16="http://schemas.microsoft.com/office/drawing/2014/main" id="{0A577ECC-9535-46D0-97AD-F3E3FE94E1AC}"/>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5" name="Oval 21">
              <a:extLst>
                <a:ext uri="{FF2B5EF4-FFF2-40B4-BE49-F238E27FC236}">
                  <a16:creationId xmlns:a16="http://schemas.microsoft.com/office/drawing/2014/main" id="{574582C9-2954-413F-81CF-B650ABF84B7A}"/>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6" name="Oval 22">
              <a:extLst>
                <a:ext uri="{FF2B5EF4-FFF2-40B4-BE49-F238E27FC236}">
                  <a16:creationId xmlns:a16="http://schemas.microsoft.com/office/drawing/2014/main" id="{BDC6704D-8ED2-432B-A145-7004A5887A52}"/>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97" name="AutoShape 8">
            <a:extLst>
              <a:ext uri="{FF2B5EF4-FFF2-40B4-BE49-F238E27FC236}">
                <a16:creationId xmlns:a16="http://schemas.microsoft.com/office/drawing/2014/main" id="{9C146FEA-974C-4124-9CE8-06D03A4E0502}"/>
              </a:ext>
            </a:extLst>
          </p:cNvPr>
          <p:cNvSpPr>
            <a:spLocks noChangeAspect="1" noChangeArrowheads="1"/>
          </p:cNvSpPr>
          <p:nvPr/>
        </p:nvSpPr>
        <p:spPr bwMode="gray">
          <a:xfrm>
            <a:off x="2861114" y="2687757"/>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لایه ای</a:t>
            </a:r>
            <a:endParaRPr lang="en-US" b="1" dirty="0">
              <a:solidFill>
                <a:srgbClr val="000000"/>
              </a:solidFill>
              <a:latin typeface="Times New Roman" panose="02020603050405020304" pitchFamily="18" charset="0"/>
              <a:cs typeface="B Nazanin" pitchFamily="2" charset="-78"/>
            </a:endParaRPr>
          </a:p>
        </p:txBody>
      </p:sp>
      <p:sp>
        <p:nvSpPr>
          <p:cNvPr id="98" name="AutoShape 8">
            <a:extLst>
              <a:ext uri="{FF2B5EF4-FFF2-40B4-BE49-F238E27FC236}">
                <a16:creationId xmlns:a16="http://schemas.microsoft.com/office/drawing/2014/main" id="{2F35A0BE-ACAE-464F-966C-4598FD947DFB}"/>
              </a:ext>
            </a:extLst>
          </p:cNvPr>
          <p:cNvSpPr>
            <a:spLocks noChangeArrowheads="1"/>
          </p:cNvSpPr>
          <p:nvPr/>
        </p:nvSpPr>
        <p:spPr bwMode="gray">
          <a:xfrm>
            <a:off x="4025645" y="4140404"/>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err="1">
                <a:cs typeface="B Nazanin" panose="00000400000000000000" pitchFamily="2" charset="-78"/>
              </a:rPr>
              <a:t>غیرمجاور</a:t>
            </a:r>
            <a:endParaRPr lang="en-US" b="1" dirty="0">
              <a:solidFill>
                <a:srgbClr val="000000"/>
              </a:solidFill>
              <a:latin typeface="Times New Roman" panose="02020603050405020304" pitchFamily="18" charset="0"/>
              <a:cs typeface="B Nazanin" pitchFamily="2" charset="-78"/>
            </a:endParaRPr>
          </a:p>
        </p:txBody>
      </p:sp>
      <p:grpSp>
        <p:nvGrpSpPr>
          <p:cNvPr id="99" name="Group 23">
            <a:extLst>
              <a:ext uri="{FF2B5EF4-FFF2-40B4-BE49-F238E27FC236}">
                <a16:creationId xmlns:a16="http://schemas.microsoft.com/office/drawing/2014/main" id="{0E5BDF2F-9DE7-4825-9AE7-41E56A5C9B5C}"/>
              </a:ext>
            </a:extLst>
          </p:cNvPr>
          <p:cNvGrpSpPr>
            <a:grpSpLocks noChangeAspect="1"/>
          </p:cNvGrpSpPr>
          <p:nvPr/>
        </p:nvGrpSpPr>
        <p:grpSpPr bwMode="auto">
          <a:xfrm>
            <a:off x="6450707" y="4207472"/>
            <a:ext cx="381000" cy="381000"/>
            <a:chOff x="2078" y="1680"/>
            <a:chExt cx="1615" cy="1615"/>
          </a:xfrm>
        </p:grpSpPr>
        <p:sp>
          <p:nvSpPr>
            <p:cNvPr id="100" name="Oval 24">
              <a:extLst>
                <a:ext uri="{FF2B5EF4-FFF2-40B4-BE49-F238E27FC236}">
                  <a16:creationId xmlns:a16="http://schemas.microsoft.com/office/drawing/2014/main" id="{DD60D054-9F05-4D44-841D-32425F93200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1" name="Oval 25">
              <a:extLst>
                <a:ext uri="{FF2B5EF4-FFF2-40B4-BE49-F238E27FC236}">
                  <a16:creationId xmlns:a16="http://schemas.microsoft.com/office/drawing/2014/main" id="{E52E5307-3006-47A0-B0C3-66AD538A2DE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2" name="Oval 26">
              <a:extLst>
                <a:ext uri="{FF2B5EF4-FFF2-40B4-BE49-F238E27FC236}">
                  <a16:creationId xmlns:a16="http://schemas.microsoft.com/office/drawing/2014/main" id="{29886F4D-9409-4D12-B103-D5723A7D9453}"/>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3" name="Oval 27">
              <a:extLst>
                <a:ext uri="{FF2B5EF4-FFF2-40B4-BE49-F238E27FC236}">
                  <a16:creationId xmlns:a16="http://schemas.microsoft.com/office/drawing/2014/main" id="{03C03DB7-572E-4223-B28C-37172DCAF6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4" name="Oval 28">
              <a:extLst>
                <a:ext uri="{FF2B5EF4-FFF2-40B4-BE49-F238E27FC236}">
                  <a16:creationId xmlns:a16="http://schemas.microsoft.com/office/drawing/2014/main" id="{BD47E8AC-4A74-49D6-87A5-D0985424C5C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5" name="Oval 29">
              <a:extLst>
                <a:ext uri="{FF2B5EF4-FFF2-40B4-BE49-F238E27FC236}">
                  <a16:creationId xmlns:a16="http://schemas.microsoft.com/office/drawing/2014/main" id="{93D097FA-DA6A-4273-8D07-A0CEC8288C0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06" name="Group 16">
            <a:extLst>
              <a:ext uri="{FF2B5EF4-FFF2-40B4-BE49-F238E27FC236}">
                <a16:creationId xmlns:a16="http://schemas.microsoft.com/office/drawing/2014/main" id="{4E762C6F-9CDB-4038-B32D-552B92A2F21E}"/>
              </a:ext>
            </a:extLst>
          </p:cNvPr>
          <p:cNvGrpSpPr>
            <a:grpSpLocks noChangeAspect="1"/>
          </p:cNvGrpSpPr>
          <p:nvPr/>
        </p:nvGrpSpPr>
        <p:grpSpPr bwMode="auto">
          <a:xfrm>
            <a:off x="3694697" y="3966341"/>
            <a:ext cx="381000" cy="381000"/>
            <a:chOff x="2078" y="1680"/>
            <a:chExt cx="1615" cy="1615"/>
          </a:xfrm>
        </p:grpSpPr>
        <p:sp>
          <p:nvSpPr>
            <p:cNvPr id="107" name="Oval 17">
              <a:extLst>
                <a:ext uri="{FF2B5EF4-FFF2-40B4-BE49-F238E27FC236}">
                  <a16:creationId xmlns:a16="http://schemas.microsoft.com/office/drawing/2014/main" id="{A566AA4F-4245-4D71-9A14-84899F89F782}"/>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8" name="Oval 18">
              <a:extLst>
                <a:ext uri="{FF2B5EF4-FFF2-40B4-BE49-F238E27FC236}">
                  <a16:creationId xmlns:a16="http://schemas.microsoft.com/office/drawing/2014/main" id="{5F98DBCF-CF68-4DA7-B174-B1EE0E8FBF04}"/>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9" name="Oval 19">
              <a:extLst>
                <a:ext uri="{FF2B5EF4-FFF2-40B4-BE49-F238E27FC236}">
                  <a16:creationId xmlns:a16="http://schemas.microsoft.com/office/drawing/2014/main" id="{29ACD305-1F3B-4E34-8315-DA5B92F1443D}"/>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0" name="Oval 20">
              <a:extLst>
                <a:ext uri="{FF2B5EF4-FFF2-40B4-BE49-F238E27FC236}">
                  <a16:creationId xmlns:a16="http://schemas.microsoft.com/office/drawing/2014/main" id="{CBF69BE0-0A8B-4F4E-B887-A07B19CDBA5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1" name="Oval 21">
              <a:extLst>
                <a:ext uri="{FF2B5EF4-FFF2-40B4-BE49-F238E27FC236}">
                  <a16:creationId xmlns:a16="http://schemas.microsoft.com/office/drawing/2014/main" id="{FF1E18AA-FE66-4CF0-9FD6-EF332ED7E8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2" name="Oval 22">
              <a:extLst>
                <a:ext uri="{FF2B5EF4-FFF2-40B4-BE49-F238E27FC236}">
                  <a16:creationId xmlns:a16="http://schemas.microsoft.com/office/drawing/2014/main" id="{3EDDF9C3-625B-47C1-A561-917F0D6CEE50}"/>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13" name="AutoShape 8">
            <a:extLst>
              <a:ext uri="{FF2B5EF4-FFF2-40B4-BE49-F238E27FC236}">
                <a16:creationId xmlns:a16="http://schemas.microsoft.com/office/drawing/2014/main" id="{47888911-5BBC-4101-B688-DB3986A1511C}"/>
              </a:ext>
            </a:extLst>
          </p:cNvPr>
          <p:cNvSpPr>
            <a:spLocks noChangeAspect="1" noChangeArrowheads="1"/>
          </p:cNvSpPr>
          <p:nvPr/>
        </p:nvSpPr>
        <p:spPr bwMode="gray">
          <a:xfrm>
            <a:off x="1663010" y="3886359"/>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14" name="TextBox 113">
            <a:extLst>
              <a:ext uri="{FF2B5EF4-FFF2-40B4-BE49-F238E27FC236}">
                <a16:creationId xmlns:a16="http://schemas.microsoft.com/office/drawing/2014/main" id="{F53964F2-A465-42D1-9BA5-A5A01547D796}"/>
              </a:ext>
            </a:extLst>
          </p:cNvPr>
          <p:cNvSpPr txBox="1"/>
          <p:nvPr/>
        </p:nvSpPr>
        <p:spPr>
          <a:xfrm>
            <a:off x="3208352" y="4371405"/>
            <a:ext cx="65" cy="276999"/>
          </a:xfrm>
          <a:prstGeom prst="rect">
            <a:avLst/>
          </a:prstGeom>
          <a:noFill/>
        </p:spPr>
        <p:txBody>
          <a:bodyPr wrap="none" lIns="0" tIns="0" rIns="0" bIns="0" rtlCol="0">
            <a:spAutoFit/>
          </a:bodyPr>
          <a:lstStyle/>
          <a:p>
            <a:endParaRPr lang="en-US" dirty="0"/>
          </a:p>
        </p:txBody>
      </p:sp>
      <p:grpSp>
        <p:nvGrpSpPr>
          <p:cNvPr id="115" name="Group 16">
            <a:extLst>
              <a:ext uri="{FF2B5EF4-FFF2-40B4-BE49-F238E27FC236}">
                <a16:creationId xmlns:a16="http://schemas.microsoft.com/office/drawing/2014/main" id="{49896148-48A4-4709-98EB-5720D105B595}"/>
              </a:ext>
            </a:extLst>
          </p:cNvPr>
          <p:cNvGrpSpPr>
            <a:grpSpLocks noChangeAspect="1"/>
          </p:cNvGrpSpPr>
          <p:nvPr/>
        </p:nvGrpSpPr>
        <p:grpSpPr bwMode="auto">
          <a:xfrm>
            <a:off x="3721456" y="4508703"/>
            <a:ext cx="381000" cy="381000"/>
            <a:chOff x="2078" y="1680"/>
            <a:chExt cx="1615" cy="1615"/>
          </a:xfrm>
        </p:grpSpPr>
        <p:sp>
          <p:nvSpPr>
            <p:cNvPr id="116" name="Oval 17">
              <a:extLst>
                <a:ext uri="{FF2B5EF4-FFF2-40B4-BE49-F238E27FC236}">
                  <a16:creationId xmlns:a16="http://schemas.microsoft.com/office/drawing/2014/main" id="{53AEC852-52A2-4132-AC51-7208BCE5FD9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7" name="Oval 18">
              <a:extLst>
                <a:ext uri="{FF2B5EF4-FFF2-40B4-BE49-F238E27FC236}">
                  <a16:creationId xmlns:a16="http://schemas.microsoft.com/office/drawing/2014/main" id="{BE494280-A6A9-4928-BD75-6714A34C9030}"/>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8" name="Oval 19">
              <a:extLst>
                <a:ext uri="{FF2B5EF4-FFF2-40B4-BE49-F238E27FC236}">
                  <a16:creationId xmlns:a16="http://schemas.microsoft.com/office/drawing/2014/main" id="{3E713282-E836-43DE-B38E-71CCEFA381E6}"/>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9" name="Oval 20">
              <a:extLst>
                <a:ext uri="{FF2B5EF4-FFF2-40B4-BE49-F238E27FC236}">
                  <a16:creationId xmlns:a16="http://schemas.microsoft.com/office/drawing/2014/main" id="{C2E43C42-D3E1-44FA-91DA-B25285B9EB7A}"/>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0" name="Oval 21">
              <a:extLst>
                <a:ext uri="{FF2B5EF4-FFF2-40B4-BE49-F238E27FC236}">
                  <a16:creationId xmlns:a16="http://schemas.microsoft.com/office/drawing/2014/main" id="{79E0E59C-0C9F-42C8-9E4F-B7DAD9BD08C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1" name="Oval 22">
              <a:extLst>
                <a:ext uri="{FF2B5EF4-FFF2-40B4-BE49-F238E27FC236}">
                  <a16:creationId xmlns:a16="http://schemas.microsoft.com/office/drawing/2014/main" id="{08FA20D4-AA41-4693-B125-CAE4F0924DCB}"/>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2" name="AutoShape 8">
            <a:extLst>
              <a:ext uri="{FF2B5EF4-FFF2-40B4-BE49-F238E27FC236}">
                <a16:creationId xmlns:a16="http://schemas.microsoft.com/office/drawing/2014/main" id="{A8F51255-4764-4938-8AFD-A035F4653E99}"/>
              </a:ext>
            </a:extLst>
          </p:cNvPr>
          <p:cNvSpPr>
            <a:spLocks noChangeAspect="1" noChangeArrowheads="1"/>
          </p:cNvSpPr>
          <p:nvPr/>
        </p:nvSpPr>
        <p:spPr bwMode="gray">
          <a:xfrm>
            <a:off x="1689769" y="4428721"/>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id="{1D001561-C43A-44D9-81F9-A023B7BC3B1F}"/>
              </a:ext>
            </a:extLst>
          </p:cNvPr>
          <p:cNvSpPr>
            <a:spLocks noChangeArrowheads="1"/>
          </p:cNvSpPr>
          <p:nvPr/>
        </p:nvSpPr>
        <p:spPr bwMode="gray">
          <a:xfrm>
            <a:off x="5232044" y="2153118"/>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grpSp>
        <p:nvGrpSpPr>
          <p:cNvPr id="132" name="Group 23">
            <a:extLst>
              <a:ext uri="{FF2B5EF4-FFF2-40B4-BE49-F238E27FC236}">
                <a16:creationId xmlns:a16="http://schemas.microsoft.com/office/drawing/2014/main" id="{A0320E00-D2E6-474A-B6A6-AF32A2426411}"/>
              </a:ext>
            </a:extLst>
          </p:cNvPr>
          <p:cNvGrpSpPr>
            <a:grpSpLocks noChangeAspect="1"/>
          </p:cNvGrpSpPr>
          <p:nvPr/>
        </p:nvGrpSpPr>
        <p:grpSpPr bwMode="auto">
          <a:xfrm>
            <a:off x="7657106" y="2210441"/>
            <a:ext cx="381000" cy="381000"/>
            <a:chOff x="2078" y="1680"/>
            <a:chExt cx="1615" cy="1615"/>
          </a:xfrm>
        </p:grpSpPr>
        <p:sp>
          <p:nvSpPr>
            <p:cNvPr id="133" name="Oval 24">
              <a:extLst>
                <a:ext uri="{FF2B5EF4-FFF2-40B4-BE49-F238E27FC236}">
                  <a16:creationId xmlns:a16="http://schemas.microsoft.com/office/drawing/2014/main" id="{D36CF0DF-81DD-429F-8C92-4681C769AD8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4" name="Oval 25">
              <a:extLst>
                <a:ext uri="{FF2B5EF4-FFF2-40B4-BE49-F238E27FC236}">
                  <a16:creationId xmlns:a16="http://schemas.microsoft.com/office/drawing/2014/main" id="{F9FFCAE0-8BDF-4D64-A40D-96DC060F569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5" name="Oval 26">
              <a:extLst>
                <a:ext uri="{FF2B5EF4-FFF2-40B4-BE49-F238E27FC236}">
                  <a16:creationId xmlns:a16="http://schemas.microsoft.com/office/drawing/2014/main" id="{24EEF376-1BE5-4514-9D50-48E1B7F61844}"/>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6" name="Oval 27">
              <a:extLst>
                <a:ext uri="{FF2B5EF4-FFF2-40B4-BE49-F238E27FC236}">
                  <a16:creationId xmlns:a16="http://schemas.microsoft.com/office/drawing/2014/main" id="{C02121B2-3EBA-46EE-8948-223B177F46FC}"/>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7" name="Oval 28">
              <a:extLst>
                <a:ext uri="{FF2B5EF4-FFF2-40B4-BE49-F238E27FC236}">
                  <a16:creationId xmlns:a16="http://schemas.microsoft.com/office/drawing/2014/main" id="{151051E3-E6C5-4669-A40D-88442091C56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8" name="Oval 29">
              <a:extLst>
                <a:ext uri="{FF2B5EF4-FFF2-40B4-BE49-F238E27FC236}">
                  <a16:creationId xmlns:a16="http://schemas.microsoft.com/office/drawing/2014/main" id="{4BC7FCF1-505D-4E9A-BCBB-646C0851F826}"/>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39" name="AutoShape 8">
            <a:extLst>
              <a:ext uri="{FF2B5EF4-FFF2-40B4-BE49-F238E27FC236}">
                <a16:creationId xmlns:a16="http://schemas.microsoft.com/office/drawing/2014/main" id="{AD67BECF-64ED-4C10-BDF8-B54A15D16C17}"/>
              </a:ext>
            </a:extLst>
          </p:cNvPr>
          <p:cNvSpPr>
            <a:spLocks noChangeAspect="1" noChangeArrowheads="1"/>
          </p:cNvSpPr>
          <p:nvPr/>
        </p:nvSpPr>
        <p:spPr bwMode="gray">
          <a:xfrm>
            <a:off x="5232044" y="6170417"/>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 </a:t>
            </a:r>
            <a:r>
              <a:rPr lang="fa-IR" b="1" dirty="0" err="1">
                <a:cs typeface="B Nazanin" panose="00000400000000000000" pitchFamily="2" charset="-78"/>
              </a:rPr>
              <a:t>مسقیم</a:t>
            </a:r>
            <a:endParaRPr lang="en-US" b="1" dirty="0">
              <a:solidFill>
                <a:srgbClr val="000000"/>
              </a:solidFill>
              <a:latin typeface="Times New Roman" panose="02020603050405020304" pitchFamily="18" charset="0"/>
              <a:cs typeface="B Nazanin" pitchFamily="2" charset="-78"/>
            </a:endParaRPr>
          </a:p>
        </p:txBody>
      </p:sp>
      <p:grpSp>
        <p:nvGrpSpPr>
          <p:cNvPr id="140" name="Group 23">
            <a:extLst>
              <a:ext uri="{FF2B5EF4-FFF2-40B4-BE49-F238E27FC236}">
                <a16:creationId xmlns:a16="http://schemas.microsoft.com/office/drawing/2014/main" id="{46DD52FD-E0C5-4D4F-B29D-6967CCD9432F}"/>
              </a:ext>
            </a:extLst>
          </p:cNvPr>
          <p:cNvGrpSpPr>
            <a:grpSpLocks noChangeAspect="1"/>
          </p:cNvGrpSpPr>
          <p:nvPr/>
        </p:nvGrpSpPr>
        <p:grpSpPr bwMode="auto">
          <a:xfrm>
            <a:off x="7660469" y="6246617"/>
            <a:ext cx="381000" cy="381000"/>
            <a:chOff x="2078" y="1680"/>
            <a:chExt cx="1615" cy="1615"/>
          </a:xfrm>
        </p:grpSpPr>
        <p:sp>
          <p:nvSpPr>
            <p:cNvPr id="141" name="Oval 24">
              <a:extLst>
                <a:ext uri="{FF2B5EF4-FFF2-40B4-BE49-F238E27FC236}">
                  <a16:creationId xmlns:a16="http://schemas.microsoft.com/office/drawing/2014/main" id="{26937B66-6C2A-4441-9A3C-B35598750681}"/>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2" name="Oval 25">
              <a:extLst>
                <a:ext uri="{FF2B5EF4-FFF2-40B4-BE49-F238E27FC236}">
                  <a16:creationId xmlns:a16="http://schemas.microsoft.com/office/drawing/2014/main" id="{41201666-3AA5-40C7-A08B-F6231D83CB0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3" name="Oval 26">
              <a:extLst>
                <a:ext uri="{FF2B5EF4-FFF2-40B4-BE49-F238E27FC236}">
                  <a16:creationId xmlns:a16="http://schemas.microsoft.com/office/drawing/2014/main" id="{F5FDB05C-877B-46A0-84A3-4F7D6D29D58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4" name="Oval 27">
              <a:extLst>
                <a:ext uri="{FF2B5EF4-FFF2-40B4-BE49-F238E27FC236}">
                  <a16:creationId xmlns:a16="http://schemas.microsoft.com/office/drawing/2014/main" id="{FAA6EE00-6A71-489A-AE9F-0E102A9370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5" name="Oval 28">
              <a:extLst>
                <a:ext uri="{FF2B5EF4-FFF2-40B4-BE49-F238E27FC236}">
                  <a16:creationId xmlns:a16="http://schemas.microsoft.com/office/drawing/2014/main" id="{3C609F6B-8190-45A8-832A-11DFA4863205}"/>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6" name="Oval 29">
              <a:extLst>
                <a:ext uri="{FF2B5EF4-FFF2-40B4-BE49-F238E27FC236}">
                  <a16:creationId xmlns:a16="http://schemas.microsoft.com/office/drawing/2014/main" id="{C2FA29F7-937E-463B-B060-8EECEA46A678}"/>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5" name="Rounded Rectangle 175">
            <a:extLst>
              <a:ext uri="{FF2B5EF4-FFF2-40B4-BE49-F238E27FC236}">
                <a16:creationId xmlns:a16="http://schemas.microsoft.com/office/drawing/2014/main" id="{D8E27344-2AB1-4A61-B14B-D9C7962F785E}"/>
              </a:ext>
            </a:extLst>
          </p:cNvPr>
          <p:cNvSpPr/>
          <p:nvPr/>
        </p:nvSpPr>
        <p:spPr bwMode="auto">
          <a:xfrm>
            <a:off x="6324600" y="126970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26" name="Picture 12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12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9" name="Rectangle 12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30" name="Rectangle 12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14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6"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7" name="Rectangle 156">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58" name="Rectangle 157">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4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980098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18"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5" name="Table 14"/>
          <p:cNvGraphicFramePr>
            <a:graphicFrameLocks noGrp="1"/>
          </p:cNvGraphicFramePr>
          <p:nvPr>
            <p:extLst>
              <p:ext uri="{D42A27DB-BD31-4B8C-83A1-F6EECF244321}">
                <p14:modId xmlns:p14="http://schemas.microsoft.com/office/powerpoint/2010/main" val="2434933159"/>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226163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bwMode="auto">
          <a:xfrm>
            <a:off x="570714" y="2139498"/>
            <a:ext cx="8077200" cy="4146478"/>
          </a:xfrm>
          <a:prstGeom prst="rect">
            <a:avLst/>
          </a:prstGeom>
          <a:noFill/>
          <a:ln>
            <a:noFill/>
          </a:ln>
        </p:spPr>
      </p:pic>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3152826" y="6318394"/>
            <a:ext cx="29129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لایه ای.</a:t>
            </a:r>
            <a:endParaRPr lang="en-US" b="1" dirty="0">
              <a:solidFill>
                <a:srgbClr val="000000"/>
              </a:solidFill>
              <a:latin typeface="Times New Roman" panose="02020603050405020304" pitchFamily="18" charset="0"/>
              <a:cs typeface="B Nazanin"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ext uri="{D42A27DB-BD31-4B8C-83A1-F6EECF244321}">
                <p14:modId xmlns:p14="http://schemas.microsoft.com/office/powerpoint/2010/main" val="1414955168"/>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9174732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426281" y="6351019"/>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graphicFrame>
        <p:nvGraphicFramePr>
          <p:cNvPr id="19" name="Table 18"/>
          <p:cNvGraphicFramePr>
            <a:graphicFrameLocks noGrp="1"/>
          </p:cNvGraphicFramePr>
          <p:nvPr>
            <p:extLst>
              <p:ext uri="{D42A27DB-BD31-4B8C-83A1-F6EECF244321}">
                <p14:modId xmlns:p14="http://schemas.microsoft.com/office/powerpoint/2010/main" val="383620767"/>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2109972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65095" y="3241909"/>
            <a:ext cx="5106983" cy="646331"/>
          </a:xfrm>
          <a:prstGeom prst="rect">
            <a:avLst/>
          </a:prstGeom>
        </p:spPr>
        <p:txBody>
          <a:bodyPr wrap="square">
            <a:spAutoFit/>
          </a:bodyPr>
          <a:lstStyle/>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هر هشت سلول هر زیرماژول دارای سطوح ولتاژ متفاوتی هستند.</a:t>
            </a:r>
          </a:p>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 اختلاف ولتاژ اولیه بین سلول باتری ‌ها 8/341 میلی ولت است.</a:t>
            </a:r>
            <a:endParaRPr lang="en-US" dirty="0"/>
          </a:p>
        </p:txBody>
      </p:sp>
      <p:sp>
        <p:nvSpPr>
          <p:cNvPr id="19" name="TextBox 18">
            <a:extLst>
              <a:ext uri="{FF2B5EF4-FFF2-40B4-BE49-F238E27FC236}">
                <a16:creationId xmlns:a16="http://schemas.microsoft.com/office/drawing/2014/main" id="{F43469DC-7F5B-471E-BD74-ED709E621F63}"/>
              </a:ext>
            </a:extLst>
          </p:cNvPr>
          <p:cNvSpPr txBox="1"/>
          <p:nvPr/>
        </p:nvSpPr>
        <p:spPr>
          <a:xfrm>
            <a:off x="6840272" y="1970998"/>
            <a:ext cx="2061783" cy="369332"/>
          </a:xfrm>
          <a:prstGeom prst="rect">
            <a:avLst/>
          </a:prstGeom>
          <a:noFill/>
        </p:spPr>
        <p:txBody>
          <a:bodyPr wrap="none" rtlCol="0">
            <a:spAutoFit/>
          </a:bodyPr>
          <a:lstStyle/>
          <a:p>
            <a:pPr algn="r" rtl="1"/>
            <a:r>
              <a:rPr lang="fa-IR" b="1" dirty="0">
                <a:cs typeface="B Nazanin" panose="00000400000000000000" pitchFamily="2" charset="-78"/>
              </a:rPr>
              <a:t>شرایط اولیه شبیه سازی</a:t>
            </a:r>
          </a:p>
        </p:txBody>
      </p:sp>
      <p:sp>
        <p:nvSpPr>
          <p:cNvPr id="21"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753620" y="2580598"/>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اول</a:t>
            </a:r>
            <a:endParaRPr lang="en-US" b="1" dirty="0">
              <a:solidFill>
                <a:srgbClr val="000000"/>
              </a:solidFill>
              <a:latin typeface="Times New Roman" panose="02020603050405020304" pitchFamily="18" charset="0"/>
              <a:cs typeface="B Nazanin" pitchFamily="2" charset="-78"/>
            </a:endParaRPr>
          </a:p>
        </p:txBody>
      </p:sp>
      <p:grpSp>
        <p:nvGrpSpPr>
          <p:cNvPr id="22"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004570" y="2656798"/>
            <a:ext cx="381000" cy="381000"/>
            <a:chOff x="2078" y="1680"/>
            <a:chExt cx="1615" cy="1615"/>
          </a:xfrm>
        </p:grpSpPr>
        <p:sp>
          <p:nvSpPr>
            <p:cNvPr id="23"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7"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8"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29" name="TextBox 28">
            <a:extLst>
              <a:ext uri="{FF2B5EF4-FFF2-40B4-BE49-F238E27FC236}">
                <a16:creationId xmlns:a16="http://schemas.microsoft.com/office/drawing/2014/main" id="{90C43403-B77E-474E-A638-C5BD6540DB40}"/>
              </a:ext>
            </a:extLst>
          </p:cNvPr>
          <p:cNvSpPr txBox="1"/>
          <p:nvPr/>
        </p:nvSpPr>
        <p:spPr>
          <a:xfrm>
            <a:off x="4122852" y="2961598"/>
            <a:ext cx="65" cy="276999"/>
          </a:xfrm>
          <a:prstGeom prst="rect">
            <a:avLst/>
          </a:prstGeom>
          <a:noFill/>
        </p:spPr>
        <p:txBody>
          <a:bodyPr wrap="none" lIns="0" tIns="0" rIns="0" bIns="0" rtlCol="0">
            <a:spAutoFit/>
          </a:bodyPr>
          <a:lstStyle/>
          <a:p>
            <a:endParaRPr lang="en-US" dirty="0"/>
          </a:p>
        </p:txBody>
      </p:sp>
      <p:sp>
        <p:nvSpPr>
          <p:cNvPr id="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705600" y="4038600"/>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دوم</a:t>
            </a:r>
            <a:endParaRPr lang="en-US" b="1" dirty="0">
              <a:solidFill>
                <a:srgbClr val="000000"/>
              </a:solidFill>
              <a:latin typeface="Times New Roman" panose="02020603050405020304" pitchFamily="18" charset="0"/>
              <a:cs typeface="B Nazanin" pitchFamily="2" charset="-78"/>
            </a:endParaRPr>
          </a:p>
        </p:txBody>
      </p:sp>
      <p:grpSp>
        <p:nvGrpSpPr>
          <p:cNvPr id="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956550" y="4114800"/>
            <a:ext cx="381000" cy="381000"/>
            <a:chOff x="2078" y="1680"/>
            <a:chExt cx="1615" cy="1615"/>
          </a:xfrm>
        </p:grpSpPr>
        <p:sp>
          <p:nvSpPr>
            <p:cNvPr id="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 name="Rectangle 4"/>
          <p:cNvSpPr/>
          <p:nvPr/>
        </p:nvSpPr>
        <p:spPr>
          <a:xfrm>
            <a:off x="1031495" y="4735895"/>
            <a:ext cx="7237624" cy="646331"/>
          </a:xfrm>
          <a:prstGeom prst="rect">
            <a:avLst/>
          </a:prstGeom>
        </p:spPr>
        <p:txBody>
          <a:bodyPr wrap="square">
            <a:spAutoFit/>
          </a:bodyPr>
          <a:lstStyle/>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وضعیت شارژ برای 83 سلول باتری برابر با 96 و 93 سلول دیگر باتری مقادیر متفاوتی دارند.</a:t>
            </a:r>
            <a:endParaRPr lang="en-US" dirty="0">
              <a:latin typeface="Times New Roman" panose="02020603050405020304" pitchFamily="18" charset="0"/>
              <a:ea typeface="Calibri" panose="020F0502020204030204" pitchFamily="34" charset="0"/>
              <a:cs typeface="B Lotus" panose="00000400000000000000" pitchFamily="2" charset="-78"/>
            </a:endParaRPr>
          </a:p>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اختلاف ولتاژ اولیه بین حداکثر و حداقل ولتاژ سلول 3/58 میلی ولت است</a:t>
            </a:r>
            <a:r>
              <a:rPr lang="en-US"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34"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Rectangle 3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9" name="Picture 38"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id="{F43469DC-7F5B-471E-BD74-ED709E621F63}"/>
              </a:ext>
            </a:extLst>
          </p:cNvPr>
          <p:cNvSpPr txBox="1"/>
          <p:nvPr/>
        </p:nvSpPr>
        <p:spPr>
          <a:xfrm>
            <a:off x="36674" y="1005399"/>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4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605396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3" name="Picture 32"/>
          <p:cNvPicPr/>
          <p:nvPr/>
        </p:nvPicPr>
        <p:blipFill>
          <a:blip r:embed="rId4" cstate="print">
            <a:extLst>
              <a:ext uri="{28A0092B-C50C-407E-A947-70E740481C1C}">
                <a14:useLocalDpi xmlns:a14="http://schemas.microsoft.com/office/drawing/2010/main" val="0"/>
              </a:ext>
            </a:extLst>
          </a:blip>
          <a:stretch>
            <a:fillRect/>
          </a:stretch>
        </p:blipFill>
        <p:spPr>
          <a:xfrm>
            <a:off x="31194" y="773969"/>
            <a:ext cx="4572000" cy="1828800"/>
          </a:xfrm>
          <a:prstGeom prst="rect">
            <a:avLst/>
          </a:prstGeom>
        </p:spPr>
      </p:pic>
      <p:pic>
        <p:nvPicPr>
          <p:cNvPr id="34" name="Picture 33"/>
          <p:cNvPicPr/>
          <p:nvPr/>
        </p:nvPicPr>
        <p:blipFill>
          <a:blip r:embed="rId5" cstate="print">
            <a:extLst>
              <a:ext uri="{28A0092B-C50C-407E-A947-70E740481C1C}">
                <a14:useLocalDpi xmlns:a14="http://schemas.microsoft.com/office/drawing/2010/main" val="0"/>
              </a:ext>
            </a:extLst>
          </a:blip>
          <a:stretch>
            <a:fillRect/>
          </a:stretch>
        </p:blipFill>
        <p:spPr>
          <a:xfrm>
            <a:off x="31194" y="2462338"/>
            <a:ext cx="4572000" cy="1828800"/>
          </a:xfrm>
          <a:prstGeom prst="rect">
            <a:avLst/>
          </a:prstGeom>
        </p:spPr>
      </p:pic>
      <p:pic>
        <p:nvPicPr>
          <p:cNvPr id="35" name="Picture 34"/>
          <p:cNvPicPr/>
          <p:nvPr/>
        </p:nvPicPr>
        <p:blipFill>
          <a:blip r:embed="rId5" cstate="print">
            <a:extLst>
              <a:ext uri="{28A0092B-C50C-407E-A947-70E740481C1C}">
                <a14:useLocalDpi xmlns:a14="http://schemas.microsoft.com/office/drawing/2010/main" val="0"/>
              </a:ext>
            </a:extLst>
          </a:blip>
          <a:stretch>
            <a:fillRect/>
          </a:stretch>
        </p:blipFill>
        <p:spPr>
          <a:xfrm>
            <a:off x="31194" y="4291138"/>
            <a:ext cx="4572000" cy="1828800"/>
          </a:xfrm>
          <a:prstGeom prst="rect">
            <a:avLst/>
          </a:prstGeom>
        </p:spPr>
      </p:pic>
      <p:pic>
        <p:nvPicPr>
          <p:cNvPr id="38" name="Picture 37"/>
          <p:cNvPicPr/>
          <p:nvPr/>
        </p:nvPicPr>
        <p:blipFill>
          <a:blip r:embed="rId6" cstate="print">
            <a:extLst>
              <a:ext uri="{28A0092B-C50C-407E-A947-70E740481C1C}">
                <a14:useLocalDpi xmlns:a14="http://schemas.microsoft.com/office/drawing/2010/main" val="0"/>
              </a:ext>
            </a:extLst>
          </a:blip>
          <a:stretch>
            <a:fillRect/>
          </a:stretch>
        </p:blipFill>
        <p:spPr>
          <a:xfrm>
            <a:off x="4597214" y="732668"/>
            <a:ext cx="4496383" cy="1772887"/>
          </a:xfrm>
          <a:prstGeom prst="rect">
            <a:avLst/>
          </a:prstGeom>
        </p:spPr>
      </p:pic>
      <p:pic>
        <p:nvPicPr>
          <p:cNvPr id="41" name="Picture 40"/>
          <p:cNvPicPr/>
          <p:nvPr/>
        </p:nvPicPr>
        <p:blipFill>
          <a:blip r:embed="rId7" cstate="print">
            <a:extLst>
              <a:ext uri="{28A0092B-C50C-407E-A947-70E740481C1C}">
                <a14:useLocalDpi xmlns:a14="http://schemas.microsoft.com/office/drawing/2010/main" val="0"/>
              </a:ext>
            </a:extLst>
          </a:blip>
          <a:stretch>
            <a:fillRect/>
          </a:stretch>
        </p:blipFill>
        <p:spPr>
          <a:xfrm>
            <a:off x="4597214" y="2506698"/>
            <a:ext cx="4496383" cy="1779810"/>
          </a:xfrm>
          <a:prstGeom prst="rect">
            <a:avLst/>
          </a:prstGeom>
        </p:spPr>
      </p:pic>
      <p:pic>
        <p:nvPicPr>
          <p:cNvPr id="42" name="Picture 41"/>
          <p:cNvPicPr/>
          <p:nvPr/>
        </p:nvPicPr>
        <p:blipFill>
          <a:blip r:embed="rId8" cstate="print">
            <a:extLst>
              <a:ext uri="{28A0092B-C50C-407E-A947-70E740481C1C}">
                <a14:useLocalDpi xmlns:a14="http://schemas.microsoft.com/office/drawing/2010/main" val="0"/>
              </a:ext>
            </a:extLst>
          </a:blip>
          <a:stretch>
            <a:fillRect/>
          </a:stretch>
        </p:blipFill>
        <p:spPr>
          <a:xfrm>
            <a:off x="4597214" y="4286508"/>
            <a:ext cx="4546786" cy="1823020"/>
          </a:xfrm>
          <a:prstGeom prst="rect">
            <a:avLst/>
          </a:prstGeom>
        </p:spPr>
      </p:pic>
      <p:pic>
        <p:nvPicPr>
          <p:cNvPr id="44" name="Picture 43"/>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798200"/>
            <a:ext cx="288925" cy="173350"/>
          </a:xfrm>
          <a:prstGeom prst="rect">
            <a:avLst/>
          </a:prstGeom>
        </p:spPr>
      </p:pic>
      <p:pic>
        <p:nvPicPr>
          <p:cNvPr id="45" name="Picture 44"/>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4993" y="2436483"/>
            <a:ext cx="235585" cy="183510"/>
          </a:xfrm>
          <a:prstGeom prst="rect">
            <a:avLst/>
          </a:prstGeom>
        </p:spPr>
      </p:pic>
      <p:pic>
        <p:nvPicPr>
          <p:cNvPr id="46" name="Picture 45"/>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0" y="4273914"/>
            <a:ext cx="212090" cy="205734"/>
          </a:xfrm>
          <a:prstGeom prst="rect">
            <a:avLst/>
          </a:prstGeom>
        </p:spPr>
      </p:pic>
      <p:pic>
        <p:nvPicPr>
          <p:cNvPr id="47" name="Picture 4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68257" y="884875"/>
            <a:ext cx="288925" cy="173350"/>
          </a:xfrm>
          <a:prstGeom prst="rect">
            <a:avLst/>
          </a:prstGeom>
        </p:spPr>
      </p:pic>
      <p:pic>
        <p:nvPicPr>
          <p:cNvPr id="48" name="Picture 4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21597" y="2523158"/>
            <a:ext cx="235585" cy="183510"/>
          </a:xfrm>
          <a:prstGeom prst="rect">
            <a:avLst/>
          </a:prstGeom>
        </p:spPr>
      </p:pic>
      <p:pic>
        <p:nvPicPr>
          <p:cNvPr id="49" name="Picture 4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45092" y="4376781"/>
            <a:ext cx="212090" cy="205734"/>
          </a:xfrm>
          <a:prstGeom prst="rect">
            <a:avLst/>
          </a:prstGeom>
        </p:spPr>
      </p:pic>
      <p:sp>
        <p:nvSpPr>
          <p:cNvPr id="51" name="TextBox 50"/>
          <p:cNvSpPr txBox="1"/>
          <p:nvPr/>
        </p:nvSpPr>
        <p:spPr>
          <a:xfrm>
            <a:off x="123531" y="6242134"/>
            <a:ext cx="4539698"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اول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52" name="TextBox 51"/>
          <p:cNvSpPr txBox="1"/>
          <p:nvPr/>
        </p:nvSpPr>
        <p:spPr>
          <a:xfrm>
            <a:off x="4757182" y="6242134"/>
            <a:ext cx="4566020"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دوم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33777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334" y="1128986"/>
            <a:ext cx="7026706" cy="5270030"/>
          </a:xfrm>
          <a:prstGeom prst="rect">
            <a:avLst/>
          </a:prstGeom>
        </p:spPr>
      </p:pic>
      <p:sp>
        <p:nvSpPr>
          <p:cNvPr id="20" name="TextBox 19"/>
          <p:cNvSpPr txBox="1"/>
          <p:nvPr/>
        </p:nvSpPr>
        <p:spPr>
          <a:xfrm>
            <a:off x="2736756" y="6399016"/>
            <a:ext cx="2957862"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نحوه عملکرد خوشه بندی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5838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778986" y="6245406"/>
            <a:ext cx="52613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فلوچارت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به همراه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595239" y="1484891"/>
            <a:ext cx="7628872" cy="4687309"/>
          </a:xfrm>
          <a:prstGeom prst="rect">
            <a:avLst/>
          </a:prstGeom>
          <a:noFill/>
          <a:ln>
            <a:noFill/>
          </a:ln>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2" name="Group 1"/>
          <p:cNvGrpSpPr/>
          <p:nvPr/>
        </p:nvGrpSpPr>
        <p:grpSpPr>
          <a:xfrm>
            <a:off x="55839" y="5207002"/>
            <a:ext cx="4191000" cy="930454"/>
            <a:chOff x="9102590" y="2693531"/>
            <a:chExt cx="4495800" cy="1099777"/>
          </a:xfrm>
        </p:grpSpPr>
        <p:pic>
          <p:nvPicPr>
            <p:cNvPr id="33" name="Picture 32"/>
            <p:cNvPicPr/>
            <p:nvPr/>
          </p:nvPicPr>
          <p:blipFill>
            <a:blip r:embed="rId5"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4" name="Rounded Rectangle 33"/>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5" name="Straight Connector 34"/>
            <p:cNvCxnSpPr/>
            <p:nvPr/>
          </p:nvCxnSpPr>
          <p:spPr>
            <a:xfrm flipV="1">
              <a:off x="9144000" y="2693531"/>
              <a:ext cx="3387590" cy="322051"/>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Connector 35"/>
            <p:cNvCxnSpPr/>
            <p:nvPr/>
          </p:nvCxnSpPr>
          <p:spPr>
            <a:xfrm flipH="1" flipV="1">
              <a:off x="12531590" y="2693532"/>
              <a:ext cx="1066800" cy="348498"/>
            </a:xfrm>
            <a:prstGeom prst="line">
              <a:avLst/>
            </a:prstGeom>
          </p:spPr>
          <p:style>
            <a:lnRef idx="2">
              <a:schemeClr val="dk1"/>
            </a:lnRef>
            <a:fillRef idx="0">
              <a:schemeClr val="dk1"/>
            </a:fillRef>
            <a:effectRef idx="1">
              <a:schemeClr val="dk1"/>
            </a:effectRef>
            <a:fontRef idx="minor">
              <a:schemeClr val="tx1"/>
            </a:fontRef>
          </p:style>
        </p:cxnSp>
      </p:gr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680638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p:cNvPicPr/>
          <p:nvPr/>
        </p:nvPicPr>
        <p:blipFill>
          <a:blip r:embed="rId3">
            <a:extLst>
              <a:ext uri="{28A0092B-C50C-407E-A947-70E740481C1C}">
                <a14:useLocalDpi xmlns:a14="http://schemas.microsoft.com/office/drawing/2010/main" val="0"/>
              </a:ext>
            </a:extLst>
          </a:blip>
          <a:stretch>
            <a:fillRect/>
          </a:stretch>
        </p:blipFill>
        <p:spPr>
          <a:xfrm>
            <a:off x="762000" y="1613840"/>
            <a:ext cx="7848599" cy="4329760"/>
          </a:xfrm>
          <a:prstGeom prst="rect">
            <a:avLst/>
          </a:prstGeom>
        </p:spPr>
      </p:pic>
      <p:sp>
        <p:nvSpPr>
          <p:cNvPr id="52" name="TextBox 51"/>
          <p:cNvSpPr txBox="1"/>
          <p:nvPr/>
        </p:nvSpPr>
        <p:spPr>
          <a:xfrm>
            <a:off x="2882089" y="6308280"/>
            <a:ext cx="23791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مدار همسا‌ن‌ساز پیشنهادی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fa-IR"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383"/>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285048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p:cNvSpPr txBox="1"/>
          <p:nvPr/>
        </p:nvSpPr>
        <p:spPr>
          <a:xfrm>
            <a:off x="2180397" y="6425128"/>
            <a:ext cx="345318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عبوری جریان برای سلول شماره 1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1524000" y="1355269"/>
            <a:ext cx="6771766" cy="4816931"/>
          </a:xfrm>
          <a:prstGeom prst="rect">
            <a:avLst/>
          </a:prstGeom>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188794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780347" y="1753107"/>
            <a:ext cx="7601653" cy="4055759"/>
          </a:xfrm>
          <a:prstGeom prst="rect">
            <a:avLst/>
          </a:prstGeom>
        </p:spPr>
      </p:pic>
      <p:sp>
        <p:nvSpPr>
          <p:cNvPr id="34" name="TextBox 33"/>
          <p:cNvSpPr txBox="1"/>
          <p:nvPr/>
        </p:nvSpPr>
        <p:spPr>
          <a:xfrm>
            <a:off x="1725527" y="5917725"/>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باک)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6"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7"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9" name="Rectangle 3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Rectangle 42">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4"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TextBox 45">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968511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485261" y="1833402"/>
            <a:ext cx="8125339" cy="4025343"/>
          </a:xfrm>
          <a:prstGeom prst="rect">
            <a:avLst/>
          </a:prstGeom>
        </p:spPr>
      </p:pic>
      <p:sp>
        <p:nvSpPr>
          <p:cNvPr id="20" name="TextBox 19"/>
          <p:cNvSpPr txBox="1"/>
          <p:nvPr/>
        </p:nvSpPr>
        <p:spPr>
          <a:xfrm>
            <a:off x="1725527" y="6083899"/>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بوست)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21"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647085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Box 151"/>
          <p:cNvSpPr txBox="1"/>
          <p:nvPr/>
        </p:nvSpPr>
        <p:spPr>
          <a:xfrm>
            <a:off x="148662" y="6069102"/>
            <a:ext cx="8842938" cy="369332"/>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شکل موج ولتاژ سلول‌ها تحت فرآیند همسان‌سازی</a:t>
            </a:r>
            <a:r>
              <a:rPr lang="fa-IR" altLang="en-US" sz="1200" dirty="0">
                <a:latin typeface="Times New Roman" panose="02020603050405020304" pitchFamily="18" charset="0"/>
                <a:ea typeface="Calibri" panose="020F0502020204030204" pitchFamily="34" charset="0"/>
                <a:cs typeface="B Lotus" panose="00000400000000000000" pitchFamily="2" charset="-78"/>
              </a:rPr>
              <a:t> روش آستانه ثابت (الف)،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200" dirty="0">
                <a:solidFill>
                  <a:srgbClr val="61D6FF"/>
                </a:solidFill>
                <a:latin typeface="Times New Roman" panose="02020603050405020304" pitchFamily="18" charset="0"/>
                <a:cs typeface="B Lotus" panose="00000400000000000000" pitchFamily="2" charset="-78"/>
              </a:rPr>
              <a:t>[1]</a:t>
            </a:r>
            <a:r>
              <a:rPr lang="fa-IR" sz="1200" dirty="0">
                <a:solidFill>
                  <a:srgbClr val="292934"/>
                </a:solidFill>
                <a:latin typeface="Times New Roman" panose="02020603050405020304" pitchFamily="18" charset="0"/>
                <a:cs typeface="B Lotus" panose="00000400000000000000" pitchFamily="2" charset="-78"/>
              </a:rPr>
              <a:t>.</a:t>
            </a:r>
            <a:r>
              <a:rPr lang="fa-IR" altLang="en-US" sz="1200" dirty="0">
                <a:solidFill>
                  <a:srgbClr val="292934"/>
                </a:solidFill>
                <a:latin typeface="Times New Roman" panose="02020603050405020304" pitchFamily="18" charset="0"/>
                <a:ea typeface="Calibri" panose="020F0502020204030204" pitchFamily="34" charset="0"/>
                <a:cs typeface="B Lotus" panose="00000400000000000000" pitchFamily="2" charset="-78"/>
              </a:rPr>
              <a:t> </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5" name="Group 4"/>
          <p:cNvGrpSpPr/>
          <p:nvPr/>
        </p:nvGrpSpPr>
        <p:grpSpPr>
          <a:xfrm>
            <a:off x="148662" y="1076600"/>
            <a:ext cx="8842938" cy="4909564"/>
            <a:chOff x="1419359" y="1250116"/>
            <a:chExt cx="5793740" cy="4273249"/>
          </a:xfrm>
        </p:grpSpPr>
        <p:pic>
          <p:nvPicPr>
            <p:cNvPr id="20" name="Picture 19"/>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19359" y="1250116"/>
              <a:ext cx="5793740" cy="4257040"/>
            </a:xfrm>
            <a:prstGeom prst="rect">
              <a:avLst/>
            </a:prstGeom>
            <a:noFill/>
            <a:ln>
              <a:noFill/>
            </a:ln>
          </p:spPr>
        </p:pic>
        <p:grpSp>
          <p:nvGrpSpPr>
            <p:cNvPr id="34" name="Group 33"/>
            <p:cNvGrpSpPr/>
            <p:nvPr/>
          </p:nvGrpSpPr>
          <p:grpSpPr>
            <a:xfrm>
              <a:off x="2740897" y="3200400"/>
              <a:ext cx="3337558" cy="2322965"/>
              <a:chOff x="0" y="0"/>
              <a:chExt cx="3338113" cy="2282436"/>
            </a:xfrm>
          </p:grpSpPr>
          <p:pic>
            <p:nvPicPr>
              <p:cNvPr id="35" name="Pictur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7933" y="0"/>
                <a:ext cx="288925" cy="173355"/>
              </a:xfrm>
              <a:prstGeom prst="rect">
                <a:avLst/>
              </a:prstGeom>
            </p:spPr>
          </p:pic>
          <p:pic>
            <p:nvPicPr>
              <p:cNvPr id="36" name="Picture 3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147365"/>
                <a:ext cx="233045" cy="133350"/>
              </a:xfrm>
              <a:prstGeom prst="rect">
                <a:avLst/>
              </a:prstGeom>
            </p:spPr>
          </p:pic>
          <p:pic>
            <p:nvPicPr>
              <p:cNvPr id="37" name="Picture 36"/>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26658" y="2141466"/>
                <a:ext cx="211455" cy="140970"/>
              </a:xfrm>
              <a:prstGeom prst="rect">
                <a:avLst/>
              </a:prstGeom>
            </p:spPr>
          </p:pic>
        </p:grpSp>
      </p:grpSp>
      <p:sp>
        <p:nvSpPr>
          <p:cNvPr id="3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46</a:t>
            </a:fld>
            <a:endParaRPr lang="en-US"/>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002071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srcRect/>
          <a:stretch/>
        </p:blipFill>
        <p:spPr>
          <a:xfrm>
            <a:off x="867650" y="1703725"/>
            <a:ext cx="7315200" cy="4188146"/>
          </a:xfrm>
          <a:prstGeom prst="rect">
            <a:avLst/>
          </a:prstGeom>
        </p:spPr>
      </p:pic>
      <p:sp>
        <p:nvSpPr>
          <p:cNvPr id="6" name="Rectangle 5"/>
          <p:cNvSpPr/>
          <p:nvPr/>
        </p:nvSpPr>
        <p:spPr>
          <a:xfrm>
            <a:off x="1439150" y="6096000"/>
            <a:ext cx="6172200" cy="369332"/>
          </a:xfrm>
          <a:prstGeom prst="rect">
            <a:avLst/>
          </a:prstGeom>
        </p:spPr>
        <p:txBody>
          <a:bodyPr wrap="square">
            <a:spAutoFit/>
          </a:bodyPr>
          <a:lstStyle/>
          <a:p>
            <a:pPr algn="ctr" rtl="1">
              <a:spcAft>
                <a:spcPts val="1000"/>
              </a:spcAft>
            </a:pP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روند تأثیر متقابل میزان همسان‌سازی و زمان همسان‌سازی (</a:t>
            </a:r>
            <a:r>
              <a:rPr lang="en-US" dirty="0">
                <a:solidFill>
                  <a:srgbClr val="262626"/>
                </a:solidFill>
                <a:latin typeface="Times New Roman" panose="02020603050405020304" pitchFamily="18" charset="0"/>
                <a:ea typeface="Calibri" panose="020F0502020204030204" pitchFamily="34" charset="0"/>
                <a:cs typeface="B Lotus" panose="00000400000000000000" pitchFamily="2" charset="-78"/>
              </a:rPr>
              <a:t>α:β</a:t>
            </a: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endParaRPr lang="en-US"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6549464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907487" y="6171442"/>
            <a:ext cx="73596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rtl="1" eaLnBrk="0" fontAlgn="base" hangingPunct="0">
              <a:spcBef>
                <a:spcPct val="0"/>
              </a:spcBef>
              <a:spcAft>
                <a:spcPct val="0"/>
              </a:spcAft>
            </a:pPr>
            <a:r>
              <a:rPr lang="fa-IR" altLang="en-US" sz="1400" dirty="0">
                <a:latin typeface="Times New Roman" panose="02020603050405020304" pitchFamily="18" charset="0"/>
                <a:ea typeface="Calibri" panose="020F0502020204030204" pitchFamily="34" charset="0"/>
                <a:cs typeface="B Lotus" panose="00000400000000000000" pitchFamily="2" charset="-78"/>
              </a:rPr>
              <a:t>نتیجه دسته‌بندی سلول‌ها در فرآیند همسان‌سازی عملی به روش آستانه ثابت (الف)،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400" dirty="0">
                <a:solidFill>
                  <a:srgbClr val="61D6FF"/>
                </a:solidFill>
                <a:latin typeface="Times New Roman" panose="02020603050405020304" pitchFamily="18" charset="0"/>
                <a:cs typeface="B Lotus" panose="00000400000000000000" pitchFamily="2" charset="-78"/>
              </a:rPr>
              <a:t>[1]</a:t>
            </a:r>
            <a:r>
              <a:rPr lang="fa-IR" sz="1400" dirty="0">
                <a:latin typeface="Times New Roman" panose="02020603050405020304" pitchFamily="18" charset="0"/>
                <a:cs typeface="B Lotus" panose="00000400000000000000" pitchFamily="2" charset="-78"/>
              </a:rPr>
              <a:t>.</a:t>
            </a:r>
            <a:r>
              <a:rPr lang="fa-IR" altLang="en-US" sz="1400" dirty="0">
                <a:latin typeface="Times New Roman" panose="02020603050405020304" pitchFamily="18" charset="0"/>
                <a:ea typeface="Calibri" panose="020F0502020204030204" pitchFamily="34" charset="0"/>
                <a:cs typeface="B Lotus" panose="00000400000000000000" pitchFamily="2" charset="-78"/>
              </a:rPr>
              <a:t> </a:t>
            </a:r>
            <a:endParaRPr kumimoji="0" lang="fa-IR" altLang="en-US" sz="1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7" name="Group 6"/>
          <p:cNvGrpSpPr/>
          <p:nvPr/>
        </p:nvGrpSpPr>
        <p:grpSpPr>
          <a:xfrm>
            <a:off x="148662" y="1752600"/>
            <a:ext cx="8877300" cy="4191010"/>
            <a:chOff x="163902" y="2243153"/>
            <a:chExt cx="8877300" cy="2446358"/>
          </a:xfrm>
        </p:grpSpPr>
        <p:grpSp>
          <p:nvGrpSpPr>
            <p:cNvPr id="4" name="Group 3"/>
            <p:cNvGrpSpPr/>
            <p:nvPr/>
          </p:nvGrpSpPr>
          <p:grpSpPr>
            <a:xfrm>
              <a:off x="163902" y="2243153"/>
              <a:ext cx="8877300" cy="2438395"/>
              <a:chOff x="165100" y="2118360"/>
              <a:chExt cx="8877300" cy="2438400"/>
            </a:xfrm>
          </p:grpSpPr>
          <p:pic>
            <p:nvPicPr>
              <p:cNvPr id="36" name="Picture 35"/>
              <p:cNvPicPr/>
              <p:nvPr/>
            </p:nvPicPr>
            <p:blipFill rotWithShape="1">
              <a:blip r:embed="rId4" cstate="print">
                <a:extLst>
                  <a:ext uri="{28A0092B-C50C-407E-A947-70E740481C1C}">
                    <a14:useLocalDpi xmlns:a14="http://schemas.microsoft.com/office/drawing/2010/main" val="0"/>
                  </a:ext>
                </a:extLst>
              </a:blip>
              <a:srcRect b="68127"/>
              <a:stretch/>
            </p:blipFill>
            <p:spPr bwMode="auto">
              <a:xfrm>
                <a:off x="165100" y="2224917"/>
                <a:ext cx="2959100" cy="2270883"/>
              </a:xfrm>
              <a:prstGeom prst="rect">
                <a:avLst/>
              </a:prstGeom>
              <a:noFill/>
              <a:ln>
                <a:noFill/>
              </a:ln>
            </p:spPr>
          </p:pic>
          <p:pic>
            <p:nvPicPr>
              <p:cNvPr id="38" name="Picture 37"/>
              <p:cNvPicPr/>
              <p:nvPr/>
            </p:nvPicPr>
            <p:blipFill rotWithShape="1">
              <a:blip r:embed="rId4" cstate="print">
                <a:extLst>
                  <a:ext uri="{28A0092B-C50C-407E-A947-70E740481C1C}">
                    <a14:useLocalDpi xmlns:a14="http://schemas.microsoft.com/office/drawing/2010/main" val="0"/>
                  </a:ext>
                </a:extLst>
              </a:blip>
              <a:srcRect t="32086" b="33690"/>
              <a:stretch/>
            </p:blipFill>
            <p:spPr bwMode="auto">
              <a:xfrm>
                <a:off x="3124200" y="2118360"/>
                <a:ext cx="2959100" cy="2438400"/>
              </a:xfrm>
              <a:prstGeom prst="rect">
                <a:avLst/>
              </a:prstGeom>
              <a:noFill/>
              <a:ln>
                <a:noFill/>
              </a:ln>
            </p:spPr>
          </p:pic>
          <p:pic>
            <p:nvPicPr>
              <p:cNvPr id="39" name="Picture 38"/>
              <p:cNvPicPr/>
              <p:nvPr/>
            </p:nvPicPr>
            <p:blipFill rotWithShape="1">
              <a:blip r:embed="rId4" cstate="print">
                <a:extLst>
                  <a:ext uri="{28A0092B-C50C-407E-A947-70E740481C1C}">
                    <a14:useLocalDpi xmlns:a14="http://schemas.microsoft.com/office/drawing/2010/main" val="0"/>
                  </a:ext>
                </a:extLst>
              </a:blip>
              <a:srcRect t="66310"/>
              <a:stretch/>
            </p:blipFill>
            <p:spPr bwMode="auto">
              <a:xfrm>
                <a:off x="6083300" y="2118360"/>
                <a:ext cx="2959100" cy="2400300"/>
              </a:xfrm>
              <a:prstGeom prst="rect">
                <a:avLst/>
              </a:prstGeom>
              <a:noFill/>
              <a:ln>
                <a:noFill/>
              </a:ln>
            </p:spPr>
          </p:pic>
        </p:grpSp>
        <p:pic>
          <p:nvPicPr>
            <p:cNvPr id="41" name="Picture 4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72785" y="4480584"/>
              <a:ext cx="288925" cy="173338"/>
            </a:xfrm>
            <a:prstGeom prst="rect">
              <a:avLst/>
            </a:prstGeom>
          </p:spPr>
        </p:pic>
        <p:pic>
          <p:nvPicPr>
            <p:cNvPr id="42" name="Picture 4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075" y="4506014"/>
              <a:ext cx="235585" cy="183497"/>
            </a:xfrm>
            <a:prstGeom prst="rect">
              <a:avLst/>
            </a:prstGeom>
          </p:spPr>
        </p:pic>
        <p:pic>
          <p:nvPicPr>
            <p:cNvPr id="43" name="Picture 4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43670" y="4491072"/>
              <a:ext cx="212090" cy="152385"/>
            </a:xfrm>
            <a:prstGeom prst="rect">
              <a:avLst/>
            </a:prstGeom>
          </p:spPr>
        </p:pic>
      </p:grpSp>
      <p:sp>
        <p:nvSpPr>
          <p:cNvPr id="2" name="Slide Number Placeholder 1"/>
          <p:cNvSpPr>
            <a:spLocks noGrp="1"/>
          </p:cNvSpPr>
          <p:nvPr>
            <p:ph type="sldNum" sz="quarter" idx="12"/>
          </p:nvPr>
        </p:nvSpPr>
        <p:spPr/>
        <p:txBody>
          <a:bodyPr/>
          <a:lstStyle/>
          <a:p>
            <a:fld id="{7FC2E40A-4446-4E2B-B9AD-16F559E28E02}" type="slidenum">
              <a:rPr lang="en-US" smtClean="0"/>
              <a:t>48</a:t>
            </a:fld>
            <a:endParaRPr lang="en-US"/>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695653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63">
            <a:extLst>
              <a:ext uri="{FF2B5EF4-FFF2-40B4-BE49-F238E27FC236}">
                <a16:creationId xmlns:a16="http://schemas.microsoft.com/office/drawing/2014/main" id="{7DE4DEE4-712A-4CFA-A055-E6C6E9E30DE0}"/>
              </a:ext>
            </a:extLst>
          </p:cNvPr>
          <p:cNvSpPr txBox="1"/>
          <p:nvPr/>
        </p:nvSpPr>
        <p:spPr>
          <a:xfrm>
            <a:off x="358601" y="6088461"/>
            <a:ext cx="4579620"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الگوریتم همسان‌سازی </a:t>
            </a: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پیشنهادی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18" name="Picture 17">
            <a:extLst>
              <a:ext uri="{FF2B5EF4-FFF2-40B4-BE49-F238E27FC236}">
                <a16:creationId xmlns:a16="http://schemas.microsoft.com/office/drawing/2014/main" id="{E1AC8998-D07C-42DC-BAE5-39A733290A3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672" y="1905000"/>
            <a:ext cx="5110562" cy="3794442"/>
          </a:xfrm>
          <a:prstGeom prst="rect">
            <a:avLst/>
          </a:prstGeom>
        </p:spPr>
      </p:pic>
      <p:pic>
        <p:nvPicPr>
          <p:cNvPr id="21" name="Picture 20">
            <a:extLst>
              <a:ext uri="{FF2B5EF4-FFF2-40B4-BE49-F238E27FC236}">
                <a16:creationId xmlns:a16="http://schemas.microsoft.com/office/drawing/2014/main" id="{876448F6-AB3F-418C-80C5-029BBB6F0E1B}"/>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6319270" y="2185866"/>
            <a:ext cx="1798955" cy="418465"/>
          </a:xfrm>
          <a:prstGeom prst="rect">
            <a:avLst/>
          </a:prstGeom>
        </p:spPr>
      </p:pic>
      <p:pic>
        <p:nvPicPr>
          <p:cNvPr id="22" name="Picture 21">
            <a:extLst>
              <a:ext uri="{FF2B5EF4-FFF2-40B4-BE49-F238E27FC236}">
                <a16:creationId xmlns:a16="http://schemas.microsoft.com/office/drawing/2014/main" id="{15111EFB-EBE7-4083-A4DC-F4AA2768E46F}"/>
              </a:ext>
            </a:extLst>
          </p:cNvPr>
          <p:cNvPicPr/>
          <p:nvPr/>
        </p:nvPicPr>
        <p:blipFill>
          <a:blip r:embed="rId5">
            <a:extLst>
              <a:ext uri="{28A0092B-C50C-407E-A947-70E740481C1C}">
                <a14:useLocalDpi xmlns:a14="http://schemas.microsoft.com/office/drawing/2010/main" val="0"/>
              </a:ext>
            </a:extLst>
          </a:blip>
          <a:stretch>
            <a:fillRect/>
          </a:stretch>
        </p:blipFill>
        <p:spPr>
          <a:xfrm>
            <a:off x="6292098" y="2668983"/>
            <a:ext cx="1374775" cy="323215"/>
          </a:xfrm>
          <a:prstGeom prst="rect">
            <a:avLst/>
          </a:prstGeom>
        </p:spPr>
      </p:pic>
      <p:pic>
        <p:nvPicPr>
          <p:cNvPr id="23" name="Picture 22">
            <a:extLst>
              <a:ext uri="{FF2B5EF4-FFF2-40B4-BE49-F238E27FC236}">
                <a16:creationId xmlns:a16="http://schemas.microsoft.com/office/drawing/2014/main" id="{9D79F70F-45AE-4B8F-BCD1-DE43E48B8B86}"/>
              </a:ext>
            </a:extLst>
          </p:cNvPr>
          <p:cNvPicPr/>
          <p:nvPr/>
        </p:nvPicPr>
        <p:blipFill>
          <a:blip r:embed="rId6">
            <a:extLst>
              <a:ext uri="{28A0092B-C50C-407E-A947-70E740481C1C}">
                <a14:useLocalDpi xmlns:a14="http://schemas.microsoft.com/office/drawing/2010/main" val="0"/>
              </a:ext>
            </a:extLst>
          </a:blip>
          <a:stretch>
            <a:fillRect/>
          </a:stretch>
        </p:blipFill>
        <p:spPr>
          <a:xfrm>
            <a:off x="6287616" y="3346711"/>
            <a:ext cx="1176246" cy="323215"/>
          </a:xfrm>
          <a:prstGeom prst="rect">
            <a:avLst/>
          </a:prstGeom>
        </p:spPr>
      </p:pic>
      <p:pic>
        <p:nvPicPr>
          <p:cNvPr id="24" name="Picture 23">
            <a:extLst>
              <a:ext uri="{FF2B5EF4-FFF2-40B4-BE49-F238E27FC236}">
                <a16:creationId xmlns:a16="http://schemas.microsoft.com/office/drawing/2014/main" id="{D74C6577-8BB2-4763-94C0-5C23DEF93F37}"/>
              </a:ext>
            </a:extLst>
          </p:cNvPr>
          <p:cNvPicPr/>
          <p:nvPr/>
        </p:nvPicPr>
        <p:blipFill>
          <a:blip r:embed="rId7">
            <a:extLst>
              <a:ext uri="{28A0092B-C50C-407E-A947-70E740481C1C}">
                <a14:useLocalDpi xmlns:a14="http://schemas.microsoft.com/office/drawing/2010/main" val="0"/>
              </a:ext>
            </a:extLst>
          </a:blip>
          <a:stretch>
            <a:fillRect/>
          </a:stretch>
        </p:blipFill>
        <p:spPr>
          <a:xfrm>
            <a:off x="6336543" y="3769543"/>
            <a:ext cx="2118051" cy="265960"/>
          </a:xfrm>
          <a:prstGeom prst="rect">
            <a:avLst/>
          </a:prstGeom>
        </p:spPr>
      </p:pic>
      <p:pic>
        <p:nvPicPr>
          <p:cNvPr id="25" name="Picture 24">
            <a:extLst>
              <a:ext uri="{FF2B5EF4-FFF2-40B4-BE49-F238E27FC236}">
                <a16:creationId xmlns:a16="http://schemas.microsoft.com/office/drawing/2014/main" id="{F71B0E14-F814-4C9A-844F-82D9AA5A2052}"/>
              </a:ext>
            </a:extLst>
          </p:cNvPr>
          <p:cNvPicPr/>
          <p:nvPr/>
        </p:nvPicPr>
        <p:blipFill>
          <a:blip r:embed="rId8">
            <a:extLst>
              <a:ext uri="{28A0092B-C50C-407E-A947-70E740481C1C}">
                <a14:useLocalDpi xmlns:a14="http://schemas.microsoft.com/office/drawing/2010/main" val="0"/>
              </a:ext>
            </a:extLst>
          </a:blip>
          <a:stretch>
            <a:fillRect/>
          </a:stretch>
        </p:blipFill>
        <p:spPr>
          <a:xfrm>
            <a:off x="6319270" y="4333626"/>
            <a:ext cx="2541625" cy="533400"/>
          </a:xfrm>
          <a:prstGeom prst="rect">
            <a:avLst/>
          </a:prstGeom>
        </p:spPr>
      </p:pic>
      <p:sp>
        <p:nvSpPr>
          <p:cNvPr id="27" name="Text Box 63">
            <a:extLst>
              <a:ext uri="{FF2B5EF4-FFF2-40B4-BE49-F238E27FC236}">
                <a16:creationId xmlns:a16="http://schemas.microsoft.com/office/drawing/2014/main" id="{699A4BE1-0D52-4A8A-841F-1ADFC36A026E}"/>
              </a:ext>
            </a:extLst>
          </p:cNvPr>
          <p:cNvSpPr txBox="1"/>
          <p:nvPr/>
        </p:nvSpPr>
        <p:spPr>
          <a:xfrm>
            <a:off x="5982715" y="6088461"/>
            <a:ext cx="2930072"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روابط خوشه بندی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28" name="Picture 27"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9" name="TextBox 28">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49</a:t>
            </a:fld>
            <a:endParaRPr lang="en-US"/>
          </a:p>
        </p:txBody>
      </p:sp>
      <p:sp>
        <p:nvSpPr>
          <p:cNvPr id="3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Rectangle 39">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1"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42976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2" name="TextBox 51">
            <a:extLst>
              <a:ext uri="{FF2B5EF4-FFF2-40B4-BE49-F238E27FC236}">
                <a16:creationId xmlns:a16="http://schemas.microsoft.com/office/drawing/2014/main" id="{0D7C9433-5674-4BC9-A282-6D982E5B3065}"/>
              </a:ext>
            </a:extLst>
          </p:cNvPr>
          <p:cNvSpPr txBox="1"/>
          <p:nvPr/>
        </p:nvSpPr>
        <p:spPr>
          <a:xfrm>
            <a:off x="-397968" y="3240253"/>
            <a:ext cx="65" cy="276999"/>
          </a:xfrm>
          <a:prstGeom prst="rect">
            <a:avLst/>
          </a:prstGeom>
          <a:noFill/>
        </p:spPr>
        <p:txBody>
          <a:bodyPr wrap="none" lIns="0" tIns="0" rIns="0" bIns="0" rtlCol="0">
            <a:spAutoFit/>
          </a:bodyPr>
          <a:lstStyle/>
          <a:p>
            <a:endParaRPr lang="en-US" dirty="0"/>
          </a:p>
        </p:txBody>
      </p:sp>
      <p:sp>
        <p:nvSpPr>
          <p:cNvPr id="53"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2792428" y="3918238"/>
            <a:ext cx="3931920" cy="473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a:cs typeface="B Nazanin" panose="00000400000000000000" pitchFamily="2" charset="-78"/>
              </a:rPr>
              <a:t>ولتاژ مدار باز (</a:t>
            </a:r>
            <a:r>
              <a:rPr lang="en-US" b="1" i="1">
                <a:latin typeface="Times New Roman" panose="02020603050405020304" pitchFamily="18" charset="0"/>
                <a:cs typeface="Times New Roman" panose="02020603050405020304" pitchFamily="18" charset="0"/>
              </a:rPr>
              <a:t>OCV</a:t>
            </a:r>
            <a:r>
              <a:rPr lang="fa-IR" b="1">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5" name="Picture 4"/>
          <p:cNvPicPr>
            <a:picLocks noChangeAspect="1"/>
          </p:cNvPicPr>
          <p:nvPr/>
        </p:nvPicPr>
        <p:blipFill>
          <a:blip r:embed="rId3"/>
          <a:stretch>
            <a:fillRect/>
          </a:stretch>
        </p:blipFill>
        <p:spPr>
          <a:xfrm>
            <a:off x="477025" y="1438854"/>
            <a:ext cx="1838325" cy="1933575"/>
          </a:xfrm>
          <a:prstGeom prst="rect">
            <a:avLst/>
          </a:prstGeom>
        </p:spPr>
      </p:pic>
      <p:sp>
        <p:nvSpPr>
          <p:cNvPr id="120"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05000"/>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1"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140768"/>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3" name="AutoShape 6">
            <a:extLst>
              <a:ext uri="{FF2B5EF4-FFF2-40B4-BE49-F238E27FC236}">
                <a16:creationId xmlns:a16="http://schemas.microsoft.com/office/drawing/2014/main" id="{1F8AE669-1568-4178-BF56-57E58EA0C127}"/>
              </a:ext>
            </a:extLst>
          </p:cNvPr>
          <p:cNvSpPr>
            <a:spLocks noChangeAspect="1" noChangeArrowheads="1"/>
          </p:cNvSpPr>
          <p:nvPr/>
        </p:nvSpPr>
        <p:spPr bwMode="gray">
          <a:xfrm>
            <a:off x="3350973" y="5518299"/>
            <a:ext cx="3931920" cy="4476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sp>
        <p:nvSpPr>
          <p:cNvPr id="125"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3387068" y="2347178"/>
            <a:ext cx="3931920" cy="444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شمارش کولن</a:t>
            </a:r>
            <a:endParaRPr lang="en-US" b="1" dirty="0">
              <a:solidFill>
                <a:srgbClr val="000000"/>
              </a:solidFill>
              <a:latin typeface="Times New Roman" panose="02020603050405020304" pitchFamily="18" charset="0"/>
              <a:cs typeface="B Nazanin" pitchFamily="2" charset="-78"/>
            </a:endParaRPr>
          </a:p>
        </p:txBody>
      </p:sp>
      <p:sp>
        <p:nvSpPr>
          <p:cNvPr id="154" name="TextBox 153">
            <a:extLst>
              <a:ext uri="{FF2B5EF4-FFF2-40B4-BE49-F238E27FC236}">
                <a16:creationId xmlns:a16="http://schemas.microsoft.com/office/drawing/2014/main" id="{0D7C9433-5674-4BC9-A282-6D982E5B3065}"/>
              </a:ext>
            </a:extLst>
          </p:cNvPr>
          <p:cNvSpPr txBox="1"/>
          <p:nvPr/>
        </p:nvSpPr>
        <p:spPr>
          <a:xfrm>
            <a:off x="4118977" y="2973412"/>
            <a:ext cx="65" cy="276999"/>
          </a:xfrm>
          <a:prstGeom prst="rect">
            <a:avLst/>
          </a:prstGeom>
          <a:noFill/>
        </p:spPr>
        <p:txBody>
          <a:bodyPr wrap="none" lIns="0" tIns="0" rIns="0" bIns="0" rtlCol="0">
            <a:spAutoFit/>
          </a:bodyPr>
          <a:lstStyle/>
          <a:p>
            <a:endParaRPr lang="en-US" dirty="0"/>
          </a:p>
        </p:txBody>
      </p:sp>
      <p:grpSp>
        <p:nvGrpSpPr>
          <p:cNvPr id="64"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6567366" y="3960617"/>
            <a:ext cx="381000" cy="381000"/>
            <a:chOff x="2078" y="1680"/>
            <a:chExt cx="1615" cy="1615"/>
          </a:xfrm>
        </p:grpSpPr>
        <p:sp>
          <p:nvSpPr>
            <p:cNvPr id="65"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6"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7"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63"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7176028" y="2382615"/>
            <a:ext cx="381000" cy="381000"/>
            <a:chOff x="2078" y="1680"/>
            <a:chExt cx="1615" cy="1615"/>
          </a:xfrm>
        </p:grpSpPr>
        <p:sp>
          <p:nvSpPr>
            <p:cNvPr id="164"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5"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6"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7"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8"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9"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0"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7138335" y="5552886"/>
            <a:ext cx="381000" cy="381000"/>
            <a:chOff x="2078" y="1680"/>
            <a:chExt cx="1615" cy="1615"/>
          </a:xfrm>
        </p:grpSpPr>
        <p:sp>
          <p:nvSpPr>
            <p:cNvPr id="171"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5"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6"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9" name="Rounded Rectangle 175">
            <a:extLst>
              <a:ext uri="{FF2B5EF4-FFF2-40B4-BE49-F238E27FC236}">
                <a16:creationId xmlns:a16="http://schemas.microsoft.com/office/drawing/2014/main" id="{8D19BD66-3E4D-4F25-BA5B-9959C4AF86A5}"/>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60" name="AutoShape 12" descr="5 Things That Affect Your Charging Speed | EVgo">
            <a:extLst>
              <a:ext uri="{FF2B5EF4-FFF2-40B4-BE49-F238E27FC236}">
                <a16:creationId xmlns:a16="http://schemas.microsoft.com/office/drawing/2014/main" id="{66FC110F-0F22-434B-8ACD-45D626A3C90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AutoShape 2" descr="What is the Depth of Discharge (DoD) Estimation of a Lithium Ion Battery?">
            <a:extLst>
              <a:ext uri="{FF2B5EF4-FFF2-40B4-BE49-F238E27FC236}">
                <a16:creationId xmlns:a16="http://schemas.microsoft.com/office/drawing/2014/main" id="{AE94E5F4-4CC0-4C2D-B4A7-E343C7C8ADB8}"/>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AutoShape 10">
            <a:extLst>
              <a:ext uri="{FF2B5EF4-FFF2-40B4-BE49-F238E27FC236}">
                <a16:creationId xmlns:a16="http://schemas.microsoft.com/office/drawing/2014/main" id="{0E51A7C8-157C-451B-8B78-DB07BC6EBAFF}"/>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id="{8AD084DA-8D50-42FC-9827-910C0293EF8E}"/>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1" name="AutoShape 3">
            <a:extLst>
              <a:ext uri="{FF2B5EF4-FFF2-40B4-BE49-F238E27FC236}">
                <a16:creationId xmlns:a16="http://schemas.microsoft.com/office/drawing/2014/main" id="{9C1D6F19-0265-412E-9AED-47EAEB80CC52}"/>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2" name="AutoShape 3">
            <a:extLst>
              <a:ext uri="{FF2B5EF4-FFF2-40B4-BE49-F238E27FC236}">
                <a16:creationId xmlns:a16="http://schemas.microsoft.com/office/drawing/2014/main" id="{0E991C3B-34C7-4CE5-8014-566F379FFBF2}"/>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3" name="Rectangle 72">
            <a:extLst>
              <a:ext uri="{FF2B5EF4-FFF2-40B4-BE49-F238E27FC236}">
                <a16:creationId xmlns:a16="http://schemas.microsoft.com/office/drawing/2014/main" id="{80BD53AA-967F-4168-B767-427C76535D6B}"/>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4" name="Rectangle 73">
            <a:extLst>
              <a:ext uri="{FF2B5EF4-FFF2-40B4-BE49-F238E27FC236}">
                <a16:creationId xmlns:a16="http://schemas.microsoft.com/office/drawing/2014/main" id="{2AC7EE3A-D352-4345-B647-569773716BD3}"/>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5" name="Rectangle 74">
            <a:extLst>
              <a:ext uri="{FF2B5EF4-FFF2-40B4-BE49-F238E27FC236}">
                <a16:creationId xmlns:a16="http://schemas.microsoft.com/office/drawing/2014/main" id="{37328964-0EC8-4739-9481-3F9FCF564204}"/>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6" name="Rectangle 75">
            <a:extLst>
              <a:ext uri="{FF2B5EF4-FFF2-40B4-BE49-F238E27FC236}">
                <a16:creationId xmlns:a16="http://schemas.microsoft.com/office/drawing/2014/main" id="{9B94B742-81B7-4631-84FC-5FD9CA0BBAB3}"/>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77" name="Picture 76" descr="پرونده:Azad University logo.png - ویکی‌پدیا، دانشنامهٔ آزاد">
            <a:extLst>
              <a:ext uri="{FF2B5EF4-FFF2-40B4-BE49-F238E27FC236}">
                <a16:creationId xmlns:a16="http://schemas.microsoft.com/office/drawing/2014/main" id="{DE9569A3-4E60-44E6-B193-07F4C2260CD2}"/>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722995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428"/>
          <p:cNvSpPr/>
          <p:nvPr/>
        </p:nvSpPr>
        <p:spPr>
          <a:xfrm>
            <a:off x="346210" y="6187624"/>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Lotus" panose="00000400000000000000" pitchFamily="2" charset="-78"/>
              </a:rPr>
              <a:t>شمارش کولن</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77373" y="3499157"/>
            <a:ext cx="65" cy="276999"/>
          </a:xfrm>
          <a:prstGeom prst="rect">
            <a:avLst/>
          </a:prstGeom>
          <a:noFill/>
        </p:spPr>
        <p:txBody>
          <a:bodyPr wrap="none" lIns="0" tIns="0" rIns="0" bIns="0" rtlCol="0">
            <a:spAutoFit/>
          </a:bodyPr>
          <a:lstStyle/>
          <a:p>
            <a:endParaRPr lang="en-US" dirty="0"/>
          </a:p>
        </p:txBody>
      </p:sp>
      <p:pic>
        <p:nvPicPr>
          <p:cNvPr id="3" name="Picture 2"/>
          <p:cNvPicPr>
            <a:picLocks noChangeAspect="1"/>
          </p:cNvPicPr>
          <p:nvPr/>
        </p:nvPicPr>
        <p:blipFill>
          <a:blip r:embed="rId3"/>
          <a:stretch>
            <a:fillRect/>
          </a:stretch>
        </p:blipFill>
        <p:spPr>
          <a:xfrm>
            <a:off x="208440" y="1764112"/>
            <a:ext cx="4881106" cy="3752850"/>
          </a:xfrm>
          <a:prstGeom prst="rect">
            <a:avLst/>
          </a:prstGeom>
        </p:spPr>
      </p:pic>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mc:AlternateContent xmlns:mc="http://schemas.openxmlformats.org/markup-compatibility/2006" xmlns:a14="http://schemas.microsoft.com/office/drawing/2010/main">
        <mc:Choice Requires="a14">
          <p:sp>
            <p:nvSpPr>
              <p:cNvPr id="6" name="Rectangle 5"/>
              <p:cNvSpPr/>
              <p:nvPr/>
            </p:nvSpPr>
            <p:spPr>
              <a:xfrm>
                <a:off x="6269706" y="5482675"/>
                <a:ext cx="2135264" cy="7178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𝑆𝑂𝐶</m:t>
                      </m:r>
                      <m:r>
                        <a:rPr lang="en-US" i="0">
                          <a:latin typeface="Cambria Math" panose="02040503050406030204" pitchFamily="18" charset="0"/>
                        </a:rPr>
                        <m:t>=</m:t>
                      </m:r>
                      <m:r>
                        <a:rPr lang="en-US" i="0">
                          <a:latin typeface="Cambria Math" panose="02040503050406030204" pitchFamily="18" charset="0"/>
                        </a:rPr>
                        <m:t>1</m:t>
                      </m:r>
                      <m:r>
                        <a:rPr lang="en-US" i="0">
                          <a:latin typeface="Cambria Math" panose="02040503050406030204" pitchFamily="18" charset="0"/>
                        </a:rPr>
                        <m:t>− </m:t>
                      </m:r>
                      <m:f>
                        <m:fPr>
                          <m:ctrlPr>
                            <a:rPr lang="en-US" i="1">
                              <a:latin typeface="Cambria Math" panose="02040503050406030204" pitchFamily="18" charset="0"/>
                            </a:rPr>
                          </m:ctrlPr>
                        </m:fPr>
                        <m:num>
                          <m:nary>
                            <m:naryPr>
                              <m:subHide m:val="on"/>
                              <m:supHide m:val="on"/>
                              <m:ctrlPr>
                                <a:rPr lang="en-US" i="1">
                                  <a:latin typeface="Cambria Math" panose="02040503050406030204" pitchFamily="18" charset="0"/>
                                </a:rPr>
                              </m:ctrlPr>
                            </m:naryPr>
                            <m:sub/>
                            <m:sup/>
                            <m:e>
                              <m:r>
                                <a:rPr lang="en-US" i="1">
                                  <a:latin typeface="Cambria Math" panose="02040503050406030204" pitchFamily="18" charset="0"/>
                                </a:rPr>
                                <m:t>𝑖</m:t>
                              </m:r>
                              <m:r>
                                <a:rPr lang="en-US" i="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𝜂</m:t>
                              </m:r>
                              <m:r>
                                <a:rPr lang="en-US" i="1">
                                  <a:latin typeface="Cambria Math" panose="02040503050406030204" pitchFamily="18" charset="0"/>
                                </a:rPr>
                                <m:t>𝑑𝑡</m:t>
                              </m:r>
                            </m:e>
                          </m:nary>
                        </m:num>
                        <m:den>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𝑛</m:t>
                              </m:r>
                            </m:sub>
                          </m:sSub>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6269706" y="5482675"/>
                <a:ext cx="2135264" cy="717889"/>
              </a:xfrm>
              <a:prstGeom prst="rect">
                <a:avLst/>
              </a:prstGeom>
              <a:blipFill rotWithShape="0">
                <a:blip r:embed="rId4"/>
                <a:stretch>
                  <a:fillRect/>
                </a:stretch>
              </a:blipFill>
            </p:spPr>
            <p:txBody>
              <a:bodyPr/>
              <a:lstStyle/>
              <a:p>
                <a:r>
                  <a:rPr lang="fa-IR">
                    <a:noFill/>
                  </a:rPr>
                  <a:t> </a:t>
                </a:r>
              </a:p>
            </p:txBody>
          </p:sp>
        </mc:Fallback>
      </mc:AlternateContent>
      <p:pic>
        <p:nvPicPr>
          <p:cNvPr id="9" name="Picture 8"/>
          <p:cNvPicPr>
            <a:picLocks noChangeAspect="1"/>
          </p:cNvPicPr>
          <p:nvPr/>
        </p:nvPicPr>
        <p:blipFill>
          <a:blip r:embed="rId5"/>
          <a:stretch>
            <a:fillRect/>
          </a:stretch>
        </p:blipFill>
        <p:spPr>
          <a:xfrm>
            <a:off x="5871097" y="4038276"/>
            <a:ext cx="2905532" cy="1286055"/>
          </a:xfrm>
          <a:prstGeom prst="rect">
            <a:avLst/>
          </a:prstGeom>
        </p:spPr>
      </p:pic>
      <p:sp>
        <p:nvSpPr>
          <p:cNvPr id="28" name="Rounded Rectangle 175">
            <a:extLst>
              <a:ext uri="{FF2B5EF4-FFF2-40B4-BE49-F238E27FC236}">
                <a16:creationId xmlns:a16="http://schemas.microsoft.com/office/drawing/2014/main" id="{522A954B-B2D4-4C05-9517-FEA90B41B72C}"/>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id="{DA040FC8-D3D2-49BC-B847-070597E04B15}"/>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What is the Depth of Discharge (DoD) Estimation of a Lithium Ion Battery?">
            <a:extLst>
              <a:ext uri="{FF2B5EF4-FFF2-40B4-BE49-F238E27FC236}">
                <a16:creationId xmlns:a16="http://schemas.microsoft.com/office/drawing/2014/main" id="{ED16E281-C645-4E9E-AD14-F5ED1803F8E2}"/>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10">
            <a:extLst>
              <a:ext uri="{FF2B5EF4-FFF2-40B4-BE49-F238E27FC236}">
                <a16:creationId xmlns:a16="http://schemas.microsoft.com/office/drawing/2014/main" id="{9343FB8D-A833-4C53-BE58-7413121483AB}"/>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C7EEE27E-0227-4203-B443-0AF90AAE7FB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6" name="AutoShape 3">
            <a:extLst>
              <a:ext uri="{FF2B5EF4-FFF2-40B4-BE49-F238E27FC236}">
                <a16:creationId xmlns:a16="http://schemas.microsoft.com/office/drawing/2014/main" id="{89E4BB67-69A3-4583-A734-D3D64F1BF5A4}"/>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id="{9DFE82B6-F631-4974-9D9E-6845493803BB}"/>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id="{044DA41C-2955-4D64-963D-78A5B342086E}"/>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7DF61ADD-3B33-4D1D-B698-10C1117A7588}"/>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9B442CD5-1A8F-441D-BAA4-97391F725306}"/>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id="{54BB3214-FEBC-45E5-8FC3-4D1484695B06}"/>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9" name="Picture 48" descr="پرونده:Azad University logo.png - ویکی‌پدیا، دانشنامهٔ آزاد">
            <a:extLst>
              <a:ext uri="{FF2B5EF4-FFF2-40B4-BE49-F238E27FC236}">
                <a16:creationId xmlns:a16="http://schemas.microsoft.com/office/drawing/2014/main" id="{4F35BFF9-43DF-43B3-A58D-860E7E707AA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4" name="TextBox 63">
            <a:extLst>
              <a:ext uri="{FF2B5EF4-FFF2-40B4-BE49-F238E27FC236}">
                <a16:creationId xmlns:a16="http://schemas.microsoft.com/office/drawing/2014/main" id="{00F5D181-501B-43BE-8881-1E121279D569}"/>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65" name="TextBox 64">
            <a:extLst>
              <a:ext uri="{FF2B5EF4-FFF2-40B4-BE49-F238E27FC236}">
                <a16:creationId xmlns:a16="http://schemas.microsoft.com/office/drawing/2014/main" id="{848B3226-069D-4ECD-BE80-CD925D666525}"/>
              </a:ext>
            </a:extLst>
          </p:cNvPr>
          <p:cNvSpPr txBox="1"/>
          <p:nvPr/>
        </p:nvSpPr>
        <p:spPr>
          <a:xfrm>
            <a:off x="1104598" y="5754989"/>
            <a:ext cx="32303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تخمین </a:t>
            </a:r>
            <a:r>
              <a:rPr lang="en-US" dirty="0">
                <a:cs typeface="B Lotus" panose="00000400000000000000" pitchFamily="2" charset="-78"/>
              </a:rPr>
              <a:t>SOC</a:t>
            </a:r>
            <a:r>
              <a:rPr lang="fa-IR" dirty="0">
                <a:cs typeface="B Lotus" panose="00000400000000000000" pitchFamily="2" charset="-78"/>
              </a:rPr>
              <a:t> بر اساس شمارش </a:t>
            </a:r>
            <a:r>
              <a:rPr lang="fa-IR" dirty="0" err="1">
                <a:cs typeface="B Lotus" panose="00000400000000000000" pitchFamily="2" charset="-78"/>
              </a:rPr>
              <a:t>کولن</a:t>
            </a:r>
            <a:r>
              <a:rPr lang="fa-IR" dirty="0">
                <a:cs typeface="B Lotus" panose="00000400000000000000" pitchFamily="2" charset="-78"/>
              </a:rPr>
              <a:t>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1"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9136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77000" y="251460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ولتاژ مدار باز (</a:t>
            </a:r>
            <a:r>
              <a:rPr lang="en-US" b="1" i="1" dirty="0">
                <a:latin typeface="Times New Roman" panose="02020603050405020304" pitchFamily="18" charset="0"/>
                <a:cs typeface="Times New Roman" panose="02020603050405020304" pitchFamily="18" charset="0"/>
              </a:rPr>
              <a:t>OCV</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37600" y="259080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24" name="TextBox 23"/>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3" name="Picture 2"/>
          <p:cNvPicPr>
            <a:picLocks noChangeAspect="1"/>
          </p:cNvPicPr>
          <p:nvPr/>
        </p:nvPicPr>
        <p:blipFill>
          <a:blip r:embed="rId3"/>
          <a:stretch>
            <a:fillRect/>
          </a:stretch>
        </p:blipFill>
        <p:spPr>
          <a:xfrm>
            <a:off x="6269607" y="3505200"/>
            <a:ext cx="1841042" cy="1893992"/>
          </a:xfrm>
          <a:prstGeom prst="rect">
            <a:avLst/>
          </a:prstGeom>
        </p:spPr>
      </p:pic>
      <p:sp>
        <p:nvSpPr>
          <p:cNvPr id="25" name="Rounded Rectangle 175">
            <a:extLst>
              <a:ext uri="{FF2B5EF4-FFF2-40B4-BE49-F238E27FC236}">
                <a16:creationId xmlns:a16="http://schemas.microsoft.com/office/drawing/2014/main" id="{B0A9F86E-7CF0-432E-AA46-04AFCEFE037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6" name="AutoShape 12" descr="5 Things That Affect Your Charging Speed | EVgo">
            <a:extLst>
              <a:ext uri="{FF2B5EF4-FFF2-40B4-BE49-F238E27FC236}">
                <a16:creationId xmlns:a16="http://schemas.microsoft.com/office/drawing/2014/main" id="{0E95D3DA-FDB6-4FE2-AAEB-3AB05E0ED1A3}"/>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AutoShape 2" descr="What is the Depth of Discharge (DoD) Estimation of a Lithium Ion Battery?">
            <a:extLst>
              <a:ext uri="{FF2B5EF4-FFF2-40B4-BE49-F238E27FC236}">
                <a16:creationId xmlns:a16="http://schemas.microsoft.com/office/drawing/2014/main" id="{8D1E0A22-85B7-4ADB-A481-FA35F1D222B4}"/>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0">
            <a:extLst>
              <a:ext uri="{FF2B5EF4-FFF2-40B4-BE49-F238E27FC236}">
                <a16:creationId xmlns:a16="http://schemas.microsoft.com/office/drawing/2014/main" id="{AEBA6AC3-ACC4-4CDF-85DB-632B7198D7F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AutoShape 3">
            <a:extLst>
              <a:ext uri="{FF2B5EF4-FFF2-40B4-BE49-F238E27FC236}">
                <a16:creationId xmlns:a16="http://schemas.microsoft.com/office/drawing/2014/main" id="{42693DFD-3480-4F7A-AD10-E4259BDB5FD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2" name="AutoShape 3">
            <a:extLst>
              <a:ext uri="{FF2B5EF4-FFF2-40B4-BE49-F238E27FC236}">
                <a16:creationId xmlns:a16="http://schemas.microsoft.com/office/drawing/2014/main" id="{AA1E5CE9-3038-43CE-8A56-960100E579DF}"/>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a:extLst>
              <a:ext uri="{FF2B5EF4-FFF2-40B4-BE49-F238E27FC236}">
                <a16:creationId xmlns:a16="http://schemas.microsoft.com/office/drawing/2014/main" id="{0B0A0D4A-F5BD-40F7-94C7-288844499923}"/>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Rectangle 33">
            <a:extLst>
              <a:ext uri="{FF2B5EF4-FFF2-40B4-BE49-F238E27FC236}">
                <a16:creationId xmlns:a16="http://schemas.microsoft.com/office/drawing/2014/main" id="{212830D6-2ED2-4407-AE97-06E3B18D3B95}"/>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a:extLst>
              <a:ext uri="{FF2B5EF4-FFF2-40B4-BE49-F238E27FC236}">
                <a16:creationId xmlns:a16="http://schemas.microsoft.com/office/drawing/2014/main" id="{0F116B75-4B6F-4ACF-ACC9-B05EFD88E56D}"/>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a16="http://schemas.microsoft.com/office/drawing/2014/main" id="{718F4A34-B33A-4C4D-B937-20ACD46108E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a16="http://schemas.microsoft.com/office/drawing/2014/main" id="{38231380-D284-47B7-8807-DD698AA4AAA7}"/>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5" name="Picture 44" descr="پرونده:Azad University logo.png - ویکی‌پدیا، دانشنامهٔ آزاد">
            <a:extLst>
              <a:ext uri="{FF2B5EF4-FFF2-40B4-BE49-F238E27FC236}">
                <a16:creationId xmlns:a16="http://schemas.microsoft.com/office/drawing/2014/main" id="{2AEE2930-8E3A-4897-9A34-A5ACD1D5820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TextBox 47">
            <a:extLst>
              <a:ext uri="{FF2B5EF4-FFF2-40B4-BE49-F238E27FC236}">
                <a16:creationId xmlns:a16="http://schemas.microsoft.com/office/drawing/2014/main" id="{8F6CBAFA-95C7-46DC-A05B-FEA9F2BF6ED2}"/>
              </a:ext>
            </a:extLst>
          </p:cNvPr>
          <p:cNvSpPr txBox="1"/>
          <p:nvPr/>
        </p:nvSpPr>
        <p:spPr>
          <a:xfrm>
            <a:off x="1746892" y="5867400"/>
            <a:ext cx="3267241"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نمودار </a:t>
            </a:r>
            <a:r>
              <a:rPr lang="en-US" dirty="0">
                <a:cs typeface="B Lotus" panose="00000400000000000000" pitchFamily="2" charset="-78"/>
              </a:rPr>
              <a:t> SOC/OCV</a:t>
            </a:r>
            <a:r>
              <a:rPr lang="fa-IR" dirty="0">
                <a:cs typeface="B Lotus" panose="00000400000000000000" pitchFamily="2" charset="-78"/>
              </a:rPr>
              <a:t>یک نمونه باتری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52</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5"/>
          <a:stretch>
            <a:fillRect/>
          </a:stretch>
        </p:blipFill>
        <p:spPr>
          <a:xfrm>
            <a:off x="161662" y="1303512"/>
            <a:ext cx="5956300" cy="4554470"/>
          </a:xfrm>
          <a:prstGeom prst="rect">
            <a:avLst/>
          </a:prstGeom>
        </p:spPr>
      </p:pic>
    </p:spTree>
    <p:extLst>
      <p:ext uri="{BB962C8B-B14F-4D97-AF65-F5344CB8AC3E}">
        <p14:creationId xmlns:p14="http://schemas.microsoft.com/office/powerpoint/2010/main" val="1596329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a:extLst>
              <a:ext uri="{FF2B5EF4-FFF2-40B4-BE49-F238E27FC236}">
                <a16:creationId xmlns:a16="http://schemas.microsoft.com/office/drawing/2014/main" id="{0D7C9433-5674-4BC9-A282-6D982E5B3065}"/>
              </a:ext>
            </a:extLst>
          </p:cNvPr>
          <p:cNvSpPr txBox="1"/>
          <p:nvPr/>
        </p:nvSpPr>
        <p:spPr>
          <a:xfrm>
            <a:off x="4883132" y="3660199"/>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63500" y="1303512"/>
            <a:ext cx="6238176" cy="5024121"/>
          </a:xfrm>
          <a:prstGeom prst="rect">
            <a:avLst/>
          </a:prstGeom>
        </p:spPr>
      </p:pic>
      <p:sp>
        <p:nvSpPr>
          <p:cNvPr id="27" name="AutoShape 2" descr="Lithium-Ion State of Charge (SoC) measurement - Coulomb Counter method - OCV">
            <a:extLst>
              <a:ext uri="{FF2B5EF4-FFF2-40B4-BE49-F238E27FC236}">
                <a16:creationId xmlns:a16="http://schemas.microsoft.com/office/drawing/2014/main" id="{B70C6DFB-1A02-4744-A983-E9910E9867E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Rounded Rectangle 175">
            <a:extLst>
              <a:ext uri="{FF2B5EF4-FFF2-40B4-BE49-F238E27FC236}">
                <a16:creationId xmlns:a16="http://schemas.microsoft.com/office/drawing/2014/main" id="{32885676-30C8-4DEE-B74C-88FB1B127E46}"/>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id="{25333ABC-CE3B-4D84-8828-12F19CA9413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2" descr="What is the Depth of Discharge (DoD) Estimation of a Lithium Ion Battery?">
            <a:extLst>
              <a:ext uri="{FF2B5EF4-FFF2-40B4-BE49-F238E27FC236}">
                <a16:creationId xmlns:a16="http://schemas.microsoft.com/office/drawing/2014/main" id="{3E06600B-A8F7-4969-8D15-D641A6B512E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id="{06F59F1F-331F-4DA4-817A-701F3E87A87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id="{3C314289-9097-4E98-80D5-E76C61F61573}"/>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96AFC566-52A9-4352-8643-4061376F0B03}"/>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C8EE1CC3-8069-4DB7-980E-00B48DFEEBB5}"/>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23D3162C-E04A-43B8-B0EC-4CD4DAF8F701}"/>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id="{42D142D5-65DE-496F-8FC5-EC401D53DA29}"/>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796D06F0-D8E6-4E84-9854-A9DE23F4D0CD}"/>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7A40CFFB-68C7-410B-84C1-B7CF46C17C9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id="{E8E26B7E-4943-4452-A8C3-5DFBCB9CE7BE}"/>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0" name="TextBox 49">
            <a:extLst>
              <a:ext uri="{FF2B5EF4-FFF2-40B4-BE49-F238E27FC236}">
                <a16:creationId xmlns:a16="http://schemas.microsoft.com/office/drawing/2014/main" id="{A9502E4B-C172-463C-8653-0651C349F4E8}"/>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1" name="TextBox 50">
            <a:extLst>
              <a:ext uri="{FF2B5EF4-FFF2-40B4-BE49-F238E27FC236}">
                <a16:creationId xmlns:a16="http://schemas.microsoft.com/office/drawing/2014/main" id="{276660C7-12E0-496C-9DDE-89D8F2D4D4AF}"/>
              </a:ext>
            </a:extLst>
          </p:cNvPr>
          <p:cNvSpPr txBox="1"/>
          <p:nvPr/>
        </p:nvSpPr>
        <p:spPr>
          <a:xfrm>
            <a:off x="1062597" y="6223484"/>
            <a:ext cx="46185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استخراج خواص الکتریکی باتری توسط نمودار پاسخ پالس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1"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53"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6"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7"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8"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3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064278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078535" y="2210332"/>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339135" y="2286532"/>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6" name="Picture 25"/>
          <p:cNvPicPr/>
          <p:nvPr/>
        </p:nvPicPr>
        <p:blipFill rotWithShape="1">
          <a:blip r:embed="rId3">
            <a:extLst>
              <a:ext uri="{28A0092B-C50C-407E-A947-70E740481C1C}">
                <a14:useLocalDpi xmlns:a14="http://schemas.microsoft.com/office/drawing/2010/main" val="0"/>
              </a:ext>
            </a:extLst>
          </a:blip>
          <a:srcRect t="-1" b="1775"/>
          <a:stretch/>
        </p:blipFill>
        <p:spPr>
          <a:xfrm>
            <a:off x="134768" y="1321441"/>
            <a:ext cx="4876800" cy="2619652"/>
          </a:xfrm>
          <a:prstGeom prst="rect">
            <a:avLst/>
          </a:prstGeom>
        </p:spPr>
      </p:pic>
      <p:sp>
        <p:nvSpPr>
          <p:cNvPr id="3" name="Rectangle 2"/>
          <p:cNvSpPr/>
          <p:nvPr/>
        </p:nvSpPr>
        <p:spPr>
          <a:xfrm>
            <a:off x="1104643" y="3912241"/>
            <a:ext cx="2959465" cy="369332"/>
          </a:xfrm>
          <a:prstGeom prst="rect">
            <a:avLst/>
          </a:prstGeom>
        </p:spPr>
        <p:txBody>
          <a:bodyPr wrap="none">
            <a:spAutoFit/>
          </a:bodyPr>
          <a:lstStyle/>
          <a:p>
            <a:pPr algn="ctr" rtl="1"/>
            <a:r>
              <a:rPr lang="fa-IR" dirty="0" err="1">
                <a:latin typeface="Times New Roman" panose="02020603050405020304" pitchFamily="18" charset="0"/>
                <a:ea typeface="Calibri" panose="020F0502020204030204" pitchFamily="34" charset="0"/>
                <a:cs typeface="B Lotus" panose="00000400000000000000" pitchFamily="2" charset="-78"/>
              </a:rPr>
              <a:t>مشخصه‌یابی</a:t>
            </a:r>
            <a:r>
              <a:rPr lang="fa-IR" dirty="0">
                <a:latin typeface="Times New Roman" panose="02020603050405020304" pitchFamily="18" charset="0"/>
                <a:ea typeface="Calibri" panose="020F0502020204030204" pitchFamily="34" charset="0"/>
                <a:cs typeface="B Lotus" panose="00000400000000000000" pitchFamily="2" charset="-78"/>
              </a:rPr>
              <a:t> ترکیبی با پالس پرتوان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27" name="Picture 26"/>
          <p:cNvPicPr/>
          <p:nvPr/>
        </p:nvPicPr>
        <p:blipFill>
          <a:blip r:embed="rId4">
            <a:extLst>
              <a:ext uri="{28A0092B-C50C-407E-A947-70E740481C1C}">
                <a14:useLocalDpi xmlns:a14="http://schemas.microsoft.com/office/drawing/2010/main" val="0"/>
              </a:ext>
            </a:extLst>
          </a:blip>
          <a:stretch>
            <a:fillRect/>
          </a:stretch>
        </p:blipFill>
        <p:spPr>
          <a:xfrm>
            <a:off x="477668" y="4297193"/>
            <a:ext cx="4191000" cy="2133600"/>
          </a:xfrm>
          <a:prstGeom prst="rect">
            <a:avLst/>
          </a:prstGeom>
        </p:spPr>
      </p:pic>
      <p:sp>
        <p:nvSpPr>
          <p:cNvPr id="28" name="Rectangle 27"/>
          <p:cNvSpPr/>
          <p:nvPr/>
        </p:nvSpPr>
        <p:spPr>
          <a:xfrm>
            <a:off x="520700" y="6417561"/>
            <a:ext cx="388573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نمودار </a:t>
            </a:r>
            <a:r>
              <a:rPr lang="en-US" dirty="0">
                <a:latin typeface="Times New Roman" panose="02020603050405020304" pitchFamily="18" charset="0"/>
                <a:ea typeface="Calibri" panose="020F0502020204030204" pitchFamily="34" charset="0"/>
                <a:cs typeface="B Lotus" panose="00000400000000000000" pitchFamily="2" charset="-78"/>
              </a:rPr>
              <a:t>SOC/OCV</a:t>
            </a:r>
            <a:r>
              <a:rPr lang="fa-IR" dirty="0">
                <a:latin typeface="Times New Roman" panose="02020603050405020304" pitchFamily="18" charset="0"/>
                <a:ea typeface="Calibri" panose="020F0502020204030204" pitchFamily="34" charset="0"/>
                <a:cs typeface="B Lotus" panose="00000400000000000000" pitchFamily="2" charset="-78"/>
              </a:rPr>
              <a:t> در دماهای مختلف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7" name="Picture 6"/>
          <p:cNvPicPr>
            <a:picLocks noChangeAspect="1"/>
          </p:cNvPicPr>
          <p:nvPr/>
        </p:nvPicPr>
        <p:blipFill>
          <a:blip r:embed="rId5"/>
          <a:stretch>
            <a:fillRect/>
          </a:stretch>
        </p:blipFill>
        <p:spPr>
          <a:xfrm>
            <a:off x="5686179" y="2893986"/>
            <a:ext cx="3191121" cy="1832461"/>
          </a:xfrm>
          <a:prstGeom prst="rect">
            <a:avLst/>
          </a:prstGeom>
        </p:spPr>
      </p:pic>
      <p:sp>
        <p:nvSpPr>
          <p:cNvPr id="32" name="AutoShape 2" descr="Lithium-Ion State of Charge (SoC) measurement - Coulomb Counter method - OCV">
            <a:extLst>
              <a:ext uri="{FF2B5EF4-FFF2-40B4-BE49-F238E27FC236}">
                <a16:creationId xmlns:a16="http://schemas.microsoft.com/office/drawing/2014/main" id="{6A548917-3C9E-45D6-A811-9781D884A2F1}"/>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Lithium-ion Battery Internal Resistance Testing | Manufacturing &amp;  Inspection | Hioki">
            <a:extLst>
              <a:ext uri="{FF2B5EF4-FFF2-40B4-BE49-F238E27FC236}">
                <a16:creationId xmlns:a16="http://schemas.microsoft.com/office/drawing/2014/main" id="{4BA4AC28-1458-4CBE-A989-D0D4811D6F3B}"/>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2" descr="Lithium-Ion State of Charge (SoC) measurement - Coulomb Counter method - OCV">
            <a:extLst>
              <a:ext uri="{FF2B5EF4-FFF2-40B4-BE49-F238E27FC236}">
                <a16:creationId xmlns:a16="http://schemas.microsoft.com/office/drawing/2014/main" id="{85BFF5CC-8780-4C7F-AD41-C610979AB89A}"/>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Rounded Rectangle 175">
            <a:extLst>
              <a:ext uri="{FF2B5EF4-FFF2-40B4-BE49-F238E27FC236}">
                <a16:creationId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6" name="AutoShape 12" descr="5 Things That Affect Your Charging Speed | EVgo">
            <a:extLst>
              <a:ext uri="{FF2B5EF4-FFF2-40B4-BE49-F238E27FC236}">
                <a16:creationId xmlns:a16="http://schemas.microsoft.com/office/drawing/2014/main" id="{3C8FD39E-D0A5-47C7-8912-540FCB6E5A3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AutoShape 2" descr="What is the Depth of Discharge (DoD) Estimation of a Lithium Ion Battery?">
            <a:extLst>
              <a:ext uri="{FF2B5EF4-FFF2-40B4-BE49-F238E27FC236}">
                <a16:creationId xmlns:a16="http://schemas.microsoft.com/office/drawing/2014/main" id="{C039CC4D-0D66-496A-9EBE-F7BFD36609D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6" name="AutoShape 3">
            <a:extLst>
              <a:ext uri="{FF2B5EF4-FFF2-40B4-BE49-F238E27FC236}">
                <a16:creationId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7" name="AutoShape 3">
            <a:extLst>
              <a:ext uri="{FF2B5EF4-FFF2-40B4-BE49-F238E27FC236}">
                <a16:creationId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1" name="Rectangle 50">
            <a:extLst>
              <a:ext uri="{FF2B5EF4-FFF2-40B4-BE49-F238E27FC236}">
                <a16:creationId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Rectangle 52">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54" name="Picture 5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6" name="TextBox 55">
            <a:extLst>
              <a:ext uri="{FF2B5EF4-FFF2-40B4-BE49-F238E27FC236}">
                <a16:creationId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54</a:t>
            </a:fld>
            <a:endParaRPr lang="en-US"/>
          </a:p>
        </p:txBody>
      </p:sp>
      <p:sp>
        <p:nvSpPr>
          <p:cNvPr id="5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7210666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TextBox 25">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19" name="Text Box 151"/>
          <p:cNvSpPr txBox="1"/>
          <p:nvPr/>
        </p:nvSpPr>
        <p:spPr>
          <a:xfrm>
            <a:off x="190501" y="6477000"/>
            <a:ext cx="8686799" cy="184666"/>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توزیع </a:t>
            </a:r>
            <a:r>
              <a:rPr lang="en-US" sz="1200" dirty="0">
                <a:latin typeface="Times New Roman" panose="02020603050405020304" pitchFamily="18" charset="0"/>
                <a:ea typeface="Calibri" panose="020F0502020204030204" pitchFamily="34" charset="0"/>
                <a:cs typeface="B Lotus" panose="00000400000000000000" pitchFamily="2" charset="-78"/>
              </a:rPr>
              <a:t>SOC</a:t>
            </a:r>
            <a:r>
              <a:rPr lang="fa-IR" sz="1200" dirty="0">
                <a:latin typeface="Times New Roman" panose="02020603050405020304" pitchFamily="18" charset="0"/>
                <a:ea typeface="Calibri" panose="020F0502020204030204" pitchFamily="34" charset="0"/>
                <a:cs typeface="B Lotus" panose="00000400000000000000" pitchFamily="2" charset="-78"/>
              </a:rPr>
              <a:t> و نتایج پیاده سازی عملی روش‌های همسان‌سازی روش آستانه ثابت (الف)، دسته‌بندی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بدون </a:t>
            </a:r>
            <a:r>
              <a:rPr lang="en-US" sz="1200" dirty="0">
                <a:latin typeface="Times New Roman" panose="02020603050405020304" pitchFamily="18" charset="0"/>
                <a:ea typeface="Calibri" panose="020F0502020204030204" pitchFamily="34" charset="0"/>
                <a:cs typeface="B Lotus" panose="00000400000000000000" pitchFamily="2" charset="-78"/>
              </a:rPr>
              <a:t>GA</a:t>
            </a:r>
            <a:r>
              <a:rPr lang="fa-IR" sz="1200" dirty="0">
                <a:latin typeface="Times New Roman" panose="02020603050405020304" pitchFamily="18" charset="0"/>
                <a:ea typeface="Calibri" panose="020F0502020204030204" pitchFamily="34" charset="0"/>
                <a:cs typeface="B Lotus" panose="00000400000000000000" pitchFamily="2" charset="-78"/>
              </a:rPr>
              <a:t>(ب)، خوشه‌بندی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همراه با </a:t>
            </a:r>
            <a:r>
              <a:rPr lang="en-US" sz="1200" dirty="0">
                <a:latin typeface="Times New Roman" panose="02020603050405020304" pitchFamily="18" charset="0"/>
                <a:ea typeface="Calibri" panose="020F0502020204030204" pitchFamily="34" charset="0"/>
                <a:cs typeface="B Lotus" panose="00000400000000000000" pitchFamily="2" charset="-78"/>
              </a:rPr>
              <a:t>GA </a:t>
            </a:r>
            <a:r>
              <a:rPr lang="fa-IR" sz="1200" dirty="0">
                <a:latin typeface="Times New Roman" panose="02020603050405020304" pitchFamily="18" charset="0"/>
                <a:ea typeface="Calibri" panose="020F0502020204030204" pitchFamily="34" charset="0"/>
                <a:cs typeface="B Lotus" panose="00000400000000000000" pitchFamily="2" charset="-78"/>
              </a:rPr>
              <a:t> (ج) </a:t>
            </a:r>
            <a:r>
              <a:rPr lang="fa-IR" sz="1200" dirty="0">
                <a:solidFill>
                  <a:srgbClr val="5B9BD5"/>
                </a:solidFill>
                <a:latin typeface="Times New Roman" panose="02020603050405020304" pitchFamily="18" charset="0"/>
                <a:ea typeface="Calibri" panose="020F0502020204030204" pitchFamily="34" charset="0"/>
                <a:cs typeface="B Lotus" panose="00000400000000000000" pitchFamily="2" charset="-78"/>
              </a:rPr>
              <a:t>[1].</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grpSp>
        <p:nvGrpSpPr>
          <p:cNvPr id="2" name="Group 1"/>
          <p:cNvGrpSpPr/>
          <p:nvPr/>
        </p:nvGrpSpPr>
        <p:grpSpPr>
          <a:xfrm>
            <a:off x="443114" y="847401"/>
            <a:ext cx="8153400" cy="5414358"/>
            <a:chOff x="1562354" y="1116935"/>
            <a:chExt cx="5157216" cy="5298794"/>
          </a:xfrm>
        </p:grpSpPr>
        <p:pic>
          <p:nvPicPr>
            <p:cNvPr id="18" name="Picture 17"/>
            <p:cNvPicPr/>
            <p:nvPr/>
          </p:nvPicPr>
          <p:blipFill rotWithShape="1">
            <a:blip r:embed="rId4" cstate="print">
              <a:extLst>
                <a:ext uri="{28A0092B-C50C-407E-A947-70E740481C1C}">
                  <a14:useLocalDpi xmlns:a14="http://schemas.microsoft.com/office/drawing/2010/main" val="0"/>
                </a:ext>
              </a:extLst>
            </a:blip>
            <a:srcRect l="-325" t="25282" b="49834"/>
            <a:stretch/>
          </p:blipFill>
          <p:spPr>
            <a:xfrm>
              <a:off x="1562354" y="1116935"/>
              <a:ext cx="5157216" cy="1755648"/>
            </a:xfrm>
            <a:prstGeom prst="rect">
              <a:avLst/>
            </a:prstGeom>
          </p:spPr>
        </p:pic>
        <p:pic>
          <p:nvPicPr>
            <p:cNvPr id="20" name="Picture 19"/>
            <p:cNvPicPr/>
            <p:nvPr/>
          </p:nvPicPr>
          <p:blipFill rotWithShape="1">
            <a:blip r:embed="rId4" cstate="print">
              <a:extLst>
                <a:ext uri="{28A0092B-C50C-407E-A947-70E740481C1C}">
                  <a14:useLocalDpi xmlns:a14="http://schemas.microsoft.com/office/drawing/2010/main" val="0"/>
                </a:ext>
              </a:extLst>
            </a:blip>
            <a:srcRect l="-528" t="50594" b="24880"/>
            <a:stretch/>
          </p:blipFill>
          <p:spPr>
            <a:xfrm>
              <a:off x="1562354" y="2869094"/>
              <a:ext cx="5157216" cy="1755648"/>
            </a:xfrm>
            <a:prstGeom prst="rect">
              <a:avLst/>
            </a:prstGeom>
          </p:spPr>
        </p:pic>
        <p:pic>
          <p:nvPicPr>
            <p:cNvPr id="21" name="Picture 20"/>
            <p:cNvPicPr/>
            <p:nvPr/>
          </p:nvPicPr>
          <p:blipFill rotWithShape="1">
            <a:blip r:embed="rId4" cstate="print">
              <a:extLst>
                <a:ext uri="{28A0092B-C50C-407E-A947-70E740481C1C}">
                  <a14:useLocalDpi xmlns:a14="http://schemas.microsoft.com/office/drawing/2010/main" val="0"/>
                </a:ext>
              </a:extLst>
            </a:blip>
            <a:srcRect t="75966"/>
            <a:stretch/>
          </p:blipFill>
          <p:spPr>
            <a:xfrm>
              <a:off x="1562354" y="4624742"/>
              <a:ext cx="5157216" cy="1755648"/>
            </a:xfrm>
            <a:prstGeom prst="rect">
              <a:avLst/>
            </a:prstGeom>
          </p:spPr>
        </p:pic>
        <p:pic>
          <p:nvPicPr>
            <p:cNvPr id="23" name="Picture 2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52037" y="2691265"/>
              <a:ext cx="288925" cy="173347"/>
            </a:xfrm>
            <a:prstGeom prst="rect">
              <a:avLst/>
            </a:prstGeom>
          </p:spPr>
        </p:pic>
        <p:pic>
          <p:nvPicPr>
            <p:cNvPr id="24" name="Picture 2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52037" y="4480628"/>
              <a:ext cx="233045" cy="162552"/>
            </a:xfrm>
            <a:prstGeom prst="rect">
              <a:avLst/>
            </a:prstGeom>
          </p:spPr>
        </p:pic>
        <p:pic>
          <p:nvPicPr>
            <p:cNvPr id="25" name="Picture 2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62831" y="6257621"/>
              <a:ext cx="211455" cy="158108"/>
            </a:xfrm>
            <a:prstGeom prst="rect">
              <a:avLst/>
            </a:prstGeom>
          </p:spPr>
        </p:pic>
      </p:grpSp>
      <p:sp>
        <p:nvSpPr>
          <p:cNvPr id="2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1" name="Rectangle 3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8982448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 name="Picture 163"/>
          <p:cNvPicPr/>
          <p:nvPr/>
        </p:nvPicPr>
        <p:blipFill>
          <a:blip r:embed="rId3">
            <a:extLst>
              <a:ext uri="{28A0092B-C50C-407E-A947-70E740481C1C}">
                <a14:useLocalDpi xmlns:a14="http://schemas.microsoft.com/office/drawing/2010/main" val="0"/>
              </a:ext>
            </a:extLst>
          </a:blip>
          <a:stretch>
            <a:fillRect/>
          </a:stretch>
        </p:blipFill>
        <p:spPr bwMode="auto">
          <a:xfrm>
            <a:off x="685800" y="1732935"/>
            <a:ext cx="7620000" cy="4202235"/>
          </a:xfrm>
          <a:prstGeom prst="rect">
            <a:avLst/>
          </a:prstGeom>
          <a:noFill/>
          <a:ln>
            <a:noFill/>
          </a:ln>
        </p:spPr>
      </p:pic>
      <p:sp>
        <p:nvSpPr>
          <p:cNvPr id="3" name="Rectangle 2"/>
          <p:cNvSpPr/>
          <p:nvPr/>
        </p:nvSpPr>
        <p:spPr>
          <a:xfrm>
            <a:off x="2224795" y="6070382"/>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5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7" name="Picture 1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3353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rotWithShape="1">
          <a:blip r:embed="rId3">
            <a:extLst>
              <a:ext uri="{28A0092B-C50C-407E-A947-70E740481C1C}">
                <a14:useLocalDpi xmlns:a14="http://schemas.microsoft.com/office/drawing/2010/main" val="0"/>
              </a:ext>
            </a:extLst>
          </a:blip>
          <a:srcRect l="7873"/>
          <a:stretch/>
        </p:blipFill>
        <p:spPr bwMode="auto">
          <a:xfrm>
            <a:off x="326604" y="2057400"/>
            <a:ext cx="8283996" cy="4045227"/>
          </a:xfrm>
          <a:prstGeom prst="rect">
            <a:avLst/>
          </a:prstGeom>
          <a:noFill/>
          <a:ln>
            <a:noFill/>
          </a:ln>
          <a:extLst>
            <a:ext uri="{53640926-AAD7-44D8-BBD7-CCE9431645EC}">
              <a14:shadowObscured xmlns:a14="http://schemas.microsoft.com/office/drawing/2010/main"/>
            </a:ext>
          </a:extLst>
        </p:spPr>
      </p:pic>
      <p:sp>
        <p:nvSpPr>
          <p:cNvPr id="18"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652245" y="6102627"/>
            <a:ext cx="383951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6 </a:t>
            </a:r>
            <a:r>
              <a:rPr lang="fa-IR" dirty="0">
                <a:latin typeface="Times New Roman" panose="02020603050405020304" pitchFamily="18" charset="0"/>
                <a:cs typeface="B Lotus" panose="00000400000000000000" pitchFamily="2" charset="-78"/>
              </a:rPr>
              <a:t>شماتیک دیاگرام همسان سازی سلول و پک.</a:t>
            </a:r>
            <a:endParaRPr lang="en-US" b="1" dirty="0">
              <a:solidFill>
                <a:srgbClr val="000000"/>
              </a:solidFill>
              <a:latin typeface="Times New Roman" panose="02020603050405020304" pitchFamily="18" charset="0"/>
              <a:cs typeface="B Nazanin"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57</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1" name="TextBox 20">
            <a:extLst>
              <a:ext uri="{FF2B5EF4-FFF2-40B4-BE49-F238E27FC236}">
                <a16:creationId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26446931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a:blip r:embed="rId3">
            <a:extLst>
              <a:ext uri="{28A0092B-C50C-407E-A947-70E740481C1C}">
                <a14:useLocalDpi xmlns:a14="http://schemas.microsoft.com/office/drawing/2010/main" val="0"/>
              </a:ext>
            </a:extLst>
          </a:blip>
          <a:stretch>
            <a:fillRect/>
          </a:stretch>
        </p:blipFill>
        <p:spPr bwMode="auto">
          <a:xfrm>
            <a:off x="457200" y="2054475"/>
            <a:ext cx="7924800" cy="3916079"/>
          </a:xfrm>
          <a:prstGeom prst="rect">
            <a:avLst/>
          </a:prstGeom>
          <a:noFill/>
          <a:ln>
            <a:noFill/>
          </a:ln>
        </p:spPr>
      </p:pic>
      <p:sp>
        <p:nvSpPr>
          <p:cNvPr id="34"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45" name="Rectangle 44"/>
          <p:cNvSpPr/>
          <p:nvPr/>
        </p:nvSpPr>
        <p:spPr>
          <a:xfrm>
            <a:off x="2414084" y="6188077"/>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58</a:t>
            </a:fld>
            <a:endParaRPr lang="fa-IR" sz="1800" dirty="0">
              <a:solidFill>
                <a:schemeClr val="tx1"/>
              </a:solidFill>
              <a:cs typeface="B Lotus" panose="00000400000000000000" pitchFamily="2" charset="-78"/>
            </a:endParaRPr>
          </a:p>
        </p:txBody>
      </p:sp>
      <p:graphicFrame>
        <p:nvGraphicFramePr>
          <p:cNvPr id="18" name="Table 17"/>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TextBox 18">
            <a:extLst>
              <a:ext uri="{FF2B5EF4-FFF2-40B4-BE49-F238E27FC236}">
                <a16:creationId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364638750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Parallax">
  <a:themeElements>
    <a:clrScheme name="Parallax">
      <a:dk1>
        <a:sysClr val="windowText" lastClr="000000"/>
      </a:dk1>
      <a:lt1>
        <a:sysClr val="window" lastClr="FFFFFF"/>
      </a:lt1>
      <a:dk2>
        <a:srgbClr val="212121"/>
      </a:dk2>
      <a:lt2>
        <a:srgbClr val="EBEBEB"/>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TM03457496[[fn=Parallax]]</Template>
  <TotalTime>53640</TotalTime>
  <Words>5439</Words>
  <Application>Microsoft Office PowerPoint</Application>
  <PresentationFormat>On-screen Show (4:3)</PresentationFormat>
  <Paragraphs>711</Paragraphs>
  <Slides>58</Slides>
  <Notes>58</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58</vt:i4>
      </vt:variant>
    </vt:vector>
  </HeadingPairs>
  <TitlesOfParts>
    <vt:vector size="68" baseType="lpstr">
      <vt:lpstr>Arial</vt:lpstr>
      <vt:lpstr>B Lotus</vt:lpstr>
      <vt:lpstr>B Nasim</vt:lpstr>
      <vt:lpstr>B Nazanin</vt:lpstr>
      <vt:lpstr>Calibri</vt:lpstr>
      <vt:lpstr>Cambria Math</vt:lpstr>
      <vt:lpstr>Corbel</vt:lpstr>
      <vt:lpstr>Times New Roman</vt:lpstr>
      <vt:lpstr>Clarity</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Leila Sharifi</dc:creator>
  <cp:lastModifiedBy>Mahdi Amiri Nasab</cp:lastModifiedBy>
  <cp:revision>827</cp:revision>
  <dcterms:created xsi:type="dcterms:W3CDTF">2016-11-13T13:15:11Z</dcterms:created>
  <dcterms:modified xsi:type="dcterms:W3CDTF">2024-08-13T14:47:54Z</dcterms:modified>
</cp:coreProperties>
</file>