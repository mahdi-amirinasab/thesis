
<file path=[Content_Types].xml><?xml version="1.0" encoding="utf-8"?>
<Types xmlns="http://schemas.openxmlformats.org/package/2006/content-types">
  <Default Extension="png" ContentType="image/png"/>
  <Default Extension="jpeg" ContentType="image/jpeg"/>
  <Default Extension="emf" ContentType="image/x-emf"/>
  <Default Extension="rels" ContentType="application/vnd.openxmlformats-package.relationships+xml"/>
  <Default Extension="xml" ContentType="application/xml"/>
  <Default Extension="gif" ContentType="image/gif"/>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bookmarkIdSeed="63">
  <p:sldMasterIdLst>
    <p:sldMasterId id="2147483660" r:id="rId1"/>
    <p:sldMasterId id="2147483672" r:id="rId2"/>
  </p:sldMasterIdLst>
  <p:notesMasterIdLst>
    <p:notesMasterId r:id="rId72"/>
  </p:notesMasterIdLst>
  <p:handoutMasterIdLst>
    <p:handoutMasterId r:id="rId73"/>
  </p:handoutMasterIdLst>
  <p:sldIdLst>
    <p:sldId id="256" r:id="rId3"/>
    <p:sldId id="391" r:id="rId4"/>
    <p:sldId id="396" r:id="rId5"/>
    <p:sldId id="469" r:id="rId6"/>
    <p:sldId id="392" r:id="rId7"/>
    <p:sldId id="484" r:id="rId8"/>
    <p:sldId id="471" r:id="rId9"/>
    <p:sldId id="475" r:id="rId10"/>
    <p:sldId id="477" r:id="rId11"/>
    <p:sldId id="476" r:id="rId12"/>
    <p:sldId id="478" r:id="rId13"/>
    <p:sldId id="435" r:id="rId14"/>
    <p:sldId id="441" r:id="rId15"/>
    <p:sldId id="479" r:id="rId16"/>
    <p:sldId id="480" r:id="rId17"/>
    <p:sldId id="481" r:id="rId18"/>
    <p:sldId id="464" r:id="rId19"/>
    <p:sldId id="470" r:id="rId20"/>
    <p:sldId id="453" r:id="rId21"/>
    <p:sldId id="483" r:id="rId22"/>
    <p:sldId id="482" r:id="rId23"/>
    <p:sldId id="485" r:id="rId24"/>
    <p:sldId id="468" r:id="rId25"/>
    <p:sldId id="472" r:id="rId26"/>
    <p:sldId id="467" r:id="rId27"/>
    <p:sldId id="455" r:id="rId28"/>
    <p:sldId id="394" r:id="rId29"/>
    <p:sldId id="449" r:id="rId30"/>
    <p:sldId id="451" r:id="rId31"/>
    <p:sldId id="452" r:id="rId32"/>
    <p:sldId id="473" r:id="rId33"/>
    <p:sldId id="463" r:id="rId34"/>
    <p:sldId id="462" r:id="rId35"/>
    <p:sldId id="430" r:id="rId36"/>
    <p:sldId id="431" r:id="rId37"/>
    <p:sldId id="402" r:id="rId38"/>
    <p:sldId id="412" r:id="rId39"/>
    <p:sldId id="415" r:id="rId40"/>
    <p:sldId id="411" r:id="rId41"/>
    <p:sldId id="458" r:id="rId42"/>
    <p:sldId id="465" r:id="rId43"/>
    <p:sldId id="424" r:id="rId44"/>
    <p:sldId id="459" r:id="rId45"/>
    <p:sldId id="460" r:id="rId46"/>
    <p:sldId id="420" r:id="rId47"/>
    <p:sldId id="422" r:id="rId48"/>
    <p:sldId id="423" r:id="rId49"/>
    <p:sldId id="426" r:id="rId50"/>
    <p:sldId id="433" r:id="rId51"/>
    <p:sldId id="432" r:id="rId52"/>
    <p:sldId id="439" r:id="rId53"/>
    <p:sldId id="466" r:id="rId54"/>
    <p:sldId id="461" r:id="rId55"/>
    <p:sldId id="436" r:id="rId56"/>
    <p:sldId id="437" r:id="rId57"/>
    <p:sldId id="438" r:id="rId58"/>
    <p:sldId id="446" r:id="rId59"/>
    <p:sldId id="445" r:id="rId60"/>
    <p:sldId id="444" r:id="rId61"/>
    <p:sldId id="454" r:id="rId62"/>
    <p:sldId id="457" r:id="rId63"/>
    <p:sldId id="405" r:id="rId64"/>
    <p:sldId id="404" r:id="rId65"/>
    <p:sldId id="408" r:id="rId66"/>
    <p:sldId id="410" r:id="rId67"/>
    <p:sldId id="447" r:id="rId68"/>
    <p:sldId id="421" r:id="rId69"/>
    <p:sldId id="425" r:id="rId70"/>
    <p:sldId id="427" r:id="rId71"/>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ajid" initials="m" lastIdx="1" clrIdx="0">
    <p:extLst>
      <p:ext uri="{19B8F6BF-5375-455C-9EA6-DF929625EA0E}">
        <p15:presenceInfo xmlns:p15="http://schemas.microsoft.com/office/powerpoint/2012/main" userId="majid"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09582"/>
    <a:srgbClr val="2842AE"/>
    <a:srgbClr val="BD867C"/>
    <a:srgbClr val="61D6FF"/>
    <a:srgbClr val="B9EDFF"/>
    <a:srgbClr val="66FFCC"/>
    <a:srgbClr val="4861A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612" autoAdjust="0"/>
    <p:restoredTop sz="95052" autoAdjust="0"/>
  </p:normalViewPr>
  <p:slideViewPr>
    <p:cSldViewPr>
      <p:cViewPr varScale="1">
        <p:scale>
          <a:sx n="109" d="100"/>
          <a:sy n="109" d="100"/>
        </p:scale>
        <p:origin x="1908" y="102"/>
      </p:cViewPr>
      <p:guideLst>
        <p:guide orient="horz" pos="2160"/>
        <p:guide pos="2880"/>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slide" Target="slides/slide53.xml"/><Relationship Id="rId63" Type="http://schemas.openxmlformats.org/officeDocument/2006/relationships/slide" Target="slides/slide61.xml"/><Relationship Id="rId68" Type="http://schemas.openxmlformats.org/officeDocument/2006/relationships/slide" Target="slides/slide66.xml"/><Relationship Id="rId76" Type="http://schemas.openxmlformats.org/officeDocument/2006/relationships/viewProps" Target="viewProps.xml"/><Relationship Id="rId7" Type="http://schemas.openxmlformats.org/officeDocument/2006/relationships/slide" Target="slides/slide5.xml"/><Relationship Id="rId71" Type="http://schemas.openxmlformats.org/officeDocument/2006/relationships/slide" Target="slides/slide69.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slide" Target="slides/slide56.xml"/><Relationship Id="rId66" Type="http://schemas.openxmlformats.org/officeDocument/2006/relationships/slide" Target="slides/slide64.xml"/><Relationship Id="rId74" Type="http://schemas.openxmlformats.org/officeDocument/2006/relationships/commentAuthors" Target="commentAuthor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61" Type="http://schemas.openxmlformats.org/officeDocument/2006/relationships/slide" Target="slides/slide59.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slide" Target="slides/slide63.xml"/><Relationship Id="rId73" Type="http://schemas.openxmlformats.org/officeDocument/2006/relationships/handoutMaster" Target="handoutMasters/handoutMaster1.xml"/><Relationship Id="rId78"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slide" Target="slides/slide62.xml"/><Relationship Id="rId69" Type="http://schemas.openxmlformats.org/officeDocument/2006/relationships/slide" Target="slides/slide67.xml"/><Relationship Id="rId77" Type="http://schemas.openxmlformats.org/officeDocument/2006/relationships/theme" Target="theme/theme1.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notesMaster" Target="notesMasters/notesMaster1.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slide" Target="slides/slide65.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70" Type="http://schemas.openxmlformats.org/officeDocument/2006/relationships/slide" Target="slides/slide68.xml"/><Relationship Id="rId75"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466860E3-773C-4F8B-9D69-9A4772CDB789}" type="datetimeFigureOut">
              <a:rPr lang="en-US" smtClean="0"/>
              <a:t>8/14/2024</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5FE9F82D-DAF4-4134-9F1E-22C394080253}" type="slidenum">
              <a:rPr lang="en-US" smtClean="0"/>
              <a:t>‹#›</a:t>
            </a:fld>
            <a:endParaRPr lang="en-US"/>
          </a:p>
        </p:txBody>
      </p:sp>
    </p:spTree>
    <p:extLst>
      <p:ext uri="{BB962C8B-B14F-4D97-AF65-F5344CB8AC3E}">
        <p14:creationId xmlns:p14="http://schemas.microsoft.com/office/powerpoint/2010/main" val="3553462025"/>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71EEC136-3EA2-4161-9D14-B64004542BD5}" type="datetimeFigureOut">
              <a:rPr lang="en-US" smtClean="0"/>
              <a:t>8/14/2024</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212EBCA6-06A9-4F6C-9A95-1587199EA654}" type="slidenum">
              <a:rPr lang="en-US" smtClean="0"/>
              <a:t>‹#›</a:t>
            </a:fld>
            <a:endParaRPr lang="en-US"/>
          </a:p>
        </p:txBody>
      </p:sp>
    </p:spTree>
    <p:extLst>
      <p:ext uri="{BB962C8B-B14F-4D97-AF65-F5344CB8AC3E}">
        <p14:creationId xmlns:p14="http://schemas.microsoft.com/office/powerpoint/2010/main" val="3676673252"/>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a-IR" dirty="0"/>
          </a:p>
        </p:txBody>
      </p:sp>
    </p:spTree>
    <p:extLst>
      <p:ext uri="{BB962C8B-B14F-4D97-AF65-F5344CB8AC3E}">
        <p14:creationId xmlns:p14="http://schemas.microsoft.com/office/powerpoint/2010/main" val="5241063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126592635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86038487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7301506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13397120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382808935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1097353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437880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9805310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98593786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71641143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52994278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baseline="0" dirty="0"/>
              <a:t>[1]	S. </a:t>
            </a:r>
            <a:r>
              <a:rPr lang="en-US" b="0" i="0" u="none" baseline="0" dirty="0" err="1"/>
              <a:t>Jinlei</a:t>
            </a:r>
            <a:r>
              <a:rPr lang="en-US" b="0" i="0" u="none" baseline="0" dirty="0"/>
              <a:t>, L. Wei, T. </a:t>
            </a:r>
            <a:r>
              <a:rPr lang="en-US" b="0" i="0" u="none" baseline="0" dirty="0" err="1"/>
              <a:t>Chuanyu</a:t>
            </a:r>
            <a:r>
              <a:rPr lang="en-US" b="0" i="0" u="none" baseline="0" dirty="0"/>
              <a:t>, W. </a:t>
            </a:r>
            <a:r>
              <a:rPr lang="en-US" b="0" i="0" u="none" baseline="0" dirty="0" err="1"/>
              <a:t>Tianru</a:t>
            </a:r>
            <a:r>
              <a:rPr lang="en-US" b="0" i="0" u="none" baseline="0" dirty="0"/>
              <a:t>, J. Tao, and T. Yong, "A novel active equalization method for series-connected battery packs based on clustering analysis with genetic algorithm," </a:t>
            </a:r>
            <a:r>
              <a:rPr lang="en-US" b="0" i="1" u="none" baseline="0" dirty="0"/>
              <a:t>IEEE Transactions on Power Electronics, </a:t>
            </a:r>
            <a:r>
              <a:rPr lang="en-US" b="0" i="0" u="none" baseline="0" dirty="0"/>
              <a:t>vol. 36, no. 7, pp. 7853-7865, 2021.</a:t>
            </a:r>
            <a:endParaRPr lang="en-US" dirty="0"/>
          </a:p>
        </p:txBody>
      </p:sp>
    </p:spTree>
    <p:extLst>
      <p:ext uri="{BB962C8B-B14F-4D97-AF65-F5344CB8AC3E}">
        <p14:creationId xmlns:p14="http://schemas.microsoft.com/office/powerpoint/2010/main" val="258130539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36567487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88254519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10316578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63517278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baseline="0" dirty="0"/>
              <a:t>[1]	</a:t>
            </a:r>
            <a:r>
              <a:rPr lang="en-US" b="0" i="0" u="none" baseline="0" dirty="0" err="1"/>
              <a:t>Difrancesco</a:t>
            </a:r>
            <a:r>
              <a:rPr lang="en-US" b="0" i="0" u="none" baseline="0" dirty="0"/>
              <a:t>, Paul-Mark &amp; </a:t>
            </a:r>
            <a:r>
              <a:rPr lang="en-US" b="0" i="0" u="none" baseline="0" dirty="0" err="1"/>
              <a:t>Bonneau</a:t>
            </a:r>
            <a:r>
              <a:rPr lang="en-US" b="0" i="0" u="none" baseline="0" dirty="0"/>
              <a:t>, David &amp; Hutchinson, D.. (2020). The Implications of M3C2 Projection Diameter on 3D Semi-Automated </a:t>
            </a:r>
            <a:r>
              <a:rPr lang="en-US" b="0" i="0" u="none" baseline="0" dirty="0" err="1"/>
              <a:t>Rockfall</a:t>
            </a:r>
            <a:r>
              <a:rPr lang="en-US" b="0" i="0" u="none" baseline="0" dirty="0"/>
              <a:t> Extraction from Sequential Terrestrial Laser Scanning Point Clouds. Remote Sensing. 12. 1885. 10.3390/rs12111885. </a:t>
            </a:r>
            <a:endParaRPr lang="en-US" b="0" i="1" u="none" baseline="0" dirty="0"/>
          </a:p>
        </p:txBody>
      </p:sp>
    </p:spTree>
    <p:extLst>
      <p:ext uri="{BB962C8B-B14F-4D97-AF65-F5344CB8AC3E}">
        <p14:creationId xmlns:p14="http://schemas.microsoft.com/office/powerpoint/2010/main" val="253336525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baseline="0" dirty="0"/>
              <a:t>[1]	W. </a:t>
            </a:r>
            <a:r>
              <a:rPr lang="en-US" b="0" i="0" u="none" baseline="0" dirty="0" err="1"/>
              <a:t>Lujun</a:t>
            </a:r>
            <a:r>
              <a:rPr lang="en-US" b="0" i="1" u="none" baseline="0" dirty="0"/>
              <a:t> et al.</a:t>
            </a:r>
            <a:r>
              <a:rPr lang="en-US" b="0" i="0" u="none" baseline="0" dirty="0"/>
              <a:t>, "Efficient and fast active equalization method for retired battery pack using wide voltage range bidirectional converter and DBSCAN clustering algorithm," </a:t>
            </a:r>
            <a:r>
              <a:rPr lang="en-US" b="0" i="1" u="none" baseline="0" dirty="0"/>
              <a:t>IEEE Transactions on Power Electronics, </a:t>
            </a:r>
            <a:r>
              <a:rPr lang="en-US" b="0" i="0" u="none" baseline="0" dirty="0"/>
              <a:t>vol. 37, no. 11, pp. 13824-13833, 2022.</a:t>
            </a:r>
            <a:endParaRPr lang="en-US" dirty="0"/>
          </a:p>
        </p:txBody>
      </p:sp>
    </p:spTree>
    <p:extLst>
      <p:ext uri="{BB962C8B-B14F-4D97-AF65-F5344CB8AC3E}">
        <p14:creationId xmlns:p14="http://schemas.microsoft.com/office/powerpoint/2010/main" val="191879502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baseline="0" dirty="0"/>
              <a:t>[1]	</a:t>
            </a:r>
            <a:r>
              <a:rPr lang="en-US" b="0" i="0" u="none" baseline="0" dirty="0" err="1"/>
              <a:t>Difrancesco</a:t>
            </a:r>
            <a:r>
              <a:rPr lang="en-US" b="0" i="0" u="none" baseline="0" dirty="0"/>
              <a:t>, Paul-Mark &amp; </a:t>
            </a:r>
            <a:r>
              <a:rPr lang="en-US" b="0" i="0" u="none" baseline="0" dirty="0" err="1"/>
              <a:t>Bonneau</a:t>
            </a:r>
            <a:r>
              <a:rPr lang="en-US" b="0" i="0" u="none" baseline="0" dirty="0"/>
              <a:t>, David &amp; Hutchinson, D.. (2020). The Implications of M3C2 Projection Diameter on 3D Semi-Automated </a:t>
            </a:r>
            <a:r>
              <a:rPr lang="en-US" b="0" i="0" u="none" baseline="0" dirty="0" err="1"/>
              <a:t>Rockfall</a:t>
            </a:r>
            <a:r>
              <a:rPr lang="en-US" b="0" i="0" u="none" baseline="0" dirty="0"/>
              <a:t> Extraction from Sequential Terrestrial Laser Scanning Point Clouds. Remote Sensing. 12. 1885. 10.3390/rs12111885. </a:t>
            </a:r>
            <a:endParaRPr lang="en-US" b="0" i="1" u="none" baseline="0" dirty="0"/>
          </a:p>
        </p:txBody>
      </p:sp>
    </p:spTree>
    <p:extLst>
      <p:ext uri="{BB962C8B-B14F-4D97-AF65-F5344CB8AC3E}">
        <p14:creationId xmlns:p14="http://schemas.microsoft.com/office/powerpoint/2010/main" val="312189665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baseline="0" dirty="0"/>
              <a:t>[1]	</a:t>
            </a:r>
            <a:r>
              <a:rPr lang="en-US" b="0" i="0" u="none" baseline="0" dirty="0" err="1"/>
              <a:t>Difrancesco</a:t>
            </a:r>
            <a:r>
              <a:rPr lang="en-US" b="0" i="0" u="none" baseline="0" dirty="0"/>
              <a:t>, Paul-Mark &amp; </a:t>
            </a:r>
            <a:r>
              <a:rPr lang="en-US" b="0" i="0" u="none" baseline="0" dirty="0" err="1"/>
              <a:t>Bonneau</a:t>
            </a:r>
            <a:r>
              <a:rPr lang="en-US" b="0" i="0" u="none" baseline="0" dirty="0"/>
              <a:t>, David &amp; Hutchinson, D.. (2020). The Implications of M3C2 Projection Diameter on 3D Semi-Automated </a:t>
            </a:r>
            <a:r>
              <a:rPr lang="en-US" b="0" i="0" u="none" baseline="0" dirty="0" err="1"/>
              <a:t>Rockfall</a:t>
            </a:r>
            <a:r>
              <a:rPr lang="en-US" b="0" i="0" u="none" baseline="0" dirty="0"/>
              <a:t> Extraction from Sequential Terrestrial Laser Scanning Point Clouds. Remote Sensing. 12. 1885. 10.3390/rs12111885. </a:t>
            </a:r>
            <a:endParaRPr lang="en-US" b="0" i="1" u="none" baseline="0" dirty="0"/>
          </a:p>
        </p:txBody>
      </p:sp>
    </p:spTree>
    <p:extLst>
      <p:ext uri="{BB962C8B-B14F-4D97-AF65-F5344CB8AC3E}">
        <p14:creationId xmlns:p14="http://schemas.microsoft.com/office/powerpoint/2010/main" val="11895657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baseline="0" dirty="0"/>
              <a:t>[1]	</a:t>
            </a:r>
            <a:r>
              <a:rPr lang="en-US" b="0" i="0" u="none" baseline="0" dirty="0" err="1"/>
              <a:t>Difrancesco</a:t>
            </a:r>
            <a:r>
              <a:rPr lang="en-US" b="0" i="0" u="none" baseline="0" dirty="0"/>
              <a:t>, Paul-Mark &amp; </a:t>
            </a:r>
            <a:r>
              <a:rPr lang="en-US" b="0" i="0" u="none" baseline="0" dirty="0" err="1"/>
              <a:t>Bonneau</a:t>
            </a:r>
            <a:r>
              <a:rPr lang="en-US" b="0" i="0" u="none" baseline="0" dirty="0"/>
              <a:t>, David &amp; Hutchinson, D.. (2020). The Implications of M3C2 Projection Diameter on 3D Semi-Automated </a:t>
            </a:r>
            <a:r>
              <a:rPr lang="en-US" b="0" i="0" u="none" baseline="0" dirty="0" err="1"/>
              <a:t>Rockfall</a:t>
            </a:r>
            <a:r>
              <a:rPr lang="en-US" b="0" i="0" u="none" baseline="0" dirty="0"/>
              <a:t> Extraction from Sequential Terrestrial Laser Scanning Point Clouds. Remote Sensing. 12. 1885. 10.3390/rs12111885. </a:t>
            </a:r>
            <a:endParaRPr lang="en-US" b="0" i="1" u="none" baseline="0" dirty="0"/>
          </a:p>
        </p:txBody>
      </p:sp>
    </p:spTree>
    <p:extLst>
      <p:ext uri="{BB962C8B-B14F-4D97-AF65-F5344CB8AC3E}">
        <p14:creationId xmlns:p14="http://schemas.microsoft.com/office/powerpoint/2010/main" val="407278629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40542392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baseline="0" dirty="0"/>
              <a:t>[1]	S. </a:t>
            </a:r>
            <a:r>
              <a:rPr lang="en-US" b="0" i="0" u="none" baseline="0" dirty="0" err="1"/>
              <a:t>Jinlei</a:t>
            </a:r>
            <a:r>
              <a:rPr lang="en-US" b="0" i="0" u="none" baseline="0" dirty="0"/>
              <a:t>, L. Wei, T. </a:t>
            </a:r>
            <a:r>
              <a:rPr lang="en-US" b="0" i="0" u="none" baseline="0" dirty="0" err="1"/>
              <a:t>Chuanyu</a:t>
            </a:r>
            <a:r>
              <a:rPr lang="en-US" b="0" i="0" u="none" baseline="0" dirty="0"/>
              <a:t>, W. </a:t>
            </a:r>
            <a:r>
              <a:rPr lang="en-US" b="0" i="0" u="none" baseline="0" dirty="0" err="1"/>
              <a:t>Tianru</a:t>
            </a:r>
            <a:r>
              <a:rPr lang="en-US" b="0" i="0" u="none" baseline="0" dirty="0"/>
              <a:t>, J. Tao, and T. Yong, "A novel active equalization method for series-connected battery packs based on clustering analysis with genetic algorithm," </a:t>
            </a:r>
            <a:r>
              <a:rPr lang="en-US" b="0" i="1" u="none" baseline="0" dirty="0"/>
              <a:t>IEEE Transactions on Power Electronics, </a:t>
            </a:r>
            <a:r>
              <a:rPr lang="en-US" b="0" i="0" u="none" baseline="0" dirty="0"/>
              <a:t>vol. 36, no. 7, pp. 7853-7865, 2021.</a:t>
            </a:r>
            <a:endParaRPr lang="en-US" dirty="0"/>
          </a:p>
        </p:txBody>
      </p:sp>
    </p:spTree>
    <p:extLst>
      <p:ext uri="{BB962C8B-B14F-4D97-AF65-F5344CB8AC3E}">
        <p14:creationId xmlns:p14="http://schemas.microsoft.com/office/powerpoint/2010/main" val="47764965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40119119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baseline="0" dirty="0"/>
              <a:t>[1]	W. </a:t>
            </a:r>
            <a:r>
              <a:rPr lang="en-US" b="0" i="0" u="none" baseline="0" dirty="0" err="1"/>
              <a:t>Lujun</a:t>
            </a:r>
            <a:r>
              <a:rPr lang="en-US" b="0" i="1" u="none" baseline="0" dirty="0"/>
              <a:t> et al.</a:t>
            </a:r>
            <a:r>
              <a:rPr lang="en-US" b="0" i="0" u="none" baseline="0" dirty="0"/>
              <a:t>, "Efficient and fast active equalization method for retired battery pack using wide voltage range bidirectional converter and DBSCAN clustering algorithm," </a:t>
            </a:r>
            <a:r>
              <a:rPr lang="en-US" b="0" i="1" u="none" baseline="0" dirty="0"/>
              <a:t>IEEE Transactions on Power Electronics, </a:t>
            </a:r>
            <a:r>
              <a:rPr lang="en-US" b="0" i="0" u="none" baseline="0" dirty="0"/>
              <a:t>vol. 37, no. 11, pp. 13824-13833, 2022.</a:t>
            </a:r>
            <a:endParaRPr lang="en-US" dirty="0"/>
          </a:p>
        </p:txBody>
      </p:sp>
    </p:spTree>
    <p:extLst>
      <p:ext uri="{BB962C8B-B14F-4D97-AF65-F5344CB8AC3E}">
        <p14:creationId xmlns:p14="http://schemas.microsoft.com/office/powerpoint/2010/main" val="265431844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51620915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baseline="0" dirty="0"/>
              <a:t>[1]	W. </a:t>
            </a:r>
            <a:r>
              <a:rPr lang="en-US" b="0" i="0" u="none" baseline="0" dirty="0" err="1"/>
              <a:t>Lujun</a:t>
            </a:r>
            <a:r>
              <a:rPr lang="en-US" b="0" i="1" u="none" baseline="0" dirty="0"/>
              <a:t> et al.</a:t>
            </a:r>
            <a:r>
              <a:rPr lang="en-US" b="0" i="0" u="none" baseline="0" dirty="0"/>
              <a:t>, "Efficient and fast active equalization method for retired battery pack using wide voltage range bidirectional converter and DBSCAN clustering algorithm," </a:t>
            </a:r>
            <a:r>
              <a:rPr lang="en-US" b="0" i="1" u="none" baseline="0" dirty="0"/>
              <a:t>IEEE Transactions on Power Electronics, </a:t>
            </a:r>
            <a:r>
              <a:rPr lang="en-US" b="0" i="0" u="none" baseline="0" dirty="0"/>
              <a:t>vol. 37, no. 11, pp. 13824-13833, 2022.</a:t>
            </a:r>
            <a:endParaRPr lang="en-US" b="0" i="1" u="none" baseline="0" dirty="0"/>
          </a:p>
        </p:txBody>
      </p:sp>
    </p:spTree>
    <p:extLst>
      <p:ext uri="{BB962C8B-B14F-4D97-AF65-F5344CB8AC3E}">
        <p14:creationId xmlns:p14="http://schemas.microsoft.com/office/powerpoint/2010/main" val="123951083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baseline="0" dirty="0"/>
              <a:t>[1]	W. </a:t>
            </a:r>
            <a:r>
              <a:rPr lang="en-US" b="0" i="0" u="none" baseline="0" dirty="0" err="1"/>
              <a:t>Lujun</a:t>
            </a:r>
            <a:r>
              <a:rPr lang="en-US" b="0" i="1" u="none" baseline="0" dirty="0"/>
              <a:t> et al.</a:t>
            </a:r>
            <a:r>
              <a:rPr lang="en-US" b="0" i="0" u="none" baseline="0" dirty="0"/>
              <a:t>, "Efficient and fast active equalization method for retired battery pack using wide voltage range bidirectional converter and DBSCAN clustering algorithm," </a:t>
            </a:r>
            <a:r>
              <a:rPr lang="en-US" b="0" i="1" u="none" baseline="0" dirty="0"/>
              <a:t>IEEE Transactions on Power Electronics, </a:t>
            </a:r>
            <a:r>
              <a:rPr lang="en-US" b="0" i="0" u="none" baseline="0" dirty="0"/>
              <a:t>vol. 37, no. 11, pp. 13824-13833, 2022.</a:t>
            </a:r>
            <a:endParaRPr lang="en-US" b="0" i="1" u="none" baseline="0" dirty="0"/>
          </a:p>
        </p:txBody>
      </p:sp>
    </p:spTree>
    <p:extLst>
      <p:ext uri="{BB962C8B-B14F-4D97-AF65-F5344CB8AC3E}">
        <p14:creationId xmlns:p14="http://schemas.microsoft.com/office/powerpoint/2010/main" val="68466566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baseline="0" dirty="0"/>
              <a:t>[1]	W. </a:t>
            </a:r>
            <a:r>
              <a:rPr lang="en-US" b="0" i="0" u="none" baseline="0" dirty="0" err="1"/>
              <a:t>Lujun</a:t>
            </a:r>
            <a:r>
              <a:rPr lang="en-US" b="0" i="1" u="none" baseline="0" dirty="0"/>
              <a:t> et al.</a:t>
            </a:r>
            <a:r>
              <a:rPr lang="en-US" b="0" i="0" u="none" baseline="0" dirty="0"/>
              <a:t>, "Efficient and fast active equalization method for retired battery pack using wide voltage range bidirectional converter and DBSCAN clustering algorithm," </a:t>
            </a:r>
            <a:r>
              <a:rPr lang="en-US" b="0" i="1" u="none" baseline="0" dirty="0"/>
              <a:t>IEEE Transactions on Power Electronics, </a:t>
            </a:r>
            <a:r>
              <a:rPr lang="en-US" b="0" i="0" u="none" baseline="0" dirty="0"/>
              <a:t>vol. 37, no. 11, pp. 13824-13833, 2022.</a:t>
            </a:r>
            <a:endParaRPr lang="en-US" b="0" i="1" u="none" baseline="0" dirty="0"/>
          </a:p>
        </p:txBody>
      </p:sp>
    </p:spTree>
    <p:extLst>
      <p:ext uri="{BB962C8B-B14F-4D97-AF65-F5344CB8AC3E}">
        <p14:creationId xmlns:p14="http://schemas.microsoft.com/office/powerpoint/2010/main" val="380580053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baseline="0" dirty="0"/>
              <a:t>[1]	S. </a:t>
            </a:r>
            <a:r>
              <a:rPr lang="en-US" b="0" i="0" u="none" baseline="0" dirty="0" err="1"/>
              <a:t>Jinlei</a:t>
            </a:r>
            <a:r>
              <a:rPr lang="en-US" b="0" i="0" u="none" baseline="0" dirty="0"/>
              <a:t>, L. Wei, T. </a:t>
            </a:r>
            <a:r>
              <a:rPr lang="en-US" b="0" i="0" u="none" baseline="0" dirty="0" err="1"/>
              <a:t>Chuanyu</a:t>
            </a:r>
            <a:r>
              <a:rPr lang="en-US" b="0" i="0" u="none" baseline="0" dirty="0"/>
              <a:t>, W. </a:t>
            </a:r>
            <a:r>
              <a:rPr lang="en-US" b="0" i="0" u="none" baseline="0" dirty="0" err="1"/>
              <a:t>Tianru</a:t>
            </a:r>
            <a:r>
              <a:rPr lang="en-US" b="0" i="0" u="none" baseline="0" dirty="0"/>
              <a:t>, J. Tao, and T. Yong, "A novel active equalization method for series-connected battery packs based on clustering analysis with genetic algorithm," </a:t>
            </a:r>
            <a:r>
              <a:rPr lang="en-US" b="0" i="1" u="none" baseline="0" dirty="0"/>
              <a:t>IEEE Transactions on Power Electronics, </a:t>
            </a:r>
            <a:r>
              <a:rPr lang="en-US" b="0" i="0" u="none" baseline="0" dirty="0"/>
              <a:t>vol. 36, no. 7, pp. 7853-7865, 2021.</a:t>
            </a:r>
            <a:endParaRPr lang="en-US" dirty="0"/>
          </a:p>
        </p:txBody>
      </p:sp>
    </p:spTree>
    <p:extLst>
      <p:ext uri="{BB962C8B-B14F-4D97-AF65-F5344CB8AC3E}">
        <p14:creationId xmlns:p14="http://schemas.microsoft.com/office/powerpoint/2010/main" val="394397777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8055354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0" i="1" u="none" baseline="0" dirty="0"/>
          </a:p>
        </p:txBody>
      </p:sp>
    </p:spTree>
    <p:extLst>
      <p:ext uri="{BB962C8B-B14F-4D97-AF65-F5344CB8AC3E}">
        <p14:creationId xmlns:p14="http://schemas.microsoft.com/office/powerpoint/2010/main" val="377179653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baseline="0" dirty="0"/>
              <a:t>[1]	B. </a:t>
            </a:r>
            <a:r>
              <a:rPr lang="en-US" b="0" i="0" u="none" baseline="0" dirty="0" err="1"/>
              <a:t>Erdoğan</a:t>
            </a:r>
            <a:r>
              <a:rPr lang="en-US" b="0" i="0" u="none" baseline="0" dirty="0"/>
              <a:t>, M. M. </a:t>
            </a:r>
            <a:r>
              <a:rPr lang="en-US" b="0" i="0" u="none" baseline="0" dirty="0" err="1"/>
              <a:t>Savrun</a:t>
            </a:r>
            <a:r>
              <a:rPr lang="en-US" b="0" i="0" u="none" baseline="0" dirty="0"/>
              <a:t>, T. </a:t>
            </a:r>
            <a:r>
              <a:rPr lang="en-US" b="0" i="0" u="none" baseline="0" dirty="0" err="1"/>
              <a:t>Köroğlu</a:t>
            </a:r>
            <a:r>
              <a:rPr lang="en-US" b="0" i="0" u="none" baseline="0" dirty="0"/>
              <a:t>, M. U. </a:t>
            </a:r>
            <a:r>
              <a:rPr lang="en-US" b="0" i="0" u="none" baseline="0" dirty="0" err="1"/>
              <a:t>Cuma</a:t>
            </a:r>
            <a:r>
              <a:rPr lang="en-US" b="0" i="0" u="none" baseline="0" dirty="0"/>
              <a:t>, and M. </a:t>
            </a:r>
            <a:r>
              <a:rPr lang="en-US" b="0" i="0" u="none" baseline="0" dirty="0" err="1"/>
              <a:t>Tümay</a:t>
            </a:r>
            <a:r>
              <a:rPr lang="en-US" b="0" i="0" u="none" baseline="0" dirty="0"/>
              <a:t>, "An improved and fast balancing algorithm for electric heavy commercial vehicles," </a:t>
            </a:r>
            <a:r>
              <a:rPr lang="en-US" b="0" i="1" u="none" baseline="0" dirty="0"/>
              <a:t>Journal of Energy Storage, </a:t>
            </a:r>
            <a:r>
              <a:rPr lang="nl-NL" b="0" i="0" u="none" baseline="0" dirty="0"/>
              <a:t>vol. 38, p. 102522, 2021.</a:t>
            </a:r>
          </a:p>
          <a:p>
            <a:endParaRPr lang="en-US" b="0" i="1" u="none" baseline="0" dirty="0"/>
          </a:p>
        </p:txBody>
      </p:sp>
    </p:spTree>
    <p:extLst>
      <p:ext uri="{BB962C8B-B14F-4D97-AF65-F5344CB8AC3E}">
        <p14:creationId xmlns:p14="http://schemas.microsoft.com/office/powerpoint/2010/main" val="40958581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baseline="0" dirty="0"/>
              <a:t>[1]	B. </a:t>
            </a:r>
            <a:r>
              <a:rPr lang="en-US" b="0" i="0" u="none" baseline="0" dirty="0" err="1"/>
              <a:t>Erdoğan</a:t>
            </a:r>
            <a:r>
              <a:rPr lang="en-US" b="0" i="0" u="none" baseline="0" dirty="0"/>
              <a:t>, M. M. </a:t>
            </a:r>
            <a:r>
              <a:rPr lang="en-US" b="0" i="0" u="none" baseline="0" dirty="0" err="1"/>
              <a:t>Savrun</a:t>
            </a:r>
            <a:r>
              <a:rPr lang="en-US" b="0" i="0" u="none" baseline="0" dirty="0"/>
              <a:t>, T. </a:t>
            </a:r>
            <a:r>
              <a:rPr lang="en-US" b="0" i="0" u="none" baseline="0" dirty="0" err="1"/>
              <a:t>Köroğlu</a:t>
            </a:r>
            <a:r>
              <a:rPr lang="en-US" b="0" i="0" u="none" baseline="0" dirty="0"/>
              <a:t>, M. U. </a:t>
            </a:r>
            <a:r>
              <a:rPr lang="en-US" b="0" i="0" u="none" baseline="0" dirty="0" err="1"/>
              <a:t>Cuma</a:t>
            </a:r>
            <a:r>
              <a:rPr lang="en-US" b="0" i="0" u="none" baseline="0" dirty="0"/>
              <a:t>, and M. </a:t>
            </a:r>
            <a:r>
              <a:rPr lang="en-US" b="0" i="0" u="none" baseline="0" dirty="0" err="1"/>
              <a:t>Tümay</a:t>
            </a:r>
            <a:r>
              <a:rPr lang="en-US" b="0" i="0" u="none" baseline="0" dirty="0"/>
              <a:t>, "An improved and fast balancing algorithm for electric heavy commercial vehicles," </a:t>
            </a:r>
            <a:r>
              <a:rPr lang="en-US" b="0" i="1" u="none" baseline="0" dirty="0"/>
              <a:t>Journal of Energy Storage, </a:t>
            </a:r>
            <a:r>
              <a:rPr lang="nl-NL" b="0" i="0" u="none" baseline="0" dirty="0"/>
              <a:t>vol. 38, p. 102522, 2021.</a:t>
            </a:r>
          </a:p>
          <a:p>
            <a:endParaRPr lang="en-US" b="0" i="1" u="none" baseline="0" dirty="0"/>
          </a:p>
        </p:txBody>
      </p:sp>
    </p:spTree>
    <p:extLst>
      <p:ext uri="{BB962C8B-B14F-4D97-AF65-F5344CB8AC3E}">
        <p14:creationId xmlns:p14="http://schemas.microsoft.com/office/powerpoint/2010/main" val="218425614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i-FI" b="0" i="0" u="none" baseline="0" dirty="0"/>
              <a:t>[1]	M. S. Hossain Lipu</a:t>
            </a:r>
            <a:r>
              <a:rPr lang="fi-FI" b="0" i="1" u="none" baseline="0" dirty="0"/>
              <a:t> et al.</a:t>
            </a:r>
            <a:r>
              <a:rPr lang="en-US" b="0" i="0" u="none" baseline="0" dirty="0"/>
              <a:t>, "Intelligent algorithms and control strategies for battery management system in electric vehicles: Progress, challenges and future outlook," </a:t>
            </a:r>
            <a:r>
              <a:rPr lang="en-US" b="0" i="1" u="none" baseline="0" dirty="0"/>
              <a:t>Journal of Cleaner Production, </a:t>
            </a:r>
            <a:r>
              <a:rPr lang="nl-NL" b="0" i="0" u="none" baseline="0" dirty="0"/>
              <a:t>vol. 292, p. 126044, 2021/04/10/ 2021, doi: https://doi.org/10.1016/j.jclepro.2021.126044.</a:t>
            </a:r>
          </a:p>
          <a:p>
            <a:endParaRPr lang="en-US" b="0" i="1" u="none" baseline="0" dirty="0"/>
          </a:p>
        </p:txBody>
      </p:sp>
    </p:spTree>
    <p:extLst>
      <p:ext uri="{BB962C8B-B14F-4D97-AF65-F5344CB8AC3E}">
        <p14:creationId xmlns:p14="http://schemas.microsoft.com/office/powerpoint/2010/main" val="48625967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9277128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11189698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baseline="0" dirty="0"/>
              <a:t>[1]	I. </a:t>
            </a:r>
            <a:r>
              <a:rPr lang="en-US" b="0" i="0" u="none" baseline="0" dirty="0" err="1"/>
              <a:t>Baccouche</a:t>
            </a:r>
            <a:r>
              <a:rPr lang="en-US" b="0" i="0" u="none" baseline="0" dirty="0"/>
              <a:t>, S. </a:t>
            </a:r>
            <a:r>
              <a:rPr lang="en-US" b="0" i="0" u="none" baseline="0" dirty="0" err="1"/>
              <a:t>Jemmali</a:t>
            </a:r>
            <a:r>
              <a:rPr lang="en-US" b="0" i="0" u="none" baseline="0" dirty="0"/>
              <a:t>, B. </a:t>
            </a:r>
            <a:r>
              <a:rPr lang="en-US" b="0" i="0" u="none" baseline="0" dirty="0" err="1"/>
              <a:t>Manai</a:t>
            </a:r>
            <a:r>
              <a:rPr lang="en-US" b="0" i="0" u="none" baseline="0" dirty="0"/>
              <a:t>, R. </a:t>
            </a:r>
            <a:r>
              <a:rPr lang="en-US" b="0" i="0" u="none" baseline="0" dirty="0" err="1"/>
              <a:t>Chaibi</a:t>
            </a:r>
            <a:r>
              <a:rPr lang="en-US" b="0" i="0" u="none" baseline="0" dirty="0"/>
              <a:t>, and N. E. B. Amara, "Hardware implementation of an algorithm based on </a:t>
            </a:r>
            <a:r>
              <a:rPr lang="en-US" b="0" i="0" u="none" baseline="0" dirty="0" err="1"/>
              <a:t>kalman</a:t>
            </a:r>
            <a:r>
              <a:rPr lang="en-US" b="0" i="0" u="none" baseline="0" dirty="0"/>
              <a:t> </a:t>
            </a:r>
            <a:r>
              <a:rPr lang="en-US" b="0" i="0" u="none" baseline="0" dirty="0" err="1"/>
              <a:t>filtrer</a:t>
            </a:r>
            <a:r>
              <a:rPr lang="en-US" b="0" i="0" u="none" baseline="0" dirty="0"/>
              <a:t> for monitoring low capacity Li-ion batteries," in </a:t>
            </a:r>
            <a:r>
              <a:rPr lang="en-US" b="0" i="1" u="none" baseline="0" dirty="0"/>
              <a:t>2016 7th International Renewable Energy Congress (IREC)</a:t>
            </a:r>
            <a:r>
              <a:rPr lang="en-US" b="0" i="0" u="none" baseline="0" dirty="0"/>
              <a:t>, 2016: IEEE, pp. 1-6. </a:t>
            </a:r>
          </a:p>
          <a:p>
            <a:endParaRPr lang="en-US" b="0" i="1" u="none" baseline="0" dirty="0"/>
          </a:p>
        </p:txBody>
      </p:sp>
    </p:spTree>
    <p:extLst>
      <p:ext uri="{BB962C8B-B14F-4D97-AF65-F5344CB8AC3E}">
        <p14:creationId xmlns:p14="http://schemas.microsoft.com/office/powerpoint/2010/main" val="122129887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88151756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baseline="0" dirty="0"/>
              <a:t>[1]	N. </a:t>
            </a:r>
            <a:r>
              <a:rPr lang="en-US" b="0" i="0" u="none" baseline="0" dirty="0" err="1"/>
              <a:t>Ghaeminezhad</a:t>
            </a:r>
            <a:r>
              <a:rPr lang="en-US" b="0" i="0" u="none" baseline="0" dirty="0"/>
              <a:t>, Q. Ouyang, X. Hu, G. Xu, and Z. Wang, "Active cell equalization topologies analysis for battery packs: A systematic review," </a:t>
            </a:r>
            <a:r>
              <a:rPr lang="en-US" b="0" i="1" u="none" baseline="0" dirty="0"/>
              <a:t>IEEE Transactions on Power Electronics, </a:t>
            </a:r>
            <a:r>
              <a:rPr lang="en-US" b="0" i="0" u="none" baseline="0" dirty="0"/>
              <a:t>vol. 36, no. 8, pp. 9119-9135, 2021.</a:t>
            </a:r>
          </a:p>
          <a:p>
            <a:endParaRPr lang="en-US" b="0" i="1" u="none" baseline="0" dirty="0"/>
          </a:p>
        </p:txBody>
      </p:sp>
    </p:spTree>
    <p:extLst>
      <p:ext uri="{BB962C8B-B14F-4D97-AF65-F5344CB8AC3E}">
        <p14:creationId xmlns:p14="http://schemas.microsoft.com/office/powerpoint/2010/main" val="84513958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baseline="0" dirty="0"/>
              <a:t>[1]	Q. Ouyang, J. Chen, C. Xu, and H. Su, "Cell balancing control for serially connected lithium-ion batteries," in </a:t>
            </a:r>
            <a:r>
              <a:rPr lang="en-US" b="0" i="1" u="none" baseline="0" dirty="0"/>
              <a:t>2016 American control conference (ACC)</a:t>
            </a:r>
            <a:r>
              <a:rPr lang="en-US" b="0" i="0" u="none" baseline="0" dirty="0"/>
              <a:t>, 2016: IEEE, pp. 3095-3100. </a:t>
            </a:r>
          </a:p>
          <a:p>
            <a:endParaRPr lang="en-US" b="0" i="1" u="none" baseline="0" dirty="0"/>
          </a:p>
        </p:txBody>
      </p:sp>
    </p:spTree>
    <p:extLst>
      <p:ext uri="{BB962C8B-B14F-4D97-AF65-F5344CB8AC3E}">
        <p14:creationId xmlns:p14="http://schemas.microsoft.com/office/powerpoint/2010/main" val="163559407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baseline="0" dirty="0"/>
              <a:t>[1]	X. Wei, X. Zhao, and H. Dai, "The application of </a:t>
            </a:r>
            <a:r>
              <a:rPr lang="en-US" b="0" i="0" u="none" baseline="0" dirty="0" err="1"/>
              <a:t>flyback</a:t>
            </a:r>
            <a:r>
              <a:rPr lang="en-US" b="0" i="0" u="none" baseline="0" dirty="0"/>
              <a:t> DC/DC converter in Li-ion batteries active balancing," in </a:t>
            </a:r>
            <a:r>
              <a:rPr lang="en-US" b="0" i="1" u="none" baseline="0" dirty="0"/>
              <a:t>2009 IEEE Vehicle Power and Propulsion Conference</a:t>
            </a:r>
            <a:r>
              <a:rPr lang="en-US" b="0" i="0" u="none" baseline="0" dirty="0"/>
              <a:t>, 2009: IEEE, pp. 1654-1656. </a:t>
            </a:r>
          </a:p>
          <a:p>
            <a:endParaRPr lang="en-US" b="0" i="1" u="none" baseline="0" dirty="0"/>
          </a:p>
        </p:txBody>
      </p:sp>
    </p:spTree>
    <p:extLst>
      <p:ext uri="{BB962C8B-B14F-4D97-AF65-F5344CB8AC3E}">
        <p14:creationId xmlns:p14="http://schemas.microsoft.com/office/powerpoint/2010/main" val="94123907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baseline="0" dirty="0"/>
              <a:t>[1]	M. </a:t>
            </a:r>
            <a:r>
              <a:rPr lang="en-US" b="0" i="0" u="none" baseline="0" dirty="0" err="1"/>
              <a:t>Daowd</a:t>
            </a:r>
            <a:r>
              <a:rPr lang="en-US" b="0" i="0" u="none" baseline="0" dirty="0"/>
              <a:t>, M. Antoine, N. Omar, P. Van den </a:t>
            </a:r>
            <a:r>
              <a:rPr lang="en-US" b="0" i="0" u="none" baseline="0" dirty="0" err="1"/>
              <a:t>Bossche</a:t>
            </a:r>
            <a:r>
              <a:rPr lang="en-US" b="0" i="0" u="none" baseline="0" dirty="0"/>
              <a:t>, and J. Van </a:t>
            </a:r>
            <a:r>
              <a:rPr lang="en-US" b="0" i="0" u="none" baseline="0" dirty="0" err="1"/>
              <a:t>Mierlo</a:t>
            </a:r>
            <a:r>
              <a:rPr lang="en-US" b="0" i="0" u="none" baseline="0" dirty="0"/>
              <a:t>, "Single switched capacitor battery balancing system enhancements," </a:t>
            </a:r>
            <a:r>
              <a:rPr lang="en-US" b="0" i="1" u="none" baseline="0" dirty="0"/>
              <a:t>Energies, </a:t>
            </a:r>
            <a:r>
              <a:rPr lang="en-US" b="0" i="0" u="none" baseline="0" dirty="0"/>
              <a:t>vol. 6, no. 4, pp. 2149-2174, 2013.</a:t>
            </a:r>
          </a:p>
          <a:p>
            <a:endParaRPr lang="en-US" b="0" i="1" u="none" baseline="0" dirty="0"/>
          </a:p>
        </p:txBody>
      </p:sp>
    </p:spTree>
    <p:extLst>
      <p:ext uri="{BB962C8B-B14F-4D97-AF65-F5344CB8AC3E}">
        <p14:creationId xmlns:p14="http://schemas.microsoft.com/office/powerpoint/2010/main" val="68719437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75260007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78302114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785703168"/>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251029514"/>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761373987"/>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baseline="0" dirty="0"/>
              <a:t>[1]	S. Shah, M. </a:t>
            </a:r>
            <a:r>
              <a:rPr lang="en-US" b="0" i="0" u="none" baseline="0" dirty="0" err="1"/>
              <a:t>Murali</a:t>
            </a:r>
            <a:r>
              <a:rPr lang="en-US" b="0" i="0" u="none" baseline="0" dirty="0"/>
              <a:t>, and P. Gandhi, "A practical approach of active cell balancing in a battery management system," in </a:t>
            </a:r>
            <a:r>
              <a:rPr lang="en-US" b="0" i="1" u="none" baseline="0" dirty="0"/>
              <a:t>2018 IEEE International Conference on Power Electronics, Drives and Energy Systems (PEDES)</a:t>
            </a:r>
            <a:r>
              <a:rPr lang="en-US" b="0" i="0" u="none" baseline="0" dirty="0"/>
              <a:t>, 2018: IEEE, pp. 1-6. </a:t>
            </a:r>
          </a:p>
          <a:p>
            <a:r>
              <a:rPr lang="en-US" b="0" i="0" u="none" baseline="0" dirty="0"/>
              <a:t>[2]	</a:t>
            </a:r>
            <a:r>
              <a:rPr lang="en-US" b="0" i="0" u="none" baseline="0" dirty="0" err="1"/>
              <a:t>ti</a:t>
            </a:r>
            <a:r>
              <a:rPr lang="en-US" b="0" i="0" u="none" baseline="0" dirty="0"/>
              <a:t>, "Active chipset reference design guide, reference guide," 2013. [Online]. Available: https://www.ti.com/lit/pdf/sluuas6,.</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baseline="0" dirty="0"/>
              <a:t>[3]	B. </a:t>
            </a:r>
            <a:r>
              <a:rPr lang="en-US" b="0" i="0" u="none" baseline="0" dirty="0" err="1"/>
              <a:t>Erdoğan</a:t>
            </a:r>
            <a:r>
              <a:rPr lang="en-US" b="0" i="0" u="none" baseline="0" dirty="0"/>
              <a:t>, M. M. </a:t>
            </a:r>
            <a:r>
              <a:rPr lang="en-US" b="0" i="0" u="none" baseline="0" dirty="0" err="1"/>
              <a:t>Savrun</a:t>
            </a:r>
            <a:r>
              <a:rPr lang="en-US" b="0" i="0" u="none" baseline="0" dirty="0"/>
              <a:t>, T. </a:t>
            </a:r>
            <a:r>
              <a:rPr lang="en-US" b="0" i="0" u="none" baseline="0" dirty="0" err="1"/>
              <a:t>Köroğlu</a:t>
            </a:r>
            <a:r>
              <a:rPr lang="en-US" b="0" i="0" u="none" baseline="0" dirty="0"/>
              <a:t>, M. U. </a:t>
            </a:r>
            <a:r>
              <a:rPr lang="en-US" b="0" i="0" u="none" baseline="0" dirty="0" err="1"/>
              <a:t>Cuma</a:t>
            </a:r>
            <a:r>
              <a:rPr lang="en-US" b="0" i="0" u="none" baseline="0" dirty="0"/>
              <a:t>, and M. </a:t>
            </a:r>
            <a:r>
              <a:rPr lang="en-US" b="0" i="0" u="none" baseline="0" dirty="0" err="1"/>
              <a:t>Tümay</a:t>
            </a:r>
            <a:r>
              <a:rPr lang="en-US" b="0" i="0" u="none" baseline="0" dirty="0"/>
              <a:t>, "An improved and fast balancing algorithm for electric heavy commercial vehicles," </a:t>
            </a:r>
            <a:r>
              <a:rPr lang="en-US" b="0" i="1" u="none" baseline="0" dirty="0"/>
              <a:t>Journal of Energy Storage, </a:t>
            </a:r>
            <a:r>
              <a:rPr lang="nl-NL" b="0" i="0" u="none" baseline="0" dirty="0"/>
              <a:t>vol. 38, p. 102522, 2021.</a:t>
            </a:r>
          </a:p>
          <a:p>
            <a:endParaRPr lang="en-US" b="0" i="0" u="none" baseline="0" dirty="0"/>
          </a:p>
          <a:p>
            <a:endParaRPr lang="en-US" b="0" i="1" u="none" baseline="0" dirty="0"/>
          </a:p>
        </p:txBody>
      </p:sp>
    </p:spTree>
    <p:extLst>
      <p:ext uri="{BB962C8B-B14F-4D97-AF65-F5344CB8AC3E}">
        <p14:creationId xmlns:p14="http://schemas.microsoft.com/office/powerpoint/2010/main" val="61271846"/>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038948636"/>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baseline="0" dirty="0"/>
              <a:t>[1]	S. </a:t>
            </a:r>
            <a:r>
              <a:rPr lang="en-US" b="0" i="0" u="none" baseline="0" dirty="0" err="1"/>
              <a:t>Jinlei</a:t>
            </a:r>
            <a:r>
              <a:rPr lang="en-US" b="0" i="0" u="none" baseline="0" dirty="0"/>
              <a:t>, L. Wei, T. </a:t>
            </a:r>
            <a:r>
              <a:rPr lang="en-US" b="0" i="0" u="none" baseline="0" dirty="0" err="1"/>
              <a:t>Chuanyu</a:t>
            </a:r>
            <a:r>
              <a:rPr lang="en-US" b="0" i="0" u="none" baseline="0" dirty="0"/>
              <a:t>, W. </a:t>
            </a:r>
            <a:r>
              <a:rPr lang="en-US" b="0" i="0" u="none" baseline="0" dirty="0" err="1"/>
              <a:t>Tianru</a:t>
            </a:r>
            <a:r>
              <a:rPr lang="en-US" b="0" i="0" u="none" baseline="0" dirty="0"/>
              <a:t>, J. Tao, and T. Yong, "A novel active equalization method for series-connected battery packs based on clustering analysis with genetic algorithm," </a:t>
            </a:r>
            <a:r>
              <a:rPr lang="en-US" b="0" i="1" u="none" baseline="0" dirty="0"/>
              <a:t>IEEE Transactions on Power Electronics, </a:t>
            </a:r>
            <a:r>
              <a:rPr lang="en-US" b="0" i="0" u="none" baseline="0" dirty="0"/>
              <a:t>vol. 36, no. 7, pp. 7853-7865, 2021.</a:t>
            </a:r>
            <a:endParaRPr lang="en-US" dirty="0"/>
          </a:p>
        </p:txBody>
      </p:sp>
    </p:spTree>
    <p:extLst>
      <p:ext uri="{BB962C8B-B14F-4D97-AF65-F5344CB8AC3E}">
        <p14:creationId xmlns:p14="http://schemas.microsoft.com/office/powerpoint/2010/main" val="1082132162"/>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baseline="0" dirty="0"/>
              <a:t>[1]	S. </a:t>
            </a:r>
            <a:r>
              <a:rPr lang="en-US" b="0" i="0" u="none" baseline="0" dirty="0" err="1"/>
              <a:t>Jinlei</a:t>
            </a:r>
            <a:r>
              <a:rPr lang="en-US" b="0" i="0" u="none" baseline="0" dirty="0"/>
              <a:t>, L. Wei, T. </a:t>
            </a:r>
            <a:r>
              <a:rPr lang="en-US" b="0" i="0" u="none" baseline="0" dirty="0" err="1"/>
              <a:t>Chuanyu</a:t>
            </a:r>
            <a:r>
              <a:rPr lang="en-US" b="0" i="0" u="none" baseline="0" dirty="0"/>
              <a:t>, W. </a:t>
            </a:r>
            <a:r>
              <a:rPr lang="en-US" b="0" i="0" u="none" baseline="0" dirty="0" err="1"/>
              <a:t>Tianru</a:t>
            </a:r>
            <a:r>
              <a:rPr lang="en-US" b="0" i="0" u="none" baseline="0" dirty="0"/>
              <a:t>, J. Tao, and T. Yong, "A novel active equalization method for series-connected battery packs based on clustering analysis with genetic algorithm," </a:t>
            </a:r>
            <a:r>
              <a:rPr lang="en-US" b="0" i="1" u="none" baseline="0" dirty="0"/>
              <a:t>IEEE Transactions on Power Electronics, </a:t>
            </a:r>
            <a:r>
              <a:rPr lang="en-US" b="0" i="0" u="none" baseline="0" dirty="0"/>
              <a:t>vol. 36, no. 7, pp. 7853-7865, 2021.</a:t>
            </a:r>
          </a:p>
          <a:p>
            <a:endParaRPr lang="en-US" b="0" i="1" u="none" baseline="0" dirty="0"/>
          </a:p>
        </p:txBody>
      </p:sp>
    </p:spTree>
    <p:extLst>
      <p:ext uri="{BB962C8B-B14F-4D97-AF65-F5344CB8AC3E}">
        <p14:creationId xmlns:p14="http://schemas.microsoft.com/office/powerpoint/2010/main" val="58460070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baseline="0" dirty="0"/>
              <a:t>[1]	S. </a:t>
            </a:r>
            <a:r>
              <a:rPr lang="en-US" b="0" i="0" u="none" baseline="0" dirty="0" err="1"/>
              <a:t>Jinlei</a:t>
            </a:r>
            <a:r>
              <a:rPr lang="en-US" b="0" i="0" u="none" baseline="0" dirty="0"/>
              <a:t>, L. Wei, T. </a:t>
            </a:r>
            <a:r>
              <a:rPr lang="en-US" b="0" i="0" u="none" baseline="0" dirty="0" err="1"/>
              <a:t>Chuanyu</a:t>
            </a:r>
            <a:r>
              <a:rPr lang="en-US" b="0" i="0" u="none" baseline="0" dirty="0"/>
              <a:t>, W. </a:t>
            </a:r>
            <a:r>
              <a:rPr lang="en-US" b="0" i="0" u="none" baseline="0" dirty="0" err="1"/>
              <a:t>Tianru</a:t>
            </a:r>
            <a:r>
              <a:rPr lang="en-US" b="0" i="0" u="none" baseline="0" dirty="0"/>
              <a:t>, J. Tao, and T. Yong, "A novel active equalization method for series-connected battery packs based on clustering analysis with genetic algorithm," </a:t>
            </a:r>
            <a:r>
              <a:rPr lang="en-US" b="0" i="1" u="none" baseline="0" dirty="0"/>
              <a:t>IEEE Transactions on Power Electronics, </a:t>
            </a:r>
            <a:r>
              <a:rPr lang="en-US" b="0" i="0" u="none" baseline="0" dirty="0"/>
              <a:t>vol. 36, no. 7, pp. 7853-7865, 2021.</a:t>
            </a:r>
          </a:p>
        </p:txBody>
      </p:sp>
    </p:spTree>
    <p:extLst>
      <p:ext uri="{BB962C8B-B14F-4D97-AF65-F5344CB8AC3E}">
        <p14:creationId xmlns:p14="http://schemas.microsoft.com/office/powerpoint/2010/main" val="97564768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baseline="0" dirty="0"/>
              <a:t>[1]	S. </a:t>
            </a:r>
            <a:r>
              <a:rPr lang="en-US" b="0" i="0" u="none" baseline="0" dirty="0" err="1"/>
              <a:t>Jinlei</a:t>
            </a:r>
            <a:r>
              <a:rPr lang="en-US" b="0" i="0" u="none" baseline="0" dirty="0"/>
              <a:t>, L. Wei, T. </a:t>
            </a:r>
            <a:r>
              <a:rPr lang="en-US" b="0" i="0" u="none" baseline="0" dirty="0" err="1"/>
              <a:t>Chuanyu</a:t>
            </a:r>
            <a:r>
              <a:rPr lang="en-US" b="0" i="0" u="none" baseline="0" dirty="0"/>
              <a:t>, W. </a:t>
            </a:r>
            <a:r>
              <a:rPr lang="en-US" b="0" i="0" u="none" baseline="0" dirty="0" err="1"/>
              <a:t>Tianru</a:t>
            </a:r>
            <a:r>
              <a:rPr lang="en-US" b="0" i="0" u="none" baseline="0" dirty="0"/>
              <a:t>, J. Tao, and T. Yong, "A novel active equalization method for series-connected battery packs based on clustering analysis with genetic algorithm," </a:t>
            </a:r>
            <a:r>
              <a:rPr lang="en-US" b="0" i="1" u="none" baseline="0" dirty="0"/>
              <a:t>IEEE Transactions on Power Electronics, </a:t>
            </a:r>
            <a:r>
              <a:rPr lang="en-US" b="0" i="0" u="none" baseline="0" dirty="0"/>
              <a:t>vol. 36, no. 7, pp. 7853-7865, 2021.</a:t>
            </a:r>
            <a:endParaRPr lang="en-US" dirty="0"/>
          </a:p>
        </p:txBody>
      </p:sp>
    </p:spTree>
    <p:extLst>
      <p:ext uri="{BB962C8B-B14F-4D97-AF65-F5344CB8AC3E}">
        <p14:creationId xmlns:p14="http://schemas.microsoft.com/office/powerpoint/2010/main" val="71930515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baseline="0" dirty="0"/>
              <a:t>[1]	S. </a:t>
            </a:r>
            <a:r>
              <a:rPr lang="en-US" b="0" i="0" u="none" baseline="0" dirty="0" err="1"/>
              <a:t>Jinlei</a:t>
            </a:r>
            <a:r>
              <a:rPr lang="en-US" b="0" i="0" u="none" baseline="0" dirty="0"/>
              <a:t>, L. Wei, T. </a:t>
            </a:r>
            <a:r>
              <a:rPr lang="en-US" b="0" i="0" u="none" baseline="0" dirty="0" err="1"/>
              <a:t>Chuanyu</a:t>
            </a:r>
            <a:r>
              <a:rPr lang="en-US" b="0" i="0" u="none" baseline="0" dirty="0"/>
              <a:t>, W. </a:t>
            </a:r>
            <a:r>
              <a:rPr lang="en-US" b="0" i="0" u="none" baseline="0" dirty="0" err="1"/>
              <a:t>Tianru</a:t>
            </a:r>
            <a:r>
              <a:rPr lang="en-US" b="0" i="0" u="none" baseline="0" dirty="0"/>
              <a:t>, J. Tao, and T. Yong, "A novel active equalization method for series-connected battery packs based on clustering analysis with genetic algorithm," </a:t>
            </a:r>
            <a:r>
              <a:rPr lang="en-US" b="0" i="1" u="none" baseline="0" dirty="0"/>
              <a:t>IEEE Transactions on Power Electronics, </a:t>
            </a:r>
            <a:r>
              <a:rPr lang="en-US" b="0" i="0" u="none" baseline="0" dirty="0"/>
              <a:t>vol. 36, no. 7, pp. 7853-7865, 2021.</a:t>
            </a:r>
          </a:p>
        </p:txBody>
      </p:sp>
    </p:spTree>
    <p:extLst>
      <p:ext uri="{BB962C8B-B14F-4D97-AF65-F5344CB8AC3E}">
        <p14:creationId xmlns:p14="http://schemas.microsoft.com/office/powerpoint/2010/main" val="321047736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baseline="0" dirty="0"/>
              <a:t>[1]	S. </a:t>
            </a:r>
            <a:r>
              <a:rPr lang="en-US" b="0" i="0" u="none" baseline="0" dirty="0" err="1"/>
              <a:t>Jinlei</a:t>
            </a:r>
            <a:r>
              <a:rPr lang="en-US" b="0" i="0" u="none" baseline="0" dirty="0"/>
              <a:t>, L. Wei, T. </a:t>
            </a:r>
            <a:r>
              <a:rPr lang="en-US" b="0" i="0" u="none" baseline="0" dirty="0" err="1"/>
              <a:t>Chuanyu</a:t>
            </a:r>
            <a:r>
              <a:rPr lang="en-US" b="0" i="0" u="none" baseline="0" dirty="0"/>
              <a:t>, W. </a:t>
            </a:r>
            <a:r>
              <a:rPr lang="en-US" b="0" i="0" u="none" baseline="0" dirty="0" err="1"/>
              <a:t>Tianru</a:t>
            </a:r>
            <a:r>
              <a:rPr lang="en-US" b="0" i="0" u="none" baseline="0" dirty="0"/>
              <a:t>, J. Tao, and T. Yong, "A novel active equalization method for series-connected battery packs based on clustering analysis with genetic algorithm," </a:t>
            </a:r>
            <a:r>
              <a:rPr lang="en-US" b="0" i="1" u="none" baseline="0" dirty="0"/>
              <a:t>IEEE Transactions on Power Electronics, </a:t>
            </a:r>
            <a:r>
              <a:rPr lang="en-US" b="0" i="0" u="none" baseline="0" dirty="0"/>
              <a:t>vol. 36, no. 7, pp. 7853-7865, 2021.</a:t>
            </a:r>
            <a:endParaRPr lang="en-US" baseline="-25000" dirty="0"/>
          </a:p>
        </p:txBody>
      </p:sp>
    </p:spTree>
    <p:extLst>
      <p:ext uri="{BB962C8B-B14F-4D97-AF65-F5344CB8AC3E}">
        <p14:creationId xmlns:p14="http://schemas.microsoft.com/office/powerpoint/2010/main" val="2033212445"/>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baseline="0" dirty="0"/>
              <a:t>[1]	S. </a:t>
            </a:r>
            <a:r>
              <a:rPr lang="en-US" b="0" i="0" u="none" baseline="0" dirty="0" err="1"/>
              <a:t>Jinlei</a:t>
            </a:r>
            <a:r>
              <a:rPr lang="en-US" b="0" i="0" u="none" baseline="0" dirty="0"/>
              <a:t>, L. Wei, T. </a:t>
            </a:r>
            <a:r>
              <a:rPr lang="en-US" b="0" i="0" u="none" baseline="0" dirty="0" err="1"/>
              <a:t>Chuanyu</a:t>
            </a:r>
            <a:r>
              <a:rPr lang="en-US" b="0" i="0" u="none" baseline="0" dirty="0"/>
              <a:t>, W. </a:t>
            </a:r>
            <a:r>
              <a:rPr lang="en-US" b="0" i="0" u="none" baseline="0" dirty="0" err="1"/>
              <a:t>Tianru</a:t>
            </a:r>
            <a:r>
              <a:rPr lang="en-US" b="0" i="0" u="none" baseline="0" dirty="0"/>
              <a:t>, J. Tao, and T. Yong, "A novel active equalization method for series-connected battery packs based on clustering analysis with genetic algorithm," </a:t>
            </a:r>
            <a:r>
              <a:rPr lang="en-US" b="0" i="1" u="none" baseline="0" dirty="0"/>
              <a:t>IEEE Transactions on Power Electronics, </a:t>
            </a:r>
            <a:r>
              <a:rPr lang="en-US" b="0" i="0" u="none" baseline="0" dirty="0"/>
              <a:t>vol. 36, no. 7, pp. 7853-7865, 2021.</a:t>
            </a:r>
            <a:endParaRPr lang="en-US" dirty="0"/>
          </a:p>
          <a:p>
            <a:endParaRPr lang="en-US" dirty="0"/>
          </a:p>
        </p:txBody>
      </p:sp>
    </p:spTree>
    <p:extLst>
      <p:ext uri="{BB962C8B-B14F-4D97-AF65-F5344CB8AC3E}">
        <p14:creationId xmlns:p14="http://schemas.microsoft.com/office/powerpoint/2010/main" val="286557740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baseline="0" dirty="0"/>
              <a:t>[1]	S. </a:t>
            </a:r>
            <a:r>
              <a:rPr lang="en-US" b="0" i="0" u="none" baseline="0" dirty="0" err="1"/>
              <a:t>Jinlei</a:t>
            </a:r>
            <a:r>
              <a:rPr lang="en-US" b="0" i="0" u="none" baseline="0" dirty="0"/>
              <a:t>, L. Wei, T. </a:t>
            </a:r>
            <a:r>
              <a:rPr lang="en-US" b="0" i="0" u="none" baseline="0" dirty="0" err="1"/>
              <a:t>Chuanyu</a:t>
            </a:r>
            <a:r>
              <a:rPr lang="en-US" b="0" i="0" u="none" baseline="0" dirty="0"/>
              <a:t>, W. </a:t>
            </a:r>
            <a:r>
              <a:rPr lang="en-US" b="0" i="0" u="none" baseline="0" dirty="0" err="1"/>
              <a:t>Tianru</a:t>
            </a:r>
            <a:r>
              <a:rPr lang="en-US" b="0" i="0" u="none" baseline="0" dirty="0"/>
              <a:t>, J. Tao, and T. Yong, "A novel active equalization method for series-connected battery packs based on clustering analysis with genetic algorithm," </a:t>
            </a:r>
            <a:r>
              <a:rPr lang="en-US" b="0" i="1" u="none" baseline="0" dirty="0"/>
              <a:t>IEEE Transactions on Power Electronics, </a:t>
            </a:r>
            <a:r>
              <a:rPr lang="en-US" b="0" i="0" u="none" baseline="0" dirty="0"/>
              <a:t>vol. 36, no. 7, pp. 7853-7865, 2021.</a:t>
            </a:r>
            <a:endParaRPr lang="en-US" dirty="0"/>
          </a:p>
        </p:txBody>
      </p:sp>
    </p:spTree>
    <p:extLst>
      <p:ext uri="{BB962C8B-B14F-4D97-AF65-F5344CB8AC3E}">
        <p14:creationId xmlns:p14="http://schemas.microsoft.com/office/powerpoint/2010/main" val="1817904026"/>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baseline="0" dirty="0"/>
              <a:t>[1]	W. </a:t>
            </a:r>
            <a:r>
              <a:rPr lang="en-US" b="0" i="0" u="none" baseline="0" dirty="0" err="1"/>
              <a:t>Lujun</a:t>
            </a:r>
            <a:r>
              <a:rPr lang="en-US" b="0" i="1" u="none" baseline="0" dirty="0"/>
              <a:t> et al.</a:t>
            </a:r>
            <a:r>
              <a:rPr lang="en-US" b="0" i="0" u="none" baseline="0" dirty="0"/>
              <a:t>, "Efficient and fast active equalization method for retired battery pack using wide voltage range bidirectional converter and DBSCAN clustering algorithm," </a:t>
            </a:r>
            <a:r>
              <a:rPr lang="en-US" b="0" i="1" u="none" baseline="0" dirty="0"/>
              <a:t>IEEE Transactions on Power Electronics, </a:t>
            </a:r>
            <a:r>
              <a:rPr lang="en-US" b="0" i="0" u="none" baseline="0" dirty="0"/>
              <a:t>vol. 37, no. 11, pp. 13824-13833, 2022.</a:t>
            </a:r>
            <a:endParaRPr lang="en-US" dirty="0"/>
          </a:p>
        </p:txBody>
      </p:sp>
    </p:spTree>
    <p:extLst>
      <p:ext uri="{BB962C8B-B14F-4D97-AF65-F5344CB8AC3E}">
        <p14:creationId xmlns:p14="http://schemas.microsoft.com/office/powerpoint/2010/main" val="373046499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2920352520"/>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baseline="0" dirty="0"/>
              <a:t>[1]	K. </a:t>
            </a:r>
            <a:r>
              <a:rPr lang="en-US" b="0" i="0" u="none" baseline="0" dirty="0" err="1"/>
              <a:t>Movassagh</a:t>
            </a:r>
            <a:r>
              <a:rPr lang="en-US" b="0" i="0" u="none" baseline="0" dirty="0"/>
              <a:t>, A. Raihan, B. </a:t>
            </a:r>
            <a:r>
              <a:rPr lang="en-US" b="0" i="0" u="none" baseline="0" dirty="0" err="1"/>
              <a:t>Balasingam</a:t>
            </a:r>
            <a:r>
              <a:rPr lang="en-US" b="0" i="0" u="none" baseline="0" dirty="0"/>
              <a:t>, and K. </a:t>
            </a:r>
            <a:r>
              <a:rPr lang="en-US" b="0" i="0" u="none" baseline="0" dirty="0" err="1"/>
              <a:t>Pattipati</a:t>
            </a:r>
            <a:r>
              <a:rPr lang="en-US" b="0" i="0" u="none" baseline="0" dirty="0"/>
              <a:t>, "A Critical Look at Coulomb Counting Approach for State of Charge Estimation in Batteries," </a:t>
            </a:r>
            <a:r>
              <a:rPr lang="en-US" b="0" i="1" u="none" baseline="0" dirty="0"/>
              <a:t>Energies, </a:t>
            </a:r>
            <a:r>
              <a:rPr lang="en-US" b="0" i="0" u="none" baseline="0" dirty="0"/>
              <a:t>vol. 14, no. 14, p. 4074, 2021. [Online]. Available: https://www.mdpi.com/1996-1073/14/14/4074.</a:t>
            </a:r>
          </a:p>
          <a:p>
            <a:endParaRPr lang="en-US" b="0" i="1" u="none" baseline="0" dirty="0"/>
          </a:p>
        </p:txBody>
      </p:sp>
    </p:spTree>
    <p:extLst>
      <p:ext uri="{BB962C8B-B14F-4D97-AF65-F5344CB8AC3E}">
        <p14:creationId xmlns:p14="http://schemas.microsoft.com/office/powerpoint/2010/main" val="134233772"/>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baseline="0" dirty="0"/>
              <a:t>[1]	I. </a:t>
            </a:r>
            <a:r>
              <a:rPr lang="en-US" b="0" i="0" u="none" baseline="0" dirty="0" err="1"/>
              <a:t>Baccouche</a:t>
            </a:r>
            <a:r>
              <a:rPr lang="en-US" b="0" i="0" u="none" baseline="0" dirty="0"/>
              <a:t>, S. </a:t>
            </a:r>
            <a:r>
              <a:rPr lang="en-US" b="0" i="0" u="none" baseline="0" dirty="0" err="1"/>
              <a:t>Jemmali</a:t>
            </a:r>
            <a:r>
              <a:rPr lang="en-US" b="0" i="0" u="none" baseline="0" dirty="0"/>
              <a:t>, B. </a:t>
            </a:r>
            <a:r>
              <a:rPr lang="en-US" b="0" i="0" u="none" baseline="0" dirty="0" err="1"/>
              <a:t>Manai</a:t>
            </a:r>
            <a:r>
              <a:rPr lang="en-US" b="0" i="0" u="none" baseline="0" dirty="0"/>
              <a:t>, N. Omar, and N. E. B. Amara, "Improved OCV Model of a Li-Ion NMC Battery for Online SOC Estimation Using the Extended Kalman Filter," </a:t>
            </a:r>
            <a:r>
              <a:rPr lang="en-US" b="0" i="1" u="none" baseline="0" dirty="0"/>
              <a:t>Energies, </a:t>
            </a:r>
            <a:r>
              <a:rPr lang="en-US" b="0" i="0" u="none" baseline="0" dirty="0"/>
              <a:t>vol. 10, no. 6, p. 764, 2017. [Online]. Available: https://www.mdpi.com/1996-1073/10/6/764.</a:t>
            </a:r>
          </a:p>
          <a:p>
            <a:endParaRPr lang="en-US" b="0" i="1" u="none" baseline="0" dirty="0"/>
          </a:p>
        </p:txBody>
      </p:sp>
    </p:spTree>
    <p:extLst>
      <p:ext uri="{BB962C8B-B14F-4D97-AF65-F5344CB8AC3E}">
        <p14:creationId xmlns:p14="http://schemas.microsoft.com/office/powerpoint/2010/main" val="219284065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baseline="0" dirty="0"/>
              <a:t>[1]	J. Nadeau, M. Dubois, A. Desrochers, and N. Denis, "Ageing estimation of lithium-ion batteries applied to a three-wheel PHEV roadster," in </a:t>
            </a:r>
            <a:r>
              <a:rPr lang="en-US" b="0" i="1" u="none" baseline="0" dirty="0"/>
              <a:t>2013 IEEE Vehicle Power and Propulsion Conference (VPPC)</a:t>
            </a:r>
            <a:r>
              <a:rPr lang="en-US" b="0" i="0" u="none" baseline="0" dirty="0"/>
              <a:t>, 2013: IEEE, pp. 1-6. </a:t>
            </a:r>
          </a:p>
          <a:p>
            <a:endParaRPr lang="en-US" b="0" i="1" u="none" baseline="0" dirty="0"/>
          </a:p>
        </p:txBody>
      </p:sp>
    </p:spTree>
    <p:extLst>
      <p:ext uri="{BB962C8B-B14F-4D97-AF65-F5344CB8AC3E}">
        <p14:creationId xmlns:p14="http://schemas.microsoft.com/office/powerpoint/2010/main" val="226087476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baseline="0" dirty="0"/>
              <a:t>[1]	X. Ding</a:t>
            </a:r>
            <a:r>
              <a:rPr lang="en-US" b="0" i="1" u="none" baseline="0" dirty="0"/>
              <a:t> et al.</a:t>
            </a:r>
            <a:r>
              <a:rPr lang="en-US" b="0" i="0" u="none" baseline="0" dirty="0"/>
              <a:t>, "A novel active equalization topology for series-connected lithium-ion battery packs," </a:t>
            </a:r>
            <a:r>
              <a:rPr lang="en-US" b="0" i="1" u="none" baseline="0" dirty="0"/>
              <a:t>IEEE Transactions on Industry Applications, </a:t>
            </a:r>
            <a:r>
              <a:rPr lang="en-US" b="0" i="0" u="none" baseline="0" dirty="0"/>
              <a:t>vol. 56, no. 6, pp. 6892-6903, 2020.</a:t>
            </a:r>
          </a:p>
          <a:p>
            <a:endParaRPr lang="en-US" b="0" i="1" u="none" baseline="0" dirty="0"/>
          </a:p>
        </p:txBody>
      </p:sp>
    </p:spTree>
    <p:extLst>
      <p:ext uri="{BB962C8B-B14F-4D97-AF65-F5344CB8AC3E}">
        <p14:creationId xmlns:p14="http://schemas.microsoft.com/office/powerpoint/2010/main" val="3064725532"/>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i="0" u="none" baseline="0" dirty="0"/>
              <a:t>[1]	S. </a:t>
            </a:r>
            <a:r>
              <a:rPr lang="en-US" b="0" i="0" u="none" baseline="0" dirty="0" err="1"/>
              <a:t>Jinlei</a:t>
            </a:r>
            <a:r>
              <a:rPr lang="en-US" b="0" i="0" u="none" baseline="0" dirty="0"/>
              <a:t>, L. Wei, T. </a:t>
            </a:r>
            <a:r>
              <a:rPr lang="en-US" b="0" i="0" u="none" baseline="0" dirty="0" err="1"/>
              <a:t>Chuanyu</a:t>
            </a:r>
            <a:r>
              <a:rPr lang="en-US" b="0" i="0" u="none" baseline="0" dirty="0"/>
              <a:t>, W. </a:t>
            </a:r>
            <a:r>
              <a:rPr lang="en-US" b="0" i="0" u="none" baseline="0" dirty="0" err="1"/>
              <a:t>Tianru</a:t>
            </a:r>
            <a:r>
              <a:rPr lang="en-US" b="0" i="0" u="none" baseline="0" dirty="0"/>
              <a:t>, J. Tao, and T. Yong, "A novel active equalization method for series-connected battery packs based on clustering analysis with genetic algorithm," </a:t>
            </a:r>
            <a:r>
              <a:rPr lang="en-US" b="0" i="1" u="none" baseline="0" dirty="0"/>
              <a:t>IEEE Transactions on Power Electronics, </a:t>
            </a:r>
            <a:r>
              <a:rPr lang="en-US" b="0" i="0" u="none" baseline="0" dirty="0"/>
              <a:t>vol. 36, no. 7, pp. 7853-7865, 2021.</a:t>
            </a:r>
            <a:endParaRPr lang="en-US" dirty="0"/>
          </a:p>
        </p:txBody>
      </p:sp>
    </p:spTree>
    <p:extLst>
      <p:ext uri="{BB962C8B-B14F-4D97-AF65-F5344CB8AC3E}">
        <p14:creationId xmlns:p14="http://schemas.microsoft.com/office/powerpoint/2010/main" val="121656616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41223324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495883452"/>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10421740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371600"/>
            <a:ext cx="7848600" cy="1927225"/>
          </a:xfrm>
        </p:spPr>
        <p:txBody>
          <a:bodyPr anchor="b">
            <a:noAutofit/>
          </a:bodyPr>
          <a:lstStyle>
            <a:lvl1pPr>
              <a:defRPr sz="5400" cap="all" baseline="0"/>
            </a:lvl1pPr>
          </a:lstStyle>
          <a:p>
            <a:r>
              <a:rPr lang="en-US"/>
              <a:t>Click to edit Master title style</a:t>
            </a:r>
            <a:endParaRPr lang="en-US" dirty="0"/>
          </a:p>
        </p:txBody>
      </p:sp>
      <p:sp>
        <p:nvSpPr>
          <p:cNvPr id="3" name="Subtitle 2"/>
          <p:cNvSpPr>
            <a:spLocks noGrp="1"/>
          </p:cNvSpPr>
          <p:nvPr>
            <p:ph type="subTitle" idx="1"/>
          </p:nvPr>
        </p:nvSpPr>
        <p:spPr>
          <a:xfrm>
            <a:off x="685800" y="3505200"/>
            <a:ext cx="6400800" cy="1752600"/>
          </a:xfrm>
        </p:spPr>
        <p:txBody>
          <a:bodyPr/>
          <a:lstStyle>
            <a:lvl1pPr marL="0" indent="0" algn="l">
              <a:buNone/>
              <a:defRPr>
                <a:solidFill>
                  <a:schemeClr val="tx1">
                    <a:lumMod val="75000"/>
                    <a:lumOff val="2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342F33C8-C791-4D5C-A762-F1444BAB6895}" type="datetime1">
              <a:rPr lang="en-US" smtClean="0"/>
              <a:t>8/14/2024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FC2E40A-4446-4E2B-B9AD-16F559E28E02}" type="slidenum">
              <a:rPr lang="en-US" smtClean="0"/>
              <a:t>‹#›</a:t>
            </a:fld>
            <a:endParaRPr lang="en-US"/>
          </a:p>
        </p:txBody>
      </p:sp>
      <p:cxnSp>
        <p:nvCxnSpPr>
          <p:cNvPr id="8" name="Straight Connector 7"/>
          <p:cNvCxnSpPr/>
          <p:nvPr/>
        </p:nvCxnSpPr>
        <p:spPr>
          <a:xfrm>
            <a:off x="685800" y="3398520"/>
            <a:ext cx="7848600" cy="1588"/>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E3DD26C-48B8-45C9-95EB-0EA6E3001BE1}" type="datetime1">
              <a:rPr lang="en-US" smtClean="0"/>
              <a:t>8/14/2024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FC2E40A-4446-4E2B-B9AD-16F559E28E02}"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722313" y="2362200"/>
            <a:ext cx="7772400" cy="2200275"/>
          </a:xfrm>
        </p:spPr>
        <p:txBody>
          <a:bodyPr anchor="b">
            <a:normAutofit/>
          </a:bodyPr>
          <a:lstStyle>
            <a:lvl1pPr algn="l">
              <a:defRPr sz="4800" b="0" cap="all"/>
            </a:lvl1pPr>
          </a:lstStyle>
          <a:p>
            <a:r>
              <a:rPr lang="en-US"/>
              <a:t>Click to edit Master title style</a:t>
            </a:r>
            <a:endParaRPr lang="en-US" dirty="0"/>
          </a:p>
        </p:txBody>
      </p:sp>
      <p:sp>
        <p:nvSpPr>
          <p:cNvPr id="3" name="Text Placeholder 2"/>
          <p:cNvSpPr>
            <a:spLocks noGrp="1"/>
          </p:cNvSpPr>
          <p:nvPr>
            <p:ph type="body" idx="1"/>
          </p:nvPr>
        </p:nvSpPr>
        <p:spPr>
          <a:xfrm>
            <a:off x="722313" y="4626864"/>
            <a:ext cx="7772400" cy="1500187"/>
          </a:xfrm>
        </p:spPr>
        <p:txBody>
          <a:bodyPr anchor="t">
            <a:normAutofit/>
          </a:bodyPr>
          <a:lstStyle>
            <a:lvl1pPr marL="0" indent="0">
              <a:buNone/>
              <a:defRPr sz="2400">
                <a:solidFill>
                  <a:schemeClr val="tx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879586F-0E80-4B87-99A0-AC67FF591324}" type="datetime1">
              <a:rPr lang="en-US" smtClean="0"/>
              <a:t>8/14/2024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FC2E40A-4446-4E2B-B9AD-16F559E28E02}" type="slidenum">
              <a:rPr lang="en-US" smtClean="0"/>
              <a:t>‹#›</a:t>
            </a:fld>
            <a:endParaRPr lang="en-US"/>
          </a:p>
        </p:txBody>
      </p:sp>
      <p:cxnSp>
        <p:nvCxnSpPr>
          <p:cNvPr id="7" name="Straight Connector 6"/>
          <p:cNvCxnSpPr/>
          <p:nvPr/>
        </p:nvCxnSpPr>
        <p:spPr>
          <a:xfrm>
            <a:off x="731520" y="4599432"/>
            <a:ext cx="7848600" cy="1588"/>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73352"/>
            <a:ext cx="4038600" cy="4718304"/>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48200" y="1673352"/>
            <a:ext cx="4038600" cy="4718304"/>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7411467-27C9-4EF3-A44B-DA78076DC202}" type="datetime1">
              <a:rPr lang="en-US" smtClean="0"/>
              <a:t>8/14/2024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FC2E40A-4446-4E2B-B9AD-16F559E28E02}"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457200" y="1676400"/>
            <a:ext cx="3931920" cy="639762"/>
          </a:xfrm>
          <a:noFill/>
          <a:ln>
            <a:noFill/>
          </a:ln>
          <a:effectLst/>
        </p:spPr>
        <p:style>
          <a:lnRef idx="3">
            <a:schemeClr val="lt1"/>
          </a:lnRef>
          <a:fillRef idx="1">
            <a:schemeClr val="accent2"/>
          </a:fillRef>
          <a:effectRef idx="1">
            <a:schemeClr val="accent2"/>
          </a:effectRef>
          <a:fontRef idx="none"/>
        </p:style>
        <p:txBody>
          <a:bodyPr anchor="ctr">
            <a:normAutofit/>
          </a:bodyPr>
          <a:lstStyle>
            <a:lvl1pPr marL="0" indent="0" algn="ctr">
              <a:buNone/>
              <a:defRPr sz="2000" b="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438400"/>
            <a:ext cx="3931920"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754880" y="1676400"/>
            <a:ext cx="3931920" cy="639762"/>
          </a:xfrm>
          <a:noFill/>
          <a:ln>
            <a:noFill/>
          </a:ln>
          <a:effectLst/>
        </p:spPr>
        <p:style>
          <a:lnRef idx="3">
            <a:schemeClr val="lt1"/>
          </a:lnRef>
          <a:fillRef idx="1">
            <a:schemeClr val="accent2"/>
          </a:fillRef>
          <a:effectRef idx="1">
            <a:schemeClr val="accent2"/>
          </a:effectRef>
          <a:fontRef idx="none"/>
        </p:style>
        <p:txBody>
          <a:bodyPr anchor="ctr">
            <a:normAutofit/>
          </a:bodyPr>
          <a:lstStyle>
            <a:lvl1pPr marL="0" indent="0" algn="ctr">
              <a:buNone/>
              <a:defRPr lang="en-US" sz="2000" b="0" kern="1200" dirty="0" smtClean="0">
                <a:solidFill>
                  <a:schemeClr val="tx2"/>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754880" y="2438400"/>
            <a:ext cx="3931920"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2AD91F66-80B8-4A19-B3B6-8291C1CA85B4}" type="datetime1">
              <a:rPr lang="en-US" smtClean="0"/>
              <a:t>8/14/2024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7FC2E40A-4446-4E2B-B9AD-16F559E28E02}" type="slidenum">
              <a:rPr lang="en-US" smtClean="0"/>
              <a:t>‹#›</a:t>
            </a:fld>
            <a:endParaRPr lang="en-US"/>
          </a:p>
        </p:txBody>
      </p:sp>
      <p:cxnSp>
        <p:nvCxnSpPr>
          <p:cNvPr id="11" name="Straight Connector 10"/>
          <p:cNvCxnSpPr/>
          <p:nvPr/>
        </p:nvCxnSpPr>
        <p:spPr>
          <a:xfrm rot="5400000">
            <a:off x="2217817" y="4045823"/>
            <a:ext cx="4709160" cy="794"/>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3E7606D0-D078-44A0-89CE-A2CEC3D33077}" type="datetime1">
              <a:rPr lang="en-US" smtClean="0"/>
              <a:t>8/14/2024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7FC2E40A-4446-4E2B-B9AD-16F559E28E02}"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768D3E4-BCCE-4F4E-9DEF-708980C29233}" type="datetime1">
              <a:rPr lang="en-US" smtClean="0"/>
              <a:t>8/14/2024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7FC2E40A-4446-4E2B-B9AD-16F559E28E02}"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792080"/>
            <a:ext cx="2139696" cy="1261872"/>
          </a:xfrm>
        </p:spPr>
        <p:txBody>
          <a:bodyPr anchor="b">
            <a:noAutofit/>
          </a:bodyPr>
          <a:lstStyle>
            <a:lvl1pPr algn="l">
              <a:defRPr sz="2400" b="0"/>
            </a:lvl1pPr>
          </a:lstStyle>
          <a:p>
            <a:r>
              <a:rPr lang="en-US"/>
              <a:t>Click to edit Master title style</a:t>
            </a:r>
            <a:endParaRPr lang="en-US" dirty="0"/>
          </a:p>
        </p:txBody>
      </p:sp>
      <p:sp>
        <p:nvSpPr>
          <p:cNvPr id="3" name="Content Placeholder 2"/>
          <p:cNvSpPr>
            <a:spLocks noGrp="1"/>
          </p:cNvSpPr>
          <p:nvPr>
            <p:ph idx="1"/>
          </p:nvPr>
        </p:nvSpPr>
        <p:spPr>
          <a:xfrm>
            <a:off x="2971800" y="792080"/>
            <a:ext cx="5715000" cy="557784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57201" y="2130552"/>
            <a:ext cx="2139696" cy="4243615"/>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AB8D7E03-6B66-491F-9181-D81578D55D63}" type="datetime1">
              <a:rPr lang="en-US" smtClean="0"/>
              <a:t>8/14/2024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FC2E40A-4446-4E2B-B9AD-16F559E28E02}" type="slidenum">
              <a:rPr lang="en-US" smtClean="0"/>
              <a:t>‹#›</a:t>
            </a:fld>
            <a:endParaRPr lang="en-US"/>
          </a:p>
        </p:txBody>
      </p:sp>
      <p:cxnSp>
        <p:nvCxnSpPr>
          <p:cNvPr id="9" name="Straight Connector 8"/>
          <p:cNvCxnSpPr/>
          <p:nvPr/>
        </p:nvCxnSpPr>
        <p:spPr>
          <a:xfrm rot="5400000">
            <a:off x="-13116" y="3580206"/>
            <a:ext cx="5577840" cy="1588"/>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792480"/>
            <a:ext cx="2142680" cy="1264920"/>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p:cNvSpPr>
          <p:nvPr>
            <p:ph type="pic" idx="1"/>
          </p:nvPr>
        </p:nvSpPr>
        <p:spPr>
          <a:xfrm>
            <a:off x="2858610" y="838201"/>
            <a:ext cx="5904390" cy="5500456"/>
          </a:xfrm>
          <a:solidFill>
            <a:schemeClr val="bg2"/>
          </a:solidFill>
          <a:ln w="76200">
            <a:solidFill>
              <a:srgbClr val="FFFFFF"/>
            </a:solidFill>
            <a:miter lim="800000"/>
          </a:ln>
          <a:effectLst>
            <a:outerShdw blurRad="50800" dist="12700" dir="5400000" algn="t" rotWithShape="0">
              <a:prstClr val="black">
                <a:alpha val="59000"/>
              </a:prstClr>
            </a:outerShdw>
          </a:effectLst>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457200" y="2133600"/>
            <a:ext cx="2139696" cy="4242816"/>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9A99FA1F-D7CC-4837-8992-E30AF8B71F8D}" type="datetime1">
              <a:rPr lang="en-US" smtClean="0"/>
              <a:t>8/14/2024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FC2E40A-4446-4E2B-B9AD-16F559E28E02}"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D90075E-631E-4B85-B7A9-78F4247B9156}" type="datetime1">
              <a:rPr lang="en-US" smtClean="0"/>
              <a:t>8/14/2024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FC2E40A-4446-4E2B-B9AD-16F559E28E02}"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609600"/>
            <a:ext cx="2057400" cy="5867400"/>
          </a:xfrm>
        </p:spPr>
        <p:txBody>
          <a:bodyPr vert="eaVert" anchor="b"/>
          <a:lstStyle/>
          <a:p>
            <a:r>
              <a:rPr lang="en-US"/>
              <a:t>Click to edit Master title style</a:t>
            </a:r>
            <a:endParaRPr lang="en-US" dirty="0"/>
          </a:p>
        </p:txBody>
      </p:sp>
      <p:sp>
        <p:nvSpPr>
          <p:cNvPr id="3" name="Vertical Text Placeholder 2"/>
          <p:cNvSpPr>
            <a:spLocks noGrp="1"/>
          </p:cNvSpPr>
          <p:nvPr>
            <p:ph type="body" orient="vert" idx="1"/>
          </p:nvPr>
        </p:nvSpPr>
        <p:spPr>
          <a:xfrm>
            <a:off x="457200" y="609600"/>
            <a:ext cx="6019800" cy="58674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39BF593-2376-4A79-8724-50302707B811}" type="datetime1">
              <a:rPr lang="en-US" smtClean="0"/>
              <a:t>8/14/2024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FC2E40A-4446-4E2B-B9AD-16F559E28E02}" type="slidenum">
              <a:rPr lang="en-US" smtClean="0"/>
              <a:t>‹#›</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25" name="Group 24"/>
          <p:cNvGrpSpPr/>
          <p:nvPr/>
        </p:nvGrpSpPr>
        <p:grpSpPr>
          <a:xfrm>
            <a:off x="203200" y="0"/>
            <a:ext cx="3778250" cy="6858001"/>
            <a:chOff x="203200" y="0"/>
            <a:chExt cx="3778250" cy="6858001"/>
          </a:xfrm>
        </p:grpSpPr>
        <p:sp>
          <p:nvSpPr>
            <p:cNvPr id="14" name="Freeform 6"/>
            <p:cNvSpPr/>
            <p:nvPr/>
          </p:nvSpPr>
          <p:spPr bwMode="auto">
            <a:xfrm>
              <a:off x="641350" y="0"/>
              <a:ext cx="1365250" cy="3971925"/>
            </a:xfrm>
            <a:custGeom>
              <a:avLst/>
              <a:gdLst/>
              <a:ahLst/>
              <a:cxnLst/>
              <a:rect l="0" t="0" r="r" b="b"/>
              <a:pathLst>
                <a:path w="860" h="2502">
                  <a:moveTo>
                    <a:pt x="0" y="2445"/>
                  </a:moveTo>
                  <a:lnTo>
                    <a:pt x="228" y="2502"/>
                  </a:lnTo>
                  <a:lnTo>
                    <a:pt x="860" y="0"/>
                  </a:lnTo>
                  <a:lnTo>
                    <a:pt x="620" y="0"/>
                  </a:lnTo>
                  <a:lnTo>
                    <a:pt x="0" y="2445"/>
                  </a:lnTo>
                  <a:close/>
                </a:path>
              </a:pathLst>
            </a:custGeom>
            <a:solidFill>
              <a:schemeClr val="accent1"/>
            </a:solidFill>
            <a:ln>
              <a:noFill/>
            </a:ln>
          </p:spPr>
        </p:sp>
        <p:sp>
          <p:nvSpPr>
            <p:cNvPr id="15" name="Freeform 7"/>
            <p:cNvSpPr/>
            <p:nvPr/>
          </p:nvSpPr>
          <p:spPr bwMode="auto">
            <a:xfrm>
              <a:off x="203200" y="0"/>
              <a:ext cx="1336675" cy="3862388"/>
            </a:xfrm>
            <a:custGeom>
              <a:avLst/>
              <a:gdLst/>
              <a:ahLst/>
              <a:cxnLst/>
              <a:rect l="0" t="0" r="r" b="b"/>
              <a:pathLst>
                <a:path w="842" h="2433">
                  <a:moveTo>
                    <a:pt x="842" y="0"/>
                  </a:moveTo>
                  <a:lnTo>
                    <a:pt x="602" y="0"/>
                  </a:lnTo>
                  <a:lnTo>
                    <a:pt x="0" y="2376"/>
                  </a:lnTo>
                  <a:lnTo>
                    <a:pt x="228" y="2433"/>
                  </a:lnTo>
                  <a:lnTo>
                    <a:pt x="842" y="0"/>
                  </a:lnTo>
                  <a:close/>
                </a:path>
              </a:pathLst>
            </a:custGeom>
            <a:solidFill>
              <a:schemeClr val="tx1">
                <a:lumMod val="65000"/>
                <a:lumOff val="35000"/>
              </a:schemeClr>
            </a:solidFill>
            <a:ln>
              <a:noFill/>
            </a:ln>
          </p:spPr>
        </p:sp>
        <p:sp>
          <p:nvSpPr>
            <p:cNvPr id="16" name="Freeform 8"/>
            <p:cNvSpPr/>
            <p:nvPr/>
          </p:nvSpPr>
          <p:spPr bwMode="auto">
            <a:xfrm>
              <a:off x="207963" y="3776663"/>
              <a:ext cx="1936750" cy="3081338"/>
            </a:xfrm>
            <a:custGeom>
              <a:avLst/>
              <a:gdLst/>
              <a:ahLst/>
              <a:cxnLst/>
              <a:rect l="0" t="0" r="r" b="b"/>
              <a:pathLst>
                <a:path w="1220" h="1941">
                  <a:moveTo>
                    <a:pt x="0" y="0"/>
                  </a:moveTo>
                  <a:lnTo>
                    <a:pt x="1166" y="1941"/>
                  </a:lnTo>
                  <a:lnTo>
                    <a:pt x="1220" y="1941"/>
                  </a:lnTo>
                  <a:lnTo>
                    <a:pt x="0" y="0"/>
                  </a:lnTo>
                  <a:close/>
                </a:path>
              </a:pathLst>
            </a:custGeom>
            <a:solidFill>
              <a:schemeClr val="tx1">
                <a:lumMod val="85000"/>
                <a:lumOff val="15000"/>
              </a:schemeClr>
            </a:solidFill>
            <a:ln>
              <a:noFill/>
            </a:ln>
          </p:spPr>
        </p:sp>
        <p:sp>
          <p:nvSpPr>
            <p:cNvPr id="20" name="Freeform 9"/>
            <p:cNvSpPr/>
            <p:nvPr/>
          </p:nvSpPr>
          <p:spPr bwMode="auto">
            <a:xfrm>
              <a:off x="646113" y="3886200"/>
              <a:ext cx="2373313" cy="2971800"/>
            </a:xfrm>
            <a:custGeom>
              <a:avLst/>
              <a:gdLst/>
              <a:ahLst/>
              <a:cxnLst/>
              <a:rect l="0" t="0" r="r" b="b"/>
              <a:pathLst>
                <a:path w="1495" h="1872">
                  <a:moveTo>
                    <a:pt x="1495" y="1872"/>
                  </a:moveTo>
                  <a:lnTo>
                    <a:pt x="0" y="0"/>
                  </a:lnTo>
                  <a:lnTo>
                    <a:pt x="1442" y="1872"/>
                  </a:lnTo>
                  <a:lnTo>
                    <a:pt x="1495" y="1872"/>
                  </a:lnTo>
                  <a:close/>
                </a:path>
              </a:pathLst>
            </a:custGeom>
            <a:solidFill>
              <a:schemeClr val="accent1">
                <a:lumMod val="50000"/>
              </a:schemeClr>
            </a:solidFill>
            <a:ln>
              <a:noFill/>
            </a:ln>
          </p:spPr>
        </p:sp>
        <p:sp>
          <p:nvSpPr>
            <p:cNvPr id="21" name="Freeform 10"/>
            <p:cNvSpPr/>
            <p:nvPr/>
          </p:nvSpPr>
          <p:spPr bwMode="auto">
            <a:xfrm>
              <a:off x="641350" y="3881438"/>
              <a:ext cx="3340100" cy="2976563"/>
            </a:xfrm>
            <a:custGeom>
              <a:avLst/>
              <a:gdLst/>
              <a:ahLst/>
              <a:cxnLst/>
              <a:rect l="0" t="0" r="r" b="b"/>
              <a:pathLst>
                <a:path w="2104" h="1875">
                  <a:moveTo>
                    <a:pt x="0" y="0"/>
                  </a:moveTo>
                  <a:lnTo>
                    <a:pt x="3" y="3"/>
                  </a:lnTo>
                  <a:lnTo>
                    <a:pt x="1498" y="1875"/>
                  </a:lnTo>
                  <a:lnTo>
                    <a:pt x="2104" y="1875"/>
                  </a:lnTo>
                  <a:lnTo>
                    <a:pt x="228" y="57"/>
                  </a:lnTo>
                  <a:lnTo>
                    <a:pt x="0" y="0"/>
                  </a:lnTo>
                  <a:close/>
                </a:path>
              </a:pathLst>
            </a:custGeom>
            <a:solidFill>
              <a:schemeClr val="accent1">
                <a:lumMod val="75000"/>
              </a:schemeClr>
            </a:solidFill>
            <a:ln>
              <a:noFill/>
            </a:ln>
          </p:spPr>
        </p:sp>
        <p:sp>
          <p:nvSpPr>
            <p:cNvPr id="22" name="Freeform 11"/>
            <p:cNvSpPr/>
            <p:nvPr/>
          </p:nvSpPr>
          <p:spPr bwMode="auto">
            <a:xfrm>
              <a:off x="203200" y="3771900"/>
              <a:ext cx="2660650" cy="3086100"/>
            </a:xfrm>
            <a:custGeom>
              <a:avLst/>
              <a:gdLst/>
              <a:ahLst/>
              <a:cxnLst/>
              <a:rect l="0" t="0" r="r" b="b"/>
              <a:pathLst>
                <a:path w="1676" h="1944">
                  <a:moveTo>
                    <a:pt x="1676" y="1944"/>
                  </a:moveTo>
                  <a:lnTo>
                    <a:pt x="264" y="111"/>
                  </a:lnTo>
                  <a:lnTo>
                    <a:pt x="225" y="60"/>
                  </a:lnTo>
                  <a:lnTo>
                    <a:pt x="228" y="60"/>
                  </a:lnTo>
                  <a:lnTo>
                    <a:pt x="264" y="111"/>
                  </a:lnTo>
                  <a:lnTo>
                    <a:pt x="234" y="69"/>
                  </a:lnTo>
                  <a:lnTo>
                    <a:pt x="228" y="57"/>
                  </a:lnTo>
                  <a:lnTo>
                    <a:pt x="222" y="54"/>
                  </a:lnTo>
                  <a:lnTo>
                    <a:pt x="0" y="0"/>
                  </a:lnTo>
                  <a:lnTo>
                    <a:pt x="3" y="3"/>
                  </a:lnTo>
                  <a:lnTo>
                    <a:pt x="1223" y="1944"/>
                  </a:lnTo>
                  <a:lnTo>
                    <a:pt x="1676" y="1944"/>
                  </a:lnTo>
                  <a:close/>
                </a:path>
              </a:pathLst>
            </a:custGeom>
            <a:solidFill>
              <a:schemeClr val="tx1">
                <a:lumMod val="75000"/>
                <a:lumOff val="25000"/>
              </a:schemeClr>
            </a:solidFill>
            <a:ln>
              <a:noFill/>
            </a:ln>
          </p:spPr>
        </p:sp>
      </p:grpSp>
      <p:sp>
        <p:nvSpPr>
          <p:cNvPr id="2" name="Title 1"/>
          <p:cNvSpPr>
            <a:spLocks noGrp="1"/>
          </p:cNvSpPr>
          <p:nvPr>
            <p:ph type="ctrTitle"/>
          </p:nvPr>
        </p:nvSpPr>
        <p:spPr>
          <a:xfrm>
            <a:off x="1739673" y="914401"/>
            <a:ext cx="6947127" cy="3488266"/>
          </a:xfrm>
        </p:spPr>
        <p:txBody>
          <a:bodyPr anchor="b">
            <a:normAutofit/>
          </a:bodyPr>
          <a:lstStyle>
            <a:lvl1pPr algn="r">
              <a:defRPr sz="5400">
                <a:effectLst/>
              </a:defRPr>
            </a:lvl1pPr>
          </a:lstStyle>
          <a:p>
            <a:r>
              <a:rPr lang="en-US"/>
              <a:t>Click to edit Master title style</a:t>
            </a:r>
            <a:endParaRPr lang="en-US" dirty="0"/>
          </a:p>
        </p:txBody>
      </p:sp>
      <p:sp>
        <p:nvSpPr>
          <p:cNvPr id="3" name="Subtitle 2"/>
          <p:cNvSpPr>
            <a:spLocks noGrp="1"/>
          </p:cNvSpPr>
          <p:nvPr>
            <p:ph type="subTitle" idx="1"/>
          </p:nvPr>
        </p:nvSpPr>
        <p:spPr>
          <a:xfrm>
            <a:off x="2924238" y="4402666"/>
            <a:ext cx="5762563" cy="1364531"/>
          </a:xfrm>
        </p:spPr>
        <p:txBody>
          <a:bodyPr anchor="t">
            <a:normAutofit/>
          </a:bodyPr>
          <a:lstStyle>
            <a:lvl1pPr marL="0" indent="0" algn="r">
              <a:buNone/>
              <a:defRPr sz="18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7325773" y="6117336"/>
            <a:ext cx="857473" cy="365125"/>
          </a:xfrm>
        </p:spPr>
        <p:txBody>
          <a:bodyPr/>
          <a:lstStyle/>
          <a:p>
            <a:fld id="{9BC887E4-74DD-469A-BB68-5D653A4964D8}" type="datetime1">
              <a:rPr lang="en-US" smtClean="0"/>
              <a:t>8/14/2024</a:t>
            </a:fld>
            <a:endParaRPr lang="en-US"/>
          </a:p>
        </p:txBody>
      </p:sp>
      <p:sp>
        <p:nvSpPr>
          <p:cNvPr id="5" name="Footer Placeholder 4"/>
          <p:cNvSpPr>
            <a:spLocks noGrp="1"/>
          </p:cNvSpPr>
          <p:nvPr>
            <p:ph type="ftr" sz="quarter" idx="11"/>
          </p:nvPr>
        </p:nvSpPr>
        <p:spPr>
          <a:xfrm>
            <a:off x="3623733" y="6117336"/>
            <a:ext cx="3609438" cy="365125"/>
          </a:xfrm>
        </p:spPr>
        <p:txBody>
          <a:bodyPr/>
          <a:lstStyle/>
          <a:p>
            <a:endParaRPr lang="en-US"/>
          </a:p>
        </p:txBody>
      </p:sp>
      <p:sp>
        <p:nvSpPr>
          <p:cNvPr id="6" name="Slide Number Placeholder 5"/>
          <p:cNvSpPr>
            <a:spLocks noGrp="1"/>
          </p:cNvSpPr>
          <p:nvPr>
            <p:ph type="sldNum" sz="quarter" idx="12"/>
          </p:nvPr>
        </p:nvSpPr>
        <p:spPr>
          <a:xfrm>
            <a:off x="8275320" y="6117336"/>
            <a:ext cx="411480" cy="365125"/>
          </a:xfrm>
        </p:spPr>
        <p:txBody>
          <a:bodyPr/>
          <a:lstStyle/>
          <a:p>
            <a:fld id="{7FC2E40A-4446-4E2B-B9AD-16F559E28E02}" type="slidenum">
              <a:rPr lang="en-US" smtClean="0"/>
              <a:t>‹#›</a:t>
            </a:fld>
            <a:endParaRPr lang="en-US"/>
          </a:p>
        </p:txBody>
      </p:sp>
      <p:sp>
        <p:nvSpPr>
          <p:cNvPr id="23" name="Freeform 12"/>
          <p:cNvSpPr/>
          <p:nvPr/>
        </p:nvSpPr>
        <p:spPr bwMode="auto">
          <a:xfrm>
            <a:off x="203200" y="3771900"/>
            <a:ext cx="361950" cy="90488"/>
          </a:xfrm>
          <a:custGeom>
            <a:avLst/>
            <a:gdLst/>
            <a:ahLst/>
            <a:cxnLst/>
            <a:rect l="0" t="0" r="r" b="b"/>
            <a:pathLst>
              <a:path w="228" h="57">
                <a:moveTo>
                  <a:pt x="228" y="57"/>
                </a:moveTo>
                <a:lnTo>
                  <a:pt x="0" y="0"/>
                </a:lnTo>
                <a:lnTo>
                  <a:pt x="222" y="54"/>
                </a:lnTo>
                <a:lnTo>
                  <a:pt x="228" y="57"/>
                </a:lnTo>
                <a:close/>
              </a:path>
            </a:pathLst>
          </a:custGeom>
          <a:solidFill>
            <a:srgbClr val="29ABE2"/>
          </a:solidFill>
          <a:ln>
            <a:noFill/>
          </a:ln>
          <a:extLst>
            <a:ext uri="{91240B29-F687-4f45-9708-019B960494DF}">
              <a14:hiddenLine xmlns="" xmlns:a14="http://schemas.microsoft.com/office/drawing/2010/main" w="9525">
                <a:solidFill>
                  <a:srgbClr val="000000"/>
                </a:solidFill>
                <a:round/>
                <a:headEnd/>
                <a:tailEnd/>
              </a14:hiddenLine>
            </a:ext>
          </a:extLst>
        </p:spPr>
      </p:sp>
      <p:sp>
        <p:nvSpPr>
          <p:cNvPr id="24" name="Freeform 13"/>
          <p:cNvSpPr/>
          <p:nvPr/>
        </p:nvSpPr>
        <p:spPr bwMode="auto">
          <a:xfrm>
            <a:off x="560388" y="3867150"/>
            <a:ext cx="61913" cy="80963"/>
          </a:xfrm>
          <a:custGeom>
            <a:avLst/>
            <a:gdLst/>
            <a:ahLst/>
            <a:cxnLst/>
            <a:rect l="0" t="0" r="r" b="b"/>
            <a:pathLst>
              <a:path w="39" h="51">
                <a:moveTo>
                  <a:pt x="0" y="0"/>
                </a:moveTo>
                <a:lnTo>
                  <a:pt x="39" y="51"/>
                </a:lnTo>
                <a:lnTo>
                  <a:pt x="3" y="0"/>
                </a:lnTo>
                <a:lnTo>
                  <a:pt x="0" y="0"/>
                </a:lnTo>
                <a:close/>
              </a:path>
            </a:pathLst>
          </a:custGeom>
          <a:solidFill>
            <a:srgbClr val="29ABE2"/>
          </a:solidFill>
          <a:ln>
            <a:noFill/>
          </a:ln>
          <a:extLst>
            <a:ext uri="{91240B29-F687-4f45-9708-019B960494DF}">
              <a14:hiddenLine xmlns="" xmlns:a14="http://schemas.microsoft.com/office/drawing/2010/main" w="9525">
                <a:solidFill>
                  <a:srgbClr val="000000"/>
                </a:solidFill>
                <a:round/>
                <a:headEnd/>
                <a:tailEnd/>
              </a14:hiddenLine>
            </a:ext>
          </a:extLst>
        </p:spPr>
      </p:sp>
    </p:spTree>
    <p:extLst>
      <p:ext uri="{BB962C8B-B14F-4D97-AF65-F5344CB8AC3E}">
        <p14:creationId xmlns:p14="http://schemas.microsoft.com/office/powerpoint/2010/main" val="328199123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982133" y="457201"/>
            <a:ext cx="7704667" cy="1981200"/>
          </a:xfrm>
        </p:spPr>
        <p:txBody>
          <a:bodyPr/>
          <a:lstStyle/>
          <a:p>
            <a:r>
              <a:rPr lang="en-US"/>
              <a:t>Click to edit Master title style</a:t>
            </a:r>
            <a:endParaRPr lang="en-US" dirty="0"/>
          </a:p>
        </p:txBody>
      </p:sp>
      <p:sp>
        <p:nvSpPr>
          <p:cNvPr id="3" name="Content Placeholder 2"/>
          <p:cNvSpPr>
            <a:spLocks noGrp="1"/>
          </p:cNvSpPr>
          <p:nvPr>
            <p:ph idx="1"/>
          </p:nvPr>
        </p:nvSpPr>
        <p:spPr>
          <a:xfrm>
            <a:off x="982133" y="2667000"/>
            <a:ext cx="7704667" cy="3332816"/>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7344329" y="6108173"/>
            <a:ext cx="857473" cy="365125"/>
          </a:xfrm>
        </p:spPr>
        <p:txBody>
          <a:bodyPr/>
          <a:lstStyle/>
          <a:p>
            <a:fld id="{62708018-F7F3-4C2F-8E03-D84A23E63DCE}" type="datetime1">
              <a:rPr lang="en-US" smtClean="0"/>
              <a:t>8/14/2024</a:t>
            </a:fld>
            <a:endParaRPr lang="en-US"/>
          </a:p>
        </p:txBody>
      </p:sp>
      <p:sp>
        <p:nvSpPr>
          <p:cNvPr id="5" name="Footer Placeholder 4"/>
          <p:cNvSpPr>
            <a:spLocks noGrp="1"/>
          </p:cNvSpPr>
          <p:nvPr>
            <p:ph type="ftr" sz="quarter" idx="11"/>
          </p:nvPr>
        </p:nvSpPr>
        <p:spPr>
          <a:xfrm>
            <a:off x="1972647" y="6108173"/>
            <a:ext cx="5314517" cy="365125"/>
          </a:xfrm>
        </p:spPr>
        <p:txBody>
          <a:bodyPr/>
          <a:lstStyle/>
          <a:p>
            <a:endParaRPr lang="en-US"/>
          </a:p>
        </p:txBody>
      </p:sp>
      <p:sp>
        <p:nvSpPr>
          <p:cNvPr id="6" name="Slide Number Placeholder 5"/>
          <p:cNvSpPr>
            <a:spLocks noGrp="1"/>
          </p:cNvSpPr>
          <p:nvPr>
            <p:ph type="sldNum" sz="quarter" idx="12"/>
          </p:nvPr>
        </p:nvSpPr>
        <p:spPr>
          <a:xfrm>
            <a:off x="8258967" y="6108173"/>
            <a:ext cx="427833" cy="365125"/>
          </a:xfrm>
        </p:spPr>
        <p:txBody>
          <a:bodyPr/>
          <a:lstStyle/>
          <a:p>
            <a:fld id="{7FC2E40A-4446-4E2B-B9AD-16F559E28E02}" type="slidenum">
              <a:rPr lang="en-US" smtClean="0"/>
              <a:t>‹#›</a:t>
            </a:fld>
            <a:endParaRPr lang="en-US"/>
          </a:p>
        </p:txBody>
      </p:sp>
    </p:spTree>
    <p:extLst>
      <p:ext uri="{BB962C8B-B14F-4D97-AF65-F5344CB8AC3E}">
        <p14:creationId xmlns:p14="http://schemas.microsoft.com/office/powerpoint/2010/main" val="131715494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986995" y="2666998"/>
            <a:ext cx="6699805" cy="2360071"/>
          </a:xfrm>
        </p:spPr>
        <p:txBody>
          <a:bodyPr anchor="b"/>
          <a:lstStyle>
            <a:lvl1pPr algn="r">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986998" y="5027070"/>
            <a:ext cx="6699802" cy="860400"/>
          </a:xfrm>
        </p:spPr>
        <p:txBody>
          <a:bodyPr anchor="t">
            <a:normAutofit/>
          </a:bodyPr>
          <a:lstStyle>
            <a:lvl1pPr marL="0" indent="0" algn="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0F7FD5E-E5D1-419C-9E8E-06AFAA2EACFB}" type="datetime1">
              <a:rPr lang="en-US" smtClean="0"/>
              <a:t>8/14/2024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8273317" y="6116070"/>
            <a:ext cx="413483" cy="365125"/>
          </a:xfrm>
        </p:spPr>
        <p:txBody>
          <a:bodyPr/>
          <a:lstStyle/>
          <a:p>
            <a:fld id="{7FC2E40A-4446-4E2B-B9AD-16F559E28E02}" type="slidenum">
              <a:rPr lang="en-US" smtClean="0"/>
              <a:t>‹#›</a:t>
            </a:fld>
            <a:endParaRPr lang="en-US"/>
          </a:p>
        </p:txBody>
      </p:sp>
    </p:spTree>
    <p:extLst>
      <p:ext uri="{BB962C8B-B14F-4D97-AF65-F5344CB8AC3E}">
        <p14:creationId xmlns:p14="http://schemas.microsoft.com/office/powerpoint/2010/main" val="112858943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982133" y="685801"/>
            <a:ext cx="7704667" cy="1752599"/>
          </a:xfrm>
        </p:spPr>
        <p:txBody>
          <a:bodyPr/>
          <a:lstStyle/>
          <a:p>
            <a:r>
              <a:rPr lang="en-US"/>
              <a:t>Click to edit Master title style</a:t>
            </a:r>
            <a:endParaRPr lang="en-US" dirty="0"/>
          </a:p>
        </p:txBody>
      </p:sp>
      <p:sp>
        <p:nvSpPr>
          <p:cNvPr id="3" name="Content Placeholder 2"/>
          <p:cNvSpPr>
            <a:spLocks noGrp="1"/>
          </p:cNvSpPr>
          <p:nvPr>
            <p:ph sz="half" idx="1"/>
          </p:nvPr>
        </p:nvSpPr>
        <p:spPr>
          <a:xfrm>
            <a:off x="982133" y="2667000"/>
            <a:ext cx="3739896" cy="3368674"/>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946904" y="2667000"/>
            <a:ext cx="3739896" cy="3346824"/>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CB3035D-0264-439F-9B8B-A3046626387F}" type="datetime1">
              <a:rPr lang="en-US" smtClean="0"/>
              <a:t>8/14/2024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FC2E40A-4446-4E2B-B9AD-16F559E28E02}" type="slidenum">
              <a:rPr lang="en-US" smtClean="0"/>
              <a:t>‹#›</a:t>
            </a:fld>
            <a:endParaRPr lang="en-US"/>
          </a:p>
        </p:txBody>
      </p:sp>
    </p:spTree>
    <p:extLst>
      <p:ext uri="{BB962C8B-B14F-4D97-AF65-F5344CB8AC3E}">
        <p14:creationId xmlns:p14="http://schemas.microsoft.com/office/powerpoint/2010/main" val="71204663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329481" y="2658533"/>
            <a:ext cx="3456291" cy="576262"/>
          </a:xfrm>
        </p:spPr>
        <p:txBody>
          <a:bodyPr anchor="b">
            <a:noAutofit/>
          </a:bodyPr>
          <a:lstStyle>
            <a:lvl1pPr marL="0" indent="0">
              <a:buNone/>
              <a:defRPr sz="2800" b="0">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113523" y="3335336"/>
            <a:ext cx="3672248" cy="2665259"/>
          </a:xfrm>
        </p:spPr>
        <p:txBody>
          <a:bodyPr anchor="t">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161710" y="2667000"/>
            <a:ext cx="3467806" cy="576262"/>
          </a:xfrm>
        </p:spPr>
        <p:txBody>
          <a:bodyPr anchor="b">
            <a:noAutofit/>
          </a:bodyPr>
          <a:lstStyle>
            <a:lvl1pPr marL="0" indent="0">
              <a:buNone/>
              <a:defRPr sz="2800" b="0">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957266" y="3335336"/>
            <a:ext cx="3672248" cy="2665259"/>
          </a:xfrm>
        </p:spPr>
        <p:txBody>
          <a:bodyPr anchor="t">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62C60FB1-91E5-4533-BA34-31E451504F76}" type="datetime1">
              <a:rPr lang="en-US" smtClean="0"/>
              <a:t>8/14/2024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7FC2E40A-4446-4E2B-B9AD-16F559E28E02}" type="slidenum">
              <a:rPr lang="en-US" smtClean="0"/>
              <a:t>‹#›</a:t>
            </a:fld>
            <a:endParaRPr lang="en-US"/>
          </a:p>
        </p:txBody>
      </p:sp>
    </p:spTree>
    <p:extLst>
      <p:ext uri="{BB962C8B-B14F-4D97-AF65-F5344CB8AC3E}">
        <p14:creationId xmlns:p14="http://schemas.microsoft.com/office/powerpoint/2010/main" val="166340686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5BE82B9-7741-4AF2-AA70-134028B877B9}" type="datetime1">
              <a:rPr lang="en-US" smtClean="0"/>
              <a:t>8/14/2024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7FC2E40A-4446-4E2B-B9AD-16F559E28E02}" type="slidenum">
              <a:rPr lang="en-US" smtClean="0"/>
              <a:t>‹#›</a:t>
            </a:fld>
            <a:endParaRPr lang="en-US"/>
          </a:p>
        </p:txBody>
      </p:sp>
    </p:spTree>
    <p:extLst>
      <p:ext uri="{BB962C8B-B14F-4D97-AF65-F5344CB8AC3E}">
        <p14:creationId xmlns:p14="http://schemas.microsoft.com/office/powerpoint/2010/main" val="293092195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540CC08-3CB7-4BD3-9E7C-E18358FFE96C}" type="datetime1">
              <a:rPr lang="en-US" smtClean="0"/>
              <a:t>8/14/2024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7FC2E40A-4446-4E2B-B9AD-16F559E28E02}" type="slidenum">
              <a:rPr lang="en-US" smtClean="0"/>
              <a:t>‹#›</a:t>
            </a:fld>
            <a:endParaRPr lang="en-US"/>
          </a:p>
        </p:txBody>
      </p:sp>
    </p:spTree>
    <p:extLst>
      <p:ext uri="{BB962C8B-B14F-4D97-AF65-F5344CB8AC3E}">
        <p14:creationId xmlns:p14="http://schemas.microsoft.com/office/powerpoint/2010/main" val="347816881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13524" y="1600200"/>
            <a:ext cx="2662534" cy="1371600"/>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3947553" y="685800"/>
            <a:ext cx="4681962" cy="5105401"/>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13524" y="2971800"/>
            <a:ext cx="2662534" cy="1828800"/>
          </a:xfrm>
        </p:spPr>
        <p:txBody>
          <a:bodyPr>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6A3536C4-DE95-4406-A21D-864D3C70B6E8}" type="datetime1">
              <a:rPr lang="en-US" smtClean="0"/>
              <a:t>8/14/2024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FC2E40A-4446-4E2B-B9AD-16F559E28E02}" type="slidenum">
              <a:rPr lang="en-US" smtClean="0"/>
              <a:t>‹#›</a:t>
            </a:fld>
            <a:endParaRPr lang="en-US"/>
          </a:p>
        </p:txBody>
      </p:sp>
    </p:spTree>
    <p:extLst>
      <p:ext uri="{BB962C8B-B14F-4D97-AF65-F5344CB8AC3E}">
        <p14:creationId xmlns:p14="http://schemas.microsoft.com/office/powerpoint/2010/main" val="82960922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12332" y="1752599"/>
            <a:ext cx="4070679" cy="1371600"/>
          </a:xfrm>
        </p:spPr>
        <p:txBody>
          <a:bodyPr anchor="b">
            <a:normAutofit/>
          </a:bodyPr>
          <a:lstStyle>
            <a:lvl1pPr algn="ctr">
              <a:defRPr sz="2800" b="0"/>
            </a:lvl1pPr>
          </a:lstStyle>
          <a:p>
            <a:r>
              <a:rPr lang="en-US"/>
              <a:t>Click to edit Master title style</a:t>
            </a:r>
            <a:endParaRPr lang="en-US" dirty="0"/>
          </a:p>
        </p:txBody>
      </p:sp>
      <p:sp>
        <p:nvSpPr>
          <p:cNvPr id="14" name="Picture Placeholder 2"/>
          <p:cNvSpPr>
            <a:spLocks noGrp="1" noChangeAspect="1"/>
          </p:cNvSpPr>
          <p:nvPr>
            <p:ph type="pic" idx="1"/>
          </p:nvPr>
        </p:nvSpPr>
        <p:spPr>
          <a:xfrm>
            <a:off x="5697495" y="914400"/>
            <a:ext cx="2461371" cy="4572000"/>
          </a:xfrm>
          <a:prstGeom prst="roundRect">
            <a:avLst>
              <a:gd name="adj" fmla="val 42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112332" y="3124199"/>
            <a:ext cx="4070679" cy="1828800"/>
          </a:xfrm>
        </p:spPr>
        <p:txBody>
          <a:bodyPr>
            <a:normAutofit/>
          </a:bodyPr>
          <a:lstStyle>
            <a:lvl1pPr marL="0" indent="0" algn="ctr">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AE85CCF0-6175-4FE0-A492-6D78E2842D5F}" type="datetime1">
              <a:rPr lang="en-US" smtClean="0"/>
              <a:t>8/14/2024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FC2E40A-4446-4E2B-B9AD-16F559E28E02}" type="slidenum">
              <a:rPr lang="en-US" smtClean="0"/>
              <a:t>‹#›</a:t>
            </a:fld>
            <a:endParaRPr lang="en-US"/>
          </a:p>
        </p:txBody>
      </p:sp>
    </p:spTree>
    <p:extLst>
      <p:ext uri="{BB962C8B-B14F-4D97-AF65-F5344CB8AC3E}">
        <p14:creationId xmlns:p14="http://schemas.microsoft.com/office/powerpoint/2010/main" val="84772722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13523" y="4732865"/>
            <a:ext cx="7515991" cy="566738"/>
          </a:xfrm>
        </p:spPr>
        <p:txBody>
          <a:bodyPr anchor="b">
            <a:normAutofit/>
          </a:bodyPr>
          <a:lstStyle>
            <a:lvl1pPr algn="ctr">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789975" y="932112"/>
            <a:ext cx="6171065" cy="3164976"/>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113523" y="5299603"/>
            <a:ext cx="7515991" cy="493712"/>
          </a:xfrm>
        </p:spPr>
        <p:txBody>
          <a:bodyPr>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693EC261-6863-4192-A663-459CB6E10DFC}" type="datetime1">
              <a:rPr lang="en-US" smtClean="0"/>
              <a:t>8/14/2024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FC2E40A-4446-4E2B-B9AD-16F559E28E02}" type="slidenum">
              <a:rPr lang="en-US" smtClean="0"/>
              <a:t>‹#›</a:t>
            </a:fld>
            <a:endParaRPr lang="en-US"/>
          </a:p>
        </p:txBody>
      </p:sp>
    </p:spTree>
    <p:extLst>
      <p:ext uri="{BB962C8B-B14F-4D97-AF65-F5344CB8AC3E}">
        <p14:creationId xmlns:p14="http://schemas.microsoft.com/office/powerpoint/2010/main" val="314364838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13524" y="685800"/>
            <a:ext cx="7515991" cy="3048000"/>
          </a:xfrm>
        </p:spPr>
        <p:txBody>
          <a:bodyPr anchor="ctr">
            <a:normAutofit/>
          </a:bodyPr>
          <a:lstStyle>
            <a:lvl1pPr algn="ctr">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1113524" y="4343400"/>
            <a:ext cx="7515992" cy="1447800"/>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D3C54E06-EA5A-4665-A543-E2AB76215404}" type="datetime1">
              <a:rPr lang="en-US" smtClean="0"/>
              <a:t>8/14/2024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FC2E40A-4446-4E2B-B9AD-16F559E28E02}" type="slidenum">
              <a:rPr lang="en-US" smtClean="0"/>
              <a:t>‹#›</a:t>
            </a:fld>
            <a:endParaRPr lang="en-US"/>
          </a:p>
        </p:txBody>
      </p:sp>
    </p:spTree>
    <p:extLst>
      <p:ext uri="{BB962C8B-B14F-4D97-AF65-F5344CB8AC3E}">
        <p14:creationId xmlns:p14="http://schemas.microsoft.com/office/powerpoint/2010/main" val="1011251116"/>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14" name="TextBox 13"/>
          <p:cNvSpPr txBox="1"/>
          <p:nvPr/>
        </p:nvSpPr>
        <p:spPr>
          <a:xfrm>
            <a:off x="969421" y="863023"/>
            <a:ext cx="457319"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5" name="TextBox 14"/>
          <p:cNvSpPr txBox="1"/>
          <p:nvPr/>
        </p:nvSpPr>
        <p:spPr>
          <a:xfrm>
            <a:off x="8172197" y="2819399"/>
            <a:ext cx="457319"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2" name="Title 1"/>
          <p:cNvSpPr>
            <a:spLocks noGrp="1"/>
          </p:cNvSpPr>
          <p:nvPr>
            <p:ph type="title"/>
          </p:nvPr>
        </p:nvSpPr>
        <p:spPr>
          <a:xfrm>
            <a:off x="1426741" y="685801"/>
            <a:ext cx="6974115" cy="2743199"/>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1598235" y="3428999"/>
            <a:ext cx="6631128" cy="381000"/>
          </a:xfrm>
        </p:spPr>
        <p:txBody>
          <a:bodyPr anchor="ctr">
            <a:normAutofit/>
          </a:bodyPr>
          <a:lstStyle>
            <a:lvl1pPr marL="0" indent="0">
              <a:buFontTx/>
              <a:buNone/>
              <a:defRPr sz="18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1113523" y="4343400"/>
            <a:ext cx="7515991" cy="1447800"/>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B536A75-F382-4826-A01C-81EB10C62E9C}" type="datetime1">
              <a:rPr lang="en-US" smtClean="0"/>
              <a:t>8/14/2024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FC2E40A-4446-4E2B-B9AD-16F559E28E02}" type="slidenum">
              <a:rPr lang="en-US" smtClean="0"/>
              <a:t>‹#›</a:t>
            </a:fld>
            <a:endParaRPr lang="en-US"/>
          </a:p>
        </p:txBody>
      </p:sp>
    </p:spTree>
    <p:extLst>
      <p:ext uri="{BB962C8B-B14F-4D97-AF65-F5344CB8AC3E}">
        <p14:creationId xmlns:p14="http://schemas.microsoft.com/office/powerpoint/2010/main" val="75694889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13525" y="3308581"/>
            <a:ext cx="7515989" cy="1468800"/>
          </a:xfrm>
        </p:spPr>
        <p:txBody>
          <a:bodyPr anchor="b">
            <a:normAutofit/>
          </a:bodyPr>
          <a:lstStyle>
            <a:lvl1pPr algn="r">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1113524" y="4777381"/>
            <a:ext cx="7515990" cy="860400"/>
          </a:xfrm>
        </p:spPr>
        <p:txBody>
          <a:bodyPr anchor="t">
            <a:normAutofit/>
          </a:bodyPr>
          <a:lstStyle>
            <a:lvl1pPr marL="0" indent="0" algn="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D9755AF2-B59B-4622-8846-E82064C8BD0D}" type="datetime1">
              <a:rPr lang="en-US" smtClean="0"/>
              <a:t>8/14/2024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FC2E40A-4446-4E2B-B9AD-16F559E28E02}" type="slidenum">
              <a:rPr lang="en-US" smtClean="0"/>
              <a:t>‹#›</a:t>
            </a:fld>
            <a:endParaRPr lang="en-US"/>
          </a:p>
        </p:txBody>
      </p:sp>
    </p:spTree>
    <p:extLst>
      <p:ext uri="{BB962C8B-B14F-4D97-AF65-F5344CB8AC3E}">
        <p14:creationId xmlns:p14="http://schemas.microsoft.com/office/powerpoint/2010/main" val="80836265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4" name="TextBox 13"/>
          <p:cNvSpPr txBox="1"/>
          <p:nvPr/>
        </p:nvSpPr>
        <p:spPr>
          <a:xfrm>
            <a:off x="969421" y="863023"/>
            <a:ext cx="457319"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5" name="TextBox 14"/>
          <p:cNvSpPr txBox="1"/>
          <p:nvPr/>
        </p:nvSpPr>
        <p:spPr>
          <a:xfrm>
            <a:off x="8172197" y="2819399"/>
            <a:ext cx="457319"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2" name="Title 1"/>
          <p:cNvSpPr>
            <a:spLocks noGrp="1"/>
          </p:cNvSpPr>
          <p:nvPr>
            <p:ph type="title"/>
          </p:nvPr>
        </p:nvSpPr>
        <p:spPr>
          <a:xfrm>
            <a:off x="1426741" y="685801"/>
            <a:ext cx="6974115" cy="2743199"/>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1113525" y="3886200"/>
            <a:ext cx="7515990" cy="889000"/>
          </a:xfrm>
        </p:spPr>
        <p:txBody>
          <a:bodyPr vert="horz" lIns="91440" tIns="45720" rIns="91440" bIns="45720" rtlCol="0" anchor="b">
            <a:normAutofit/>
          </a:bodyPr>
          <a:lstStyle>
            <a:lvl1pPr algn="r">
              <a:buNone/>
              <a:defRPr lang="en-US" sz="2400" b="0" cap="none" dirty="0">
                <a:ln w="3175" cmpd="sng">
                  <a:noFill/>
                </a:ln>
                <a:solidFill>
                  <a:schemeClr val="tx1"/>
                </a:solidFill>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1113524" y="4775200"/>
            <a:ext cx="7515990" cy="1016000"/>
          </a:xfrm>
        </p:spPr>
        <p:txBody>
          <a:bodyPr anchor="t">
            <a:normAutofit/>
          </a:bodyPr>
          <a:lstStyle>
            <a:lvl1pPr marL="0" indent="0" algn="r">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6555CE1-366E-4233-AF71-00754A578A3F}" type="datetime1">
              <a:rPr lang="en-US" smtClean="0"/>
              <a:t>8/14/2024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FC2E40A-4446-4E2B-B9AD-16F559E28E02}" type="slidenum">
              <a:rPr lang="en-US" smtClean="0"/>
              <a:t>‹#›</a:t>
            </a:fld>
            <a:endParaRPr lang="en-US"/>
          </a:p>
        </p:txBody>
      </p:sp>
    </p:spTree>
    <p:extLst>
      <p:ext uri="{BB962C8B-B14F-4D97-AF65-F5344CB8AC3E}">
        <p14:creationId xmlns:p14="http://schemas.microsoft.com/office/powerpoint/2010/main" val="250740285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1113525" y="685801"/>
            <a:ext cx="7515991" cy="2727325"/>
          </a:xfrm>
        </p:spPr>
        <p:txBody>
          <a:bodyPr vert="horz" lIns="91440" tIns="45720" rIns="91440" bIns="45720" rtlCol="0" anchor="ctr">
            <a:normAutofit/>
          </a:bodyPr>
          <a:lstStyle>
            <a:lvl1pPr>
              <a:defRPr lang="en-US" b="0" dirty="0"/>
            </a:lvl1pPr>
          </a:lstStyle>
          <a:p>
            <a:pPr marL="0" lvl="0"/>
            <a:r>
              <a:rPr lang="en-US"/>
              <a:t>Click to edit Master title style</a:t>
            </a:r>
            <a:endParaRPr lang="en-US" dirty="0"/>
          </a:p>
        </p:txBody>
      </p:sp>
      <p:sp>
        <p:nvSpPr>
          <p:cNvPr id="10" name="Text Placeholder 9"/>
          <p:cNvSpPr>
            <a:spLocks noGrp="1"/>
          </p:cNvSpPr>
          <p:nvPr>
            <p:ph type="body" sz="quarter" idx="13"/>
          </p:nvPr>
        </p:nvSpPr>
        <p:spPr>
          <a:xfrm>
            <a:off x="1113524" y="3505200"/>
            <a:ext cx="7515992" cy="838200"/>
          </a:xfrm>
        </p:spPr>
        <p:txBody>
          <a:bodyPr vert="horz" lIns="91440" tIns="45720" rIns="91440" bIns="45720" rtlCol="0" anchor="b">
            <a:normAutofit/>
          </a:bodyPr>
          <a:lstStyle>
            <a:lvl1pPr>
              <a:buNone/>
              <a:defRPr lang="en-US" sz="2800" b="0" cap="none" dirty="0">
                <a:ln w="3175" cmpd="sng">
                  <a:noFill/>
                </a:ln>
                <a:solidFill>
                  <a:schemeClr val="tx1"/>
                </a:solidFill>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1113524" y="4343400"/>
            <a:ext cx="7515992" cy="14478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5131A79-D5E8-482F-995E-BA8BE9225100}" type="datetime1">
              <a:rPr lang="en-US" smtClean="0"/>
              <a:t>8/14/2024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FC2E40A-4446-4E2B-B9AD-16F559E28E02}" type="slidenum">
              <a:rPr lang="en-US" smtClean="0"/>
              <a:t>‹#›</a:t>
            </a:fld>
            <a:endParaRPr lang="en-US"/>
          </a:p>
        </p:txBody>
      </p:sp>
    </p:spTree>
    <p:extLst>
      <p:ext uri="{BB962C8B-B14F-4D97-AF65-F5344CB8AC3E}">
        <p14:creationId xmlns:p14="http://schemas.microsoft.com/office/powerpoint/2010/main" val="3218348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ctr">
              <a:defRPr/>
            </a:lvl1p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32616B-815C-48D7-8254-CE6F277D8EE1}" type="datetime1">
              <a:rPr lang="en-US" smtClean="0"/>
              <a:t>8/14/2024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FC2E40A-4446-4E2B-B9AD-16F559E28E02}" type="slidenum">
              <a:rPr lang="en-US" smtClean="0"/>
              <a:t>‹#›</a:t>
            </a:fld>
            <a:endParaRPr lang="en-US"/>
          </a:p>
        </p:txBody>
      </p:sp>
    </p:spTree>
    <p:extLst>
      <p:ext uri="{BB962C8B-B14F-4D97-AF65-F5344CB8AC3E}">
        <p14:creationId xmlns:p14="http://schemas.microsoft.com/office/powerpoint/2010/main" val="524314103"/>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301393" y="685800"/>
            <a:ext cx="1328123" cy="51054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13524" y="685800"/>
            <a:ext cx="6016373" cy="5105400"/>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F733968-3591-4F01-AE5E-B07C1F3365BA}" type="datetime1">
              <a:rPr lang="en-US" smtClean="0"/>
              <a:t>8/14/2024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FC2E40A-4446-4E2B-B9AD-16F559E28E02}" type="slidenum">
              <a:rPr lang="en-US" smtClean="0"/>
              <a:t>‹#›</a:t>
            </a:fld>
            <a:endParaRPr lang="en-US"/>
          </a:p>
        </p:txBody>
      </p:sp>
    </p:spTree>
    <p:extLst>
      <p:ext uri="{BB962C8B-B14F-4D97-AF65-F5344CB8AC3E}">
        <p14:creationId xmlns:p14="http://schemas.microsoft.com/office/powerpoint/2010/main" val="339326969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18" Type="http://schemas.openxmlformats.org/officeDocument/2006/relationships/theme" Target="../theme/theme2.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17" Type="http://schemas.openxmlformats.org/officeDocument/2006/relationships/slideLayout" Target="../slideLayouts/slideLayout28.xml"/><Relationship Id="rId2" Type="http://schemas.openxmlformats.org/officeDocument/2006/relationships/slideLayout" Target="../slideLayouts/slideLayout13.xml"/><Relationship Id="rId16" Type="http://schemas.openxmlformats.org/officeDocument/2006/relationships/slideLayout" Target="../slideLayouts/slideLayout27.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5" Type="http://schemas.openxmlformats.org/officeDocument/2006/relationships/slideLayout" Target="../slideLayouts/slideLayout2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slideLayout" Target="../slideLayouts/slideLayout2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 name="Rectangle 9"/>
          <p:cNvSpPr/>
          <p:nvPr/>
        </p:nvSpPr>
        <p:spPr>
          <a:xfrm>
            <a:off x="0" y="220786"/>
            <a:ext cx="9144000" cy="2286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p:cNvSpPr>
            <a:spLocks noGrp="1"/>
          </p:cNvSpPr>
          <p:nvPr>
            <p:ph type="title"/>
          </p:nvPr>
        </p:nvSpPr>
        <p:spPr>
          <a:xfrm>
            <a:off x="457200" y="533400"/>
            <a:ext cx="8229600" cy="990600"/>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457200" y="1600200"/>
            <a:ext cx="8229600" cy="4876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6"/>
          <p:cNvSpPr/>
          <p:nvPr/>
        </p:nvSpPr>
        <p:spPr>
          <a:xfrm>
            <a:off x="0" y="0"/>
            <a:ext cx="9144000" cy="3657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Date Placeholder 3"/>
          <p:cNvSpPr>
            <a:spLocks noGrp="1"/>
          </p:cNvSpPr>
          <p:nvPr>
            <p:ph type="dt" sz="half" idx="2"/>
          </p:nvPr>
        </p:nvSpPr>
        <p:spPr>
          <a:xfrm>
            <a:off x="457200" y="18288"/>
            <a:ext cx="2895600" cy="329184"/>
          </a:xfrm>
          <a:prstGeom prst="rect">
            <a:avLst/>
          </a:prstGeom>
        </p:spPr>
        <p:txBody>
          <a:bodyPr vert="horz" lIns="91440" tIns="45720" rIns="91440" bIns="45720" rtlCol="0" anchor="ctr"/>
          <a:lstStyle>
            <a:lvl1pPr algn="l">
              <a:defRPr sz="1200">
                <a:solidFill>
                  <a:srgbClr val="FFFFFF"/>
                </a:solidFill>
              </a:defRPr>
            </a:lvl1pPr>
          </a:lstStyle>
          <a:p>
            <a:fld id="{DD93E8A1-BF70-4AAD-8DED-D83C0E6B392D}" type="datetime1">
              <a:rPr lang="en-US" smtClean="0"/>
              <a:t>8/14/2024</a:t>
            </a:fld>
            <a:endParaRPr lang="en-US"/>
          </a:p>
        </p:txBody>
      </p:sp>
      <p:sp>
        <p:nvSpPr>
          <p:cNvPr id="5" name="Footer Placeholder 4"/>
          <p:cNvSpPr>
            <a:spLocks noGrp="1"/>
          </p:cNvSpPr>
          <p:nvPr>
            <p:ph type="ftr" sz="quarter" idx="3"/>
          </p:nvPr>
        </p:nvSpPr>
        <p:spPr>
          <a:xfrm>
            <a:off x="3429000" y="18288"/>
            <a:ext cx="4114800" cy="329184"/>
          </a:xfrm>
          <a:prstGeom prst="rect">
            <a:avLst/>
          </a:prstGeom>
        </p:spPr>
        <p:txBody>
          <a:bodyPr vert="horz" lIns="91440" tIns="45720" rIns="91440" bIns="45720" rtlCol="0" anchor="ctr"/>
          <a:lstStyle>
            <a:lvl1pPr algn="ctr">
              <a:defRPr sz="1200">
                <a:solidFill>
                  <a:srgbClr val="FFFFFF"/>
                </a:solidFill>
              </a:defRPr>
            </a:lvl1pPr>
          </a:lstStyle>
          <a:p>
            <a:endParaRPr lang="en-US"/>
          </a:p>
        </p:txBody>
      </p:sp>
      <p:sp>
        <p:nvSpPr>
          <p:cNvPr id="6" name="Slide Number Placeholder 5"/>
          <p:cNvSpPr>
            <a:spLocks noGrp="1"/>
          </p:cNvSpPr>
          <p:nvPr>
            <p:ph type="sldNum" sz="quarter" idx="4"/>
          </p:nvPr>
        </p:nvSpPr>
        <p:spPr>
          <a:xfrm>
            <a:off x="7620000" y="18288"/>
            <a:ext cx="1066800" cy="329184"/>
          </a:xfrm>
          <a:prstGeom prst="rect">
            <a:avLst/>
          </a:prstGeom>
        </p:spPr>
        <p:txBody>
          <a:bodyPr vert="horz" lIns="91440" tIns="45720" rIns="91440" bIns="45720" rtlCol="0" anchor="ctr"/>
          <a:lstStyle>
            <a:lvl1pPr algn="l">
              <a:defRPr sz="1400" b="1">
                <a:solidFill>
                  <a:srgbClr val="FFFFFF"/>
                </a:solidFill>
              </a:defRPr>
            </a:lvl1pPr>
          </a:lstStyle>
          <a:p>
            <a:fld id="{7FC2E40A-4446-4E2B-B9AD-16F559E28E02}"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defTabSz="914400" rtl="0" eaLnBrk="1" latinLnBrk="0" hangingPunct="1">
        <a:spcBef>
          <a:spcPct val="0"/>
        </a:spcBef>
        <a:buNone/>
        <a:defRPr sz="4000" kern="1200" spc="-100" baseline="0">
          <a:solidFill>
            <a:schemeClr val="tx2"/>
          </a:solidFill>
          <a:latin typeface="+mj-lt"/>
          <a:ea typeface="+mj-ea"/>
          <a:cs typeface="+mj-cs"/>
        </a:defRPr>
      </a:lvl1pPr>
    </p:titleStyle>
    <p:bodyStyle>
      <a:lvl1pPr marL="182880" indent="-182880" algn="l" defTabSz="914400" rtl="0" eaLnBrk="1" latinLnBrk="0" hangingPunct="1">
        <a:spcBef>
          <a:spcPct val="20000"/>
        </a:spcBef>
        <a:buClr>
          <a:schemeClr val="accent1"/>
        </a:buClr>
        <a:buSzPct val="85000"/>
        <a:buFont typeface="Arial" pitchFamily="34" charset="0"/>
        <a:buChar char="•"/>
        <a:defRPr sz="2400" kern="1200">
          <a:solidFill>
            <a:schemeClr val="tx1"/>
          </a:solidFill>
          <a:latin typeface="+mn-lt"/>
          <a:ea typeface="+mn-ea"/>
          <a:cs typeface="+mn-cs"/>
        </a:defRPr>
      </a:lvl1pPr>
      <a:lvl2pPr marL="457200" indent="-182880" algn="l" defTabSz="914400" rtl="0" eaLnBrk="1" latinLnBrk="0" hangingPunct="1">
        <a:spcBef>
          <a:spcPct val="20000"/>
        </a:spcBef>
        <a:buClr>
          <a:schemeClr val="accent1"/>
        </a:buClr>
        <a:buSzPct val="85000"/>
        <a:buFont typeface="Arial" pitchFamily="34" charset="0"/>
        <a:buChar char="•"/>
        <a:defRPr sz="2000" kern="1200">
          <a:solidFill>
            <a:schemeClr val="tx1"/>
          </a:solidFill>
          <a:latin typeface="+mn-lt"/>
          <a:ea typeface="+mn-ea"/>
          <a:cs typeface="+mn-cs"/>
        </a:defRPr>
      </a:lvl2pPr>
      <a:lvl3pPr marL="731520" indent="-182880" algn="l" defTabSz="914400" rtl="0" eaLnBrk="1" latinLnBrk="0" hangingPunct="1">
        <a:spcBef>
          <a:spcPct val="20000"/>
        </a:spcBef>
        <a:buClr>
          <a:schemeClr val="accent1"/>
        </a:buClr>
        <a:buSzPct val="90000"/>
        <a:buFont typeface="Arial" pitchFamily="34" charset="0"/>
        <a:buChar char="•"/>
        <a:defRPr sz="1800" kern="1200">
          <a:solidFill>
            <a:schemeClr val="tx1"/>
          </a:solidFill>
          <a:latin typeface="+mn-lt"/>
          <a:ea typeface="+mn-ea"/>
          <a:cs typeface="+mn-cs"/>
        </a:defRPr>
      </a:lvl3pPr>
      <a:lvl4pPr marL="1005840" indent="-182880" algn="l" defTabSz="914400" rtl="0" eaLnBrk="1" latinLnBrk="0" hangingPunct="1">
        <a:spcBef>
          <a:spcPct val="20000"/>
        </a:spcBef>
        <a:buClr>
          <a:schemeClr val="accent1"/>
        </a:buClr>
        <a:buFont typeface="Arial" pitchFamily="34" charset="0"/>
        <a:buChar char="•"/>
        <a:defRPr sz="1600" kern="1200">
          <a:solidFill>
            <a:schemeClr val="tx1"/>
          </a:solidFill>
          <a:latin typeface="+mn-lt"/>
          <a:ea typeface="+mn-ea"/>
          <a:cs typeface="+mn-cs"/>
        </a:defRPr>
      </a:lvl4pPr>
      <a:lvl5pPr marL="1188720" indent="-137160" algn="l" defTabSz="914400" rtl="0" eaLnBrk="1" latinLnBrk="0" hangingPunct="1">
        <a:spcBef>
          <a:spcPct val="20000"/>
        </a:spcBef>
        <a:buClr>
          <a:schemeClr val="accent1"/>
        </a:buClr>
        <a:buSzPct val="100000"/>
        <a:buFont typeface="Arial" pitchFamily="34" charset="0"/>
        <a:buChar char="•"/>
        <a:defRPr sz="1400" kern="1200" baseline="0">
          <a:solidFill>
            <a:schemeClr val="tx1"/>
          </a:solidFill>
          <a:latin typeface="+mn-lt"/>
          <a:ea typeface="+mn-ea"/>
          <a:cs typeface="+mn-cs"/>
        </a:defRPr>
      </a:lvl5pPr>
      <a:lvl6pPr marL="137160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6pPr>
      <a:lvl7pPr marL="155448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7pPr>
      <a:lvl8pPr marL="173736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8pPr>
      <a:lvl9pPr marL="192024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grpSp>
        <p:nvGrpSpPr>
          <p:cNvPr id="14" name="Group 13"/>
          <p:cNvGrpSpPr/>
          <p:nvPr/>
        </p:nvGrpSpPr>
        <p:grpSpPr>
          <a:xfrm>
            <a:off x="0" y="0"/>
            <a:ext cx="2132013" cy="6858001"/>
            <a:chOff x="0" y="0"/>
            <a:chExt cx="2132013" cy="6858001"/>
          </a:xfrm>
        </p:grpSpPr>
        <p:sp>
          <p:nvSpPr>
            <p:cNvPr id="15" name="Freeform 6"/>
            <p:cNvSpPr/>
            <p:nvPr/>
          </p:nvSpPr>
          <p:spPr bwMode="auto">
            <a:xfrm>
              <a:off x="0" y="0"/>
              <a:ext cx="1073150" cy="5291138"/>
            </a:xfrm>
            <a:custGeom>
              <a:avLst/>
              <a:gdLst/>
              <a:ahLst/>
              <a:cxnLst/>
              <a:rect l="0" t="0" r="r" b="b"/>
              <a:pathLst>
                <a:path w="676" h="3333">
                  <a:moveTo>
                    <a:pt x="0" y="3132"/>
                  </a:moveTo>
                  <a:lnTo>
                    <a:pt x="0" y="3312"/>
                  </a:lnTo>
                  <a:lnTo>
                    <a:pt x="126" y="3333"/>
                  </a:lnTo>
                  <a:lnTo>
                    <a:pt x="676" y="0"/>
                  </a:lnTo>
                  <a:lnTo>
                    <a:pt x="514" y="0"/>
                  </a:lnTo>
                  <a:lnTo>
                    <a:pt x="0" y="3132"/>
                  </a:lnTo>
                  <a:close/>
                </a:path>
              </a:pathLst>
            </a:custGeom>
            <a:solidFill>
              <a:schemeClr val="accent1"/>
            </a:solidFill>
            <a:ln>
              <a:noFill/>
            </a:ln>
          </p:spPr>
        </p:sp>
        <p:sp>
          <p:nvSpPr>
            <p:cNvPr id="16" name="Freeform 7"/>
            <p:cNvSpPr/>
            <p:nvPr/>
          </p:nvSpPr>
          <p:spPr bwMode="auto">
            <a:xfrm>
              <a:off x="0" y="0"/>
              <a:ext cx="758825" cy="4624388"/>
            </a:xfrm>
            <a:custGeom>
              <a:avLst/>
              <a:gdLst/>
              <a:ahLst/>
              <a:cxnLst/>
              <a:rect l="0" t="0" r="r" b="b"/>
              <a:pathLst>
                <a:path w="478" h="2913">
                  <a:moveTo>
                    <a:pt x="478" y="0"/>
                  </a:moveTo>
                  <a:lnTo>
                    <a:pt x="318" y="0"/>
                  </a:lnTo>
                  <a:lnTo>
                    <a:pt x="0" y="1938"/>
                  </a:lnTo>
                  <a:lnTo>
                    <a:pt x="0" y="2913"/>
                  </a:lnTo>
                  <a:lnTo>
                    <a:pt x="478" y="0"/>
                  </a:lnTo>
                  <a:close/>
                </a:path>
              </a:pathLst>
            </a:custGeom>
            <a:solidFill>
              <a:schemeClr val="tx1">
                <a:lumMod val="65000"/>
                <a:lumOff val="35000"/>
              </a:schemeClr>
            </a:solidFill>
            <a:ln>
              <a:noFill/>
            </a:ln>
          </p:spPr>
        </p:sp>
        <p:sp>
          <p:nvSpPr>
            <p:cNvPr id="17" name="Freeform 8"/>
            <p:cNvSpPr/>
            <p:nvPr/>
          </p:nvSpPr>
          <p:spPr bwMode="auto">
            <a:xfrm>
              <a:off x="0" y="5662613"/>
              <a:ext cx="906463" cy="1195388"/>
            </a:xfrm>
            <a:custGeom>
              <a:avLst/>
              <a:gdLst/>
              <a:ahLst/>
              <a:cxnLst/>
              <a:rect l="0" t="0" r="r" b="b"/>
              <a:pathLst>
                <a:path w="571" h="753">
                  <a:moveTo>
                    <a:pt x="0" y="0"/>
                  </a:moveTo>
                  <a:lnTo>
                    <a:pt x="0" y="12"/>
                  </a:lnTo>
                  <a:lnTo>
                    <a:pt x="538" y="753"/>
                  </a:lnTo>
                  <a:lnTo>
                    <a:pt x="571" y="753"/>
                  </a:lnTo>
                  <a:lnTo>
                    <a:pt x="0" y="0"/>
                  </a:lnTo>
                  <a:close/>
                </a:path>
              </a:pathLst>
            </a:custGeom>
            <a:solidFill>
              <a:schemeClr val="tx1">
                <a:lumMod val="85000"/>
                <a:lumOff val="15000"/>
              </a:schemeClr>
            </a:solidFill>
            <a:ln>
              <a:noFill/>
            </a:ln>
          </p:spPr>
        </p:sp>
        <p:sp>
          <p:nvSpPr>
            <p:cNvPr id="18" name="Freeform 9"/>
            <p:cNvSpPr/>
            <p:nvPr/>
          </p:nvSpPr>
          <p:spPr bwMode="auto">
            <a:xfrm>
              <a:off x="0" y="5295900"/>
              <a:ext cx="1487488" cy="1562100"/>
            </a:xfrm>
            <a:custGeom>
              <a:avLst/>
              <a:gdLst/>
              <a:ahLst/>
              <a:cxnLst/>
              <a:rect l="0" t="0" r="r" b="b"/>
              <a:pathLst>
                <a:path w="937" h="984">
                  <a:moveTo>
                    <a:pt x="0" y="0"/>
                  </a:moveTo>
                  <a:lnTo>
                    <a:pt x="0" y="3"/>
                  </a:lnTo>
                  <a:lnTo>
                    <a:pt x="901" y="984"/>
                  </a:lnTo>
                  <a:lnTo>
                    <a:pt x="937" y="984"/>
                  </a:lnTo>
                  <a:lnTo>
                    <a:pt x="0" y="0"/>
                  </a:lnTo>
                  <a:close/>
                </a:path>
              </a:pathLst>
            </a:custGeom>
            <a:solidFill>
              <a:schemeClr val="accent1">
                <a:lumMod val="50000"/>
              </a:schemeClr>
            </a:solidFill>
            <a:ln>
              <a:noFill/>
            </a:ln>
          </p:spPr>
        </p:sp>
        <p:sp>
          <p:nvSpPr>
            <p:cNvPr id="19" name="Freeform 10"/>
            <p:cNvSpPr/>
            <p:nvPr/>
          </p:nvSpPr>
          <p:spPr bwMode="auto">
            <a:xfrm>
              <a:off x="0" y="5257800"/>
              <a:ext cx="2132013" cy="1600200"/>
            </a:xfrm>
            <a:custGeom>
              <a:avLst/>
              <a:gdLst/>
              <a:ahLst/>
              <a:cxnLst/>
              <a:rect l="0" t="0" r="r" b="b"/>
              <a:pathLst>
                <a:path w="1343" h="1008">
                  <a:moveTo>
                    <a:pt x="0" y="24"/>
                  </a:moveTo>
                  <a:lnTo>
                    <a:pt x="937" y="1008"/>
                  </a:lnTo>
                  <a:lnTo>
                    <a:pt x="1343" y="1008"/>
                  </a:lnTo>
                  <a:lnTo>
                    <a:pt x="126" y="21"/>
                  </a:lnTo>
                  <a:lnTo>
                    <a:pt x="0" y="0"/>
                  </a:lnTo>
                  <a:lnTo>
                    <a:pt x="0" y="24"/>
                  </a:lnTo>
                  <a:close/>
                </a:path>
              </a:pathLst>
            </a:custGeom>
            <a:solidFill>
              <a:schemeClr val="accent1">
                <a:lumMod val="75000"/>
              </a:schemeClr>
            </a:solidFill>
            <a:ln>
              <a:noFill/>
            </a:ln>
          </p:spPr>
        </p:sp>
        <p:sp>
          <p:nvSpPr>
            <p:cNvPr id="20" name="Freeform 11"/>
            <p:cNvSpPr/>
            <p:nvPr/>
          </p:nvSpPr>
          <p:spPr bwMode="auto">
            <a:xfrm>
              <a:off x="0" y="5357813"/>
              <a:ext cx="1377950" cy="1500188"/>
            </a:xfrm>
            <a:custGeom>
              <a:avLst/>
              <a:gdLst/>
              <a:ahLst/>
              <a:cxnLst/>
              <a:rect l="0" t="0" r="r" b="b"/>
              <a:pathLst>
                <a:path w="868" h="945">
                  <a:moveTo>
                    <a:pt x="0" y="192"/>
                  </a:moveTo>
                  <a:lnTo>
                    <a:pt x="571" y="945"/>
                  </a:lnTo>
                  <a:lnTo>
                    <a:pt x="868" y="945"/>
                  </a:lnTo>
                  <a:lnTo>
                    <a:pt x="0" y="0"/>
                  </a:lnTo>
                  <a:lnTo>
                    <a:pt x="0" y="192"/>
                  </a:lnTo>
                  <a:close/>
                </a:path>
              </a:pathLst>
            </a:custGeom>
            <a:solidFill>
              <a:schemeClr val="tx1">
                <a:lumMod val="75000"/>
                <a:lumOff val="25000"/>
              </a:schemeClr>
            </a:solidFill>
            <a:ln>
              <a:noFill/>
            </a:ln>
          </p:spPr>
        </p:sp>
      </p:grpSp>
      <p:sp>
        <p:nvSpPr>
          <p:cNvPr id="2" name="Title Placeholder 1"/>
          <p:cNvSpPr>
            <a:spLocks noGrp="1"/>
          </p:cNvSpPr>
          <p:nvPr>
            <p:ph type="title"/>
          </p:nvPr>
        </p:nvSpPr>
        <p:spPr>
          <a:xfrm>
            <a:off x="982133" y="457201"/>
            <a:ext cx="7704667" cy="1981200"/>
          </a:xfrm>
          <a:prstGeom prst="rect">
            <a:avLst/>
          </a:prstGeom>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982134" y="2667000"/>
            <a:ext cx="7704666" cy="3356995"/>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358679" y="6116070"/>
            <a:ext cx="857473" cy="3651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95A70397-56CE-487B-B742-7DCBAE992F4C}" type="datetime1">
              <a:rPr lang="en-US" smtClean="0"/>
              <a:t>8/14/2024</a:t>
            </a:fld>
            <a:endParaRPr lang="en-US"/>
          </a:p>
        </p:txBody>
      </p:sp>
      <p:sp>
        <p:nvSpPr>
          <p:cNvPr id="5" name="Footer Placeholder 4"/>
          <p:cNvSpPr>
            <a:spLocks noGrp="1"/>
          </p:cNvSpPr>
          <p:nvPr>
            <p:ph type="ftr" sz="quarter" idx="3"/>
          </p:nvPr>
        </p:nvSpPr>
        <p:spPr>
          <a:xfrm>
            <a:off x="1986997" y="6116070"/>
            <a:ext cx="5314517" cy="365125"/>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US"/>
          </a:p>
        </p:txBody>
      </p:sp>
      <p:sp>
        <p:nvSpPr>
          <p:cNvPr id="6" name="Slide Number Placeholder 5"/>
          <p:cNvSpPr>
            <a:spLocks noGrp="1"/>
          </p:cNvSpPr>
          <p:nvPr>
            <p:ph type="sldNum" sz="quarter" idx="4"/>
          </p:nvPr>
        </p:nvSpPr>
        <p:spPr>
          <a:xfrm>
            <a:off x="8273317" y="6116070"/>
            <a:ext cx="413483" cy="3651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7FC2E40A-4446-4E2B-B9AD-16F559E28E02}" type="slidenum">
              <a:rPr lang="en-US" smtClean="0"/>
              <a:t>‹#›</a:t>
            </a:fld>
            <a:endParaRPr lang="en-US"/>
          </a:p>
        </p:txBody>
      </p:sp>
    </p:spTree>
    <p:extLst>
      <p:ext uri="{BB962C8B-B14F-4D97-AF65-F5344CB8AC3E}">
        <p14:creationId xmlns:p14="http://schemas.microsoft.com/office/powerpoint/2010/main" val="2501672085"/>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 id="2147483685" r:id="rId13"/>
    <p:sldLayoutId id="2147483686" r:id="rId14"/>
    <p:sldLayoutId id="2147483687" r:id="rId15"/>
    <p:sldLayoutId id="2147483688" r:id="rId16"/>
    <p:sldLayoutId id="2147483689" r:id="rId17"/>
  </p:sldLayoutIdLst>
  <p:hf hdr="0" ftr="0" dt="0"/>
  <p:txStyles>
    <p:titleStyle>
      <a:lvl1pPr algn="ctr" defTabSz="457200" rtl="1" eaLnBrk="1" latinLnBrk="0" hangingPunct="1">
        <a:spcBef>
          <a:spcPct val="0"/>
        </a:spcBef>
        <a:buNone/>
        <a:defRPr sz="4000" kern="1200" cap="none">
          <a:ln w="3175" cmpd="sng">
            <a:noFill/>
          </a:ln>
          <a:solidFill>
            <a:schemeClr val="tx1"/>
          </a:solidFill>
          <a:effectLst/>
          <a:latin typeface="+mj-lt"/>
          <a:ea typeface="+mj-ea"/>
          <a:cs typeface="+mj-cs"/>
        </a:defRPr>
      </a:lvl1pPr>
      <a:lvl2pPr rtl="1" eaLnBrk="1" hangingPunct="1">
        <a:defRPr>
          <a:solidFill>
            <a:schemeClr val="tx2"/>
          </a:solidFill>
        </a:defRPr>
      </a:lvl2pPr>
      <a:lvl3pPr rtl="1" eaLnBrk="1" hangingPunct="1">
        <a:defRPr>
          <a:solidFill>
            <a:schemeClr val="tx2"/>
          </a:solidFill>
        </a:defRPr>
      </a:lvl3pPr>
      <a:lvl4pPr rtl="1" eaLnBrk="1" hangingPunct="1">
        <a:defRPr>
          <a:solidFill>
            <a:schemeClr val="tx2"/>
          </a:solidFill>
        </a:defRPr>
      </a:lvl4pPr>
      <a:lvl5pPr rtl="1" eaLnBrk="1" hangingPunct="1">
        <a:defRPr>
          <a:solidFill>
            <a:schemeClr val="tx2"/>
          </a:solidFill>
        </a:defRPr>
      </a:lvl5pPr>
      <a:lvl6pPr rtl="1" eaLnBrk="1" hangingPunct="1">
        <a:defRPr>
          <a:solidFill>
            <a:schemeClr val="tx2"/>
          </a:solidFill>
        </a:defRPr>
      </a:lvl6pPr>
      <a:lvl7pPr rtl="1" eaLnBrk="1" hangingPunct="1">
        <a:defRPr>
          <a:solidFill>
            <a:schemeClr val="tx2"/>
          </a:solidFill>
        </a:defRPr>
      </a:lvl7pPr>
      <a:lvl8pPr rtl="1" eaLnBrk="1" hangingPunct="1">
        <a:defRPr>
          <a:solidFill>
            <a:schemeClr val="tx2"/>
          </a:solidFill>
        </a:defRPr>
      </a:lvl8pPr>
      <a:lvl9pPr rtl="1" eaLnBrk="1" hangingPunct="1">
        <a:defRPr>
          <a:solidFill>
            <a:schemeClr val="tx2"/>
          </a:solidFill>
        </a:defRPr>
      </a:lvl9pPr>
    </p:titleStyle>
    <p:bodyStyle>
      <a:lvl1pPr marL="285750" indent="-285750" algn="r" defTabSz="457200" rtl="1" eaLnBrk="1" latinLnBrk="0" hangingPunct="1">
        <a:spcBef>
          <a:spcPct val="20000"/>
        </a:spcBef>
        <a:spcAft>
          <a:spcPts val="600"/>
        </a:spcAft>
        <a:buClr>
          <a:schemeClr val="accent1">
            <a:lumMod val="75000"/>
          </a:schemeClr>
        </a:buClr>
        <a:buSzPct val="145000"/>
        <a:buFont typeface="Arial"/>
        <a:buChar char="•"/>
        <a:defRPr sz="2400" kern="1200" cap="none">
          <a:solidFill>
            <a:schemeClr val="tx1"/>
          </a:solidFill>
          <a:effectLst/>
          <a:latin typeface="+mn-lt"/>
          <a:ea typeface="+mn-ea"/>
          <a:cs typeface="+mn-cs"/>
        </a:defRPr>
      </a:lvl1pPr>
      <a:lvl2pPr marL="742950" indent="-285750" algn="r" defTabSz="457200" rtl="1" eaLnBrk="1" latinLnBrk="0" hangingPunct="1">
        <a:spcBef>
          <a:spcPct val="20000"/>
        </a:spcBef>
        <a:spcAft>
          <a:spcPts val="600"/>
        </a:spcAft>
        <a:buClr>
          <a:schemeClr val="accent1">
            <a:lumMod val="75000"/>
          </a:schemeClr>
        </a:buClr>
        <a:buSzPct val="145000"/>
        <a:buFont typeface="Arial"/>
        <a:buChar char="•"/>
        <a:defRPr sz="2000" kern="1200" cap="none">
          <a:solidFill>
            <a:schemeClr val="tx1"/>
          </a:solidFill>
          <a:effectLst/>
          <a:latin typeface="+mn-lt"/>
          <a:ea typeface="+mn-ea"/>
          <a:cs typeface="+mn-cs"/>
        </a:defRPr>
      </a:lvl2pPr>
      <a:lvl3pPr marL="1200150" indent="-285750" algn="r" defTabSz="457200" rtl="1" eaLnBrk="1" latinLnBrk="0" hangingPunct="1">
        <a:spcBef>
          <a:spcPct val="20000"/>
        </a:spcBef>
        <a:spcAft>
          <a:spcPts val="600"/>
        </a:spcAft>
        <a:buClr>
          <a:schemeClr val="accent1">
            <a:lumMod val="75000"/>
          </a:schemeClr>
        </a:buClr>
        <a:buSzPct val="145000"/>
        <a:buFont typeface="Arial"/>
        <a:buChar char="•"/>
        <a:defRPr sz="1800" kern="1200" cap="none">
          <a:solidFill>
            <a:schemeClr val="tx1"/>
          </a:solidFill>
          <a:effectLst/>
          <a:latin typeface="+mn-lt"/>
          <a:ea typeface="+mn-ea"/>
          <a:cs typeface="+mn-cs"/>
        </a:defRPr>
      </a:lvl3pPr>
      <a:lvl4pPr marL="1543050" indent="-171450" algn="r" defTabSz="457200" rtl="1" eaLnBrk="1" latinLnBrk="0" hangingPunct="1">
        <a:spcBef>
          <a:spcPct val="20000"/>
        </a:spcBef>
        <a:spcAft>
          <a:spcPts val="600"/>
        </a:spcAft>
        <a:buClr>
          <a:schemeClr val="accent1">
            <a:lumMod val="75000"/>
          </a:schemeClr>
        </a:buClr>
        <a:buSzPct val="145000"/>
        <a:buFont typeface="Arial"/>
        <a:buChar char="•"/>
        <a:defRPr sz="1600" kern="1200" cap="none">
          <a:solidFill>
            <a:schemeClr val="tx1"/>
          </a:solidFill>
          <a:effectLst/>
          <a:latin typeface="+mn-lt"/>
          <a:ea typeface="+mn-ea"/>
          <a:cs typeface="+mn-cs"/>
        </a:defRPr>
      </a:lvl4pPr>
      <a:lvl5pPr marL="2000250" indent="-171450" algn="r" defTabSz="457200" rtl="1"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5pPr>
      <a:lvl6pPr marL="2514600" indent="-228600" algn="r" defTabSz="457200" rtl="1"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6pPr>
      <a:lvl7pPr marL="2971800" indent="-228600" algn="r" defTabSz="457200" rtl="1"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7pPr>
      <a:lvl8pPr marL="3429000" indent="-228600" algn="r" defTabSz="457200" rtl="1"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8pPr>
      <a:lvl9pPr marL="3886200" indent="-228600" algn="r" defTabSz="457200" rtl="1"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9pPr>
    </p:bodyStyle>
    <p:otherStyle>
      <a:defPPr>
        <a:defRPr lang="en-US"/>
      </a:defPPr>
      <a:lvl1pPr marL="0" algn="r" defTabSz="457200" rtl="1" eaLnBrk="1" latinLnBrk="0" hangingPunct="1">
        <a:defRPr sz="1800" kern="1200">
          <a:solidFill>
            <a:schemeClr val="tx1"/>
          </a:solidFill>
          <a:latin typeface="+mn-lt"/>
          <a:ea typeface="+mn-ea"/>
          <a:cs typeface="+mn-cs"/>
        </a:defRPr>
      </a:lvl1pPr>
      <a:lvl2pPr marL="457200" algn="r" defTabSz="457200" rtl="1" eaLnBrk="1" latinLnBrk="0" hangingPunct="1">
        <a:defRPr sz="1800" kern="1200">
          <a:solidFill>
            <a:schemeClr val="tx1"/>
          </a:solidFill>
          <a:latin typeface="+mn-lt"/>
          <a:ea typeface="+mn-ea"/>
          <a:cs typeface="+mn-cs"/>
        </a:defRPr>
      </a:lvl2pPr>
      <a:lvl3pPr marL="914400" algn="r" defTabSz="457200" rtl="1" eaLnBrk="1" latinLnBrk="0" hangingPunct="1">
        <a:defRPr sz="1800" kern="1200">
          <a:solidFill>
            <a:schemeClr val="tx1"/>
          </a:solidFill>
          <a:latin typeface="+mn-lt"/>
          <a:ea typeface="+mn-ea"/>
          <a:cs typeface="+mn-cs"/>
        </a:defRPr>
      </a:lvl3pPr>
      <a:lvl4pPr marL="1371600" algn="r" defTabSz="457200" rtl="1" eaLnBrk="1" latinLnBrk="0" hangingPunct="1">
        <a:defRPr sz="1800" kern="1200">
          <a:solidFill>
            <a:schemeClr val="tx1"/>
          </a:solidFill>
          <a:latin typeface="+mn-lt"/>
          <a:ea typeface="+mn-ea"/>
          <a:cs typeface="+mn-cs"/>
        </a:defRPr>
      </a:lvl4pPr>
      <a:lvl5pPr marL="1828800" algn="r" defTabSz="457200" rtl="1" eaLnBrk="1" latinLnBrk="0" hangingPunct="1">
        <a:defRPr sz="1800" kern="1200">
          <a:solidFill>
            <a:schemeClr val="tx1"/>
          </a:solidFill>
          <a:latin typeface="+mn-lt"/>
          <a:ea typeface="+mn-ea"/>
          <a:cs typeface="+mn-cs"/>
        </a:defRPr>
      </a:lvl5pPr>
      <a:lvl6pPr marL="2286000" algn="r" defTabSz="457200" rtl="1" eaLnBrk="1" latinLnBrk="0" hangingPunct="1">
        <a:defRPr sz="1800" kern="1200">
          <a:solidFill>
            <a:schemeClr val="tx1"/>
          </a:solidFill>
          <a:latin typeface="+mn-lt"/>
          <a:ea typeface="+mn-ea"/>
          <a:cs typeface="+mn-cs"/>
        </a:defRPr>
      </a:lvl6pPr>
      <a:lvl7pPr marL="2743200" algn="r" defTabSz="457200" rtl="1" eaLnBrk="1" latinLnBrk="0" hangingPunct="1">
        <a:defRPr sz="1800" kern="1200">
          <a:solidFill>
            <a:schemeClr val="tx1"/>
          </a:solidFill>
          <a:latin typeface="+mn-lt"/>
          <a:ea typeface="+mn-ea"/>
          <a:cs typeface="+mn-cs"/>
        </a:defRPr>
      </a:lvl7pPr>
      <a:lvl8pPr marL="3200400" algn="r" defTabSz="457200" rtl="1" eaLnBrk="1" latinLnBrk="0" hangingPunct="1">
        <a:defRPr sz="1800" kern="1200">
          <a:solidFill>
            <a:schemeClr val="tx1"/>
          </a:solidFill>
          <a:latin typeface="+mn-lt"/>
          <a:ea typeface="+mn-ea"/>
          <a:cs typeface="+mn-cs"/>
        </a:defRPr>
      </a:lvl8pPr>
      <a:lvl9pPr marL="3657600" algn="r" defTabSz="457200" rtl="1"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4.emf"/></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8.emf"/><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7.emf"/><Relationship Id="rId5" Type="http://schemas.openxmlformats.org/officeDocument/2006/relationships/image" Target="../media/image3.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10.jpe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13.jp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15.jpeg"/><Relationship Id="rId7" Type="http://schemas.openxmlformats.org/officeDocument/2006/relationships/image" Target="../media/image19.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17.png"/><Relationship Id="rId10" Type="http://schemas.openxmlformats.org/officeDocument/2006/relationships/image" Target="../media/image3.png"/><Relationship Id="rId4" Type="http://schemas.openxmlformats.org/officeDocument/2006/relationships/image" Target="../media/image16.png"/><Relationship Id="rId9" Type="http://schemas.openxmlformats.org/officeDocument/2006/relationships/image" Target="../media/image21.png"/></Relationships>
</file>

<file path=ppt/slides/_rels/slide13.xml.rels><?xml version="1.0" encoding="UTF-8" standalone="yes"?>
<Relationships xmlns="http://schemas.openxmlformats.org/package/2006/relationships"><Relationship Id="rId3" Type="http://schemas.openxmlformats.org/officeDocument/2006/relationships/image" Target="../media/image22.emf"/><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15.jpeg"/><Relationship Id="rId7"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 Id="rId9" Type="http://schemas.openxmlformats.org/officeDocument/2006/relationships/image" Target="../media/image24.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5.emf"/></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image" Target="../media/image15.jpeg"/><Relationship Id="rId7" Type="http://schemas.openxmlformats.org/officeDocument/2006/relationships/image" Target="../media/image26.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s>
</file>

<file path=ppt/slides/_rels/slide1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28.emf"/></Relationships>
</file>

<file path=ppt/slides/_rels/slide19.xml.rels><?xml version="1.0" encoding="UTF-8" standalone="yes"?>
<Relationships xmlns="http://schemas.openxmlformats.org/package/2006/relationships"><Relationship Id="rId3" Type="http://schemas.openxmlformats.org/officeDocument/2006/relationships/image" Target="../media/image29.jp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30.jp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32.emf"/></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3.xml"/><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3" Type="http://schemas.openxmlformats.org/officeDocument/2006/relationships/image" Target="../media/image22.emf"/><Relationship Id="rId2" Type="http://schemas.openxmlformats.org/officeDocument/2006/relationships/notesSlide" Target="../notesSlides/notesSlide24.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33.png"/></Relationships>
</file>

<file path=ppt/slides/_rels/slide2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3.png"/><Relationship Id="rId5" Type="http://schemas.openxmlformats.org/officeDocument/2006/relationships/image" Target="../media/image36.png"/><Relationship Id="rId4" Type="http://schemas.openxmlformats.org/officeDocument/2006/relationships/image" Target="../media/image35.png"/></Relationships>
</file>

<file path=ppt/slides/_rels/slide26.xml.rels><?xml version="1.0" encoding="UTF-8" standalone="yes"?>
<Relationships xmlns="http://schemas.openxmlformats.org/package/2006/relationships"><Relationship Id="rId8" Type="http://schemas.openxmlformats.org/officeDocument/2006/relationships/image" Target="../media/image39.png"/><Relationship Id="rId3" Type="http://schemas.openxmlformats.org/officeDocument/2006/relationships/image" Target="../media/image3.png"/><Relationship Id="rId7" Type="http://schemas.openxmlformats.org/officeDocument/2006/relationships/image" Target="../media/image38.pn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36.png"/><Relationship Id="rId5" Type="http://schemas.openxmlformats.org/officeDocument/2006/relationships/image" Target="../media/image35.png"/><Relationship Id="rId10" Type="http://schemas.openxmlformats.org/officeDocument/2006/relationships/image" Target="../media/image41.png"/><Relationship Id="rId4" Type="http://schemas.openxmlformats.org/officeDocument/2006/relationships/image" Target="../media/image37.jpeg"/><Relationship Id="rId9" Type="http://schemas.openxmlformats.org/officeDocument/2006/relationships/image" Target="../media/image40.png"/></Relationships>
</file>

<file path=ppt/slides/_rels/slide2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9.xml.rels><?xml version="1.0" encoding="UTF-8" standalone="yes"?>
<Relationships xmlns="http://schemas.openxmlformats.org/package/2006/relationships"><Relationship Id="rId3" Type="http://schemas.openxmlformats.org/officeDocument/2006/relationships/image" Target="../media/image43.jpe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0.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8" Type="http://schemas.openxmlformats.org/officeDocument/2006/relationships/image" Target="../media/image46.jpeg"/><Relationship Id="rId3" Type="http://schemas.openxmlformats.org/officeDocument/2006/relationships/image" Target="../media/image19.png"/><Relationship Id="rId7" Type="http://schemas.openxmlformats.org/officeDocument/2006/relationships/image" Target="../media/image24.pn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image" Target="../media/image45.png"/><Relationship Id="rId5" Type="http://schemas.openxmlformats.org/officeDocument/2006/relationships/image" Target="../media/image21.png"/><Relationship Id="rId10" Type="http://schemas.openxmlformats.org/officeDocument/2006/relationships/image" Target="../media/image3.png"/><Relationship Id="rId4" Type="http://schemas.openxmlformats.org/officeDocument/2006/relationships/image" Target="../media/image20.png"/><Relationship Id="rId9" Type="http://schemas.openxmlformats.org/officeDocument/2006/relationships/image" Target="../media/image47.png"/></Relationships>
</file>

<file path=ppt/slides/_rels/slide33.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4.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6.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38.xml.rels><?xml version="1.0" encoding="UTF-8" standalone="yes"?>
<Relationships xmlns="http://schemas.openxmlformats.org/package/2006/relationships"><Relationship Id="rId8" Type="http://schemas.openxmlformats.org/officeDocument/2006/relationships/image" Target="../media/image53.emf"/><Relationship Id="rId3" Type="http://schemas.openxmlformats.org/officeDocument/2006/relationships/image" Target="../media/image3.png"/><Relationship Id="rId7" Type="http://schemas.openxmlformats.org/officeDocument/2006/relationships/image" Target="../media/image52.emf"/><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image" Target="../media/image38.png"/><Relationship Id="rId5" Type="http://schemas.openxmlformats.org/officeDocument/2006/relationships/image" Target="../media/image36.png"/><Relationship Id="rId4" Type="http://schemas.openxmlformats.org/officeDocument/2006/relationships/image" Target="../media/image35.png"/><Relationship Id="rId9" Type="http://schemas.openxmlformats.org/officeDocument/2006/relationships/image" Target="../media/image54.emf"/></Relationships>
</file>

<file path=ppt/slides/_rels/slide39.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40.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57.png"/></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58.jpg"/><Relationship Id="rId2" Type="http://schemas.openxmlformats.org/officeDocument/2006/relationships/notesSlide" Target="../notesSlides/notesSlide4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4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4.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44.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61.png"/></Relationships>
</file>

<file path=ppt/slides/_rels/slide4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4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7.xml.rels><?xml version="1.0" encoding="UTF-8" standalone="yes"?>
<Relationships xmlns="http://schemas.openxmlformats.org/package/2006/relationships"><Relationship Id="rId3" Type="http://schemas.openxmlformats.org/officeDocument/2006/relationships/image" Target="../media/image62.jpg"/><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image" Target="../media/image13.jpg"/><Relationship Id="rId5" Type="http://schemas.openxmlformats.org/officeDocument/2006/relationships/image" Target="../media/image12.jpg"/><Relationship Id="rId4" Type="http://schemas.openxmlformats.org/officeDocument/2006/relationships/image" Target="../media/image3.png"/></Relationships>
</file>

<file path=ppt/slides/_rels/slide48.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4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8" Type="http://schemas.openxmlformats.org/officeDocument/2006/relationships/image" Target="../media/image67.png"/><Relationship Id="rId3" Type="http://schemas.openxmlformats.org/officeDocument/2006/relationships/image" Target="../media/image3.png"/><Relationship Id="rId7" Type="http://schemas.openxmlformats.org/officeDocument/2006/relationships/image" Target="../media/image66.png"/><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image" Target="../media/image65.png"/><Relationship Id="rId11" Type="http://schemas.openxmlformats.org/officeDocument/2006/relationships/image" Target="../media/image38.png"/><Relationship Id="rId5" Type="http://schemas.openxmlformats.org/officeDocument/2006/relationships/image" Target="../media/image64.png"/><Relationship Id="rId10" Type="http://schemas.openxmlformats.org/officeDocument/2006/relationships/image" Target="../media/image36.png"/><Relationship Id="rId4" Type="http://schemas.openxmlformats.org/officeDocument/2006/relationships/image" Target="../media/image63.png"/><Relationship Id="rId9" Type="http://schemas.openxmlformats.org/officeDocument/2006/relationships/image" Target="../media/image35.png"/></Relationships>
</file>

<file path=ppt/slides/_rels/slide51.xml.rels><?xml version="1.0" encoding="UTF-8" standalone="yes"?>
<Relationships xmlns="http://schemas.openxmlformats.org/package/2006/relationships"><Relationship Id="rId3" Type="http://schemas.openxmlformats.org/officeDocument/2006/relationships/image" Target="../media/image68.gif"/><Relationship Id="rId2" Type="http://schemas.openxmlformats.org/officeDocument/2006/relationships/notesSlide" Target="../notesSlides/notesSlide5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2.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52.xml"/><Relationship Id="rId1" Type="http://schemas.openxmlformats.org/officeDocument/2006/relationships/slideLayout" Target="../slideLayouts/slideLayout2.xml"/><Relationship Id="rId5" Type="http://schemas.openxmlformats.org/officeDocument/2006/relationships/image" Target="../media/image33.png"/><Relationship Id="rId4" Type="http://schemas.openxmlformats.org/officeDocument/2006/relationships/image" Target="../media/image3.png"/></Relationships>
</file>

<file path=ppt/slides/_rels/slide53.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5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4.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5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5.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5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6.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5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7.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38.png"/><Relationship Id="rId2" Type="http://schemas.openxmlformats.org/officeDocument/2006/relationships/notesSlide" Target="../notesSlides/notesSlide57.xml"/><Relationship Id="rId1" Type="http://schemas.openxmlformats.org/officeDocument/2006/relationships/slideLayout" Target="../slideLayouts/slideLayout2.xml"/><Relationship Id="rId6" Type="http://schemas.openxmlformats.org/officeDocument/2006/relationships/image" Target="../media/image36.png"/><Relationship Id="rId5" Type="http://schemas.openxmlformats.org/officeDocument/2006/relationships/image" Target="../media/image35.png"/><Relationship Id="rId4" Type="http://schemas.openxmlformats.org/officeDocument/2006/relationships/image" Target="../media/image74.png"/></Relationships>
</file>

<file path=ppt/slides/_rels/slide58.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5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9.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38.png"/><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image" Target="../media/image36.png"/><Relationship Id="rId5" Type="http://schemas.openxmlformats.org/officeDocument/2006/relationships/image" Target="../media/image35.png"/><Relationship Id="rId4" Type="http://schemas.openxmlformats.org/officeDocument/2006/relationships/image" Target="../media/image76.png"/></Relationships>
</file>

<file path=ppt/slides/_rels/slide60.xml.rels><?xml version="1.0" encoding="UTF-8" standalone="yes"?>
<Relationships xmlns="http://schemas.openxmlformats.org/package/2006/relationships"><Relationship Id="rId8" Type="http://schemas.openxmlformats.org/officeDocument/2006/relationships/image" Target="../media/image82.png"/><Relationship Id="rId3" Type="http://schemas.openxmlformats.org/officeDocument/2006/relationships/image" Target="../media/image77.png"/><Relationship Id="rId7" Type="http://schemas.openxmlformats.org/officeDocument/2006/relationships/image" Target="../media/image81.png"/><Relationship Id="rId2" Type="http://schemas.openxmlformats.org/officeDocument/2006/relationships/notesSlide" Target="../notesSlides/notesSlide60.xml"/><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9.png"/><Relationship Id="rId4" Type="http://schemas.openxmlformats.org/officeDocument/2006/relationships/image" Target="../media/image78.png"/><Relationship Id="rId9" Type="http://schemas.openxmlformats.org/officeDocument/2006/relationships/image" Target="../media/image3.png"/></Relationships>
</file>

<file path=ppt/slides/_rels/slide61.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6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62.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62.xml"/><Relationship Id="rId1" Type="http://schemas.openxmlformats.org/officeDocument/2006/relationships/slideLayout" Target="../slideLayouts/slideLayout2.xml"/><Relationship Id="rId6" Type="http://schemas.openxmlformats.org/officeDocument/2006/relationships/image" Target="../media/image3.png"/><Relationship Id="rId5" Type="http://schemas.openxmlformats.org/officeDocument/2006/relationships/image" Target="../media/image85.png"/><Relationship Id="rId4" Type="http://schemas.openxmlformats.org/officeDocument/2006/relationships/image" Target="../media/image810.png"/></Relationships>
</file>

<file path=ppt/slides/_rels/slide63.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63.xml"/><Relationship Id="rId1" Type="http://schemas.openxmlformats.org/officeDocument/2006/relationships/slideLayout" Target="../slideLayouts/slideLayout2.xml"/><Relationship Id="rId5" Type="http://schemas.openxmlformats.org/officeDocument/2006/relationships/image" Target="../media/image87.png"/><Relationship Id="rId4" Type="http://schemas.openxmlformats.org/officeDocument/2006/relationships/image" Target="../media/image3.png"/></Relationships>
</file>

<file path=ppt/slides/_rels/slide64.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6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65.xml.rels><?xml version="1.0" encoding="UTF-8" standalone="yes"?>
<Relationships xmlns="http://schemas.openxmlformats.org/package/2006/relationships"><Relationship Id="rId3" Type="http://schemas.openxmlformats.org/officeDocument/2006/relationships/image" Target="../media/image89.jpg"/><Relationship Id="rId2" Type="http://schemas.openxmlformats.org/officeDocument/2006/relationships/notesSlide" Target="../notesSlides/notesSlide65.xml"/><Relationship Id="rId1" Type="http://schemas.openxmlformats.org/officeDocument/2006/relationships/slideLayout" Target="../slideLayouts/slideLayout2.xml"/><Relationship Id="rId6" Type="http://schemas.openxmlformats.org/officeDocument/2006/relationships/image" Target="../media/image3.png"/><Relationship Id="rId5" Type="http://schemas.openxmlformats.org/officeDocument/2006/relationships/image" Target="../media/image91.png"/><Relationship Id="rId4" Type="http://schemas.openxmlformats.org/officeDocument/2006/relationships/image" Target="../media/image90.png"/></Relationships>
</file>

<file path=ppt/slides/_rels/slide66.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38.png"/><Relationship Id="rId2" Type="http://schemas.openxmlformats.org/officeDocument/2006/relationships/notesSlide" Target="../notesSlides/notesSlide66.xml"/><Relationship Id="rId1" Type="http://schemas.openxmlformats.org/officeDocument/2006/relationships/slideLayout" Target="../slideLayouts/slideLayout2.xml"/><Relationship Id="rId6" Type="http://schemas.openxmlformats.org/officeDocument/2006/relationships/image" Target="../media/image36.png"/><Relationship Id="rId5" Type="http://schemas.openxmlformats.org/officeDocument/2006/relationships/image" Target="../media/image35.png"/><Relationship Id="rId4" Type="http://schemas.openxmlformats.org/officeDocument/2006/relationships/image" Target="../media/image92.png"/></Relationships>
</file>

<file path=ppt/slides/_rels/slide67.xml.rels><?xml version="1.0" encoding="UTF-8" standalone="yes"?>
<Relationships xmlns="http://schemas.openxmlformats.org/package/2006/relationships"><Relationship Id="rId3" Type="http://schemas.openxmlformats.org/officeDocument/2006/relationships/image" Target="../media/image93.jpg"/><Relationship Id="rId2" Type="http://schemas.openxmlformats.org/officeDocument/2006/relationships/notesSlide" Target="../notesSlides/notesSlide6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68.xml.rels><?xml version="1.0" encoding="UTF-8" standalone="yes"?>
<Relationships xmlns="http://schemas.openxmlformats.org/package/2006/relationships"><Relationship Id="rId3" Type="http://schemas.openxmlformats.org/officeDocument/2006/relationships/image" Target="../media/image94.jpg"/><Relationship Id="rId2" Type="http://schemas.openxmlformats.org/officeDocument/2006/relationships/notesSlide" Target="../notesSlides/notesSlide6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69.xml.rels><?xml version="1.0" encoding="UTF-8" standalone="yes"?>
<Relationships xmlns="http://schemas.openxmlformats.org/package/2006/relationships"><Relationship Id="rId3" Type="http://schemas.openxmlformats.org/officeDocument/2006/relationships/image" Target="../media/image13.jpg"/><Relationship Id="rId2" Type="http://schemas.openxmlformats.org/officeDocument/2006/relationships/notesSlide" Target="../notesSlides/notesSlide69.xml"/><Relationship Id="rId1" Type="http://schemas.openxmlformats.org/officeDocument/2006/relationships/slideLayout" Target="../slideLayouts/slideLayout2.xml"/><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reeform 3"/>
          <p:cNvSpPr>
            <a:spLocks/>
          </p:cNvSpPr>
          <p:nvPr/>
        </p:nvSpPr>
        <p:spPr bwMode="gray">
          <a:xfrm>
            <a:off x="1028700" y="2486098"/>
            <a:ext cx="2019300" cy="1112395"/>
          </a:xfrm>
          <a:custGeom>
            <a:avLst/>
            <a:gdLst>
              <a:gd name="T0" fmla="*/ 88 w 2320"/>
              <a:gd name="T1" fmla="*/ 696 h 792"/>
              <a:gd name="T2" fmla="*/ 88 w 2320"/>
              <a:gd name="T3" fmla="*/ 0 h 792"/>
              <a:gd name="T4" fmla="*/ 0 w 2320"/>
              <a:gd name="T5" fmla="*/ 0 h 792"/>
              <a:gd name="T6" fmla="*/ 0 w 2320"/>
              <a:gd name="T7" fmla="*/ 792 h 792"/>
              <a:gd name="T8" fmla="*/ 2320 w 2320"/>
              <a:gd name="T9" fmla="*/ 792 h 792"/>
              <a:gd name="T10" fmla="*/ 2320 w 2320"/>
              <a:gd name="T11" fmla="*/ 696 h 792"/>
              <a:gd name="T12" fmla="*/ 88 w 2320"/>
              <a:gd name="T13" fmla="*/ 696 h 792"/>
            </a:gdLst>
            <a:ahLst/>
            <a:cxnLst>
              <a:cxn ang="0">
                <a:pos x="T0" y="T1"/>
              </a:cxn>
              <a:cxn ang="0">
                <a:pos x="T2" y="T3"/>
              </a:cxn>
              <a:cxn ang="0">
                <a:pos x="T4" y="T5"/>
              </a:cxn>
              <a:cxn ang="0">
                <a:pos x="T6" y="T7"/>
              </a:cxn>
              <a:cxn ang="0">
                <a:pos x="T8" y="T9"/>
              </a:cxn>
              <a:cxn ang="0">
                <a:pos x="T10" y="T11"/>
              </a:cxn>
              <a:cxn ang="0">
                <a:pos x="T12" y="T13"/>
              </a:cxn>
            </a:cxnLst>
            <a:rect l="0" t="0" r="r" b="b"/>
            <a:pathLst>
              <a:path w="2320" h="792">
                <a:moveTo>
                  <a:pt x="88" y="696"/>
                </a:moveTo>
                <a:lnTo>
                  <a:pt x="88" y="0"/>
                </a:lnTo>
                <a:lnTo>
                  <a:pt x="0" y="0"/>
                </a:lnTo>
                <a:lnTo>
                  <a:pt x="0" y="792"/>
                </a:lnTo>
                <a:lnTo>
                  <a:pt x="2320" y="792"/>
                </a:lnTo>
                <a:lnTo>
                  <a:pt x="2320" y="696"/>
                </a:lnTo>
                <a:lnTo>
                  <a:pt x="88" y="696"/>
                </a:lnTo>
                <a:close/>
              </a:path>
            </a:pathLst>
          </a:custGeom>
          <a:solidFill>
            <a:srgbClr val="FFFFFF">
              <a:lumMod val="75000"/>
            </a:srgbClr>
          </a:solidFill>
          <a:ln>
            <a:noFill/>
          </a:ln>
        </p:spPr>
        <p:txBody>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dirty="0">
              <a:ln>
                <a:noFill/>
              </a:ln>
              <a:solidFill>
                <a:srgbClr val="3D81BF"/>
              </a:solidFill>
              <a:effectLst/>
              <a:uLnTx/>
              <a:uFillTx/>
              <a:latin typeface="Arial" pitchFamily="34" charset="0"/>
            </a:endParaRPr>
          </a:p>
        </p:txBody>
      </p:sp>
      <p:sp>
        <p:nvSpPr>
          <p:cNvPr id="5" name="Freeform 4"/>
          <p:cNvSpPr>
            <a:spLocks/>
          </p:cNvSpPr>
          <p:nvPr/>
        </p:nvSpPr>
        <p:spPr bwMode="gray">
          <a:xfrm rot="10800000">
            <a:off x="6053270" y="1338130"/>
            <a:ext cx="1924050" cy="1147968"/>
          </a:xfrm>
          <a:custGeom>
            <a:avLst/>
            <a:gdLst>
              <a:gd name="T0" fmla="*/ 88 w 2320"/>
              <a:gd name="T1" fmla="*/ 696 h 792"/>
              <a:gd name="T2" fmla="*/ 88 w 2320"/>
              <a:gd name="T3" fmla="*/ 0 h 792"/>
              <a:gd name="T4" fmla="*/ 0 w 2320"/>
              <a:gd name="T5" fmla="*/ 0 h 792"/>
              <a:gd name="T6" fmla="*/ 0 w 2320"/>
              <a:gd name="T7" fmla="*/ 792 h 792"/>
              <a:gd name="T8" fmla="*/ 2320 w 2320"/>
              <a:gd name="T9" fmla="*/ 792 h 792"/>
              <a:gd name="T10" fmla="*/ 2320 w 2320"/>
              <a:gd name="T11" fmla="*/ 696 h 792"/>
              <a:gd name="T12" fmla="*/ 88 w 2320"/>
              <a:gd name="T13" fmla="*/ 696 h 792"/>
            </a:gdLst>
            <a:ahLst/>
            <a:cxnLst>
              <a:cxn ang="0">
                <a:pos x="T0" y="T1"/>
              </a:cxn>
              <a:cxn ang="0">
                <a:pos x="T2" y="T3"/>
              </a:cxn>
              <a:cxn ang="0">
                <a:pos x="T4" y="T5"/>
              </a:cxn>
              <a:cxn ang="0">
                <a:pos x="T6" y="T7"/>
              </a:cxn>
              <a:cxn ang="0">
                <a:pos x="T8" y="T9"/>
              </a:cxn>
              <a:cxn ang="0">
                <a:pos x="T10" y="T11"/>
              </a:cxn>
              <a:cxn ang="0">
                <a:pos x="T12" y="T13"/>
              </a:cxn>
            </a:cxnLst>
            <a:rect l="0" t="0" r="r" b="b"/>
            <a:pathLst>
              <a:path w="2320" h="792">
                <a:moveTo>
                  <a:pt x="88" y="696"/>
                </a:moveTo>
                <a:lnTo>
                  <a:pt x="88" y="0"/>
                </a:lnTo>
                <a:lnTo>
                  <a:pt x="0" y="0"/>
                </a:lnTo>
                <a:lnTo>
                  <a:pt x="0" y="792"/>
                </a:lnTo>
                <a:lnTo>
                  <a:pt x="2320" y="792"/>
                </a:lnTo>
                <a:lnTo>
                  <a:pt x="2320" y="696"/>
                </a:lnTo>
                <a:lnTo>
                  <a:pt x="88" y="696"/>
                </a:lnTo>
                <a:close/>
              </a:path>
            </a:pathLst>
          </a:custGeom>
          <a:solidFill>
            <a:srgbClr val="000000">
              <a:lumMod val="50000"/>
              <a:lumOff val="50000"/>
            </a:srgbClr>
          </a:solidFill>
          <a:ln>
            <a:noFill/>
          </a:ln>
        </p:spPr>
        <p:txBody>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dirty="0">
              <a:ln>
                <a:noFill/>
              </a:ln>
              <a:solidFill>
                <a:srgbClr val="3D81BF"/>
              </a:solidFill>
              <a:effectLst/>
              <a:uLnTx/>
              <a:uFillTx/>
              <a:latin typeface="Arial" pitchFamily="34" charset="0"/>
            </a:endParaRPr>
          </a:p>
        </p:txBody>
      </p:sp>
      <p:sp>
        <p:nvSpPr>
          <p:cNvPr id="6" name="Rectangle 5"/>
          <p:cNvSpPr>
            <a:spLocks noChangeArrowheads="1"/>
          </p:cNvSpPr>
          <p:nvPr/>
        </p:nvSpPr>
        <p:spPr bwMode="gray">
          <a:xfrm>
            <a:off x="1208088" y="1566304"/>
            <a:ext cx="6629400" cy="1832164"/>
          </a:xfrm>
          <a:prstGeom prst="rect">
            <a:avLst/>
          </a:prstGeom>
          <a:solidFill>
            <a:srgbClr val="3D81BF">
              <a:lumMod val="75000"/>
            </a:srgbClr>
          </a:solidFill>
          <a:ln w="28575">
            <a:solidFill>
              <a:srgbClr val="3D81BF"/>
            </a:solidFill>
          </a:ln>
          <a:effectLst>
            <a:outerShdw sy="50000" kx="-2453608" rotWithShape="0">
              <a:srgbClr val="B2B2B2">
                <a:alpha val="50000"/>
              </a:srgbClr>
            </a:outerShdw>
          </a:effectLst>
        </p:spPr>
        <p:txBody>
          <a:bodyPr anchor="ctr"/>
          <a:lstStyle/>
          <a:p>
            <a:pPr algn="ctr" rtl="1" fontAlgn="base">
              <a:spcBef>
                <a:spcPct val="0"/>
              </a:spcBef>
              <a:spcAft>
                <a:spcPct val="0"/>
              </a:spcAft>
              <a:defRPr/>
            </a:pPr>
            <a:r>
              <a:rPr lang="ar-BH" sz="2400" b="1" kern="0" dirty="0">
                <a:solidFill>
                  <a:srgbClr val="FFFFFF"/>
                </a:solidFill>
                <a:latin typeface="Times New Roman" panose="02020603050405020304" pitchFamily="18" charset="0"/>
                <a:cs typeface="B Nazanin" pitchFamily="2" charset="-78"/>
              </a:rPr>
              <a:t>همسان‌سازی فعال و سریع پک باتری با استفاده از مبدل دوطرفه با دامنه ولتاژ کاری وسیع و الگوریتم</a:t>
            </a:r>
          </a:p>
          <a:p>
            <a:pPr algn="ctr" rtl="1" fontAlgn="base">
              <a:spcBef>
                <a:spcPct val="0"/>
              </a:spcBef>
              <a:spcAft>
                <a:spcPct val="0"/>
              </a:spcAft>
              <a:defRPr/>
            </a:pPr>
            <a:r>
              <a:rPr lang="ar-BH" sz="2400" b="1" kern="0" dirty="0">
                <a:solidFill>
                  <a:srgbClr val="FFFFFF"/>
                </a:solidFill>
                <a:latin typeface="Times New Roman" panose="02020603050405020304" pitchFamily="18" charset="0"/>
                <a:cs typeface="B Nazanin" pitchFamily="2" charset="-78"/>
              </a:rPr>
              <a:t>بهبودیافته خوشه بندی </a:t>
            </a:r>
            <a:r>
              <a:rPr lang="en-US" sz="2400" b="1" kern="0" dirty="0">
                <a:solidFill>
                  <a:srgbClr val="FFFFFF"/>
                </a:solidFill>
                <a:latin typeface="Times New Roman" panose="02020603050405020304" pitchFamily="18" charset="0"/>
                <a:cs typeface="B Nazanin" pitchFamily="2" charset="-78"/>
              </a:rPr>
              <a:t>PSO-DBSCAN</a:t>
            </a:r>
          </a:p>
        </p:txBody>
      </p:sp>
      <p:sp>
        <p:nvSpPr>
          <p:cNvPr id="7" name="Freeform 6"/>
          <p:cNvSpPr>
            <a:spLocks/>
          </p:cNvSpPr>
          <p:nvPr/>
        </p:nvSpPr>
        <p:spPr bwMode="gray">
          <a:xfrm>
            <a:off x="1073388" y="5180676"/>
            <a:ext cx="2019300" cy="786923"/>
          </a:xfrm>
          <a:custGeom>
            <a:avLst/>
            <a:gdLst>
              <a:gd name="T0" fmla="*/ 88 w 2320"/>
              <a:gd name="T1" fmla="*/ 696 h 792"/>
              <a:gd name="T2" fmla="*/ 88 w 2320"/>
              <a:gd name="T3" fmla="*/ 0 h 792"/>
              <a:gd name="T4" fmla="*/ 0 w 2320"/>
              <a:gd name="T5" fmla="*/ 0 h 792"/>
              <a:gd name="T6" fmla="*/ 0 w 2320"/>
              <a:gd name="T7" fmla="*/ 792 h 792"/>
              <a:gd name="T8" fmla="*/ 2320 w 2320"/>
              <a:gd name="T9" fmla="*/ 792 h 792"/>
              <a:gd name="T10" fmla="*/ 2320 w 2320"/>
              <a:gd name="T11" fmla="*/ 696 h 792"/>
              <a:gd name="T12" fmla="*/ 88 w 2320"/>
              <a:gd name="T13" fmla="*/ 696 h 792"/>
            </a:gdLst>
            <a:ahLst/>
            <a:cxnLst>
              <a:cxn ang="0">
                <a:pos x="T0" y="T1"/>
              </a:cxn>
              <a:cxn ang="0">
                <a:pos x="T2" y="T3"/>
              </a:cxn>
              <a:cxn ang="0">
                <a:pos x="T4" y="T5"/>
              </a:cxn>
              <a:cxn ang="0">
                <a:pos x="T6" y="T7"/>
              </a:cxn>
              <a:cxn ang="0">
                <a:pos x="T8" y="T9"/>
              </a:cxn>
              <a:cxn ang="0">
                <a:pos x="T10" y="T11"/>
              </a:cxn>
              <a:cxn ang="0">
                <a:pos x="T12" y="T13"/>
              </a:cxn>
            </a:cxnLst>
            <a:rect l="0" t="0" r="r" b="b"/>
            <a:pathLst>
              <a:path w="2320" h="792">
                <a:moveTo>
                  <a:pt x="88" y="696"/>
                </a:moveTo>
                <a:lnTo>
                  <a:pt x="88" y="0"/>
                </a:lnTo>
                <a:lnTo>
                  <a:pt x="0" y="0"/>
                </a:lnTo>
                <a:lnTo>
                  <a:pt x="0" y="792"/>
                </a:lnTo>
                <a:lnTo>
                  <a:pt x="2320" y="792"/>
                </a:lnTo>
                <a:lnTo>
                  <a:pt x="2320" y="696"/>
                </a:lnTo>
                <a:lnTo>
                  <a:pt x="88" y="696"/>
                </a:lnTo>
                <a:close/>
              </a:path>
            </a:pathLst>
          </a:custGeom>
          <a:solidFill>
            <a:srgbClr val="FFFFFF">
              <a:lumMod val="75000"/>
            </a:srgbClr>
          </a:solidFill>
          <a:ln>
            <a:noFill/>
          </a:ln>
        </p:spPr>
        <p:txBody>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dirty="0">
              <a:ln>
                <a:noFill/>
              </a:ln>
              <a:solidFill>
                <a:srgbClr val="3D81BF"/>
              </a:solidFill>
              <a:effectLst/>
              <a:uLnTx/>
              <a:uFillTx/>
              <a:latin typeface="Arial" pitchFamily="34" charset="0"/>
            </a:endParaRPr>
          </a:p>
        </p:txBody>
      </p:sp>
      <p:sp>
        <p:nvSpPr>
          <p:cNvPr id="8" name="Freeform 7"/>
          <p:cNvSpPr>
            <a:spLocks/>
          </p:cNvSpPr>
          <p:nvPr/>
        </p:nvSpPr>
        <p:spPr bwMode="gray">
          <a:xfrm rot="10800000">
            <a:off x="6068404" y="4419600"/>
            <a:ext cx="1924050" cy="769620"/>
          </a:xfrm>
          <a:custGeom>
            <a:avLst/>
            <a:gdLst>
              <a:gd name="T0" fmla="*/ 88 w 2320"/>
              <a:gd name="T1" fmla="*/ 696 h 792"/>
              <a:gd name="T2" fmla="*/ 88 w 2320"/>
              <a:gd name="T3" fmla="*/ 0 h 792"/>
              <a:gd name="T4" fmla="*/ 0 w 2320"/>
              <a:gd name="T5" fmla="*/ 0 h 792"/>
              <a:gd name="T6" fmla="*/ 0 w 2320"/>
              <a:gd name="T7" fmla="*/ 792 h 792"/>
              <a:gd name="T8" fmla="*/ 2320 w 2320"/>
              <a:gd name="T9" fmla="*/ 792 h 792"/>
              <a:gd name="T10" fmla="*/ 2320 w 2320"/>
              <a:gd name="T11" fmla="*/ 696 h 792"/>
              <a:gd name="T12" fmla="*/ 88 w 2320"/>
              <a:gd name="T13" fmla="*/ 696 h 792"/>
            </a:gdLst>
            <a:ahLst/>
            <a:cxnLst>
              <a:cxn ang="0">
                <a:pos x="T0" y="T1"/>
              </a:cxn>
              <a:cxn ang="0">
                <a:pos x="T2" y="T3"/>
              </a:cxn>
              <a:cxn ang="0">
                <a:pos x="T4" y="T5"/>
              </a:cxn>
              <a:cxn ang="0">
                <a:pos x="T6" y="T7"/>
              </a:cxn>
              <a:cxn ang="0">
                <a:pos x="T8" y="T9"/>
              </a:cxn>
              <a:cxn ang="0">
                <a:pos x="T10" y="T11"/>
              </a:cxn>
              <a:cxn ang="0">
                <a:pos x="T12" y="T13"/>
              </a:cxn>
            </a:cxnLst>
            <a:rect l="0" t="0" r="r" b="b"/>
            <a:pathLst>
              <a:path w="2320" h="792">
                <a:moveTo>
                  <a:pt x="88" y="696"/>
                </a:moveTo>
                <a:lnTo>
                  <a:pt x="88" y="0"/>
                </a:lnTo>
                <a:lnTo>
                  <a:pt x="0" y="0"/>
                </a:lnTo>
                <a:lnTo>
                  <a:pt x="0" y="792"/>
                </a:lnTo>
                <a:lnTo>
                  <a:pt x="2320" y="792"/>
                </a:lnTo>
                <a:lnTo>
                  <a:pt x="2320" y="696"/>
                </a:lnTo>
                <a:lnTo>
                  <a:pt x="88" y="696"/>
                </a:lnTo>
                <a:close/>
              </a:path>
            </a:pathLst>
          </a:custGeom>
          <a:solidFill>
            <a:srgbClr val="000000">
              <a:lumMod val="50000"/>
              <a:lumOff val="50000"/>
            </a:srgbClr>
          </a:solidFill>
          <a:ln>
            <a:noFill/>
          </a:ln>
        </p:spPr>
        <p:txBody>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dirty="0">
              <a:ln>
                <a:noFill/>
              </a:ln>
              <a:solidFill>
                <a:srgbClr val="3D81BF"/>
              </a:solidFill>
              <a:effectLst/>
              <a:uLnTx/>
              <a:uFillTx/>
              <a:latin typeface="Arial" pitchFamily="34" charset="0"/>
            </a:endParaRPr>
          </a:p>
        </p:txBody>
      </p:sp>
      <p:sp>
        <p:nvSpPr>
          <p:cNvPr id="9" name="Rectangle 8"/>
          <p:cNvSpPr>
            <a:spLocks noChangeArrowheads="1"/>
          </p:cNvSpPr>
          <p:nvPr/>
        </p:nvSpPr>
        <p:spPr bwMode="gray">
          <a:xfrm>
            <a:off x="1227138" y="4571076"/>
            <a:ext cx="6629400" cy="1219200"/>
          </a:xfrm>
          <a:prstGeom prst="rect">
            <a:avLst/>
          </a:prstGeom>
          <a:solidFill>
            <a:srgbClr val="3D81BF">
              <a:lumMod val="75000"/>
            </a:srgbClr>
          </a:solidFill>
          <a:ln w="28575">
            <a:solidFill>
              <a:srgbClr val="3D81BF"/>
            </a:solidFill>
          </a:ln>
          <a:effectLst>
            <a:outerShdw sy="50000" kx="-2453608" rotWithShape="0">
              <a:srgbClr val="B2B2B2">
                <a:alpha val="50000"/>
              </a:srgbClr>
            </a:outerShdw>
          </a:effectLst>
        </p:spPr>
        <p:txBody>
          <a:bodyPr anchor="ctr"/>
          <a:lstStyle/>
          <a:p>
            <a:pPr marL="0" marR="0" lvl="0" indent="0" algn="ctr" defTabSz="914400" rtl="1" eaLnBrk="1" fontAlgn="base" latinLnBrk="0" hangingPunct="1">
              <a:lnSpc>
                <a:spcPct val="100000"/>
              </a:lnSpc>
              <a:spcBef>
                <a:spcPct val="0"/>
              </a:spcBef>
              <a:spcAft>
                <a:spcPct val="0"/>
              </a:spcAft>
              <a:buClrTx/>
              <a:buSzTx/>
              <a:buFontTx/>
              <a:buNone/>
              <a:tabLst/>
              <a:defRPr/>
            </a:pPr>
            <a:r>
              <a:rPr lang="fa-IR" sz="1600" b="1" kern="0" dirty="0">
                <a:solidFill>
                  <a:srgbClr val="FFFFFF"/>
                </a:solidFill>
                <a:latin typeface="Times New Roman" panose="02020603050405020304" pitchFamily="18" charset="0"/>
                <a:cs typeface="B Nazanin" pitchFamily="2" charset="-78"/>
              </a:rPr>
              <a:t>ارائه دهنده: مهدی امیری نسب</a:t>
            </a:r>
            <a:endParaRPr kumimoji="0" lang="fa-IR" sz="1600" b="1" i="0" u="none" strike="noStrike" kern="0" cap="none" spc="0" normalizeH="0" baseline="0" noProof="0" dirty="0">
              <a:ln>
                <a:noFill/>
              </a:ln>
              <a:solidFill>
                <a:srgbClr val="FFFFFF"/>
              </a:solidFill>
              <a:effectLst/>
              <a:uLnTx/>
              <a:uFillTx/>
              <a:latin typeface="Times New Roman" panose="02020603050405020304" pitchFamily="18" charset="0"/>
              <a:cs typeface="B Nazanin" pitchFamily="2" charset="-78"/>
            </a:endParaRPr>
          </a:p>
          <a:p>
            <a:pPr marL="0" marR="0" lvl="0" indent="0" algn="ctr" defTabSz="914400" rtl="1" eaLnBrk="1" fontAlgn="base" latinLnBrk="0" hangingPunct="1">
              <a:lnSpc>
                <a:spcPct val="100000"/>
              </a:lnSpc>
              <a:spcBef>
                <a:spcPct val="0"/>
              </a:spcBef>
              <a:spcAft>
                <a:spcPct val="0"/>
              </a:spcAft>
              <a:buClrTx/>
              <a:buSzTx/>
              <a:buFontTx/>
              <a:buNone/>
              <a:tabLst/>
              <a:defRPr/>
            </a:pPr>
            <a:endParaRPr kumimoji="0" lang="fa-IR" sz="1100" b="1" i="0" u="none" strike="noStrike" kern="0" cap="none" spc="0" normalizeH="0" baseline="0" noProof="0" dirty="0">
              <a:ln>
                <a:noFill/>
              </a:ln>
              <a:solidFill>
                <a:srgbClr val="FFFFFF"/>
              </a:solidFill>
              <a:effectLst/>
              <a:uLnTx/>
              <a:uFillTx/>
              <a:latin typeface="Times New Roman" panose="02020603050405020304" pitchFamily="18" charset="0"/>
              <a:cs typeface="Times New Roman" panose="02020603050405020304" pitchFamily="18" charset="0"/>
            </a:endParaRPr>
          </a:p>
          <a:p>
            <a:pPr marL="0" marR="0" lvl="0" indent="0" algn="ctr" defTabSz="914400" rtl="1" eaLnBrk="1" fontAlgn="base" latinLnBrk="0" hangingPunct="1">
              <a:lnSpc>
                <a:spcPct val="100000"/>
              </a:lnSpc>
              <a:spcBef>
                <a:spcPct val="0"/>
              </a:spcBef>
              <a:spcAft>
                <a:spcPct val="0"/>
              </a:spcAft>
              <a:buClrTx/>
              <a:buSzTx/>
              <a:buFontTx/>
              <a:buNone/>
              <a:tabLst/>
              <a:defRPr/>
            </a:pPr>
            <a:r>
              <a:rPr kumimoji="0" lang="fa-IR" sz="1600" b="1" i="0" u="none" strike="noStrike" kern="0" cap="none" spc="0" normalizeH="0" baseline="0" noProof="0" dirty="0">
                <a:ln>
                  <a:noFill/>
                </a:ln>
                <a:solidFill>
                  <a:srgbClr val="FFFFFF"/>
                </a:solidFill>
                <a:effectLst/>
                <a:uLnTx/>
                <a:uFillTx/>
                <a:latin typeface="Times New Roman" panose="02020603050405020304" pitchFamily="18" charset="0"/>
                <a:cs typeface="B Nazanin" pitchFamily="2" charset="-78"/>
              </a:rPr>
              <a:t>استاد راهنما: دکتر سید حسین</a:t>
            </a:r>
            <a:r>
              <a:rPr kumimoji="0" lang="fa-IR" sz="1600" b="1" i="0" u="none" strike="noStrike" kern="0" cap="none" spc="0" normalizeH="0" noProof="0" dirty="0">
                <a:ln>
                  <a:noFill/>
                </a:ln>
                <a:solidFill>
                  <a:srgbClr val="FFFFFF"/>
                </a:solidFill>
                <a:effectLst/>
                <a:uLnTx/>
                <a:uFillTx/>
                <a:latin typeface="Times New Roman" panose="02020603050405020304" pitchFamily="18" charset="0"/>
                <a:cs typeface="B Nazanin" pitchFamily="2" charset="-78"/>
              </a:rPr>
              <a:t> پیشگر</a:t>
            </a:r>
            <a:endParaRPr kumimoji="0" lang="en-US" sz="1600" b="1" i="0" u="none" strike="noStrike" kern="0" cap="none" spc="0" normalizeH="0" baseline="0" noProof="0" dirty="0">
              <a:ln>
                <a:noFill/>
              </a:ln>
              <a:solidFill>
                <a:srgbClr val="FFFFFF"/>
              </a:solidFill>
              <a:effectLst/>
              <a:uLnTx/>
              <a:uFillTx/>
              <a:latin typeface="Times New Roman" panose="02020603050405020304" pitchFamily="18" charset="0"/>
              <a:cs typeface="B Nazanin" pitchFamily="2" charset="-78"/>
            </a:endParaRPr>
          </a:p>
          <a:p>
            <a:pPr marL="0" marR="0" lvl="0" indent="0" algn="ctr" defTabSz="914400" rtl="1" eaLnBrk="1" fontAlgn="base" latinLnBrk="0" hangingPunct="1">
              <a:lnSpc>
                <a:spcPct val="100000"/>
              </a:lnSpc>
              <a:spcBef>
                <a:spcPct val="0"/>
              </a:spcBef>
              <a:spcAft>
                <a:spcPct val="0"/>
              </a:spcAft>
              <a:buClrTx/>
              <a:buSzTx/>
              <a:buFontTx/>
              <a:buNone/>
              <a:tabLst/>
              <a:defRPr/>
            </a:pPr>
            <a:endParaRPr kumimoji="0" lang="fa-IR" sz="1100" b="1" i="0" u="none" strike="noStrike" kern="0" cap="none" spc="0" normalizeH="0" baseline="0" noProof="0" dirty="0">
              <a:ln>
                <a:noFill/>
              </a:ln>
              <a:solidFill>
                <a:srgbClr val="FFFFFF"/>
              </a:solidFill>
              <a:effectLst/>
              <a:uLnTx/>
              <a:uFillTx/>
              <a:latin typeface="Times New Roman" panose="02020603050405020304" pitchFamily="18" charset="0"/>
              <a:cs typeface="Times New Roman" panose="02020603050405020304" pitchFamily="18" charset="0"/>
            </a:endParaRPr>
          </a:p>
          <a:p>
            <a:pPr marL="0" marR="0" lvl="0" indent="0" algn="ctr" defTabSz="914400" rtl="1" eaLnBrk="1" fontAlgn="base" latinLnBrk="0" hangingPunct="1">
              <a:lnSpc>
                <a:spcPct val="100000"/>
              </a:lnSpc>
              <a:spcBef>
                <a:spcPct val="0"/>
              </a:spcBef>
              <a:spcAft>
                <a:spcPct val="0"/>
              </a:spcAft>
              <a:buClrTx/>
              <a:buSzTx/>
              <a:buFontTx/>
              <a:buNone/>
              <a:tabLst/>
              <a:defRPr/>
            </a:pPr>
            <a:r>
              <a:rPr kumimoji="0" lang="fa-IR" sz="1200" b="1" i="0" u="none" strike="noStrike" kern="0" cap="none" spc="0" normalizeH="0" noProof="0" dirty="0">
                <a:ln>
                  <a:noFill/>
                </a:ln>
                <a:solidFill>
                  <a:srgbClr val="FFFFFF"/>
                </a:solidFill>
                <a:effectLst/>
                <a:uLnTx/>
                <a:uFillTx/>
                <a:latin typeface="Times New Roman" panose="02020603050405020304" pitchFamily="18" charset="0"/>
                <a:cs typeface="B Nazanin" pitchFamily="2" charset="-78"/>
              </a:rPr>
              <a:t>بهمن1401</a:t>
            </a:r>
            <a:endParaRPr kumimoji="0" lang="en-US" sz="1400" b="0" i="0" u="none" strike="noStrike" kern="0" cap="none" spc="0" normalizeH="0" baseline="0" noProof="0" dirty="0">
              <a:ln>
                <a:noFill/>
              </a:ln>
              <a:solidFill>
                <a:srgbClr val="FFFFFF"/>
              </a:solidFill>
              <a:effectLst/>
              <a:uLnTx/>
              <a:uFillTx/>
              <a:latin typeface="Times New Roman" panose="02020603050405020304" pitchFamily="18" charset="0"/>
              <a:cs typeface="B Nazanin" pitchFamily="2" charset="-78"/>
            </a:endParaRPr>
          </a:p>
        </p:txBody>
      </p:sp>
      <p:pic>
        <p:nvPicPr>
          <p:cNvPr id="12" name="Picture 11" descr="پرونده:Azad University logo.png - ویکی‌پدیا، دانشنامهٔ آزاد">
            <a:extLst>
              <a:ext uri="{FF2B5EF4-FFF2-40B4-BE49-F238E27FC236}">
                <a16:creationId xmlns:a16="http://schemas.microsoft.com/office/drawing/2014/main" id="{8BB820CC-AF9A-4352-B541-87C5A2FF6EC9}"/>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13" name="Slide Number Placeholder 3">
            <a:extLst>
              <a:ext uri="{FF2B5EF4-FFF2-40B4-BE49-F238E27FC236}">
                <a16:creationId xmlns:a16="http://schemas.microsoft.com/office/drawing/2014/main" id="{FEFB061F-8AAB-4535-B272-1BA4D5A77191}"/>
              </a:ext>
            </a:extLst>
          </p:cNvPr>
          <p:cNvSpPr>
            <a:spLocks noGrp="1"/>
          </p:cNvSpPr>
          <p:nvPr>
            <p:ph type="sldNum" sz="quarter" idx="12"/>
          </p:nvPr>
        </p:nvSpPr>
        <p:spPr>
          <a:xfrm>
            <a:off x="8965" y="6090313"/>
            <a:ext cx="676835" cy="767687"/>
          </a:xfrm>
        </p:spPr>
        <p:txBody>
          <a:bodyPr/>
          <a:lstStyle/>
          <a:p>
            <a:pPr rtl="1"/>
            <a:fld id="{E8ADF199-8047-440E-B02B-E80683B392F2}" type="slidenum">
              <a:rPr lang="fa-IR" sz="1800" smtClean="0">
                <a:solidFill>
                  <a:schemeClr val="tx1"/>
                </a:solidFill>
                <a:cs typeface="B Lotus" panose="00000400000000000000" pitchFamily="2" charset="-78"/>
              </a:rPr>
              <a:t>1</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42308155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descr="پرونده:Azad University logo.png - ویکی‌پدیا، دانشنامهٔ آزاد">
            <a:extLst>
              <a:ext uri="{FF2B5EF4-FFF2-40B4-BE49-F238E27FC236}">
                <a16:creationId xmlns:a16="http://schemas.microsoft.com/office/drawing/2014/main" id="{8BB820CC-AF9A-4352-B541-87C5A2FF6EC9}"/>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13" name="AutoShape 2">
            <a:extLst>
              <a:ext uri="{FF2B5EF4-FFF2-40B4-BE49-F238E27FC236}">
                <a16:creationId xmlns:a16="http://schemas.microsoft.com/office/drawing/2014/main" id="{497A908A-E454-4B9F-A07D-96505D4C7818}"/>
              </a:ext>
            </a:extLst>
          </p:cNvPr>
          <p:cNvSpPr>
            <a:spLocks noChangeAspect="1" noChangeArrowheads="1"/>
          </p:cNvSpPr>
          <p:nvPr/>
        </p:nvSpPr>
        <p:spPr bwMode="ltGray">
          <a:xfrm rot="16200000" flipH="1">
            <a:off x="6766533" y="1703388"/>
            <a:ext cx="4824413" cy="4770438"/>
          </a:xfrm>
          <a:custGeom>
            <a:avLst/>
            <a:gdLst>
              <a:gd name="G0" fmla="+- 10478 0 0"/>
              <a:gd name="G1" fmla="+- -11739500 0 0"/>
              <a:gd name="G2" fmla="+- 0 0 -11739500"/>
              <a:gd name="T0" fmla="*/ 0 256 1"/>
              <a:gd name="T1" fmla="*/ 180 256 1"/>
              <a:gd name="G3" fmla="+- -11739500 T0 T1"/>
              <a:gd name="T2" fmla="*/ 0 256 1"/>
              <a:gd name="T3" fmla="*/ 90 256 1"/>
              <a:gd name="G4" fmla="+- -11739500 T2 T3"/>
              <a:gd name="G5" fmla="*/ G4 2 1"/>
              <a:gd name="T4" fmla="*/ 90 256 1"/>
              <a:gd name="T5" fmla="*/ 0 256 1"/>
              <a:gd name="G6" fmla="+- -11739500 T4 T5"/>
              <a:gd name="G7" fmla="*/ G6 2 1"/>
              <a:gd name="G8" fmla="abs -11739500"/>
              <a:gd name="T6" fmla="*/ 0 256 1"/>
              <a:gd name="T7" fmla="*/ 90 256 1"/>
              <a:gd name="G9" fmla="+- G8 T6 T7"/>
              <a:gd name="G10" fmla="?: G9 G7 G5"/>
              <a:gd name="T8" fmla="*/ 0 256 1"/>
              <a:gd name="T9" fmla="*/ 360 256 1"/>
              <a:gd name="G11" fmla="+- G10 T8 T9"/>
              <a:gd name="G12" fmla="?: G10 G11 G10"/>
              <a:gd name="T10" fmla="*/ 0 256 1"/>
              <a:gd name="T11" fmla="*/ 360 256 1"/>
              <a:gd name="G13" fmla="+- G12 T10 T11"/>
              <a:gd name="G14" fmla="?: G12 G13 G12"/>
              <a:gd name="G15" fmla="+- 0 0 G14"/>
              <a:gd name="G16" fmla="+- 10800 0 0"/>
              <a:gd name="G17" fmla="+- 10800 0 10478"/>
              <a:gd name="G18" fmla="*/ 10478 1 2"/>
              <a:gd name="G19" fmla="+- G18 5400 0"/>
              <a:gd name="G20" fmla="cos G19 -11739500"/>
              <a:gd name="G21" fmla="sin G19 -11739500"/>
              <a:gd name="G22" fmla="+- G20 10800 0"/>
              <a:gd name="G23" fmla="+- G21 10800 0"/>
              <a:gd name="G24" fmla="+- 10800 0 G20"/>
              <a:gd name="G25" fmla="+- 10478 10800 0"/>
              <a:gd name="G26" fmla="?: G9 G17 G25"/>
              <a:gd name="G27" fmla="?: G9 0 21600"/>
              <a:gd name="G28" fmla="cos 10800 -11739500"/>
              <a:gd name="G29" fmla="sin 10800 -11739500"/>
              <a:gd name="G30" fmla="sin 10478 -11739500"/>
              <a:gd name="G31" fmla="+- G28 10800 0"/>
              <a:gd name="G32" fmla="+- G29 10800 0"/>
              <a:gd name="G33" fmla="+- G30 10800 0"/>
              <a:gd name="G34" fmla="?: G4 0 G31"/>
              <a:gd name="G35" fmla="?: -11739500 G34 0"/>
              <a:gd name="G36" fmla="?: G6 G35 G31"/>
              <a:gd name="G37" fmla="+- 21600 0 G36"/>
              <a:gd name="G38" fmla="?: G4 0 G33"/>
              <a:gd name="G39" fmla="?: -11739500 G38 G32"/>
              <a:gd name="G40" fmla="?: G6 G39 0"/>
              <a:gd name="G41" fmla="?: G4 G32 21600"/>
              <a:gd name="G42" fmla="?: G6 G41 G33"/>
              <a:gd name="T12" fmla="*/ 10800 w 21600"/>
              <a:gd name="T13" fmla="*/ 0 h 21600"/>
              <a:gd name="T14" fmla="*/ 162 w 21600"/>
              <a:gd name="T15" fmla="*/ 10638 h 21600"/>
              <a:gd name="T16" fmla="*/ 10800 w 21600"/>
              <a:gd name="T17" fmla="*/ 322 h 21600"/>
              <a:gd name="T18" fmla="*/ 21438 w 21600"/>
              <a:gd name="T19" fmla="*/ 10638 h 21600"/>
              <a:gd name="T20" fmla="*/ G36 w 21600"/>
              <a:gd name="T21" fmla="*/ G40 h 21600"/>
              <a:gd name="T22" fmla="*/ G37 w 21600"/>
              <a:gd name="T23" fmla="*/ G42 h 21600"/>
            </a:gdLst>
            <a:ahLst/>
            <a:cxnLst>
              <a:cxn ang="0">
                <a:pos x="T12" y="T13"/>
              </a:cxn>
              <a:cxn ang="0">
                <a:pos x="T14" y="T15"/>
              </a:cxn>
              <a:cxn ang="0">
                <a:pos x="T16" y="T17"/>
              </a:cxn>
              <a:cxn ang="0">
                <a:pos x="T18" y="T19"/>
              </a:cxn>
            </a:cxnLst>
            <a:rect l="T20" t="T21" r="T22" b="T23"/>
            <a:pathLst>
              <a:path w="21600" h="21600">
                <a:moveTo>
                  <a:pt x="323" y="10641"/>
                </a:moveTo>
                <a:cubicBezTo>
                  <a:pt x="410" y="4916"/>
                  <a:pt x="5075" y="321"/>
                  <a:pt x="10800" y="322"/>
                </a:cubicBezTo>
                <a:cubicBezTo>
                  <a:pt x="16524" y="322"/>
                  <a:pt x="21189" y="4916"/>
                  <a:pt x="21276" y="10641"/>
                </a:cubicBezTo>
                <a:lnTo>
                  <a:pt x="21598" y="10636"/>
                </a:lnTo>
                <a:cubicBezTo>
                  <a:pt x="21509" y="4736"/>
                  <a:pt x="16700" y="-1"/>
                  <a:pt x="10799" y="0"/>
                </a:cubicBezTo>
                <a:cubicBezTo>
                  <a:pt x="4899" y="0"/>
                  <a:pt x="90" y="4736"/>
                  <a:pt x="1" y="10636"/>
                </a:cubicBezTo>
                <a:close/>
              </a:path>
            </a:pathLst>
          </a:custGeom>
          <a:gradFill rotWithShape="0">
            <a:gsLst>
              <a:gs pos="0">
                <a:srgbClr val="B0BAD8">
                  <a:gamma/>
                  <a:tint val="45490"/>
                  <a:invGamma/>
                </a:srgbClr>
              </a:gs>
              <a:gs pos="100000">
                <a:srgbClr val="B0BAD8"/>
              </a:gs>
            </a:gsLst>
            <a:lin ang="0" scaled="1"/>
          </a:gradFill>
          <a:ln w="9525" algn="ctr">
            <a:noFill/>
            <a:miter lim="800000"/>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14" name="AutoShape 3">
            <a:extLst>
              <a:ext uri="{FF2B5EF4-FFF2-40B4-BE49-F238E27FC236}">
                <a16:creationId xmlns:a16="http://schemas.microsoft.com/office/drawing/2014/main" id="{481E592A-A902-40E8-8D57-EEB2C886C06E}"/>
              </a:ext>
            </a:extLst>
          </p:cNvPr>
          <p:cNvSpPr>
            <a:spLocks noChangeAspect="1" noChangeArrowheads="1"/>
          </p:cNvSpPr>
          <p:nvPr/>
        </p:nvSpPr>
        <p:spPr bwMode="ltGray">
          <a:xfrm rot="16200000">
            <a:off x="7128181" y="2139156"/>
            <a:ext cx="4032250" cy="3929063"/>
          </a:xfrm>
          <a:custGeom>
            <a:avLst/>
            <a:gdLst>
              <a:gd name="G0" fmla="+- 56 0 0"/>
              <a:gd name="G1" fmla="+- 11796480 0 0"/>
              <a:gd name="G2" fmla="+- 0 0 11796480"/>
              <a:gd name="T0" fmla="*/ 0 256 1"/>
              <a:gd name="T1" fmla="*/ 180 256 1"/>
              <a:gd name="G3" fmla="+- 11796480 T0 T1"/>
              <a:gd name="T2" fmla="*/ 0 256 1"/>
              <a:gd name="T3" fmla="*/ 90 256 1"/>
              <a:gd name="G4" fmla="+- 11796480 T2 T3"/>
              <a:gd name="G5" fmla="*/ G4 2 1"/>
              <a:gd name="T4" fmla="*/ 90 256 1"/>
              <a:gd name="T5" fmla="*/ 0 256 1"/>
              <a:gd name="G6" fmla="+- 11796480 T4 T5"/>
              <a:gd name="G7" fmla="*/ G6 2 1"/>
              <a:gd name="G8" fmla="abs 11796480"/>
              <a:gd name="T6" fmla="*/ 0 256 1"/>
              <a:gd name="T7" fmla="*/ 90 256 1"/>
              <a:gd name="G9" fmla="+- G8 T6 T7"/>
              <a:gd name="G10" fmla="?: G9 G7 G5"/>
              <a:gd name="T8" fmla="*/ 0 256 1"/>
              <a:gd name="T9" fmla="*/ 360 256 1"/>
              <a:gd name="G11" fmla="+- G10 T8 T9"/>
              <a:gd name="G12" fmla="?: G10 G11 G10"/>
              <a:gd name="T10" fmla="*/ 0 256 1"/>
              <a:gd name="T11" fmla="*/ 360 256 1"/>
              <a:gd name="G13" fmla="+- G12 T10 T11"/>
              <a:gd name="G14" fmla="?: G12 G13 G12"/>
              <a:gd name="G15" fmla="+- 0 0 G14"/>
              <a:gd name="G16" fmla="+- 10800 0 0"/>
              <a:gd name="G17" fmla="+- 10800 0 56"/>
              <a:gd name="G18" fmla="*/ 56 1 2"/>
              <a:gd name="G19" fmla="+- G18 5400 0"/>
              <a:gd name="G20" fmla="cos G19 11796480"/>
              <a:gd name="G21" fmla="sin G19 11796480"/>
              <a:gd name="G22" fmla="+- G20 10800 0"/>
              <a:gd name="G23" fmla="+- G21 10800 0"/>
              <a:gd name="G24" fmla="+- 10800 0 G20"/>
              <a:gd name="G25" fmla="+- 56 10800 0"/>
              <a:gd name="G26" fmla="?: G9 G17 G25"/>
              <a:gd name="G27" fmla="?: G9 0 21600"/>
              <a:gd name="G28" fmla="cos 10800 11796480"/>
              <a:gd name="G29" fmla="sin 10800 11796480"/>
              <a:gd name="G30" fmla="sin 56 11796480"/>
              <a:gd name="G31" fmla="+- G28 10800 0"/>
              <a:gd name="G32" fmla="+- G29 10800 0"/>
              <a:gd name="G33" fmla="+- G30 10800 0"/>
              <a:gd name="G34" fmla="?: G4 0 G31"/>
              <a:gd name="G35" fmla="?: 11796480 G34 0"/>
              <a:gd name="G36" fmla="?: G6 G35 G31"/>
              <a:gd name="G37" fmla="+- 21600 0 G36"/>
              <a:gd name="G38" fmla="?: G4 0 G33"/>
              <a:gd name="G39" fmla="?: 11796480 G38 G32"/>
              <a:gd name="G40" fmla="?: G6 G39 0"/>
              <a:gd name="G41" fmla="?: G4 G32 21600"/>
              <a:gd name="G42" fmla="?: G6 G41 G33"/>
              <a:gd name="T12" fmla="*/ 10800 w 21600"/>
              <a:gd name="T13" fmla="*/ 0 h 21600"/>
              <a:gd name="T14" fmla="*/ 5372 w 21600"/>
              <a:gd name="T15" fmla="*/ 10800 h 21600"/>
              <a:gd name="T16" fmla="*/ 10800 w 21600"/>
              <a:gd name="T17" fmla="*/ 10744 h 21600"/>
              <a:gd name="T18" fmla="*/ 16228 w 21600"/>
              <a:gd name="T19" fmla="*/ 10800 h 21600"/>
              <a:gd name="T20" fmla="*/ G36 w 21600"/>
              <a:gd name="T21" fmla="*/ G40 h 21600"/>
              <a:gd name="T22" fmla="*/ G37 w 21600"/>
              <a:gd name="T23" fmla="*/ G42 h 21600"/>
            </a:gdLst>
            <a:ahLst/>
            <a:cxnLst>
              <a:cxn ang="0">
                <a:pos x="T12" y="T13"/>
              </a:cxn>
              <a:cxn ang="0">
                <a:pos x="T14" y="T15"/>
              </a:cxn>
              <a:cxn ang="0">
                <a:pos x="T16" y="T17"/>
              </a:cxn>
              <a:cxn ang="0">
                <a:pos x="T18" y="T19"/>
              </a:cxn>
            </a:cxnLst>
            <a:rect l="T20" t="T21" r="T22" b="T23"/>
            <a:pathLst>
              <a:path w="21600" h="21600">
                <a:moveTo>
                  <a:pt x="10744" y="10800"/>
                </a:moveTo>
                <a:cubicBezTo>
                  <a:pt x="10744" y="10769"/>
                  <a:pt x="10769" y="10744"/>
                  <a:pt x="10800" y="10744"/>
                </a:cubicBezTo>
                <a:cubicBezTo>
                  <a:pt x="10830" y="10743"/>
                  <a:pt x="10855" y="10769"/>
                  <a:pt x="10856" y="10799"/>
                </a:cubicBezTo>
                <a:lnTo>
                  <a:pt x="21600" y="10800"/>
                </a:lnTo>
                <a:cubicBezTo>
                  <a:pt x="21600" y="4835"/>
                  <a:pt x="16764" y="0"/>
                  <a:pt x="10800" y="0"/>
                </a:cubicBezTo>
                <a:cubicBezTo>
                  <a:pt x="4835" y="0"/>
                  <a:pt x="0" y="4835"/>
                  <a:pt x="0" y="10800"/>
                </a:cubicBezTo>
                <a:close/>
              </a:path>
            </a:pathLst>
          </a:custGeom>
          <a:gradFill rotWithShape="0">
            <a:gsLst>
              <a:gs pos="0">
                <a:srgbClr val="B8CCFE">
                  <a:gamma/>
                  <a:tint val="39216"/>
                  <a:invGamma/>
                </a:srgbClr>
              </a:gs>
              <a:gs pos="100000">
                <a:srgbClr val="B8CCFE"/>
              </a:gs>
            </a:gsLst>
            <a:lin ang="0" scaled="1"/>
          </a:gradFill>
          <a:ln w="0" algn="ctr">
            <a:noFill/>
            <a:miter lim="800000"/>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15" name="Rounded Rectangle 175">
            <a:extLst>
              <a:ext uri="{FF2B5EF4-FFF2-40B4-BE49-F238E27FC236}">
                <a16:creationId xmlns:a16="http://schemas.microsoft.com/office/drawing/2014/main" id="{51A82317-0D93-4108-A801-C3395CCA75DF}"/>
              </a:ext>
            </a:extLst>
          </p:cNvPr>
          <p:cNvSpPr/>
          <p:nvPr/>
        </p:nvSpPr>
        <p:spPr bwMode="auto">
          <a:xfrm>
            <a:off x="6477000" y="914400"/>
            <a:ext cx="1905000" cy="533400"/>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marL="0" marR="0" lvl="0" indent="0" algn="ctr" defTabSz="914400" eaLnBrk="1" fontAlgn="base" latinLnBrk="0" hangingPunct="1">
              <a:lnSpc>
                <a:spcPct val="100000"/>
              </a:lnSpc>
              <a:spcBef>
                <a:spcPct val="0"/>
              </a:spcBef>
              <a:spcAft>
                <a:spcPct val="0"/>
              </a:spcAft>
              <a:buClrTx/>
              <a:buSzTx/>
              <a:buFontTx/>
              <a:buNone/>
              <a:tabLst/>
              <a:defRPr/>
            </a:pPr>
            <a:r>
              <a:rPr kumimoji="0" lang="fa-IR" sz="2200" b="1" i="0" u="none" strike="noStrike" kern="0" cap="none" spc="0" normalizeH="0" baseline="0" noProof="0" dirty="0">
                <a:ln>
                  <a:noFill/>
                </a:ln>
                <a:solidFill>
                  <a:srgbClr val="FFFFFF"/>
                </a:solidFill>
                <a:effectLst/>
                <a:uLnTx/>
                <a:uFillTx/>
                <a:latin typeface="Times New Roman" panose="02020603050405020304" pitchFamily="18" charset="0"/>
                <a:cs typeface="B Nazanin" pitchFamily="2" charset="-78"/>
              </a:rPr>
              <a:t>فهرست</a:t>
            </a:r>
            <a:endParaRPr kumimoji="0" lang="en-US" sz="2200" b="1" i="0" u="none" strike="noStrike" kern="0" cap="none" spc="0" normalizeH="0" baseline="0" noProof="0" dirty="0">
              <a:ln>
                <a:noFill/>
              </a:ln>
              <a:solidFill>
                <a:srgbClr val="FFFFFF"/>
              </a:solidFill>
              <a:effectLst/>
              <a:uLnTx/>
              <a:uFillTx/>
              <a:latin typeface="Times New Roman" panose="02020603050405020304" pitchFamily="18" charset="0"/>
              <a:cs typeface="B Nazanin" pitchFamily="2" charset="-78"/>
            </a:endParaRPr>
          </a:p>
        </p:txBody>
      </p:sp>
      <p:sp>
        <p:nvSpPr>
          <p:cNvPr id="16" name="AutoShape 5">
            <a:extLst>
              <a:ext uri="{FF2B5EF4-FFF2-40B4-BE49-F238E27FC236}">
                <a16:creationId xmlns:a16="http://schemas.microsoft.com/office/drawing/2014/main" id="{A1924C9B-0919-470E-9298-E5DFCF302DF3}"/>
              </a:ext>
            </a:extLst>
          </p:cNvPr>
          <p:cNvSpPr>
            <a:spLocks noChangeAspect="1" noChangeArrowheads="1"/>
          </p:cNvSpPr>
          <p:nvPr/>
        </p:nvSpPr>
        <p:spPr bwMode="gray">
          <a:xfrm>
            <a:off x="3397853" y="5484630"/>
            <a:ext cx="3920947" cy="508000"/>
          </a:xfrm>
          <a:prstGeom prst="roundRect">
            <a:avLst>
              <a:gd name="adj" fmla="val 50000"/>
            </a:avLst>
          </a:prstGeom>
          <a:gradFill flip="none" rotWithShape="1">
            <a:gsLst>
              <a:gs pos="0">
                <a:srgbClr val="C4E59F">
                  <a:tint val="66000"/>
                  <a:satMod val="160000"/>
                </a:srgbClr>
              </a:gs>
              <a:gs pos="50000">
                <a:srgbClr val="C4E59F">
                  <a:tint val="44500"/>
                  <a:satMod val="160000"/>
                </a:srgbClr>
              </a:gs>
              <a:gs pos="100000">
                <a:srgbClr val="C4E59F">
                  <a:tint val="23500"/>
                  <a:satMod val="160000"/>
                </a:srgbClr>
              </a:gs>
            </a:gsLst>
            <a:lin ang="0" scaled="1"/>
            <a:tileRect/>
          </a:gradFill>
          <a:ln w="28575" algn="ctr">
            <a:solidFill>
              <a:srgbClr val="C4E59F"/>
            </a:solidFill>
            <a:round/>
            <a:headEnd/>
            <a:tailEnd/>
          </a:ln>
          <a:effectLst/>
        </p:spPr>
        <p:txBody>
          <a:bodyPr wrap="none" anchor="ctr"/>
          <a:lstStyle/>
          <a:p>
            <a:pPr algn="r" fontAlgn="base">
              <a:spcBef>
                <a:spcPct val="0"/>
              </a:spcBef>
              <a:spcAft>
                <a:spcPct val="0"/>
              </a:spcAft>
            </a:pPr>
            <a:r>
              <a:rPr lang="fa-IR" b="1" dirty="0">
                <a:solidFill>
                  <a:srgbClr val="000000"/>
                </a:solidFill>
                <a:latin typeface="Times New Roman" panose="02020603050405020304" pitchFamily="18" charset="0"/>
                <a:cs typeface="B Nazanin" pitchFamily="2" charset="-78"/>
              </a:rPr>
              <a:t>طراحی و پیاده سازی همسان ساز پیشنهادی</a:t>
            </a:r>
            <a:endParaRPr lang="en-US" b="1" dirty="0">
              <a:solidFill>
                <a:srgbClr val="000000"/>
              </a:solidFill>
              <a:latin typeface="Times New Roman" panose="02020603050405020304" pitchFamily="18" charset="0"/>
              <a:cs typeface="Times New Roman" panose="02020603050405020304" pitchFamily="18" charset="0"/>
            </a:endParaRPr>
          </a:p>
        </p:txBody>
      </p:sp>
      <p:sp>
        <p:nvSpPr>
          <p:cNvPr id="17" name="AutoShape 6">
            <a:extLst>
              <a:ext uri="{FF2B5EF4-FFF2-40B4-BE49-F238E27FC236}">
                <a16:creationId xmlns:a16="http://schemas.microsoft.com/office/drawing/2014/main" id="{1F8AE669-1568-4178-BF56-57E58EA0C127}"/>
              </a:ext>
            </a:extLst>
          </p:cNvPr>
          <p:cNvSpPr>
            <a:spLocks noChangeAspect="1" noChangeArrowheads="1"/>
          </p:cNvSpPr>
          <p:nvPr/>
        </p:nvSpPr>
        <p:spPr bwMode="gray">
          <a:xfrm>
            <a:off x="2373921" y="4483708"/>
            <a:ext cx="4461912"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solidFill>
                  <a:srgbClr val="000000"/>
                </a:solidFill>
                <a:latin typeface="Times New Roman" panose="02020603050405020304" pitchFamily="18" charset="0"/>
                <a:cs typeface="B Nazanin" pitchFamily="2" charset="-78"/>
              </a:rPr>
              <a:t>همسان</a:t>
            </a:r>
            <a:r>
              <a:rPr lang="en-US" b="1" dirty="0">
                <a:solidFill>
                  <a:srgbClr val="000000"/>
                </a:solidFill>
                <a:latin typeface="Times New Roman" panose="02020603050405020304" pitchFamily="18" charset="0"/>
                <a:cs typeface="B Nazanin" pitchFamily="2" charset="-78"/>
              </a:rPr>
              <a:t> </a:t>
            </a:r>
            <a:r>
              <a:rPr lang="fa-IR" b="1" dirty="0">
                <a:solidFill>
                  <a:srgbClr val="000000"/>
                </a:solidFill>
                <a:latin typeface="Times New Roman" panose="02020603050405020304" pitchFamily="18" charset="0"/>
                <a:cs typeface="B Nazanin" pitchFamily="2" charset="-78"/>
              </a:rPr>
              <a:t>ساز پیشنهادی</a:t>
            </a:r>
            <a:endParaRPr lang="en-US" b="1" dirty="0">
              <a:solidFill>
                <a:srgbClr val="000000"/>
              </a:solidFill>
              <a:latin typeface="Times New Roman" panose="02020603050405020304" pitchFamily="18" charset="0"/>
              <a:cs typeface="B Nazanin" pitchFamily="2" charset="-78"/>
            </a:endParaRPr>
          </a:p>
        </p:txBody>
      </p:sp>
      <p:sp>
        <p:nvSpPr>
          <p:cNvPr id="18" name="AutoShape 7">
            <a:extLst>
              <a:ext uri="{FF2B5EF4-FFF2-40B4-BE49-F238E27FC236}">
                <a16:creationId xmlns:a16="http://schemas.microsoft.com/office/drawing/2014/main" id="{3C597848-6C50-46C7-91D1-A520128CFE55}"/>
              </a:ext>
            </a:extLst>
          </p:cNvPr>
          <p:cNvSpPr>
            <a:spLocks noChangeAspect="1" noChangeArrowheads="1"/>
          </p:cNvSpPr>
          <p:nvPr/>
        </p:nvSpPr>
        <p:spPr bwMode="gray">
          <a:xfrm>
            <a:off x="2373920" y="3405732"/>
            <a:ext cx="4419600" cy="508000"/>
          </a:xfrm>
          <a:prstGeom prst="roundRect">
            <a:avLst>
              <a:gd name="adj" fmla="val 50000"/>
            </a:avLst>
          </a:prstGeom>
          <a:gradFill flip="none" rotWithShape="1">
            <a:gsLst>
              <a:gs pos="0">
                <a:srgbClr val="C4E59F">
                  <a:tint val="66000"/>
                  <a:satMod val="160000"/>
                </a:srgbClr>
              </a:gs>
              <a:gs pos="50000">
                <a:srgbClr val="C4E59F">
                  <a:tint val="44500"/>
                  <a:satMod val="160000"/>
                </a:srgbClr>
              </a:gs>
              <a:gs pos="100000">
                <a:srgbClr val="C4E59F">
                  <a:tint val="23500"/>
                  <a:satMod val="160000"/>
                </a:srgbClr>
              </a:gs>
            </a:gsLst>
            <a:lin ang="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solidFill>
                  <a:srgbClr val="000000"/>
                </a:solidFill>
                <a:latin typeface="Times New Roman" panose="02020603050405020304" pitchFamily="18" charset="0"/>
                <a:cs typeface="B Nazanin" pitchFamily="2" charset="-78"/>
              </a:rPr>
              <a:t>همسان</a:t>
            </a:r>
            <a:r>
              <a:rPr lang="en-US" b="1" dirty="0">
                <a:solidFill>
                  <a:srgbClr val="000000"/>
                </a:solidFill>
                <a:latin typeface="Times New Roman" panose="02020603050405020304" pitchFamily="18" charset="0"/>
                <a:cs typeface="B Nazanin" pitchFamily="2" charset="-78"/>
              </a:rPr>
              <a:t> </a:t>
            </a:r>
            <a:r>
              <a:rPr lang="fa-IR" b="1" dirty="0">
                <a:solidFill>
                  <a:srgbClr val="000000"/>
                </a:solidFill>
                <a:latin typeface="Times New Roman" panose="02020603050405020304" pitchFamily="18" charset="0"/>
                <a:cs typeface="B Nazanin" pitchFamily="2" charset="-78"/>
              </a:rPr>
              <a:t>سازی باتری</a:t>
            </a:r>
            <a:endParaRPr lang="en-US" b="1" dirty="0">
              <a:solidFill>
                <a:srgbClr val="000000"/>
              </a:solidFill>
              <a:latin typeface="Times New Roman" panose="02020603050405020304" pitchFamily="18" charset="0"/>
              <a:cs typeface="B Nazanin" pitchFamily="2" charset="-78"/>
            </a:endParaRPr>
          </a:p>
        </p:txBody>
      </p:sp>
      <p:sp>
        <p:nvSpPr>
          <p:cNvPr id="19" name="AutoShape 8">
            <a:extLst>
              <a:ext uri="{FF2B5EF4-FFF2-40B4-BE49-F238E27FC236}">
                <a16:creationId xmlns:a16="http://schemas.microsoft.com/office/drawing/2014/main" id="{CF9E5B87-43A1-4646-AE69-F01C6BAFAD06}"/>
              </a:ext>
            </a:extLst>
          </p:cNvPr>
          <p:cNvSpPr>
            <a:spLocks noChangeAspect="1" noChangeArrowheads="1"/>
          </p:cNvSpPr>
          <p:nvPr/>
        </p:nvSpPr>
        <p:spPr bwMode="gray">
          <a:xfrm>
            <a:off x="3397854" y="2317319"/>
            <a:ext cx="392906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solidFill>
                  <a:srgbClr val="000000"/>
                </a:solidFill>
                <a:latin typeface="Times New Roman" panose="02020603050405020304" pitchFamily="18" charset="0"/>
                <a:cs typeface="B Nazanin" pitchFamily="2" charset="-78"/>
              </a:rPr>
              <a:t>باتری ها</a:t>
            </a:r>
            <a:endParaRPr lang="en-US" b="1" dirty="0">
              <a:solidFill>
                <a:srgbClr val="000000"/>
              </a:solidFill>
              <a:latin typeface="Times New Roman" panose="02020603050405020304" pitchFamily="18" charset="0"/>
              <a:cs typeface="B Nazanin" pitchFamily="2" charset="-78"/>
            </a:endParaRPr>
          </a:p>
        </p:txBody>
      </p:sp>
      <p:grpSp>
        <p:nvGrpSpPr>
          <p:cNvPr id="20" name="Group 9">
            <a:extLst>
              <a:ext uri="{FF2B5EF4-FFF2-40B4-BE49-F238E27FC236}">
                <a16:creationId xmlns:a16="http://schemas.microsoft.com/office/drawing/2014/main" id="{51B5EA01-02D3-45B4-9350-81B3B8CE0AC3}"/>
              </a:ext>
            </a:extLst>
          </p:cNvPr>
          <p:cNvGrpSpPr>
            <a:grpSpLocks noChangeAspect="1"/>
          </p:cNvGrpSpPr>
          <p:nvPr/>
        </p:nvGrpSpPr>
        <p:grpSpPr bwMode="auto">
          <a:xfrm>
            <a:off x="7206270" y="2381173"/>
            <a:ext cx="381000" cy="381000"/>
            <a:chOff x="2078" y="1680"/>
            <a:chExt cx="1615" cy="1615"/>
          </a:xfrm>
        </p:grpSpPr>
        <p:sp>
          <p:nvSpPr>
            <p:cNvPr id="21" name="Oval 10">
              <a:extLst>
                <a:ext uri="{FF2B5EF4-FFF2-40B4-BE49-F238E27FC236}">
                  <a16:creationId xmlns:a16="http://schemas.microsoft.com/office/drawing/2014/main" id="{951593A2-3CCA-4150-9C26-8F0E2FB50DBC}"/>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22" name="Oval 11">
              <a:extLst>
                <a:ext uri="{FF2B5EF4-FFF2-40B4-BE49-F238E27FC236}">
                  <a16:creationId xmlns:a16="http://schemas.microsoft.com/office/drawing/2014/main" id="{974192FD-32BD-4151-BC3E-0B42B578C87B}"/>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23" name="Oval 12">
              <a:extLst>
                <a:ext uri="{FF2B5EF4-FFF2-40B4-BE49-F238E27FC236}">
                  <a16:creationId xmlns:a16="http://schemas.microsoft.com/office/drawing/2014/main" id="{BDD4DA04-B88B-4B07-BF6E-B1C272F0F4CC}"/>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24" name="Oval 13">
              <a:extLst>
                <a:ext uri="{FF2B5EF4-FFF2-40B4-BE49-F238E27FC236}">
                  <a16:creationId xmlns:a16="http://schemas.microsoft.com/office/drawing/2014/main" id="{7DDEB6C7-DF12-4B56-A15E-5719879C0767}"/>
                </a:ext>
              </a:extLst>
            </p:cNvPr>
            <p:cNvSpPr>
              <a:spLocks noChangeArrowheads="1"/>
            </p:cNvSpPr>
            <p:nvPr/>
          </p:nvSpPr>
          <p:spPr bwMode="gray">
            <a:xfrm>
              <a:off x="2254" y="1856"/>
              <a:ext cx="1262" cy="1264"/>
            </a:xfrm>
            <a:prstGeom prst="ellipse">
              <a:avLst/>
            </a:prstGeom>
            <a:gradFill rotWithShape="1">
              <a:gsLst>
                <a:gs pos="0">
                  <a:srgbClr val="FFCC00">
                    <a:gamma/>
                    <a:shade val="0"/>
                    <a:invGamma/>
                  </a:srgbClr>
                </a:gs>
                <a:gs pos="100000">
                  <a:srgbClr val="FFCC00"/>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25" name="Oval 14">
              <a:extLst>
                <a:ext uri="{FF2B5EF4-FFF2-40B4-BE49-F238E27FC236}">
                  <a16:creationId xmlns:a16="http://schemas.microsoft.com/office/drawing/2014/main" id="{05CB5150-2AB3-496D-9A01-7BD9677B178F}"/>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26" name="Oval 15">
              <a:extLst>
                <a:ext uri="{FF2B5EF4-FFF2-40B4-BE49-F238E27FC236}">
                  <a16:creationId xmlns:a16="http://schemas.microsoft.com/office/drawing/2014/main" id="{CF5DA36E-72FD-4186-95B0-3E592580924C}"/>
                </a:ext>
              </a:extLst>
            </p:cNvPr>
            <p:cNvSpPr>
              <a:spLocks noChangeArrowheads="1"/>
            </p:cNvSpPr>
            <p:nvPr/>
          </p:nvSpPr>
          <p:spPr bwMode="gray">
            <a:xfrm>
              <a:off x="2337" y="1939"/>
              <a:ext cx="1096" cy="1098"/>
            </a:xfrm>
            <a:prstGeom prst="ellipse">
              <a:avLst/>
            </a:prstGeom>
            <a:gradFill rotWithShape="1">
              <a:gsLst>
                <a:gs pos="0">
                  <a:srgbClr val="FFCC00"/>
                </a:gs>
                <a:gs pos="100000">
                  <a:srgbClr val="FFCC00">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grpSp>
        <p:nvGrpSpPr>
          <p:cNvPr id="27" name="Group 16">
            <a:extLst>
              <a:ext uri="{FF2B5EF4-FFF2-40B4-BE49-F238E27FC236}">
                <a16:creationId xmlns:a16="http://schemas.microsoft.com/office/drawing/2014/main" id="{804576A5-4B7C-42A1-81B7-81F80837382F}"/>
              </a:ext>
            </a:extLst>
          </p:cNvPr>
          <p:cNvGrpSpPr>
            <a:grpSpLocks noChangeAspect="1"/>
          </p:cNvGrpSpPr>
          <p:nvPr/>
        </p:nvGrpSpPr>
        <p:grpSpPr bwMode="auto">
          <a:xfrm>
            <a:off x="6682346" y="3445241"/>
            <a:ext cx="381000" cy="381000"/>
            <a:chOff x="2078" y="1680"/>
            <a:chExt cx="1615" cy="1615"/>
          </a:xfrm>
        </p:grpSpPr>
        <p:sp>
          <p:nvSpPr>
            <p:cNvPr id="29" name="Oval 17">
              <a:extLst>
                <a:ext uri="{FF2B5EF4-FFF2-40B4-BE49-F238E27FC236}">
                  <a16:creationId xmlns:a16="http://schemas.microsoft.com/office/drawing/2014/main" id="{6398C46E-DA7F-490D-9472-87BE268989FB}"/>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32" name="Oval 18">
              <a:extLst>
                <a:ext uri="{FF2B5EF4-FFF2-40B4-BE49-F238E27FC236}">
                  <a16:creationId xmlns:a16="http://schemas.microsoft.com/office/drawing/2014/main" id="{E110742C-193F-493E-9A71-A02F844D2828}"/>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33" name="Oval 19">
              <a:extLst>
                <a:ext uri="{FF2B5EF4-FFF2-40B4-BE49-F238E27FC236}">
                  <a16:creationId xmlns:a16="http://schemas.microsoft.com/office/drawing/2014/main" id="{36CD726D-CF07-41C5-B7A4-710136BAB1FC}"/>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34" name="Oval 20">
              <a:extLst>
                <a:ext uri="{FF2B5EF4-FFF2-40B4-BE49-F238E27FC236}">
                  <a16:creationId xmlns:a16="http://schemas.microsoft.com/office/drawing/2014/main" id="{9D8BE50C-A6BB-4D5D-B7FF-3AEBD6CD7D2E}"/>
                </a:ext>
              </a:extLst>
            </p:cNvPr>
            <p:cNvSpPr>
              <a:spLocks noChangeArrowheads="1"/>
            </p:cNvSpPr>
            <p:nvPr/>
          </p:nvSpPr>
          <p:spPr bwMode="gray">
            <a:xfrm>
              <a:off x="2254" y="1856"/>
              <a:ext cx="1262" cy="1264"/>
            </a:xfrm>
            <a:prstGeom prst="ellipse">
              <a:avLst/>
            </a:prstGeom>
            <a:gradFill rotWithShape="1">
              <a:gsLst>
                <a:gs pos="0">
                  <a:srgbClr val="48BE67">
                    <a:gamma/>
                    <a:shade val="0"/>
                    <a:invGamma/>
                  </a:srgbClr>
                </a:gs>
                <a:gs pos="100000">
                  <a:srgbClr val="48BE67"/>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35" name="Oval 21">
              <a:extLst>
                <a:ext uri="{FF2B5EF4-FFF2-40B4-BE49-F238E27FC236}">
                  <a16:creationId xmlns:a16="http://schemas.microsoft.com/office/drawing/2014/main" id="{96AB8031-737F-41E7-9E4B-34DC61B7FA4B}"/>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36" name="Oval 22">
              <a:extLst>
                <a:ext uri="{FF2B5EF4-FFF2-40B4-BE49-F238E27FC236}">
                  <a16:creationId xmlns:a16="http://schemas.microsoft.com/office/drawing/2014/main" id="{8500B833-9307-4836-B55A-C402EA8CFDAC}"/>
                </a:ext>
              </a:extLst>
            </p:cNvPr>
            <p:cNvSpPr>
              <a:spLocks noChangeArrowheads="1"/>
            </p:cNvSpPr>
            <p:nvPr/>
          </p:nvSpPr>
          <p:spPr bwMode="gray">
            <a:xfrm>
              <a:off x="2337" y="1939"/>
              <a:ext cx="1096" cy="1098"/>
            </a:xfrm>
            <a:prstGeom prst="ellipse">
              <a:avLst/>
            </a:prstGeom>
            <a:gradFill rotWithShape="1">
              <a:gsLst>
                <a:gs pos="0">
                  <a:srgbClr val="48BE67"/>
                </a:gs>
                <a:gs pos="100000">
                  <a:srgbClr val="48BE67">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grpSp>
        <p:nvGrpSpPr>
          <p:cNvPr id="37" name="Group 23">
            <a:extLst>
              <a:ext uri="{FF2B5EF4-FFF2-40B4-BE49-F238E27FC236}">
                <a16:creationId xmlns:a16="http://schemas.microsoft.com/office/drawing/2014/main" id="{A77ECBC8-8907-49C6-B868-8715395CD4AB}"/>
              </a:ext>
            </a:extLst>
          </p:cNvPr>
          <p:cNvGrpSpPr>
            <a:grpSpLocks noChangeAspect="1"/>
          </p:cNvGrpSpPr>
          <p:nvPr/>
        </p:nvGrpSpPr>
        <p:grpSpPr bwMode="auto">
          <a:xfrm>
            <a:off x="6689262" y="4509223"/>
            <a:ext cx="381000" cy="381000"/>
            <a:chOff x="2078" y="1680"/>
            <a:chExt cx="1615" cy="1615"/>
          </a:xfrm>
        </p:grpSpPr>
        <p:sp>
          <p:nvSpPr>
            <p:cNvPr id="38" name="Oval 24">
              <a:extLst>
                <a:ext uri="{FF2B5EF4-FFF2-40B4-BE49-F238E27FC236}">
                  <a16:creationId xmlns:a16="http://schemas.microsoft.com/office/drawing/2014/main" id="{1501B9F0-1BD0-4587-A5DA-8504002448CD}"/>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39" name="Oval 25">
              <a:extLst>
                <a:ext uri="{FF2B5EF4-FFF2-40B4-BE49-F238E27FC236}">
                  <a16:creationId xmlns:a16="http://schemas.microsoft.com/office/drawing/2014/main" id="{909C959D-95E6-47AB-BA03-A36E5558C646}"/>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0" name="Oval 26">
              <a:extLst>
                <a:ext uri="{FF2B5EF4-FFF2-40B4-BE49-F238E27FC236}">
                  <a16:creationId xmlns:a16="http://schemas.microsoft.com/office/drawing/2014/main" id="{DBE4DAAC-D3AA-4C03-8635-E677788322CA}"/>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1" name="Oval 27">
              <a:extLst>
                <a:ext uri="{FF2B5EF4-FFF2-40B4-BE49-F238E27FC236}">
                  <a16:creationId xmlns:a16="http://schemas.microsoft.com/office/drawing/2014/main" id="{503A22F7-588D-4C3B-990F-521D103C8785}"/>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2" name="Oval 28">
              <a:extLst>
                <a:ext uri="{FF2B5EF4-FFF2-40B4-BE49-F238E27FC236}">
                  <a16:creationId xmlns:a16="http://schemas.microsoft.com/office/drawing/2014/main" id="{DB14B947-3B24-4D3C-8BA6-1CDE3B23E877}"/>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3" name="Oval 29">
              <a:extLst>
                <a:ext uri="{FF2B5EF4-FFF2-40B4-BE49-F238E27FC236}">
                  <a16:creationId xmlns:a16="http://schemas.microsoft.com/office/drawing/2014/main" id="{EC52A3D0-6BC6-4E5D-88F2-AA4F423555B2}"/>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grpSp>
        <p:nvGrpSpPr>
          <p:cNvPr id="44" name="Group 30">
            <a:extLst>
              <a:ext uri="{FF2B5EF4-FFF2-40B4-BE49-F238E27FC236}">
                <a16:creationId xmlns:a16="http://schemas.microsoft.com/office/drawing/2014/main" id="{D8A0650F-6DD3-4C51-ACCA-8D5BB33B1046}"/>
              </a:ext>
            </a:extLst>
          </p:cNvPr>
          <p:cNvGrpSpPr>
            <a:grpSpLocks noChangeAspect="1"/>
          </p:cNvGrpSpPr>
          <p:nvPr/>
        </p:nvGrpSpPr>
        <p:grpSpPr bwMode="auto">
          <a:xfrm>
            <a:off x="7206152" y="5557868"/>
            <a:ext cx="381000" cy="381000"/>
            <a:chOff x="2078" y="1680"/>
            <a:chExt cx="1615" cy="1615"/>
          </a:xfrm>
        </p:grpSpPr>
        <p:sp>
          <p:nvSpPr>
            <p:cNvPr id="45" name="Oval 31">
              <a:extLst>
                <a:ext uri="{FF2B5EF4-FFF2-40B4-BE49-F238E27FC236}">
                  <a16:creationId xmlns:a16="http://schemas.microsoft.com/office/drawing/2014/main" id="{25288F4D-41F2-42AF-B1C2-9A7B3EF5B7D3}"/>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6" name="Oval 32">
              <a:extLst>
                <a:ext uri="{FF2B5EF4-FFF2-40B4-BE49-F238E27FC236}">
                  <a16:creationId xmlns:a16="http://schemas.microsoft.com/office/drawing/2014/main" id="{CF97BF37-BB79-4B18-9D98-AF071CF14C1A}"/>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7" name="Oval 33">
              <a:extLst>
                <a:ext uri="{FF2B5EF4-FFF2-40B4-BE49-F238E27FC236}">
                  <a16:creationId xmlns:a16="http://schemas.microsoft.com/office/drawing/2014/main" id="{7279C661-406B-43C8-92AE-751AD25DED0A}"/>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8" name="Oval 34">
              <a:extLst>
                <a:ext uri="{FF2B5EF4-FFF2-40B4-BE49-F238E27FC236}">
                  <a16:creationId xmlns:a16="http://schemas.microsoft.com/office/drawing/2014/main" id="{E99053BE-A9C7-411F-ADC0-7B78C2D5F070}"/>
                </a:ext>
              </a:extLst>
            </p:cNvPr>
            <p:cNvSpPr>
              <a:spLocks noChangeArrowheads="1"/>
            </p:cNvSpPr>
            <p:nvPr/>
          </p:nvSpPr>
          <p:spPr bwMode="gray">
            <a:xfrm>
              <a:off x="2254" y="1856"/>
              <a:ext cx="1262" cy="1264"/>
            </a:xfrm>
            <a:prstGeom prst="ellipse">
              <a:avLst/>
            </a:prstGeom>
            <a:gradFill rotWithShape="1">
              <a:gsLst>
                <a:gs pos="0">
                  <a:srgbClr val="8D67E1">
                    <a:gamma/>
                    <a:shade val="0"/>
                    <a:invGamma/>
                  </a:srgbClr>
                </a:gs>
                <a:gs pos="100000">
                  <a:srgbClr val="8D67E1"/>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9" name="Oval 35">
              <a:extLst>
                <a:ext uri="{FF2B5EF4-FFF2-40B4-BE49-F238E27FC236}">
                  <a16:creationId xmlns:a16="http://schemas.microsoft.com/office/drawing/2014/main" id="{A01C5860-00E7-4C78-9CF1-950C8C0864A1}"/>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50" name="Oval 36">
              <a:extLst>
                <a:ext uri="{FF2B5EF4-FFF2-40B4-BE49-F238E27FC236}">
                  <a16:creationId xmlns:a16="http://schemas.microsoft.com/office/drawing/2014/main" id="{474AA11F-5B14-4FC0-974D-5499A704DD68}"/>
                </a:ext>
              </a:extLst>
            </p:cNvPr>
            <p:cNvSpPr>
              <a:spLocks noChangeArrowheads="1"/>
            </p:cNvSpPr>
            <p:nvPr/>
          </p:nvSpPr>
          <p:spPr bwMode="gray">
            <a:xfrm>
              <a:off x="2337" y="1939"/>
              <a:ext cx="1096" cy="1098"/>
            </a:xfrm>
            <a:prstGeom prst="ellipse">
              <a:avLst/>
            </a:prstGeom>
            <a:gradFill rotWithShape="1">
              <a:gsLst>
                <a:gs pos="0">
                  <a:srgbClr val="8D67E1"/>
                </a:gs>
                <a:gs pos="100000">
                  <a:srgbClr val="8D67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51" name="TextBox 50">
            <a:extLst>
              <a:ext uri="{FF2B5EF4-FFF2-40B4-BE49-F238E27FC236}">
                <a16:creationId xmlns:a16="http://schemas.microsoft.com/office/drawing/2014/main" id="{0D7C9433-5674-4BC9-A282-6D982E5B3065}"/>
              </a:ext>
            </a:extLst>
          </p:cNvPr>
          <p:cNvSpPr txBox="1"/>
          <p:nvPr/>
        </p:nvSpPr>
        <p:spPr>
          <a:xfrm>
            <a:off x="4119282" y="2971800"/>
            <a:ext cx="65" cy="276999"/>
          </a:xfrm>
          <a:prstGeom prst="rect">
            <a:avLst/>
          </a:prstGeom>
          <a:noFill/>
        </p:spPr>
        <p:txBody>
          <a:bodyPr wrap="none" lIns="0" tIns="0" rIns="0" bIns="0" rtlCol="0">
            <a:spAutoFit/>
          </a:bodyPr>
          <a:lstStyle/>
          <a:p>
            <a:endParaRPr lang="en-US" dirty="0"/>
          </a:p>
        </p:txBody>
      </p:sp>
      <p:sp>
        <p:nvSpPr>
          <p:cNvPr id="56" name="Slide Number Placeholder 3">
            <a:extLst>
              <a:ext uri="{FF2B5EF4-FFF2-40B4-BE49-F238E27FC236}">
                <a16:creationId xmlns:a16="http://schemas.microsoft.com/office/drawing/2014/main" id="{FEFB061F-8AAB-4535-B272-1BA4D5A77191}"/>
              </a:ext>
            </a:extLst>
          </p:cNvPr>
          <p:cNvSpPr>
            <a:spLocks noGrp="1"/>
          </p:cNvSpPr>
          <p:nvPr>
            <p:ph type="sldNum" sz="quarter" idx="12"/>
          </p:nvPr>
        </p:nvSpPr>
        <p:spPr>
          <a:xfrm>
            <a:off x="8965" y="6090313"/>
            <a:ext cx="676835" cy="767687"/>
          </a:xfrm>
        </p:spPr>
        <p:txBody>
          <a:bodyPr/>
          <a:lstStyle/>
          <a:p>
            <a:pPr rtl="1"/>
            <a:fld id="{E8ADF199-8047-440E-B02B-E80683B392F2}" type="slidenum">
              <a:rPr lang="fa-IR" sz="1800" smtClean="0">
                <a:solidFill>
                  <a:schemeClr val="tx1"/>
                </a:solidFill>
                <a:cs typeface="B Lotus" panose="00000400000000000000" pitchFamily="2" charset="-78"/>
              </a:rPr>
              <a:t>2</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36033294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AutoShape 12" descr="5 Things That Affect Your Charging Speed | EVgo"/>
          <p:cNvSpPr>
            <a:spLocks noChangeAspect="1" noChangeArrowheads="1"/>
          </p:cNvSpPr>
          <p:nvPr/>
        </p:nvSpPr>
        <p:spPr bwMode="auto">
          <a:xfrm>
            <a:off x="63500" y="-13652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3" name="AutoShape 10">
            <a:extLst>
              <a:ext uri="{FF2B5EF4-FFF2-40B4-BE49-F238E27FC236}">
                <a16:creationId xmlns:a16="http://schemas.microsoft.com/office/drawing/2014/main" id="{11A20114-C948-4DAF-A269-D7BF1A2ECCA0}"/>
              </a:ext>
            </a:extLst>
          </p:cNvPr>
          <p:cNvSpPr>
            <a:spLocks noChangeArrowheads="1"/>
          </p:cNvSpPr>
          <p:nvPr/>
        </p:nvSpPr>
        <p:spPr bwMode="gray">
          <a:xfrm flipH="1">
            <a:off x="6244699" y="57140"/>
            <a:ext cx="2137301" cy="651510"/>
          </a:xfrm>
          <a:prstGeom prst="chevron">
            <a:avLst>
              <a:gd name="adj" fmla="val 17842"/>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4" name="AutoShape 3">
            <a:extLst>
              <a:ext uri="{FF2B5EF4-FFF2-40B4-BE49-F238E27FC236}">
                <a16:creationId xmlns:a16="http://schemas.microsoft.com/office/drawing/2014/main" id="{0B1385E1-F22C-4E22-B9F0-ABF9FDBFB523}"/>
              </a:ext>
            </a:extLst>
          </p:cNvPr>
          <p:cNvSpPr>
            <a:spLocks noChangeArrowheads="1"/>
          </p:cNvSpPr>
          <p:nvPr/>
        </p:nvSpPr>
        <p:spPr bwMode="gray">
          <a:xfrm flipH="1">
            <a:off x="4188613" y="57140"/>
            <a:ext cx="2056086"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5" name="AutoShape 3">
            <a:extLst>
              <a:ext uri="{FF2B5EF4-FFF2-40B4-BE49-F238E27FC236}">
                <a16:creationId xmlns:a16="http://schemas.microsoft.com/office/drawing/2014/main" id="{1CD00EE2-C4EE-4D69-8F26-AAC81AE4FD2D}"/>
              </a:ext>
            </a:extLst>
          </p:cNvPr>
          <p:cNvSpPr>
            <a:spLocks noChangeArrowheads="1"/>
          </p:cNvSpPr>
          <p:nvPr/>
        </p:nvSpPr>
        <p:spPr bwMode="gray">
          <a:xfrm flipH="1">
            <a:off x="2588411" y="57140"/>
            <a:ext cx="1600202"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6" name="AutoShape 3">
            <a:extLst>
              <a:ext uri="{FF2B5EF4-FFF2-40B4-BE49-F238E27FC236}">
                <a16:creationId xmlns:a16="http://schemas.microsoft.com/office/drawing/2014/main" id="{20876701-2968-48DD-B50F-5C9094C03348}"/>
              </a:ext>
            </a:extLst>
          </p:cNvPr>
          <p:cNvSpPr>
            <a:spLocks noChangeArrowheads="1"/>
          </p:cNvSpPr>
          <p:nvPr/>
        </p:nvSpPr>
        <p:spPr bwMode="gray">
          <a:xfrm flipH="1">
            <a:off x="161661" y="57140"/>
            <a:ext cx="2426749"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7" name="Rectangle 36">
            <a:extLst>
              <a:ext uri="{FF2B5EF4-FFF2-40B4-BE49-F238E27FC236}">
                <a16:creationId xmlns:a16="http://schemas.microsoft.com/office/drawing/2014/main" id="{F2243B26-1BE2-43AD-8F71-213A0F7242A7}"/>
              </a:ext>
            </a:extLst>
          </p:cNvPr>
          <p:cNvSpPr/>
          <p:nvPr/>
        </p:nvSpPr>
        <p:spPr>
          <a:xfrm>
            <a:off x="403231" y="91457"/>
            <a:ext cx="2056085"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طراحی و پیاده سازی همسان ساز پیشنهادی</a:t>
            </a:r>
          </a:p>
        </p:txBody>
      </p:sp>
      <p:sp>
        <p:nvSpPr>
          <p:cNvPr id="38" name="Rectangle 37">
            <a:extLst>
              <a:ext uri="{FF2B5EF4-FFF2-40B4-BE49-F238E27FC236}">
                <a16:creationId xmlns:a16="http://schemas.microsoft.com/office/drawing/2014/main" id="{8499BA6C-A469-45E7-8896-73165F3CE066}"/>
              </a:ext>
            </a:extLst>
          </p:cNvPr>
          <p:cNvSpPr/>
          <p:nvPr/>
        </p:nvSpPr>
        <p:spPr>
          <a:xfrm>
            <a:off x="2636749" y="78259"/>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پیشنهادی</a:t>
            </a:r>
          </a:p>
        </p:txBody>
      </p:sp>
      <p:sp>
        <p:nvSpPr>
          <p:cNvPr id="39" name="Rectangle 38">
            <a:extLst>
              <a:ext uri="{FF2B5EF4-FFF2-40B4-BE49-F238E27FC236}">
                <a16:creationId xmlns:a16="http://schemas.microsoft.com/office/drawing/2014/main" id="{88B0CAF5-84F0-44BE-BF0F-DBA7B08A5139}"/>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باتری</a:t>
            </a:r>
          </a:p>
        </p:txBody>
      </p:sp>
      <p:sp>
        <p:nvSpPr>
          <p:cNvPr id="40" name="Rectangle 39">
            <a:extLst>
              <a:ext uri="{FF2B5EF4-FFF2-40B4-BE49-F238E27FC236}">
                <a16:creationId xmlns:a16="http://schemas.microsoft.com/office/drawing/2014/main" id="{080A61E5-91DA-486A-AFFC-B76A86A698DD}"/>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a:solidFill>
                  <a:srgbClr val="FFFFFF"/>
                </a:solidFill>
                <a:latin typeface="Times New Roman" panose="02020603050405020304" pitchFamily="18" charset="0"/>
                <a:cs typeface="B Nazanin" pitchFamily="2" charset="-78"/>
              </a:rPr>
              <a:t>باتری ها</a:t>
            </a:r>
            <a:endParaRPr lang="en-US" sz="1500" b="1" kern="0" dirty="0">
              <a:solidFill>
                <a:srgbClr val="FFFFFF"/>
              </a:solidFill>
              <a:latin typeface="Times New Roman" panose="02020603050405020304" pitchFamily="18" charset="0"/>
              <a:cs typeface="B Nazanin" pitchFamily="2" charset="-78"/>
            </a:endParaRPr>
          </a:p>
        </p:txBody>
      </p:sp>
      <p:pic>
        <p:nvPicPr>
          <p:cNvPr id="41" name="Picture 40" descr="پرونده:Azad University logo.png - ویکی‌پدیا، دانشنامهٔ آزاد">
            <a:extLst>
              <a:ext uri="{FF2B5EF4-FFF2-40B4-BE49-F238E27FC236}">
                <a16:creationId xmlns:a16="http://schemas.microsoft.com/office/drawing/2014/main" id="{4BBC7487-44D3-400B-AF80-552EEB9DBB24}"/>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42" name="Rounded Rectangle 175">
            <a:extLst>
              <a:ext uri="{FF2B5EF4-FFF2-40B4-BE49-F238E27FC236}">
                <a16:creationId xmlns:a16="http://schemas.microsoft.com/office/drawing/2014/main" id="{B38C8568-40F1-4259-922B-CCD5A8161046}"/>
              </a:ext>
            </a:extLst>
          </p:cNvPr>
          <p:cNvSpPr/>
          <p:nvPr/>
        </p:nvSpPr>
        <p:spPr bwMode="auto">
          <a:xfrm>
            <a:off x="7689952" y="938628"/>
            <a:ext cx="1384096" cy="4240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marL="0" marR="0" lvl="0" indent="0" algn="ctr" defTabSz="914400" eaLnBrk="1" fontAlgn="base" latinLnBrk="0" hangingPunct="1">
              <a:lnSpc>
                <a:spcPct val="100000"/>
              </a:lnSpc>
              <a:spcBef>
                <a:spcPct val="0"/>
              </a:spcBef>
              <a:spcAft>
                <a:spcPct val="0"/>
              </a:spcAft>
              <a:buClrTx/>
              <a:buSzTx/>
              <a:buFontTx/>
              <a:buNone/>
              <a:tabLst/>
              <a:defRPr/>
            </a:pPr>
            <a:r>
              <a:rPr lang="fa-IR" sz="2200" b="1" kern="0" dirty="0">
                <a:solidFill>
                  <a:srgbClr val="FFFFFF"/>
                </a:solidFill>
                <a:latin typeface="Times New Roman" panose="02020603050405020304" pitchFamily="18" charset="0"/>
                <a:cs typeface="B Nazanin" pitchFamily="2" charset="-78"/>
              </a:rPr>
              <a:t>باتری ها</a:t>
            </a:r>
            <a:endParaRPr kumimoji="0" lang="en-US" sz="2200" b="1" i="0" u="none" strike="noStrike" kern="0" cap="none" spc="0" normalizeH="0" baseline="0" noProof="0" dirty="0">
              <a:ln>
                <a:noFill/>
              </a:ln>
              <a:solidFill>
                <a:srgbClr val="FFFFFF"/>
              </a:solidFill>
              <a:effectLst/>
              <a:uLnTx/>
              <a:uFillTx/>
              <a:latin typeface="Times New Roman" panose="02020603050405020304" pitchFamily="18" charset="0"/>
              <a:cs typeface="B Nazanin" pitchFamily="2" charset="-78"/>
            </a:endParaRPr>
          </a:p>
        </p:txBody>
      </p:sp>
      <p:sp>
        <p:nvSpPr>
          <p:cNvPr id="23"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3</a:t>
            </a:fld>
            <a:endParaRPr lang="fa-IR" sz="1800" dirty="0">
              <a:solidFill>
                <a:schemeClr val="tx1"/>
              </a:solidFill>
              <a:cs typeface="B Lotus" panose="00000400000000000000" pitchFamily="2" charset="-78"/>
            </a:endParaRPr>
          </a:p>
        </p:txBody>
      </p:sp>
      <p:sp>
        <p:nvSpPr>
          <p:cNvPr id="11" name="TextBox 10"/>
          <p:cNvSpPr txBox="1"/>
          <p:nvPr/>
        </p:nvSpPr>
        <p:spPr>
          <a:xfrm>
            <a:off x="6499957" y="4986891"/>
            <a:ext cx="617477" cy="369332"/>
          </a:xfrm>
          <a:prstGeom prst="rect">
            <a:avLst/>
          </a:prstGeom>
          <a:noFill/>
        </p:spPr>
        <p:txBody>
          <a:bodyPr wrap="none" rtlCol="1">
            <a:spAutoFit/>
          </a:bodyPr>
          <a:lstStyle/>
          <a:p>
            <a:r>
              <a:rPr lang="fa-IR" dirty="0">
                <a:cs typeface="B Lotus" panose="00000400000000000000" pitchFamily="2" charset="-78"/>
              </a:rPr>
              <a:t>(الف)</a:t>
            </a:r>
          </a:p>
        </p:txBody>
      </p:sp>
      <p:sp>
        <p:nvSpPr>
          <p:cNvPr id="44" name="TextBox 43"/>
          <p:cNvSpPr txBox="1"/>
          <p:nvPr/>
        </p:nvSpPr>
        <p:spPr>
          <a:xfrm>
            <a:off x="1683168" y="4986891"/>
            <a:ext cx="503664" cy="369332"/>
          </a:xfrm>
          <a:prstGeom prst="rect">
            <a:avLst/>
          </a:prstGeom>
          <a:noFill/>
        </p:spPr>
        <p:txBody>
          <a:bodyPr wrap="none" rtlCol="1">
            <a:spAutoFit/>
          </a:bodyPr>
          <a:lstStyle/>
          <a:p>
            <a:r>
              <a:rPr lang="fa-IR" dirty="0">
                <a:cs typeface="B Lotus" panose="00000400000000000000" pitchFamily="2" charset="-78"/>
              </a:rPr>
              <a:t>(ب)</a:t>
            </a:r>
          </a:p>
        </p:txBody>
      </p:sp>
      <p:graphicFrame>
        <p:nvGraphicFramePr>
          <p:cNvPr id="45" name="Table 44">
            <a:extLst>
              <a:ext uri="{FF2B5EF4-FFF2-40B4-BE49-F238E27FC236}">
                <a16:creationId xmlns:a16="http://schemas.microsoft.com/office/drawing/2014/main" id="{834D9C4B-67EB-4E28-830F-6F5F8E2ADB87}"/>
              </a:ext>
            </a:extLst>
          </p:cNvPr>
          <p:cNvGraphicFramePr>
            <a:graphicFrameLocks noGrp="1"/>
          </p:cNvGraphicFramePr>
          <p:nvPr>
            <p:extLst>
              <p:ext uri="{D42A27DB-BD31-4B8C-83A1-F6EECF244321}">
                <p14:modId xmlns:p14="http://schemas.microsoft.com/office/powerpoint/2010/main" val="1351947245"/>
              </p:ext>
            </p:extLst>
          </p:nvPr>
        </p:nvGraphicFramePr>
        <p:xfrm>
          <a:off x="1683168" y="5953153"/>
          <a:ext cx="5937250" cy="548640"/>
        </p:xfrm>
        <a:graphic>
          <a:graphicData uri="http://schemas.openxmlformats.org/drawingml/2006/table">
            <a:tbl>
              <a:tblPr rtl="1" firstRow="1" firstCol="1" bandRow="1"/>
              <a:tblGrid>
                <a:gridCol w="5937250">
                  <a:extLst>
                    <a:ext uri="{9D8B030D-6E8A-4147-A177-3AD203B41FA5}">
                      <a16:colId xmlns:a16="http://schemas.microsoft.com/office/drawing/2014/main" val="2809807785"/>
                    </a:ext>
                  </a:extLst>
                </a:gridCol>
              </a:tblGrid>
              <a:tr h="0">
                <a:tc>
                  <a:txBody>
                    <a:bodyPr/>
                    <a:lstStyle/>
                    <a:p>
                      <a:pPr marL="0" marR="0" algn="ctr" rtl="1">
                        <a:spcBef>
                          <a:spcPts val="600"/>
                        </a:spcBef>
                        <a:spcAft>
                          <a:spcPts val="600"/>
                        </a:spcAft>
                      </a:pPr>
                      <a:r>
                        <a:rPr lang="fa-IR" sz="1800" i="0" dirty="0">
                          <a:effectLst/>
                          <a:latin typeface="Times New Roman" panose="02020603050405020304" pitchFamily="18" charset="0"/>
                          <a:ea typeface="Calibri" panose="020F0502020204030204" pitchFamily="34" charset="0"/>
                          <a:cs typeface="B Lotus" panose="00000400000000000000" pitchFamily="2" charset="-78"/>
                        </a:rPr>
                        <a:t>شکل</a:t>
                      </a:r>
                      <a:r>
                        <a:rPr lang="fa-IR" sz="1800" i="0" baseline="0" dirty="0">
                          <a:effectLst/>
                          <a:latin typeface="Times New Roman" panose="02020603050405020304" pitchFamily="18" charset="0"/>
                          <a:ea typeface="Calibri" panose="020F0502020204030204" pitchFamily="34" charset="0"/>
                          <a:cs typeface="B Lotus" panose="00000400000000000000" pitchFamily="2" charset="-78"/>
                        </a:rPr>
                        <a:t> 1 </a:t>
                      </a:r>
                      <a:r>
                        <a:rPr lang="fa-IR" sz="1800" i="0" dirty="0">
                          <a:effectLst/>
                          <a:latin typeface="Times New Roman" panose="02020603050405020304" pitchFamily="18" charset="0"/>
                          <a:ea typeface="Calibri" panose="020F0502020204030204" pitchFamily="34" charset="0"/>
                          <a:cs typeface="B Lotus" panose="00000400000000000000" pitchFamily="2" charset="-78"/>
                        </a:rPr>
                        <a:t>نمونه</a:t>
                      </a:r>
                      <a:r>
                        <a:rPr lang="fa-IR" sz="1800" i="0" baseline="0" dirty="0">
                          <a:effectLst/>
                          <a:latin typeface="Times New Roman" panose="02020603050405020304" pitchFamily="18" charset="0"/>
                          <a:ea typeface="Calibri" panose="020F0502020204030204" pitchFamily="34" charset="0"/>
                          <a:cs typeface="B Lotus" panose="00000400000000000000" pitchFamily="2" charset="-78"/>
                        </a:rPr>
                        <a:t> ای از باتری ها با </a:t>
                      </a:r>
                      <a:r>
                        <a:rPr lang="en-US" sz="1800" i="0" baseline="0" dirty="0">
                          <a:effectLst/>
                          <a:latin typeface="Times New Roman" panose="02020603050405020304" pitchFamily="18" charset="0"/>
                          <a:ea typeface="Calibri" panose="020F0502020204030204" pitchFamily="34" charset="0"/>
                          <a:cs typeface="B Lotus" panose="00000400000000000000" pitchFamily="2" charset="-78"/>
                        </a:rPr>
                        <a:t>SOH</a:t>
                      </a:r>
                      <a:r>
                        <a:rPr lang="fa-IR" sz="1800" i="0" baseline="0" dirty="0">
                          <a:effectLst/>
                          <a:latin typeface="Times New Roman" panose="02020603050405020304" pitchFamily="18" charset="0"/>
                          <a:ea typeface="Calibri" panose="020F0502020204030204" pitchFamily="34" charset="0"/>
                          <a:cs typeface="B Lotus" panose="00000400000000000000" pitchFamily="2" charset="-78"/>
                        </a:rPr>
                        <a:t> 100% و</a:t>
                      </a:r>
                      <a:r>
                        <a:rPr lang="en-US" sz="1800" i="0" baseline="0" dirty="0">
                          <a:effectLst/>
                          <a:latin typeface="Times New Roman" panose="02020603050405020304" pitchFamily="18" charset="0"/>
                          <a:ea typeface="Calibri" panose="020F0502020204030204" pitchFamily="34" charset="0"/>
                          <a:cs typeface="B Lotus" panose="00000400000000000000" pitchFamily="2" charset="-78"/>
                        </a:rPr>
                        <a:t>SOC</a:t>
                      </a:r>
                      <a:r>
                        <a:rPr lang="fa-IR" sz="1800" i="0" baseline="0" dirty="0">
                          <a:effectLst/>
                          <a:latin typeface="Times New Roman" panose="02020603050405020304" pitchFamily="18" charset="0"/>
                          <a:ea typeface="Calibri" panose="020F0502020204030204" pitchFamily="34" charset="0"/>
                          <a:cs typeface="B Lotus" panose="00000400000000000000" pitchFamily="2" charset="-78"/>
                        </a:rPr>
                        <a:t> 50% در شکل (الف) و </a:t>
                      </a:r>
                      <a:r>
                        <a:rPr lang="en-US" sz="1800" i="0" baseline="0" dirty="0">
                          <a:effectLst/>
                          <a:latin typeface="Times New Roman" panose="02020603050405020304" pitchFamily="18" charset="0"/>
                          <a:ea typeface="Calibri" panose="020F0502020204030204" pitchFamily="34" charset="0"/>
                          <a:cs typeface="B Lotus" panose="00000400000000000000" pitchFamily="2" charset="-78"/>
                        </a:rPr>
                        <a:t>SOH</a:t>
                      </a:r>
                      <a:r>
                        <a:rPr lang="fa-IR" sz="1800" i="0" baseline="0" dirty="0">
                          <a:effectLst/>
                          <a:latin typeface="Times New Roman" panose="02020603050405020304" pitchFamily="18" charset="0"/>
                          <a:ea typeface="Calibri" panose="020F0502020204030204" pitchFamily="34" charset="0"/>
                          <a:cs typeface="B Lotus" panose="00000400000000000000" pitchFamily="2" charset="-78"/>
                        </a:rPr>
                        <a:t> 80% با </a:t>
                      </a:r>
                      <a:r>
                        <a:rPr lang="en-US" sz="1800" i="0" baseline="0" dirty="0">
                          <a:effectLst/>
                          <a:latin typeface="Times New Roman" panose="02020603050405020304" pitchFamily="18" charset="0"/>
                          <a:ea typeface="Calibri" panose="020F0502020204030204" pitchFamily="34" charset="0"/>
                          <a:cs typeface="B Lotus" panose="00000400000000000000" pitchFamily="2" charset="-78"/>
                        </a:rPr>
                        <a:t>SOC</a:t>
                      </a:r>
                      <a:r>
                        <a:rPr lang="fa-IR" sz="1800" i="0" baseline="0" dirty="0">
                          <a:effectLst/>
                          <a:latin typeface="Times New Roman" panose="02020603050405020304" pitchFamily="18" charset="0"/>
                          <a:ea typeface="Calibri" panose="020F0502020204030204" pitchFamily="34" charset="0"/>
                          <a:cs typeface="B Lotus" panose="00000400000000000000" pitchFamily="2" charset="-78"/>
                        </a:rPr>
                        <a:t> 50%  در (ب) را مشاهده میکنید.</a:t>
                      </a:r>
                      <a:endParaRPr lang="en-US" sz="16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a:noFill/>
                    </a:lnL>
                    <a:lnR>
                      <a:noFill/>
                    </a:lnR>
                    <a:lnT>
                      <a:noFill/>
                    </a:lnT>
                    <a:lnB>
                      <a:noFill/>
                    </a:lnB>
                  </a:tcPr>
                </a:tc>
                <a:extLst>
                  <a:ext uri="{0D108BD9-81ED-4DB2-BD59-A6C34878D82A}">
                    <a16:rowId xmlns:a16="http://schemas.microsoft.com/office/drawing/2014/main" val="3545091448"/>
                  </a:ext>
                </a:extLst>
              </a:tr>
            </a:tbl>
          </a:graphicData>
        </a:graphic>
      </p:graphicFrame>
      <p:pic>
        <p:nvPicPr>
          <p:cNvPr id="18" name="Picture 17"/>
          <p:cNvPicPr>
            <a:picLocks noChangeAspect="1"/>
          </p:cNvPicPr>
          <p:nvPr/>
        </p:nvPicPr>
        <p:blipFill>
          <a:blip r:embed="rId4"/>
          <a:stretch>
            <a:fillRect/>
          </a:stretch>
        </p:blipFill>
        <p:spPr>
          <a:xfrm>
            <a:off x="215900" y="1833197"/>
            <a:ext cx="8203370" cy="3132568"/>
          </a:xfrm>
          <a:prstGeom prst="rect">
            <a:avLst/>
          </a:prstGeom>
        </p:spPr>
      </p:pic>
    </p:spTree>
    <p:extLst>
      <p:ext uri="{BB962C8B-B14F-4D97-AF65-F5344CB8AC3E}">
        <p14:creationId xmlns:p14="http://schemas.microsoft.com/office/powerpoint/2010/main" val="25732714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p:cNvPicPr>
            <a:picLocks noChangeAspect="1"/>
          </p:cNvPicPr>
          <p:nvPr/>
        </p:nvPicPr>
        <p:blipFill>
          <a:blip r:embed="rId3"/>
          <a:stretch>
            <a:fillRect/>
          </a:stretch>
        </p:blipFill>
        <p:spPr>
          <a:xfrm>
            <a:off x="1329182" y="2002126"/>
            <a:ext cx="6400800" cy="4492619"/>
          </a:xfrm>
          <a:prstGeom prst="rect">
            <a:avLst/>
          </a:prstGeom>
        </p:spPr>
      </p:pic>
      <p:pic>
        <p:nvPicPr>
          <p:cNvPr id="4" name="Picture 3">
            <a:extLst>
              <a:ext uri="{FF2B5EF4-FFF2-40B4-BE49-F238E27FC236}">
                <a16:creationId xmlns:a16="http://schemas.microsoft.com/office/drawing/2014/main" id="{CA4B7323-47E7-4CC4-91B7-36AF4E6EAE28}"/>
              </a:ext>
            </a:extLst>
          </p:cNvPr>
          <p:cNvPicPr>
            <a:picLocks noChangeAspect="1"/>
          </p:cNvPicPr>
          <p:nvPr/>
        </p:nvPicPr>
        <p:blipFill>
          <a:blip r:embed="rId4"/>
          <a:stretch>
            <a:fillRect/>
          </a:stretch>
        </p:blipFill>
        <p:spPr>
          <a:xfrm>
            <a:off x="304800" y="968931"/>
            <a:ext cx="1077212" cy="721184"/>
          </a:xfrm>
          <a:prstGeom prst="rect">
            <a:avLst/>
          </a:prstGeom>
        </p:spPr>
      </p:pic>
      <p:sp>
        <p:nvSpPr>
          <p:cNvPr id="147" name="TextBox 146">
            <a:extLst>
              <a:ext uri="{FF2B5EF4-FFF2-40B4-BE49-F238E27FC236}">
                <a16:creationId xmlns:a16="http://schemas.microsoft.com/office/drawing/2014/main" id="{F43469DC-7F5B-471E-BD74-ED709E621F63}"/>
              </a:ext>
            </a:extLst>
          </p:cNvPr>
          <p:cNvSpPr txBox="1"/>
          <p:nvPr/>
        </p:nvSpPr>
        <p:spPr>
          <a:xfrm>
            <a:off x="6104415" y="1803113"/>
            <a:ext cx="2964274" cy="369332"/>
          </a:xfrm>
          <a:prstGeom prst="rect">
            <a:avLst/>
          </a:prstGeom>
          <a:noFill/>
        </p:spPr>
        <p:txBody>
          <a:bodyPr wrap="none" rtlCol="0">
            <a:spAutoFit/>
          </a:bodyPr>
          <a:lstStyle/>
          <a:p>
            <a:pPr algn="r" rtl="1"/>
            <a:r>
              <a:rPr lang="fa-IR" b="1" dirty="0">
                <a:cs typeface="B Nazanin" panose="00000400000000000000" pitchFamily="2" charset="-78"/>
              </a:rPr>
              <a:t>الزام سیستم مدیریت همسان سازی</a:t>
            </a:r>
          </a:p>
        </p:txBody>
      </p:sp>
      <p:sp>
        <p:nvSpPr>
          <p:cNvPr id="49" name="Rounded Rectangle 175">
            <a:extLst>
              <a:ext uri="{FF2B5EF4-FFF2-40B4-BE49-F238E27FC236}">
                <a16:creationId xmlns:a16="http://schemas.microsoft.com/office/drawing/2014/main" id="{D8E27344-2AB1-4A61-B14B-D9C7962F785E}"/>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همسان سازی باتری</a:t>
            </a:r>
          </a:p>
        </p:txBody>
      </p:sp>
      <p:pic>
        <p:nvPicPr>
          <p:cNvPr id="60" name="Picture 59" descr="پرونده:Azad University logo.png - ویکی‌پدیا، دانشنامهٔ آزاد">
            <a:extLst>
              <a:ext uri="{FF2B5EF4-FFF2-40B4-BE49-F238E27FC236}">
                <a16:creationId xmlns:a16="http://schemas.microsoft.com/office/drawing/2014/main" id="{FA988D60-670C-406B-B8FB-D5A0053424E9}"/>
              </a:ext>
            </a:extLst>
          </p:cNvPr>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41" name="Rectangle 40"/>
          <p:cNvSpPr/>
          <p:nvPr/>
        </p:nvSpPr>
        <p:spPr>
          <a:xfrm>
            <a:off x="843406" y="6370345"/>
            <a:ext cx="6776594" cy="369332"/>
          </a:xfrm>
          <a:prstGeom prst="rect">
            <a:avLst/>
          </a:prstGeom>
        </p:spPr>
        <p:txBody>
          <a:bodyPr wrap="square">
            <a:spAutoFit/>
          </a:bodyPr>
          <a:lstStyle/>
          <a:p>
            <a:pPr algn="ctr" rtl="1"/>
            <a:r>
              <a:rPr lang="fa-IR" dirty="0">
                <a:latin typeface="Times New Roman" panose="02020603050405020304" pitchFamily="18" charset="0"/>
                <a:ea typeface="Calibri" panose="020F0502020204030204" pitchFamily="34" charset="0"/>
                <a:cs typeface="B Lotus" panose="00000400000000000000" pitchFamily="2" charset="-78"/>
              </a:rPr>
              <a:t> شکل 3 اجبار به قطع فرآیندهای شارژ توسط سلول1 در (الف) و دشارژ توسط سلول3 در (ب)</a:t>
            </a:r>
            <a:endParaRPr lang="en-US" dirty="0">
              <a:latin typeface="Times New Roman" panose="02020603050405020304" pitchFamily="18" charset="0"/>
              <a:ea typeface="Calibri" panose="020F0502020204030204" pitchFamily="34" charset="0"/>
              <a:cs typeface="B Lotus" panose="00000400000000000000" pitchFamily="2" charset="-78"/>
            </a:endParaRPr>
          </a:p>
        </p:txBody>
      </p:sp>
      <p:sp>
        <p:nvSpPr>
          <p:cNvPr id="17"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4</a:t>
            </a:fld>
            <a:endParaRPr lang="fa-IR" sz="1800" dirty="0">
              <a:solidFill>
                <a:schemeClr val="tx1"/>
              </a:solidFill>
              <a:cs typeface="B Lotus" panose="00000400000000000000" pitchFamily="2" charset="-78"/>
            </a:endParaRPr>
          </a:p>
        </p:txBody>
      </p:sp>
      <p:pic>
        <p:nvPicPr>
          <p:cNvPr id="2" name="Picture 1"/>
          <p:cNvPicPr>
            <a:picLocks noChangeAspect="1"/>
          </p:cNvPicPr>
          <p:nvPr/>
        </p:nvPicPr>
        <p:blipFill>
          <a:blip r:embed="rId6"/>
          <a:stretch>
            <a:fillRect/>
          </a:stretch>
        </p:blipFill>
        <p:spPr>
          <a:xfrm>
            <a:off x="685800" y="4713947"/>
            <a:ext cx="715500" cy="946933"/>
          </a:xfrm>
          <a:prstGeom prst="rect">
            <a:avLst/>
          </a:prstGeom>
        </p:spPr>
      </p:pic>
      <p:pic>
        <p:nvPicPr>
          <p:cNvPr id="3" name="Picture 2"/>
          <p:cNvPicPr>
            <a:picLocks noChangeAspect="1"/>
          </p:cNvPicPr>
          <p:nvPr/>
        </p:nvPicPr>
        <p:blipFill>
          <a:blip r:embed="rId7"/>
          <a:stretch>
            <a:fillRect/>
          </a:stretch>
        </p:blipFill>
        <p:spPr>
          <a:xfrm>
            <a:off x="685800" y="2375146"/>
            <a:ext cx="715500" cy="946933"/>
          </a:xfrm>
          <a:prstGeom prst="rect">
            <a:avLst/>
          </a:prstGeom>
        </p:spPr>
      </p:pic>
      <p:sp>
        <p:nvSpPr>
          <p:cNvPr id="33" name="AutoShape 10">
            <a:extLst>
              <a:ext uri="{FF2B5EF4-FFF2-40B4-BE49-F238E27FC236}">
                <a16:creationId xmlns:a16="http://schemas.microsoft.com/office/drawing/2014/main" id="{79B17B67-1ECE-4484-9C55-E49BDD6BD3B8}"/>
              </a:ext>
            </a:extLst>
          </p:cNvPr>
          <p:cNvSpPr>
            <a:spLocks noChangeArrowheads="1"/>
          </p:cNvSpPr>
          <p:nvPr/>
        </p:nvSpPr>
        <p:spPr bwMode="gray">
          <a:xfrm flipH="1">
            <a:off x="6246677" y="59426"/>
            <a:ext cx="2057400"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34" name="AutoShape 3">
            <a:extLst>
              <a:ext uri="{FF2B5EF4-FFF2-40B4-BE49-F238E27FC236}">
                <a16:creationId xmlns:a16="http://schemas.microsoft.com/office/drawing/2014/main" id="{5E452D18-45BE-480E-B503-836897416433}"/>
              </a:ext>
            </a:extLst>
          </p:cNvPr>
          <p:cNvSpPr>
            <a:spLocks noChangeArrowheads="1"/>
          </p:cNvSpPr>
          <p:nvPr/>
        </p:nvSpPr>
        <p:spPr bwMode="gray">
          <a:xfrm flipH="1">
            <a:off x="4188613" y="57140"/>
            <a:ext cx="2056086" cy="651510"/>
          </a:xfrm>
          <a:prstGeom prst="chevron">
            <a:avLst>
              <a:gd name="adj" fmla="val 17009"/>
            </a:avLst>
          </a:prstGeom>
          <a:solidFill>
            <a:srgbClr val="2842AE"/>
          </a:soli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dirty="0">
              <a:ln>
                <a:noFill/>
              </a:ln>
              <a:solidFill>
                <a:srgbClr val="3D81BF"/>
              </a:solidFill>
              <a:effectLst/>
              <a:uLnTx/>
              <a:uFillTx/>
            </a:endParaRPr>
          </a:p>
        </p:txBody>
      </p:sp>
      <p:sp>
        <p:nvSpPr>
          <p:cNvPr id="35" name="AutoShape 3">
            <a:extLst>
              <a:ext uri="{FF2B5EF4-FFF2-40B4-BE49-F238E27FC236}">
                <a16:creationId xmlns:a16="http://schemas.microsoft.com/office/drawing/2014/main" id="{B358ECFC-69B1-4422-AF12-904986C50966}"/>
              </a:ext>
            </a:extLst>
          </p:cNvPr>
          <p:cNvSpPr>
            <a:spLocks noChangeArrowheads="1"/>
          </p:cNvSpPr>
          <p:nvPr/>
        </p:nvSpPr>
        <p:spPr bwMode="gray">
          <a:xfrm flipH="1">
            <a:off x="2588411" y="57140"/>
            <a:ext cx="1600202"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6" name="AutoShape 3">
            <a:extLst>
              <a:ext uri="{FF2B5EF4-FFF2-40B4-BE49-F238E27FC236}">
                <a16:creationId xmlns:a16="http://schemas.microsoft.com/office/drawing/2014/main" id="{AA189239-A1ED-4328-A6B9-9569592BB4DE}"/>
              </a:ext>
            </a:extLst>
          </p:cNvPr>
          <p:cNvSpPr>
            <a:spLocks noChangeArrowheads="1"/>
          </p:cNvSpPr>
          <p:nvPr/>
        </p:nvSpPr>
        <p:spPr bwMode="gray">
          <a:xfrm flipH="1">
            <a:off x="161661" y="57140"/>
            <a:ext cx="2426749"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7" name="Rectangle 36">
            <a:extLst>
              <a:ext uri="{FF2B5EF4-FFF2-40B4-BE49-F238E27FC236}">
                <a16:creationId xmlns:a16="http://schemas.microsoft.com/office/drawing/2014/main" id="{248615E2-6409-4A84-831C-9482259B6560}"/>
              </a:ext>
            </a:extLst>
          </p:cNvPr>
          <p:cNvSpPr/>
          <p:nvPr/>
        </p:nvSpPr>
        <p:spPr>
          <a:xfrm>
            <a:off x="403231" y="91457"/>
            <a:ext cx="2056085"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طراحی و پیاده سازی همسان ساز پیشنهادی</a:t>
            </a:r>
          </a:p>
        </p:txBody>
      </p:sp>
      <p:sp>
        <p:nvSpPr>
          <p:cNvPr id="38" name="Rectangle 37">
            <a:extLst>
              <a:ext uri="{FF2B5EF4-FFF2-40B4-BE49-F238E27FC236}">
                <a16:creationId xmlns:a16="http://schemas.microsoft.com/office/drawing/2014/main" id="{EE237DF5-8C11-4481-9956-5DFCB3CECC53}"/>
              </a:ext>
            </a:extLst>
          </p:cNvPr>
          <p:cNvSpPr/>
          <p:nvPr/>
        </p:nvSpPr>
        <p:spPr>
          <a:xfrm>
            <a:off x="2636749" y="78259"/>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پیشنهادی</a:t>
            </a:r>
          </a:p>
        </p:txBody>
      </p:sp>
      <p:sp>
        <p:nvSpPr>
          <p:cNvPr id="39" name="Rectangle 38">
            <a:extLst>
              <a:ext uri="{FF2B5EF4-FFF2-40B4-BE49-F238E27FC236}">
                <a16:creationId xmlns:a16="http://schemas.microsoft.com/office/drawing/2014/main" id="{7A127E02-750B-4833-9CD9-5993A5EFF4FC}"/>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باتری</a:t>
            </a:r>
          </a:p>
        </p:txBody>
      </p:sp>
      <p:sp>
        <p:nvSpPr>
          <p:cNvPr id="40" name="Rectangle 39">
            <a:extLst>
              <a:ext uri="{FF2B5EF4-FFF2-40B4-BE49-F238E27FC236}">
                <a16:creationId xmlns:a16="http://schemas.microsoft.com/office/drawing/2014/main" id="{761C539B-3070-4459-A79B-7E6DDE2425B9}"/>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a:solidFill>
                  <a:srgbClr val="FFFFFF"/>
                </a:solidFill>
                <a:latin typeface="Times New Roman" panose="02020603050405020304" pitchFamily="18" charset="0"/>
                <a:cs typeface="B Nazanin" pitchFamily="2" charset="-78"/>
              </a:rPr>
              <a:t>باتری ها</a:t>
            </a:r>
            <a:endParaRPr lang="en-US" sz="1500" b="1" kern="0" dirty="0">
              <a:solidFill>
                <a:srgbClr val="FFFFFF"/>
              </a:solidFill>
              <a:latin typeface="Times New Roman" panose="02020603050405020304" pitchFamily="18" charset="0"/>
              <a:cs typeface="B Nazanin" pitchFamily="2" charset="-78"/>
            </a:endParaRPr>
          </a:p>
        </p:txBody>
      </p:sp>
    </p:spTree>
    <p:extLst>
      <p:ext uri="{BB962C8B-B14F-4D97-AF65-F5344CB8AC3E}">
        <p14:creationId xmlns:p14="http://schemas.microsoft.com/office/powerpoint/2010/main" val="23082575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p:cNvPicPr>
            <a:picLocks noChangeAspect="1"/>
          </p:cNvPicPr>
          <p:nvPr/>
        </p:nvPicPr>
        <p:blipFill>
          <a:blip r:embed="rId3"/>
          <a:stretch>
            <a:fillRect/>
          </a:stretch>
        </p:blipFill>
        <p:spPr>
          <a:xfrm>
            <a:off x="1258398" y="1417182"/>
            <a:ext cx="5433533" cy="4815247"/>
          </a:xfrm>
          <a:prstGeom prst="rect">
            <a:avLst/>
          </a:prstGeom>
        </p:spPr>
      </p:pic>
      <p:sp>
        <p:nvSpPr>
          <p:cNvPr id="40" name="AutoShape 8">
            <a:extLst>
              <a:ext uri="{FF2B5EF4-FFF2-40B4-BE49-F238E27FC236}">
                <a16:creationId xmlns:a16="http://schemas.microsoft.com/office/drawing/2014/main" id="{8F20B4C9-B3D8-4F53-B706-ABAA7A1E1148}"/>
              </a:ext>
            </a:extLst>
          </p:cNvPr>
          <p:cNvSpPr>
            <a:spLocks noChangeAspect="1" noChangeArrowheads="1"/>
          </p:cNvSpPr>
          <p:nvPr/>
        </p:nvSpPr>
        <p:spPr bwMode="gray">
          <a:xfrm>
            <a:off x="6666177" y="3612490"/>
            <a:ext cx="171848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cs typeface="B Nazanin" panose="00000400000000000000" pitchFamily="2" charset="-78"/>
              </a:rPr>
              <a:t>غیر </a:t>
            </a:r>
            <a:r>
              <a:rPr lang="fa-IR" b="1" dirty="0" err="1">
                <a:cs typeface="B Nazanin" panose="00000400000000000000" pitchFamily="2" charset="-78"/>
              </a:rPr>
              <a:t>اتلافی</a:t>
            </a:r>
            <a:r>
              <a:rPr lang="fa-IR" b="1" dirty="0">
                <a:cs typeface="B Nazanin" panose="00000400000000000000" pitchFamily="2" charset="-78"/>
              </a:rPr>
              <a:t> (فعال)</a:t>
            </a:r>
            <a:endParaRPr lang="en-US" b="1" dirty="0">
              <a:solidFill>
                <a:srgbClr val="000000"/>
              </a:solidFill>
              <a:latin typeface="Times New Roman" panose="02020603050405020304" pitchFamily="18" charset="0"/>
              <a:cs typeface="B Nazanin" pitchFamily="2" charset="-78"/>
            </a:endParaRPr>
          </a:p>
        </p:txBody>
      </p:sp>
      <p:sp>
        <p:nvSpPr>
          <p:cNvPr id="36" name="AutoShape 2">
            <a:extLst>
              <a:ext uri="{FF2B5EF4-FFF2-40B4-BE49-F238E27FC236}">
                <a16:creationId xmlns:a16="http://schemas.microsoft.com/office/drawing/2014/main" id="{497A908A-E454-4B9F-A07D-96505D4C7818}"/>
              </a:ext>
            </a:extLst>
          </p:cNvPr>
          <p:cNvSpPr>
            <a:spLocks noChangeAspect="1" noChangeArrowheads="1"/>
          </p:cNvSpPr>
          <p:nvPr/>
        </p:nvSpPr>
        <p:spPr bwMode="ltGray">
          <a:xfrm rot="16200000" flipH="1">
            <a:off x="8373283" y="2731839"/>
            <a:ext cx="1558261" cy="1540827"/>
          </a:xfrm>
          <a:custGeom>
            <a:avLst/>
            <a:gdLst>
              <a:gd name="G0" fmla="+- 10478 0 0"/>
              <a:gd name="G1" fmla="+- -11739500 0 0"/>
              <a:gd name="G2" fmla="+- 0 0 -11739500"/>
              <a:gd name="T0" fmla="*/ 0 256 1"/>
              <a:gd name="T1" fmla="*/ 180 256 1"/>
              <a:gd name="G3" fmla="+- -11739500 T0 T1"/>
              <a:gd name="T2" fmla="*/ 0 256 1"/>
              <a:gd name="T3" fmla="*/ 90 256 1"/>
              <a:gd name="G4" fmla="+- -11739500 T2 T3"/>
              <a:gd name="G5" fmla="*/ G4 2 1"/>
              <a:gd name="T4" fmla="*/ 90 256 1"/>
              <a:gd name="T5" fmla="*/ 0 256 1"/>
              <a:gd name="G6" fmla="+- -11739500 T4 T5"/>
              <a:gd name="G7" fmla="*/ G6 2 1"/>
              <a:gd name="G8" fmla="abs -11739500"/>
              <a:gd name="T6" fmla="*/ 0 256 1"/>
              <a:gd name="T7" fmla="*/ 90 256 1"/>
              <a:gd name="G9" fmla="+- G8 T6 T7"/>
              <a:gd name="G10" fmla="?: G9 G7 G5"/>
              <a:gd name="T8" fmla="*/ 0 256 1"/>
              <a:gd name="T9" fmla="*/ 360 256 1"/>
              <a:gd name="G11" fmla="+- G10 T8 T9"/>
              <a:gd name="G12" fmla="?: G10 G11 G10"/>
              <a:gd name="T10" fmla="*/ 0 256 1"/>
              <a:gd name="T11" fmla="*/ 360 256 1"/>
              <a:gd name="G13" fmla="+- G12 T10 T11"/>
              <a:gd name="G14" fmla="?: G12 G13 G12"/>
              <a:gd name="G15" fmla="+- 0 0 G14"/>
              <a:gd name="G16" fmla="+- 10800 0 0"/>
              <a:gd name="G17" fmla="+- 10800 0 10478"/>
              <a:gd name="G18" fmla="*/ 10478 1 2"/>
              <a:gd name="G19" fmla="+- G18 5400 0"/>
              <a:gd name="G20" fmla="cos G19 -11739500"/>
              <a:gd name="G21" fmla="sin G19 -11739500"/>
              <a:gd name="G22" fmla="+- G20 10800 0"/>
              <a:gd name="G23" fmla="+- G21 10800 0"/>
              <a:gd name="G24" fmla="+- 10800 0 G20"/>
              <a:gd name="G25" fmla="+- 10478 10800 0"/>
              <a:gd name="G26" fmla="?: G9 G17 G25"/>
              <a:gd name="G27" fmla="?: G9 0 21600"/>
              <a:gd name="G28" fmla="cos 10800 -11739500"/>
              <a:gd name="G29" fmla="sin 10800 -11739500"/>
              <a:gd name="G30" fmla="sin 10478 -11739500"/>
              <a:gd name="G31" fmla="+- G28 10800 0"/>
              <a:gd name="G32" fmla="+- G29 10800 0"/>
              <a:gd name="G33" fmla="+- G30 10800 0"/>
              <a:gd name="G34" fmla="?: G4 0 G31"/>
              <a:gd name="G35" fmla="?: -11739500 G34 0"/>
              <a:gd name="G36" fmla="?: G6 G35 G31"/>
              <a:gd name="G37" fmla="+- 21600 0 G36"/>
              <a:gd name="G38" fmla="?: G4 0 G33"/>
              <a:gd name="G39" fmla="?: -11739500 G38 G32"/>
              <a:gd name="G40" fmla="?: G6 G39 0"/>
              <a:gd name="G41" fmla="?: G4 G32 21600"/>
              <a:gd name="G42" fmla="?: G6 G41 G33"/>
              <a:gd name="T12" fmla="*/ 10800 w 21600"/>
              <a:gd name="T13" fmla="*/ 0 h 21600"/>
              <a:gd name="T14" fmla="*/ 162 w 21600"/>
              <a:gd name="T15" fmla="*/ 10638 h 21600"/>
              <a:gd name="T16" fmla="*/ 10800 w 21600"/>
              <a:gd name="T17" fmla="*/ 322 h 21600"/>
              <a:gd name="T18" fmla="*/ 21438 w 21600"/>
              <a:gd name="T19" fmla="*/ 10638 h 21600"/>
              <a:gd name="T20" fmla="*/ G36 w 21600"/>
              <a:gd name="T21" fmla="*/ G40 h 21600"/>
              <a:gd name="T22" fmla="*/ G37 w 21600"/>
              <a:gd name="T23" fmla="*/ G42 h 21600"/>
            </a:gdLst>
            <a:ahLst/>
            <a:cxnLst>
              <a:cxn ang="0">
                <a:pos x="T12" y="T13"/>
              </a:cxn>
              <a:cxn ang="0">
                <a:pos x="T14" y="T15"/>
              </a:cxn>
              <a:cxn ang="0">
                <a:pos x="T16" y="T17"/>
              </a:cxn>
              <a:cxn ang="0">
                <a:pos x="T18" y="T19"/>
              </a:cxn>
            </a:cxnLst>
            <a:rect l="T20" t="T21" r="T22" b="T23"/>
            <a:pathLst>
              <a:path w="21600" h="21600">
                <a:moveTo>
                  <a:pt x="323" y="10641"/>
                </a:moveTo>
                <a:cubicBezTo>
                  <a:pt x="410" y="4916"/>
                  <a:pt x="5075" y="321"/>
                  <a:pt x="10800" y="322"/>
                </a:cubicBezTo>
                <a:cubicBezTo>
                  <a:pt x="16524" y="322"/>
                  <a:pt x="21189" y="4916"/>
                  <a:pt x="21276" y="10641"/>
                </a:cubicBezTo>
                <a:lnTo>
                  <a:pt x="21598" y="10636"/>
                </a:lnTo>
                <a:cubicBezTo>
                  <a:pt x="21509" y="4736"/>
                  <a:pt x="16700" y="-1"/>
                  <a:pt x="10799" y="0"/>
                </a:cubicBezTo>
                <a:cubicBezTo>
                  <a:pt x="4899" y="0"/>
                  <a:pt x="90" y="4736"/>
                  <a:pt x="1" y="10636"/>
                </a:cubicBezTo>
                <a:close/>
              </a:path>
            </a:pathLst>
          </a:custGeom>
          <a:gradFill rotWithShape="0">
            <a:gsLst>
              <a:gs pos="0">
                <a:srgbClr val="B0BAD8">
                  <a:gamma/>
                  <a:tint val="45490"/>
                  <a:invGamma/>
                </a:srgbClr>
              </a:gs>
              <a:gs pos="100000">
                <a:srgbClr val="B0BAD8"/>
              </a:gs>
            </a:gsLst>
            <a:lin ang="0" scaled="1"/>
          </a:gradFill>
          <a:ln w="9525" algn="ctr">
            <a:noFill/>
            <a:miter lim="800000"/>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7" name="AutoShape 3">
            <a:extLst>
              <a:ext uri="{FF2B5EF4-FFF2-40B4-BE49-F238E27FC236}">
                <a16:creationId xmlns:a16="http://schemas.microsoft.com/office/drawing/2014/main" id="{481E592A-A902-40E8-8D57-EEB2C886C06E}"/>
              </a:ext>
            </a:extLst>
          </p:cNvPr>
          <p:cNvSpPr>
            <a:spLocks noChangeAspect="1" noChangeArrowheads="1"/>
          </p:cNvSpPr>
          <p:nvPr/>
        </p:nvSpPr>
        <p:spPr bwMode="ltGray">
          <a:xfrm rot="16200000">
            <a:off x="8492801" y="2851475"/>
            <a:ext cx="1302398" cy="1269069"/>
          </a:xfrm>
          <a:custGeom>
            <a:avLst/>
            <a:gdLst>
              <a:gd name="G0" fmla="+- 56 0 0"/>
              <a:gd name="G1" fmla="+- 11796480 0 0"/>
              <a:gd name="G2" fmla="+- 0 0 11796480"/>
              <a:gd name="T0" fmla="*/ 0 256 1"/>
              <a:gd name="T1" fmla="*/ 180 256 1"/>
              <a:gd name="G3" fmla="+- 11796480 T0 T1"/>
              <a:gd name="T2" fmla="*/ 0 256 1"/>
              <a:gd name="T3" fmla="*/ 90 256 1"/>
              <a:gd name="G4" fmla="+- 11796480 T2 T3"/>
              <a:gd name="G5" fmla="*/ G4 2 1"/>
              <a:gd name="T4" fmla="*/ 90 256 1"/>
              <a:gd name="T5" fmla="*/ 0 256 1"/>
              <a:gd name="G6" fmla="+- 11796480 T4 T5"/>
              <a:gd name="G7" fmla="*/ G6 2 1"/>
              <a:gd name="G8" fmla="abs 11796480"/>
              <a:gd name="T6" fmla="*/ 0 256 1"/>
              <a:gd name="T7" fmla="*/ 90 256 1"/>
              <a:gd name="G9" fmla="+- G8 T6 T7"/>
              <a:gd name="G10" fmla="?: G9 G7 G5"/>
              <a:gd name="T8" fmla="*/ 0 256 1"/>
              <a:gd name="T9" fmla="*/ 360 256 1"/>
              <a:gd name="G11" fmla="+- G10 T8 T9"/>
              <a:gd name="G12" fmla="?: G10 G11 G10"/>
              <a:gd name="T10" fmla="*/ 0 256 1"/>
              <a:gd name="T11" fmla="*/ 360 256 1"/>
              <a:gd name="G13" fmla="+- G12 T10 T11"/>
              <a:gd name="G14" fmla="?: G12 G13 G12"/>
              <a:gd name="G15" fmla="+- 0 0 G14"/>
              <a:gd name="G16" fmla="+- 10800 0 0"/>
              <a:gd name="G17" fmla="+- 10800 0 56"/>
              <a:gd name="G18" fmla="*/ 56 1 2"/>
              <a:gd name="G19" fmla="+- G18 5400 0"/>
              <a:gd name="G20" fmla="cos G19 11796480"/>
              <a:gd name="G21" fmla="sin G19 11796480"/>
              <a:gd name="G22" fmla="+- G20 10800 0"/>
              <a:gd name="G23" fmla="+- G21 10800 0"/>
              <a:gd name="G24" fmla="+- 10800 0 G20"/>
              <a:gd name="G25" fmla="+- 56 10800 0"/>
              <a:gd name="G26" fmla="?: G9 G17 G25"/>
              <a:gd name="G27" fmla="?: G9 0 21600"/>
              <a:gd name="G28" fmla="cos 10800 11796480"/>
              <a:gd name="G29" fmla="sin 10800 11796480"/>
              <a:gd name="G30" fmla="sin 56 11796480"/>
              <a:gd name="G31" fmla="+- G28 10800 0"/>
              <a:gd name="G32" fmla="+- G29 10800 0"/>
              <a:gd name="G33" fmla="+- G30 10800 0"/>
              <a:gd name="G34" fmla="?: G4 0 G31"/>
              <a:gd name="G35" fmla="?: 11796480 G34 0"/>
              <a:gd name="G36" fmla="?: G6 G35 G31"/>
              <a:gd name="G37" fmla="+- 21600 0 G36"/>
              <a:gd name="G38" fmla="?: G4 0 G33"/>
              <a:gd name="G39" fmla="?: 11796480 G38 G32"/>
              <a:gd name="G40" fmla="?: G6 G39 0"/>
              <a:gd name="G41" fmla="?: G4 G32 21600"/>
              <a:gd name="G42" fmla="?: G6 G41 G33"/>
              <a:gd name="T12" fmla="*/ 10800 w 21600"/>
              <a:gd name="T13" fmla="*/ 0 h 21600"/>
              <a:gd name="T14" fmla="*/ 5372 w 21600"/>
              <a:gd name="T15" fmla="*/ 10800 h 21600"/>
              <a:gd name="T16" fmla="*/ 10800 w 21600"/>
              <a:gd name="T17" fmla="*/ 10744 h 21600"/>
              <a:gd name="T18" fmla="*/ 16228 w 21600"/>
              <a:gd name="T19" fmla="*/ 10800 h 21600"/>
              <a:gd name="T20" fmla="*/ G36 w 21600"/>
              <a:gd name="T21" fmla="*/ G40 h 21600"/>
              <a:gd name="T22" fmla="*/ G37 w 21600"/>
              <a:gd name="T23" fmla="*/ G42 h 21600"/>
            </a:gdLst>
            <a:ahLst/>
            <a:cxnLst>
              <a:cxn ang="0">
                <a:pos x="T12" y="T13"/>
              </a:cxn>
              <a:cxn ang="0">
                <a:pos x="T14" y="T15"/>
              </a:cxn>
              <a:cxn ang="0">
                <a:pos x="T16" y="T17"/>
              </a:cxn>
              <a:cxn ang="0">
                <a:pos x="T18" y="T19"/>
              </a:cxn>
            </a:cxnLst>
            <a:rect l="T20" t="T21" r="T22" b="T23"/>
            <a:pathLst>
              <a:path w="21600" h="21600">
                <a:moveTo>
                  <a:pt x="10744" y="10800"/>
                </a:moveTo>
                <a:cubicBezTo>
                  <a:pt x="10744" y="10769"/>
                  <a:pt x="10769" y="10744"/>
                  <a:pt x="10800" y="10744"/>
                </a:cubicBezTo>
                <a:cubicBezTo>
                  <a:pt x="10830" y="10743"/>
                  <a:pt x="10855" y="10769"/>
                  <a:pt x="10856" y="10799"/>
                </a:cubicBezTo>
                <a:lnTo>
                  <a:pt x="21600" y="10800"/>
                </a:lnTo>
                <a:cubicBezTo>
                  <a:pt x="21600" y="4835"/>
                  <a:pt x="16764" y="0"/>
                  <a:pt x="10800" y="0"/>
                </a:cubicBezTo>
                <a:cubicBezTo>
                  <a:pt x="4835" y="0"/>
                  <a:pt x="0" y="4835"/>
                  <a:pt x="0" y="10800"/>
                </a:cubicBezTo>
                <a:close/>
              </a:path>
            </a:pathLst>
          </a:custGeom>
          <a:gradFill rotWithShape="0">
            <a:gsLst>
              <a:gs pos="0">
                <a:srgbClr val="B8CCFE">
                  <a:gamma/>
                  <a:tint val="39216"/>
                  <a:invGamma/>
                </a:srgbClr>
              </a:gs>
              <a:gs pos="100000">
                <a:srgbClr val="B8CCFE"/>
              </a:gs>
            </a:gsLst>
            <a:lin ang="0" scaled="1"/>
          </a:gradFill>
          <a:ln w="0" algn="ctr">
            <a:noFill/>
            <a:miter lim="800000"/>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pic>
        <p:nvPicPr>
          <p:cNvPr id="4" name="Picture 3">
            <a:extLst>
              <a:ext uri="{FF2B5EF4-FFF2-40B4-BE49-F238E27FC236}">
                <a16:creationId xmlns:a16="http://schemas.microsoft.com/office/drawing/2014/main" id="{CA4B7323-47E7-4CC4-91B7-36AF4E6EAE28}"/>
              </a:ext>
            </a:extLst>
          </p:cNvPr>
          <p:cNvPicPr>
            <a:picLocks noChangeAspect="1"/>
          </p:cNvPicPr>
          <p:nvPr/>
        </p:nvPicPr>
        <p:blipFill>
          <a:blip r:embed="rId4"/>
          <a:stretch>
            <a:fillRect/>
          </a:stretch>
        </p:blipFill>
        <p:spPr>
          <a:xfrm>
            <a:off x="141988" y="915374"/>
            <a:ext cx="1077212" cy="721184"/>
          </a:xfrm>
          <a:prstGeom prst="rect">
            <a:avLst/>
          </a:prstGeom>
        </p:spPr>
      </p:pic>
      <p:sp>
        <p:nvSpPr>
          <p:cNvPr id="147" name="TextBox 146">
            <a:extLst>
              <a:ext uri="{FF2B5EF4-FFF2-40B4-BE49-F238E27FC236}">
                <a16:creationId xmlns:a16="http://schemas.microsoft.com/office/drawing/2014/main" id="{F43469DC-7F5B-471E-BD74-ED709E621F63}"/>
              </a:ext>
            </a:extLst>
          </p:cNvPr>
          <p:cNvSpPr txBox="1"/>
          <p:nvPr/>
        </p:nvSpPr>
        <p:spPr>
          <a:xfrm>
            <a:off x="5562600" y="1803113"/>
            <a:ext cx="3506089" cy="369332"/>
          </a:xfrm>
          <a:prstGeom prst="rect">
            <a:avLst/>
          </a:prstGeom>
          <a:noFill/>
        </p:spPr>
        <p:txBody>
          <a:bodyPr wrap="none" rtlCol="0">
            <a:spAutoFit/>
          </a:bodyPr>
          <a:lstStyle/>
          <a:p>
            <a:pPr algn="r" rtl="1"/>
            <a:r>
              <a:rPr lang="fa-IR" b="1" dirty="0">
                <a:cs typeface="B Nazanin" panose="00000400000000000000" pitchFamily="2" charset="-78"/>
              </a:rPr>
              <a:t>دسته بندی سیستم مدیریت همسان سازی</a:t>
            </a:r>
          </a:p>
        </p:txBody>
      </p:sp>
      <p:sp>
        <p:nvSpPr>
          <p:cNvPr id="148" name="AutoShape 8">
            <a:extLst>
              <a:ext uri="{FF2B5EF4-FFF2-40B4-BE49-F238E27FC236}">
                <a16:creationId xmlns:a16="http://schemas.microsoft.com/office/drawing/2014/main" id="{FF901E6E-4D39-4565-9B46-60C2C5B1D5F6}"/>
              </a:ext>
            </a:extLst>
          </p:cNvPr>
          <p:cNvSpPr>
            <a:spLocks noChangeAspect="1" noChangeArrowheads="1"/>
          </p:cNvSpPr>
          <p:nvPr/>
        </p:nvSpPr>
        <p:spPr bwMode="gray">
          <a:xfrm>
            <a:off x="6663515" y="2884430"/>
            <a:ext cx="171848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err="1">
                <a:cs typeface="B Nazanin" panose="00000400000000000000" pitchFamily="2" charset="-78"/>
              </a:rPr>
              <a:t>اتلافی</a:t>
            </a:r>
            <a:r>
              <a:rPr lang="fa-IR" b="1" dirty="0">
                <a:cs typeface="B Nazanin" panose="00000400000000000000" pitchFamily="2" charset="-78"/>
              </a:rPr>
              <a:t> (منفعل)</a:t>
            </a:r>
            <a:endParaRPr lang="en-US" b="1" dirty="0">
              <a:solidFill>
                <a:srgbClr val="000000"/>
              </a:solidFill>
              <a:latin typeface="Times New Roman" panose="02020603050405020304" pitchFamily="18" charset="0"/>
              <a:cs typeface="B Nazanin" pitchFamily="2" charset="-78"/>
            </a:endParaRPr>
          </a:p>
        </p:txBody>
      </p:sp>
      <p:grpSp>
        <p:nvGrpSpPr>
          <p:cNvPr id="149" name="Group 23">
            <a:extLst>
              <a:ext uri="{FF2B5EF4-FFF2-40B4-BE49-F238E27FC236}">
                <a16:creationId xmlns:a16="http://schemas.microsoft.com/office/drawing/2014/main" id="{978D1582-1549-4D37-9C95-34020E281F7D}"/>
              </a:ext>
            </a:extLst>
          </p:cNvPr>
          <p:cNvGrpSpPr>
            <a:grpSpLocks noChangeAspect="1"/>
          </p:cNvGrpSpPr>
          <p:nvPr/>
        </p:nvGrpSpPr>
        <p:grpSpPr bwMode="auto">
          <a:xfrm>
            <a:off x="8249898" y="2959794"/>
            <a:ext cx="381000" cy="381000"/>
            <a:chOff x="2078" y="1680"/>
            <a:chExt cx="1615" cy="1615"/>
          </a:xfrm>
        </p:grpSpPr>
        <p:sp>
          <p:nvSpPr>
            <p:cNvPr id="150" name="Oval 24">
              <a:extLst>
                <a:ext uri="{FF2B5EF4-FFF2-40B4-BE49-F238E27FC236}">
                  <a16:creationId xmlns:a16="http://schemas.microsoft.com/office/drawing/2014/main" id="{394744AB-69AD-4039-A10B-0D8E0439243B}"/>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51" name="Oval 25">
              <a:extLst>
                <a:ext uri="{FF2B5EF4-FFF2-40B4-BE49-F238E27FC236}">
                  <a16:creationId xmlns:a16="http://schemas.microsoft.com/office/drawing/2014/main" id="{154704C5-3C92-4C99-8D43-D388A6C5B289}"/>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52" name="Oval 26">
              <a:extLst>
                <a:ext uri="{FF2B5EF4-FFF2-40B4-BE49-F238E27FC236}">
                  <a16:creationId xmlns:a16="http://schemas.microsoft.com/office/drawing/2014/main" id="{04F66D2C-385D-4CBC-8E8F-3E3A912DFC98}"/>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53" name="Oval 27">
              <a:extLst>
                <a:ext uri="{FF2B5EF4-FFF2-40B4-BE49-F238E27FC236}">
                  <a16:creationId xmlns:a16="http://schemas.microsoft.com/office/drawing/2014/main" id="{EA27390D-90C7-4FEF-9F37-D35FD2EA7723}"/>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54" name="Oval 28">
              <a:extLst>
                <a:ext uri="{FF2B5EF4-FFF2-40B4-BE49-F238E27FC236}">
                  <a16:creationId xmlns:a16="http://schemas.microsoft.com/office/drawing/2014/main" id="{5C9AFE92-58F0-4BF1-8021-7EEAC92E3206}"/>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55" name="Oval 29">
              <a:extLst>
                <a:ext uri="{FF2B5EF4-FFF2-40B4-BE49-F238E27FC236}">
                  <a16:creationId xmlns:a16="http://schemas.microsoft.com/office/drawing/2014/main" id="{1B81B5B2-AD7F-472D-BBE8-64F0040E5D5F}"/>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156" name="TextBox 155">
            <a:extLst>
              <a:ext uri="{FF2B5EF4-FFF2-40B4-BE49-F238E27FC236}">
                <a16:creationId xmlns:a16="http://schemas.microsoft.com/office/drawing/2014/main" id="{90C43403-B77E-474E-A638-C5BD6540DB40}"/>
              </a:ext>
            </a:extLst>
          </p:cNvPr>
          <p:cNvSpPr txBox="1"/>
          <p:nvPr/>
        </p:nvSpPr>
        <p:spPr>
          <a:xfrm>
            <a:off x="7619388" y="6074218"/>
            <a:ext cx="53172" cy="61471"/>
          </a:xfrm>
          <a:prstGeom prst="rect">
            <a:avLst/>
          </a:prstGeom>
          <a:noFill/>
        </p:spPr>
        <p:txBody>
          <a:bodyPr wrap="square" lIns="0" tIns="0" rIns="0" bIns="0" rtlCol="0">
            <a:spAutoFit/>
          </a:bodyPr>
          <a:lstStyle/>
          <a:p>
            <a:endParaRPr lang="en-US" dirty="0"/>
          </a:p>
        </p:txBody>
      </p:sp>
      <p:grpSp>
        <p:nvGrpSpPr>
          <p:cNvPr id="168" name="Group 23">
            <a:extLst>
              <a:ext uri="{FF2B5EF4-FFF2-40B4-BE49-F238E27FC236}">
                <a16:creationId xmlns:a16="http://schemas.microsoft.com/office/drawing/2014/main" id="{480CFC9E-AE3C-48F6-BC4D-4934E415B67E}"/>
              </a:ext>
            </a:extLst>
          </p:cNvPr>
          <p:cNvGrpSpPr>
            <a:grpSpLocks noChangeAspect="1"/>
          </p:cNvGrpSpPr>
          <p:nvPr/>
        </p:nvGrpSpPr>
        <p:grpSpPr bwMode="auto">
          <a:xfrm>
            <a:off x="8226635" y="3674700"/>
            <a:ext cx="381000" cy="381000"/>
            <a:chOff x="2078" y="1680"/>
            <a:chExt cx="1615" cy="1615"/>
          </a:xfrm>
        </p:grpSpPr>
        <p:sp>
          <p:nvSpPr>
            <p:cNvPr id="169" name="Oval 24">
              <a:extLst>
                <a:ext uri="{FF2B5EF4-FFF2-40B4-BE49-F238E27FC236}">
                  <a16:creationId xmlns:a16="http://schemas.microsoft.com/office/drawing/2014/main" id="{CACFC30A-9877-4806-9B4C-587ACE150345}"/>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0" name="Oval 25">
              <a:extLst>
                <a:ext uri="{FF2B5EF4-FFF2-40B4-BE49-F238E27FC236}">
                  <a16:creationId xmlns:a16="http://schemas.microsoft.com/office/drawing/2014/main" id="{640C1602-143A-456B-BA22-7664A3DEFFCF}"/>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1" name="Oval 26">
              <a:extLst>
                <a:ext uri="{FF2B5EF4-FFF2-40B4-BE49-F238E27FC236}">
                  <a16:creationId xmlns:a16="http://schemas.microsoft.com/office/drawing/2014/main" id="{53792F8F-0D9C-4345-A703-F034640FA7A7}"/>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2" name="Oval 27">
              <a:extLst>
                <a:ext uri="{FF2B5EF4-FFF2-40B4-BE49-F238E27FC236}">
                  <a16:creationId xmlns:a16="http://schemas.microsoft.com/office/drawing/2014/main" id="{B29790E8-4F4B-4579-8A6B-FE3F9B0CAEF2}"/>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3" name="Oval 28">
              <a:extLst>
                <a:ext uri="{FF2B5EF4-FFF2-40B4-BE49-F238E27FC236}">
                  <a16:creationId xmlns:a16="http://schemas.microsoft.com/office/drawing/2014/main" id="{358C33BB-071D-4F24-839E-CC9C393EF0D8}"/>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4" name="Oval 29">
              <a:extLst>
                <a:ext uri="{FF2B5EF4-FFF2-40B4-BE49-F238E27FC236}">
                  <a16:creationId xmlns:a16="http://schemas.microsoft.com/office/drawing/2014/main" id="{4E06C84A-1EFC-44EA-B29A-11ED722DE85A}"/>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43" name="Rectangle 42">
            <a:extLst>
              <a:ext uri="{FF2B5EF4-FFF2-40B4-BE49-F238E27FC236}">
                <a16:creationId xmlns:a16="http://schemas.microsoft.com/office/drawing/2014/main" id="{C3F19017-216F-4550-A669-620D7BF54535}"/>
              </a:ext>
            </a:extLst>
          </p:cNvPr>
          <p:cNvSpPr/>
          <p:nvPr/>
        </p:nvSpPr>
        <p:spPr>
          <a:xfrm>
            <a:off x="0" y="6356217"/>
            <a:ext cx="7950328" cy="369332"/>
          </a:xfrm>
          <a:prstGeom prst="rect">
            <a:avLst/>
          </a:prstGeom>
        </p:spPr>
        <p:txBody>
          <a:bodyPr wrap="square">
            <a:spAutoFit/>
          </a:bodyPr>
          <a:lstStyle/>
          <a:p>
            <a:pPr algn="ctr" rtl="1"/>
            <a:r>
              <a:rPr lang="fa-IR" dirty="0">
                <a:latin typeface="Times New Roman" panose="02020603050405020304" pitchFamily="18" charset="0"/>
                <a:ea typeface="Calibri" panose="020F0502020204030204" pitchFamily="34" charset="0"/>
                <a:cs typeface="B Lotus" panose="00000400000000000000" pitchFamily="2" charset="-78"/>
              </a:rPr>
              <a:t>شکل 4 پیش از همسان سازی (الف)</a:t>
            </a:r>
            <a:r>
              <a:rPr lang="fa-IR" dirty="0"/>
              <a:t> </a:t>
            </a:r>
            <a:r>
              <a:rPr lang="fa-IR" dirty="0">
                <a:latin typeface="Times New Roman" panose="02020603050405020304" pitchFamily="18" charset="0"/>
                <a:ea typeface="Calibri" panose="020F0502020204030204" pitchFamily="34" charset="0"/>
                <a:cs typeface="B Lotus" panose="00000400000000000000" pitchFamily="2" charset="-78"/>
              </a:rPr>
              <a:t>همسان سازی </a:t>
            </a:r>
            <a:r>
              <a:rPr lang="fa-IR" dirty="0">
                <a:cs typeface="B Nazanin" panose="00000400000000000000" pitchFamily="2" charset="-78"/>
              </a:rPr>
              <a:t>اتلافی</a:t>
            </a:r>
            <a:r>
              <a:rPr lang="fa-IR" dirty="0">
                <a:latin typeface="Times New Roman" panose="02020603050405020304" pitchFamily="18" charset="0"/>
                <a:cs typeface="B Lotus" panose="00000400000000000000" pitchFamily="2" charset="-78"/>
              </a:rPr>
              <a:t> </a:t>
            </a:r>
            <a:r>
              <a:rPr lang="fa-IR" dirty="0">
                <a:latin typeface="Times New Roman" panose="02020603050405020304" pitchFamily="18" charset="0"/>
                <a:ea typeface="Calibri" panose="020F0502020204030204" pitchFamily="34" charset="0"/>
                <a:cs typeface="B Lotus" panose="00000400000000000000" pitchFamily="2" charset="-78"/>
              </a:rPr>
              <a:t>(ب) همسان سازی </a:t>
            </a:r>
            <a:r>
              <a:rPr lang="fa-IR" dirty="0">
                <a:cs typeface="B Nazanin" panose="00000400000000000000" pitchFamily="2" charset="-78"/>
              </a:rPr>
              <a:t>غیر اتلافی</a:t>
            </a:r>
            <a:r>
              <a:rPr lang="fa-IR" dirty="0">
                <a:latin typeface="Times New Roman" panose="02020603050405020304" pitchFamily="18" charset="0"/>
                <a:cs typeface="B Lotus" panose="00000400000000000000" pitchFamily="2" charset="-78"/>
              </a:rPr>
              <a:t> </a:t>
            </a:r>
            <a:r>
              <a:rPr lang="fa-IR" dirty="0">
                <a:latin typeface="Times New Roman" panose="02020603050405020304" pitchFamily="18" charset="0"/>
                <a:ea typeface="Calibri" panose="020F0502020204030204" pitchFamily="34" charset="0"/>
                <a:cs typeface="B Lotus" panose="00000400000000000000" pitchFamily="2" charset="-78"/>
              </a:rPr>
              <a:t>(ج)</a:t>
            </a:r>
            <a:endParaRPr lang="en-US" dirty="0"/>
          </a:p>
        </p:txBody>
      </p:sp>
      <p:sp>
        <p:nvSpPr>
          <p:cNvPr id="38"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5</a:t>
            </a:fld>
            <a:endParaRPr lang="fa-IR" sz="1800" dirty="0">
              <a:solidFill>
                <a:schemeClr val="tx1"/>
              </a:solidFill>
              <a:cs typeface="B Lotus" panose="00000400000000000000" pitchFamily="2" charset="-78"/>
            </a:endParaRPr>
          </a:p>
        </p:txBody>
      </p:sp>
      <p:sp>
        <p:nvSpPr>
          <p:cNvPr id="50" name="Rounded Rectangle 175">
            <a:extLst>
              <a:ext uri="{FF2B5EF4-FFF2-40B4-BE49-F238E27FC236}">
                <a16:creationId xmlns:a16="http://schemas.microsoft.com/office/drawing/2014/main" id="{5E717F78-E889-43C7-BE28-20218594366D}"/>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همسان سازی باتری</a:t>
            </a:r>
          </a:p>
        </p:txBody>
      </p:sp>
      <p:pic>
        <p:nvPicPr>
          <p:cNvPr id="51" name="Picture 50" descr="پرونده:Azad University logo.png - ویکی‌پدیا، دانشنامهٔ آزاد">
            <a:extLst>
              <a:ext uri="{FF2B5EF4-FFF2-40B4-BE49-F238E27FC236}">
                <a16:creationId xmlns:a16="http://schemas.microsoft.com/office/drawing/2014/main" id="{CD3C0576-F09C-4280-8B14-1CCFC26E95B7}"/>
              </a:ext>
            </a:extLst>
          </p:cNvPr>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53" name="AutoShape 10">
            <a:extLst>
              <a:ext uri="{FF2B5EF4-FFF2-40B4-BE49-F238E27FC236}">
                <a16:creationId xmlns:a16="http://schemas.microsoft.com/office/drawing/2014/main" id="{D6C9540C-B64F-46A9-8B92-EAB21CE36CDE}"/>
              </a:ext>
            </a:extLst>
          </p:cNvPr>
          <p:cNvSpPr>
            <a:spLocks noChangeArrowheads="1"/>
          </p:cNvSpPr>
          <p:nvPr/>
        </p:nvSpPr>
        <p:spPr bwMode="gray">
          <a:xfrm flipH="1">
            <a:off x="6246677" y="59426"/>
            <a:ext cx="2057400"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54" name="AutoShape 3">
            <a:extLst>
              <a:ext uri="{FF2B5EF4-FFF2-40B4-BE49-F238E27FC236}">
                <a16:creationId xmlns:a16="http://schemas.microsoft.com/office/drawing/2014/main" id="{485B2B8D-A72E-4A69-89E8-541EC8CA44CC}"/>
              </a:ext>
            </a:extLst>
          </p:cNvPr>
          <p:cNvSpPr>
            <a:spLocks noChangeArrowheads="1"/>
          </p:cNvSpPr>
          <p:nvPr/>
        </p:nvSpPr>
        <p:spPr bwMode="gray">
          <a:xfrm flipH="1">
            <a:off x="4188613" y="57140"/>
            <a:ext cx="2056086" cy="651510"/>
          </a:xfrm>
          <a:prstGeom prst="chevron">
            <a:avLst>
              <a:gd name="adj" fmla="val 17009"/>
            </a:avLst>
          </a:prstGeom>
          <a:solidFill>
            <a:srgbClr val="2842AE"/>
          </a:soli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dirty="0">
              <a:ln>
                <a:noFill/>
              </a:ln>
              <a:solidFill>
                <a:srgbClr val="3D81BF"/>
              </a:solidFill>
              <a:effectLst/>
              <a:uLnTx/>
              <a:uFillTx/>
            </a:endParaRPr>
          </a:p>
        </p:txBody>
      </p:sp>
      <p:sp>
        <p:nvSpPr>
          <p:cNvPr id="57" name="AutoShape 3">
            <a:extLst>
              <a:ext uri="{FF2B5EF4-FFF2-40B4-BE49-F238E27FC236}">
                <a16:creationId xmlns:a16="http://schemas.microsoft.com/office/drawing/2014/main" id="{EF45C0D6-D395-4223-B481-D4FF54657503}"/>
              </a:ext>
            </a:extLst>
          </p:cNvPr>
          <p:cNvSpPr>
            <a:spLocks noChangeArrowheads="1"/>
          </p:cNvSpPr>
          <p:nvPr/>
        </p:nvSpPr>
        <p:spPr bwMode="gray">
          <a:xfrm flipH="1">
            <a:off x="2588411" y="57140"/>
            <a:ext cx="1600202"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58" name="AutoShape 3">
            <a:extLst>
              <a:ext uri="{FF2B5EF4-FFF2-40B4-BE49-F238E27FC236}">
                <a16:creationId xmlns:a16="http://schemas.microsoft.com/office/drawing/2014/main" id="{A0B0E20F-7FEC-430C-B288-503452C56EBD}"/>
              </a:ext>
            </a:extLst>
          </p:cNvPr>
          <p:cNvSpPr>
            <a:spLocks noChangeArrowheads="1"/>
          </p:cNvSpPr>
          <p:nvPr/>
        </p:nvSpPr>
        <p:spPr bwMode="gray">
          <a:xfrm flipH="1">
            <a:off x="161661" y="57140"/>
            <a:ext cx="2426749"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61" name="Rectangle 60">
            <a:extLst>
              <a:ext uri="{FF2B5EF4-FFF2-40B4-BE49-F238E27FC236}">
                <a16:creationId xmlns:a16="http://schemas.microsoft.com/office/drawing/2014/main" id="{7AA3DC7F-EAD5-4970-AC11-56A9269645E3}"/>
              </a:ext>
            </a:extLst>
          </p:cNvPr>
          <p:cNvSpPr/>
          <p:nvPr/>
        </p:nvSpPr>
        <p:spPr>
          <a:xfrm>
            <a:off x="403231" y="91457"/>
            <a:ext cx="2056085"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طراحی و پیاده سازی همسان ساز پیشنهادی</a:t>
            </a:r>
          </a:p>
        </p:txBody>
      </p:sp>
      <p:sp>
        <p:nvSpPr>
          <p:cNvPr id="62" name="Rectangle 61">
            <a:extLst>
              <a:ext uri="{FF2B5EF4-FFF2-40B4-BE49-F238E27FC236}">
                <a16:creationId xmlns:a16="http://schemas.microsoft.com/office/drawing/2014/main" id="{CF63D6AB-4291-4E90-8A94-4D8D0B518991}"/>
              </a:ext>
            </a:extLst>
          </p:cNvPr>
          <p:cNvSpPr/>
          <p:nvPr/>
        </p:nvSpPr>
        <p:spPr>
          <a:xfrm>
            <a:off x="2636749" y="78259"/>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پیشنهادی</a:t>
            </a:r>
          </a:p>
        </p:txBody>
      </p:sp>
      <p:sp>
        <p:nvSpPr>
          <p:cNvPr id="67" name="Rectangle 66">
            <a:extLst>
              <a:ext uri="{FF2B5EF4-FFF2-40B4-BE49-F238E27FC236}">
                <a16:creationId xmlns:a16="http://schemas.microsoft.com/office/drawing/2014/main" id="{2303513B-642F-45E3-9CA3-6690303DB148}"/>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باتری</a:t>
            </a:r>
          </a:p>
        </p:txBody>
      </p:sp>
      <p:sp>
        <p:nvSpPr>
          <p:cNvPr id="68" name="Rectangle 67">
            <a:extLst>
              <a:ext uri="{FF2B5EF4-FFF2-40B4-BE49-F238E27FC236}">
                <a16:creationId xmlns:a16="http://schemas.microsoft.com/office/drawing/2014/main" id="{77F01E1C-B3E5-47D7-8AFA-D963AF9418D2}"/>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a:solidFill>
                  <a:srgbClr val="FFFFFF"/>
                </a:solidFill>
                <a:latin typeface="Times New Roman" panose="02020603050405020304" pitchFamily="18" charset="0"/>
                <a:cs typeface="B Nazanin" pitchFamily="2" charset="-78"/>
              </a:rPr>
              <a:t>باتری ها</a:t>
            </a:r>
            <a:endParaRPr lang="en-US" sz="1500" b="1" kern="0" dirty="0">
              <a:solidFill>
                <a:srgbClr val="FFFFFF"/>
              </a:solidFill>
              <a:latin typeface="Times New Roman" panose="02020603050405020304" pitchFamily="18" charset="0"/>
              <a:cs typeface="B Nazanin" pitchFamily="2" charset="-78"/>
            </a:endParaRPr>
          </a:p>
        </p:txBody>
      </p:sp>
    </p:spTree>
    <p:extLst>
      <p:ext uri="{BB962C8B-B14F-4D97-AF65-F5344CB8AC3E}">
        <p14:creationId xmlns:p14="http://schemas.microsoft.com/office/powerpoint/2010/main" val="17064856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CA4B7323-47E7-4CC4-91B7-36AF4E6EAE28}"/>
              </a:ext>
            </a:extLst>
          </p:cNvPr>
          <p:cNvPicPr>
            <a:picLocks noChangeAspect="1"/>
          </p:cNvPicPr>
          <p:nvPr/>
        </p:nvPicPr>
        <p:blipFill>
          <a:blip r:embed="rId3"/>
          <a:stretch>
            <a:fillRect/>
          </a:stretch>
        </p:blipFill>
        <p:spPr>
          <a:xfrm>
            <a:off x="304800" y="968931"/>
            <a:ext cx="1077212" cy="721184"/>
          </a:xfrm>
          <a:prstGeom prst="rect">
            <a:avLst/>
          </a:prstGeom>
        </p:spPr>
      </p:pic>
      <p:sp>
        <p:nvSpPr>
          <p:cNvPr id="147" name="TextBox 146">
            <a:extLst>
              <a:ext uri="{FF2B5EF4-FFF2-40B4-BE49-F238E27FC236}">
                <a16:creationId xmlns:a16="http://schemas.microsoft.com/office/drawing/2014/main" id="{F43469DC-7F5B-471E-BD74-ED709E621F63}"/>
              </a:ext>
            </a:extLst>
          </p:cNvPr>
          <p:cNvSpPr txBox="1"/>
          <p:nvPr/>
        </p:nvSpPr>
        <p:spPr>
          <a:xfrm>
            <a:off x="7154382" y="1803113"/>
            <a:ext cx="1914307" cy="369332"/>
          </a:xfrm>
          <a:prstGeom prst="rect">
            <a:avLst/>
          </a:prstGeom>
          <a:noFill/>
        </p:spPr>
        <p:txBody>
          <a:bodyPr wrap="none" rtlCol="0">
            <a:spAutoFit/>
          </a:bodyPr>
          <a:lstStyle/>
          <a:p>
            <a:pPr algn="r" rtl="1"/>
            <a:r>
              <a:rPr lang="fa-IR" b="1" dirty="0">
                <a:cs typeface="B Nazanin" panose="00000400000000000000" pitchFamily="2" charset="-78"/>
              </a:rPr>
              <a:t>پدیده ی روی هم رفت</a:t>
            </a:r>
          </a:p>
        </p:txBody>
      </p:sp>
      <p:sp>
        <p:nvSpPr>
          <p:cNvPr id="49" name="Rounded Rectangle 175">
            <a:extLst>
              <a:ext uri="{FF2B5EF4-FFF2-40B4-BE49-F238E27FC236}">
                <a16:creationId xmlns:a16="http://schemas.microsoft.com/office/drawing/2014/main" id="{D8E27344-2AB1-4A61-B14B-D9C7962F785E}"/>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همسان سازی باتری</a:t>
            </a:r>
          </a:p>
        </p:txBody>
      </p:sp>
      <p:pic>
        <p:nvPicPr>
          <p:cNvPr id="60" name="Picture 59" descr="پرونده:Azad University logo.png - ویکی‌پدیا، دانشنامهٔ آزاد">
            <a:extLst>
              <a:ext uri="{FF2B5EF4-FFF2-40B4-BE49-F238E27FC236}">
                <a16:creationId xmlns:a16="http://schemas.microsoft.com/office/drawing/2014/main"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41" name="Rectangle 40"/>
          <p:cNvSpPr/>
          <p:nvPr/>
        </p:nvSpPr>
        <p:spPr>
          <a:xfrm>
            <a:off x="843406" y="6325547"/>
            <a:ext cx="6776594" cy="369332"/>
          </a:xfrm>
          <a:prstGeom prst="rect">
            <a:avLst/>
          </a:prstGeom>
        </p:spPr>
        <p:txBody>
          <a:bodyPr wrap="square">
            <a:spAutoFit/>
          </a:bodyPr>
          <a:lstStyle/>
          <a:p>
            <a:pPr algn="ctr" rtl="1"/>
            <a:r>
              <a:rPr lang="fa-IR" dirty="0">
                <a:latin typeface="Times New Roman" panose="02020603050405020304" pitchFamily="18" charset="0"/>
                <a:ea typeface="Calibri" panose="020F0502020204030204" pitchFamily="34" charset="0"/>
                <a:cs typeface="B Lotus" panose="00000400000000000000" pitchFamily="2" charset="-78"/>
              </a:rPr>
              <a:t> شکل 3 پدیده ی روی هم رفت در حین فرآیند همسان سازی فعال.</a:t>
            </a:r>
            <a:endParaRPr lang="en-US" dirty="0">
              <a:latin typeface="Times New Roman" panose="02020603050405020304" pitchFamily="18" charset="0"/>
              <a:ea typeface="Calibri" panose="020F0502020204030204" pitchFamily="34" charset="0"/>
              <a:cs typeface="B Lotus" panose="00000400000000000000" pitchFamily="2" charset="-78"/>
            </a:endParaRPr>
          </a:p>
        </p:txBody>
      </p:sp>
      <p:sp>
        <p:nvSpPr>
          <p:cNvPr id="17"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6</a:t>
            </a:fld>
            <a:endParaRPr lang="fa-IR" sz="1800" dirty="0">
              <a:solidFill>
                <a:schemeClr val="tx1"/>
              </a:solidFill>
              <a:cs typeface="B Lotus" panose="00000400000000000000" pitchFamily="2" charset="-78"/>
            </a:endParaRPr>
          </a:p>
        </p:txBody>
      </p:sp>
      <p:sp>
        <p:nvSpPr>
          <p:cNvPr id="33" name="AutoShape 10">
            <a:extLst>
              <a:ext uri="{FF2B5EF4-FFF2-40B4-BE49-F238E27FC236}">
                <a16:creationId xmlns:a16="http://schemas.microsoft.com/office/drawing/2014/main" id="{79B17B67-1ECE-4484-9C55-E49BDD6BD3B8}"/>
              </a:ext>
            </a:extLst>
          </p:cNvPr>
          <p:cNvSpPr>
            <a:spLocks noChangeArrowheads="1"/>
          </p:cNvSpPr>
          <p:nvPr/>
        </p:nvSpPr>
        <p:spPr bwMode="gray">
          <a:xfrm flipH="1">
            <a:off x="6246677" y="59426"/>
            <a:ext cx="2057400"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34" name="AutoShape 3">
            <a:extLst>
              <a:ext uri="{FF2B5EF4-FFF2-40B4-BE49-F238E27FC236}">
                <a16:creationId xmlns:a16="http://schemas.microsoft.com/office/drawing/2014/main" id="{5E452D18-45BE-480E-B503-836897416433}"/>
              </a:ext>
            </a:extLst>
          </p:cNvPr>
          <p:cNvSpPr>
            <a:spLocks noChangeArrowheads="1"/>
          </p:cNvSpPr>
          <p:nvPr/>
        </p:nvSpPr>
        <p:spPr bwMode="gray">
          <a:xfrm flipH="1">
            <a:off x="4188613" y="57140"/>
            <a:ext cx="2056086" cy="651510"/>
          </a:xfrm>
          <a:prstGeom prst="chevron">
            <a:avLst>
              <a:gd name="adj" fmla="val 17009"/>
            </a:avLst>
          </a:prstGeom>
          <a:solidFill>
            <a:srgbClr val="2842AE"/>
          </a:soli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dirty="0">
              <a:ln>
                <a:noFill/>
              </a:ln>
              <a:solidFill>
                <a:srgbClr val="3D81BF"/>
              </a:solidFill>
              <a:effectLst/>
              <a:uLnTx/>
              <a:uFillTx/>
            </a:endParaRPr>
          </a:p>
        </p:txBody>
      </p:sp>
      <p:sp>
        <p:nvSpPr>
          <p:cNvPr id="35" name="AutoShape 3">
            <a:extLst>
              <a:ext uri="{FF2B5EF4-FFF2-40B4-BE49-F238E27FC236}">
                <a16:creationId xmlns:a16="http://schemas.microsoft.com/office/drawing/2014/main" id="{B358ECFC-69B1-4422-AF12-904986C50966}"/>
              </a:ext>
            </a:extLst>
          </p:cNvPr>
          <p:cNvSpPr>
            <a:spLocks noChangeArrowheads="1"/>
          </p:cNvSpPr>
          <p:nvPr/>
        </p:nvSpPr>
        <p:spPr bwMode="gray">
          <a:xfrm flipH="1">
            <a:off x="2588411" y="57140"/>
            <a:ext cx="1600202"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6" name="AutoShape 3">
            <a:extLst>
              <a:ext uri="{FF2B5EF4-FFF2-40B4-BE49-F238E27FC236}">
                <a16:creationId xmlns:a16="http://schemas.microsoft.com/office/drawing/2014/main" id="{AA189239-A1ED-4328-A6B9-9569592BB4DE}"/>
              </a:ext>
            </a:extLst>
          </p:cNvPr>
          <p:cNvSpPr>
            <a:spLocks noChangeArrowheads="1"/>
          </p:cNvSpPr>
          <p:nvPr/>
        </p:nvSpPr>
        <p:spPr bwMode="gray">
          <a:xfrm flipH="1">
            <a:off x="161661" y="57140"/>
            <a:ext cx="2426749"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7" name="Rectangle 36">
            <a:extLst>
              <a:ext uri="{FF2B5EF4-FFF2-40B4-BE49-F238E27FC236}">
                <a16:creationId xmlns:a16="http://schemas.microsoft.com/office/drawing/2014/main" id="{248615E2-6409-4A84-831C-9482259B6560}"/>
              </a:ext>
            </a:extLst>
          </p:cNvPr>
          <p:cNvSpPr/>
          <p:nvPr/>
        </p:nvSpPr>
        <p:spPr>
          <a:xfrm>
            <a:off x="403231" y="91457"/>
            <a:ext cx="2056085"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طراحی و پیاده سازی همسان ساز پیشنهادی</a:t>
            </a:r>
          </a:p>
        </p:txBody>
      </p:sp>
      <p:sp>
        <p:nvSpPr>
          <p:cNvPr id="38" name="Rectangle 37">
            <a:extLst>
              <a:ext uri="{FF2B5EF4-FFF2-40B4-BE49-F238E27FC236}">
                <a16:creationId xmlns:a16="http://schemas.microsoft.com/office/drawing/2014/main" id="{EE237DF5-8C11-4481-9956-5DFCB3CECC53}"/>
              </a:ext>
            </a:extLst>
          </p:cNvPr>
          <p:cNvSpPr/>
          <p:nvPr/>
        </p:nvSpPr>
        <p:spPr>
          <a:xfrm>
            <a:off x="2636749" y="78259"/>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پیشنهادی</a:t>
            </a:r>
          </a:p>
        </p:txBody>
      </p:sp>
      <p:sp>
        <p:nvSpPr>
          <p:cNvPr id="39" name="Rectangle 38">
            <a:extLst>
              <a:ext uri="{FF2B5EF4-FFF2-40B4-BE49-F238E27FC236}">
                <a16:creationId xmlns:a16="http://schemas.microsoft.com/office/drawing/2014/main" id="{7A127E02-750B-4833-9CD9-5993A5EFF4FC}"/>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باتری</a:t>
            </a:r>
          </a:p>
        </p:txBody>
      </p:sp>
      <p:sp>
        <p:nvSpPr>
          <p:cNvPr id="40" name="Rectangle 39">
            <a:extLst>
              <a:ext uri="{FF2B5EF4-FFF2-40B4-BE49-F238E27FC236}">
                <a16:creationId xmlns:a16="http://schemas.microsoft.com/office/drawing/2014/main" id="{761C539B-3070-4459-A79B-7E6DDE2425B9}"/>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a:solidFill>
                  <a:srgbClr val="FFFFFF"/>
                </a:solidFill>
                <a:latin typeface="Times New Roman" panose="02020603050405020304" pitchFamily="18" charset="0"/>
                <a:cs typeface="B Nazanin" pitchFamily="2" charset="-78"/>
              </a:rPr>
              <a:t>باتری ها</a:t>
            </a:r>
            <a:endParaRPr lang="en-US" sz="1500" b="1" kern="0" dirty="0">
              <a:solidFill>
                <a:srgbClr val="FFFFFF"/>
              </a:solidFill>
              <a:latin typeface="Times New Roman" panose="02020603050405020304" pitchFamily="18" charset="0"/>
              <a:cs typeface="B Nazanin" pitchFamily="2" charset="-78"/>
            </a:endParaRPr>
          </a:p>
        </p:txBody>
      </p:sp>
      <p:pic>
        <p:nvPicPr>
          <p:cNvPr id="19" name="Picture 18">
            <a:extLst>
              <a:ext uri="{FF2B5EF4-FFF2-40B4-BE49-F238E27FC236}">
                <a16:creationId xmlns:a16="http://schemas.microsoft.com/office/drawing/2014/main" id="{EFB98B88-D9A5-47D3-A423-8E82A2475FFB}"/>
              </a:ext>
            </a:extLst>
          </p:cNvPr>
          <p:cNvPicPr/>
          <p:nvPr/>
        </p:nvPicPr>
        <p:blipFill>
          <a:blip r:embed="rId5" cstate="print">
            <a:extLst>
              <a:ext uri="{28A0092B-C50C-407E-A947-70E740481C1C}">
                <a14:useLocalDpi xmlns:a14="http://schemas.microsoft.com/office/drawing/2010/main" val="0"/>
              </a:ext>
            </a:extLst>
          </a:blip>
          <a:stretch>
            <a:fillRect/>
          </a:stretch>
        </p:blipFill>
        <p:spPr>
          <a:xfrm>
            <a:off x="8965" y="2216166"/>
            <a:ext cx="8915399" cy="3946260"/>
          </a:xfrm>
          <a:prstGeom prst="rect">
            <a:avLst/>
          </a:prstGeom>
        </p:spPr>
      </p:pic>
    </p:spTree>
    <p:extLst>
      <p:ext uri="{BB962C8B-B14F-4D97-AF65-F5344CB8AC3E}">
        <p14:creationId xmlns:p14="http://schemas.microsoft.com/office/powerpoint/2010/main" val="169776678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 name="AutoShape 8">
            <a:extLst>
              <a:ext uri="{FF2B5EF4-FFF2-40B4-BE49-F238E27FC236}">
                <a16:creationId xmlns:a16="http://schemas.microsoft.com/office/drawing/2014/main" id="{2F35A0BE-ACAE-464F-966C-4598FD947DFB}"/>
              </a:ext>
            </a:extLst>
          </p:cNvPr>
          <p:cNvSpPr>
            <a:spLocks noChangeArrowheads="1"/>
          </p:cNvSpPr>
          <p:nvPr/>
        </p:nvSpPr>
        <p:spPr bwMode="gray">
          <a:xfrm>
            <a:off x="4208971" y="4041816"/>
            <a:ext cx="2496312"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cs typeface="B Nazanin" panose="00000400000000000000" pitchFamily="2" charset="-78"/>
              </a:rPr>
              <a:t>انتقال غیر</a:t>
            </a:r>
            <a:r>
              <a:rPr lang="en-US" b="1" dirty="0">
                <a:cs typeface="B Nazanin" panose="00000400000000000000" pitchFamily="2" charset="-78"/>
              </a:rPr>
              <a:t> </a:t>
            </a:r>
            <a:r>
              <a:rPr lang="fa-IR" b="1" dirty="0">
                <a:cs typeface="B Nazanin" panose="00000400000000000000" pitchFamily="2" charset="-78"/>
              </a:rPr>
              <a:t>مجاور</a:t>
            </a:r>
            <a:endParaRPr lang="en-US" b="1" dirty="0">
              <a:solidFill>
                <a:srgbClr val="000000"/>
              </a:solidFill>
              <a:latin typeface="Times New Roman" panose="02020603050405020304" pitchFamily="18" charset="0"/>
              <a:cs typeface="B Nazanin" pitchFamily="2" charset="-78"/>
            </a:endParaRPr>
          </a:p>
        </p:txBody>
      </p:sp>
      <p:sp>
        <p:nvSpPr>
          <p:cNvPr id="131" name="AutoShape 8">
            <a:extLst>
              <a:ext uri="{FF2B5EF4-FFF2-40B4-BE49-F238E27FC236}">
                <a16:creationId xmlns:a16="http://schemas.microsoft.com/office/drawing/2014/main" id="{1D001561-C43A-44D9-81F9-A023B7BC3B1F}"/>
              </a:ext>
            </a:extLst>
          </p:cNvPr>
          <p:cNvSpPr>
            <a:spLocks noChangeArrowheads="1"/>
          </p:cNvSpPr>
          <p:nvPr/>
        </p:nvSpPr>
        <p:spPr bwMode="gray">
          <a:xfrm>
            <a:off x="4577930" y="2727042"/>
            <a:ext cx="2496312" cy="512064"/>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cs typeface="B Nazanin" panose="00000400000000000000" pitchFamily="2" charset="-78"/>
              </a:rPr>
              <a:t>انتقال مجاور</a:t>
            </a:r>
            <a:endParaRPr lang="en-US" b="1" dirty="0">
              <a:solidFill>
                <a:srgbClr val="000000"/>
              </a:solidFill>
              <a:latin typeface="Times New Roman" panose="02020603050405020304" pitchFamily="18" charset="0"/>
              <a:cs typeface="B Nazanin" pitchFamily="2" charset="-78"/>
            </a:endParaRPr>
          </a:p>
        </p:txBody>
      </p:sp>
      <p:sp>
        <p:nvSpPr>
          <p:cNvPr id="139" name="AutoShape 8">
            <a:extLst>
              <a:ext uri="{FF2B5EF4-FFF2-40B4-BE49-F238E27FC236}">
                <a16:creationId xmlns:a16="http://schemas.microsoft.com/office/drawing/2014/main" id="{AD67BECF-64ED-4C10-BDF8-B54A15D16C17}"/>
              </a:ext>
            </a:extLst>
          </p:cNvPr>
          <p:cNvSpPr>
            <a:spLocks noChangeAspect="1" noChangeArrowheads="1"/>
          </p:cNvSpPr>
          <p:nvPr/>
        </p:nvSpPr>
        <p:spPr bwMode="gray">
          <a:xfrm>
            <a:off x="4595159" y="5378530"/>
            <a:ext cx="249967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cs typeface="B Nazanin" panose="00000400000000000000" pitchFamily="2" charset="-78"/>
              </a:rPr>
              <a:t>انتقال سلول به سلول</a:t>
            </a:r>
            <a:endParaRPr lang="en-US" b="1" dirty="0">
              <a:solidFill>
                <a:srgbClr val="000000"/>
              </a:solidFill>
              <a:latin typeface="Times New Roman" panose="02020603050405020304" pitchFamily="18" charset="0"/>
              <a:cs typeface="B Nazanin" pitchFamily="2" charset="-78"/>
            </a:endParaRPr>
          </a:p>
        </p:txBody>
      </p:sp>
      <p:sp>
        <p:nvSpPr>
          <p:cNvPr id="148"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7</a:t>
            </a:fld>
            <a:endParaRPr lang="fa-IR" sz="1800" dirty="0">
              <a:solidFill>
                <a:schemeClr val="tx1"/>
              </a:solidFill>
              <a:cs typeface="B Lotus" panose="00000400000000000000" pitchFamily="2" charset="-78"/>
            </a:endParaRPr>
          </a:p>
        </p:txBody>
      </p:sp>
      <p:pic>
        <p:nvPicPr>
          <p:cNvPr id="149" name="Picture 148">
            <a:extLst>
              <a:ext uri="{FF2B5EF4-FFF2-40B4-BE49-F238E27FC236}">
                <a16:creationId xmlns:a16="http://schemas.microsoft.com/office/drawing/2014/main" id="{E448CBB6-205F-4A19-B760-D7DB914CD91E}"/>
              </a:ext>
            </a:extLst>
          </p:cNvPr>
          <p:cNvPicPr>
            <a:picLocks noChangeAspect="1"/>
          </p:cNvPicPr>
          <p:nvPr/>
        </p:nvPicPr>
        <p:blipFill>
          <a:blip r:embed="rId3"/>
          <a:stretch>
            <a:fillRect/>
          </a:stretch>
        </p:blipFill>
        <p:spPr>
          <a:xfrm>
            <a:off x="408982" y="923807"/>
            <a:ext cx="1676480" cy="1122389"/>
          </a:xfrm>
          <a:prstGeom prst="rect">
            <a:avLst/>
          </a:prstGeom>
        </p:spPr>
      </p:pic>
      <p:sp>
        <p:nvSpPr>
          <p:cNvPr id="182" name="AutoShape 2">
            <a:extLst>
              <a:ext uri="{FF2B5EF4-FFF2-40B4-BE49-F238E27FC236}">
                <a16:creationId xmlns:a16="http://schemas.microsoft.com/office/drawing/2014/main" id="{497A908A-E454-4B9F-A07D-96505D4C7818}"/>
              </a:ext>
            </a:extLst>
          </p:cNvPr>
          <p:cNvSpPr>
            <a:spLocks noChangeAspect="1" noChangeArrowheads="1"/>
          </p:cNvSpPr>
          <p:nvPr/>
        </p:nvSpPr>
        <p:spPr bwMode="ltGray">
          <a:xfrm rot="16200000" flipH="1">
            <a:off x="6766228" y="1783192"/>
            <a:ext cx="4824413" cy="4770438"/>
          </a:xfrm>
          <a:custGeom>
            <a:avLst/>
            <a:gdLst>
              <a:gd name="G0" fmla="+- 10478 0 0"/>
              <a:gd name="G1" fmla="+- -11739500 0 0"/>
              <a:gd name="G2" fmla="+- 0 0 -11739500"/>
              <a:gd name="T0" fmla="*/ 0 256 1"/>
              <a:gd name="T1" fmla="*/ 180 256 1"/>
              <a:gd name="G3" fmla="+- -11739500 T0 T1"/>
              <a:gd name="T2" fmla="*/ 0 256 1"/>
              <a:gd name="T3" fmla="*/ 90 256 1"/>
              <a:gd name="G4" fmla="+- -11739500 T2 T3"/>
              <a:gd name="G5" fmla="*/ G4 2 1"/>
              <a:gd name="T4" fmla="*/ 90 256 1"/>
              <a:gd name="T5" fmla="*/ 0 256 1"/>
              <a:gd name="G6" fmla="+- -11739500 T4 T5"/>
              <a:gd name="G7" fmla="*/ G6 2 1"/>
              <a:gd name="G8" fmla="abs -11739500"/>
              <a:gd name="T6" fmla="*/ 0 256 1"/>
              <a:gd name="T7" fmla="*/ 90 256 1"/>
              <a:gd name="G9" fmla="+- G8 T6 T7"/>
              <a:gd name="G10" fmla="?: G9 G7 G5"/>
              <a:gd name="T8" fmla="*/ 0 256 1"/>
              <a:gd name="T9" fmla="*/ 360 256 1"/>
              <a:gd name="G11" fmla="+- G10 T8 T9"/>
              <a:gd name="G12" fmla="?: G10 G11 G10"/>
              <a:gd name="T10" fmla="*/ 0 256 1"/>
              <a:gd name="T11" fmla="*/ 360 256 1"/>
              <a:gd name="G13" fmla="+- G12 T10 T11"/>
              <a:gd name="G14" fmla="?: G12 G13 G12"/>
              <a:gd name="G15" fmla="+- 0 0 G14"/>
              <a:gd name="G16" fmla="+- 10800 0 0"/>
              <a:gd name="G17" fmla="+- 10800 0 10478"/>
              <a:gd name="G18" fmla="*/ 10478 1 2"/>
              <a:gd name="G19" fmla="+- G18 5400 0"/>
              <a:gd name="G20" fmla="cos G19 -11739500"/>
              <a:gd name="G21" fmla="sin G19 -11739500"/>
              <a:gd name="G22" fmla="+- G20 10800 0"/>
              <a:gd name="G23" fmla="+- G21 10800 0"/>
              <a:gd name="G24" fmla="+- 10800 0 G20"/>
              <a:gd name="G25" fmla="+- 10478 10800 0"/>
              <a:gd name="G26" fmla="?: G9 G17 G25"/>
              <a:gd name="G27" fmla="?: G9 0 21600"/>
              <a:gd name="G28" fmla="cos 10800 -11739500"/>
              <a:gd name="G29" fmla="sin 10800 -11739500"/>
              <a:gd name="G30" fmla="sin 10478 -11739500"/>
              <a:gd name="G31" fmla="+- G28 10800 0"/>
              <a:gd name="G32" fmla="+- G29 10800 0"/>
              <a:gd name="G33" fmla="+- G30 10800 0"/>
              <a:gd name="G34" fmla="?: G4 0 G31"/>
              <a:gd name="G35" fmla="?: -11739500 G34 0"/>
              <a:gd name="G36" fmla="?: G6 G35 G31"/>
              <a:gd name="G37" fmla="+- 21600 0 G36"/>
              <a:gd name="G38" fmla="?: G4 0 G33"/>
              <a:gd name="G39" fmla="?: -11739500 G38 G32"/>
              <a:gd name="G40" fmla="?: G6 G39 0"/>
              <a:gd name="G41" fmla="?: G4 G32 21600"/>
              <a:gd name="G42" fmla="?: G6 G41 G33"/>
              <a:gd name="T12" fmla="*/ 10800 w 21600"/>
              <a:gd name="T13" fmla="*/ 0 h 21600"/>
              <a:gd name="T14" fmla="*/ 162 w 21600"/>
              <a:gd name="T15" fmla="*/ 10638 h 21600"/>
              <a:gd name="T16" fmla="*/ 10800 w 21600"/>
              <a:gd name="T17" fmla="*/ 322 h 21600"/>
              <a:gd name="T18" fmla="*/ 21438 w 21600"/>
              <a:gd name="T19" fmla="*/ 10638 h 21600"/>
              <a:gd name="T20" fmla="*/ G36 w 21600"/>
              <a:gd name="T21" fmla="*/ G40 h 21600"/>
              <a:gd name="T22" fmla="*/ G37 w 21600"/>
              <a:gd name="T23" fmla="*/ G42 h 21600"/>
            </a:gdLst>
            <a:ahLst/>
            <a:cxnLst>
              <a:cxn ang="0">
                <a:pos x="T12" y="T13"/>
              </a:cxn>
              <a:cxn ang="0">
                <a:pos x="T14" y="T15"/>
              </a:cxn>
              <a:cxn ang="0">
                <a:pos x="T16" y="T17"/>
              </a:cxn>
              <a:cxn ang="0">
                <a:pos x="T18" y="T19"/>
              </a:cxn>
            </a:cxnLst>
            <a:rect l="T20" t="T21" r="T22" b="T23"/>
            <a:pathLst>
              <a:path w="21600" h="21600">
                <a:moveTo>
                  <a:pt x="323" y="10641"/>
                </a:moveTo>
                <a:cubicBezTo>
                  <a:pt x="410" y="4916"/>
                  <a:pt x="5075" y="321"/>
                  <a:pt x="10800" y="322"/>
                </a:cubicBezTo>
                <a:cubicBezTo>
                  <a:pt x="16524" y="322"/>
                  <a:pt x="21189" y="4916"/>
                  <a:pt x="21276" y="10641"/>
                </a:cubicBezTo>
                <a:lnTo>
                  <a:pt x="21598" y="10636"/>
                </a:lnTo>
                <a:cubicBezTo>
                  <a:pt x="21509" y="4736"/>
                  <a:pt x="16700" y="-1"/>
                  <a:pt x="10799" y="0"/>
                </a:cubicBezTo>
                <a:cubicBezTo>
                  <a:pt x="4899" y="0"/>
                  <a:pt x="90" y="4736"/>
                  <a:pt x="1" y="10636"/>
                </a:cubicBezTo>
                <a:close/>
              </a:path>
            </a:pathLst>
          </a:custGeom>
          <a:gradFill rotWithShape="0">
            <a:gsLst>
              <a:gs pos="0">
                <a:srgbClr val="B0BAD8">
                  <a:gamma/>
                  <a:tint val="45490"/>
                  <a:invGamma/>
                </a:srgbClr>
              </a:gs>
              <a:gs pos="100000">
                <a:srgbClr val="B0BAD8"/>
              </a:gs>
            </a:gsLst>
            <a:lin ang="0" scaled="1"/>
          </a:gradFill>
          <a:ln w="9525" algn="ctr">
            <a:noFill/>
            <a:miter lim="800000"/>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183" name="AutoShape 3">
            <a:extLst>
              <a:ext uri="{FF2B5EF4-FFF2-40B4-BE49-F238E27FC236}">
                <a16:creationId xmlns:a16="http://schemas.microsoft.com/office/drawing/2014/main" id="{481E592A-A902-40E8-8D57-EEB2C886C06E}"/>
              </a:ext>
            </a:extLst>
          </p:cNvPr>
          <p:cNvSpPr>
            <a:spLocks noChangeAspect="1" noChangeArrowheads="1"/>
          </p:cNvSpPr>
          <p:nvPr/>
        </p:nvSpPr>
        <p:spPr bwMode="ltGray">
          <a:xfrm rot="16200000">
            <a:off x="7127876" y="2218960"/>
            <a:ext cx="4032250" cy="3929063"/>
          </a:xfrm>
          <a:custGeom>
            <a:avLst/>
            <a:gdLst>
              <a:gd name="G0" fmla="+- 56 0 0"/>
              <a:gd name="G1" fmla="+- 11796480 0 0"/>
              <a:gd name="G2" fmla="+- 0 0 11796480"/>
              <a:gd name="T0" fmla="*/ 0 256 1"/>
              <a:gd name="T1" fmla="*/ 180 256 1"/>
              <a:gd name="G3" fmla="+- 11796480 T0 T1"/>
              <a:gd name="T2" fmla="*/ 0 256 1"/>
              <a:gd name="T3" fmla="*/ 90 256 1"/>
              <a:gd name="G4" fmla="+- 11796480 T2 T3"/>
              <a:gd name="G5" fmla="*/ G4 2 1"/>
              <a:gd name="T4" fmla="*/ 90 256 1"/>
              <a:gd name="T5" fmla="*/ 0 256 1"/>
              <a:gd name="G6" fmla="+- 11796480 T4 T5"/>
              <a:gd name="G7" fmla="*/ G6 2 1"/>
              <a:gd name="G8" fmla="abs 11796480"/>
              <a:gd name="T6" fmla="*/ 0 256 1"/>
              <a:gd name="T7" fmla="*/ 90 256 1"/>
              <a:gd name="G9" fmla="+- G8 T6 T7"/>
              <a:gd name="G10" fmla="?: G9 G7 G5"/>
              <a:gd name="T8" fmla="*/ 0 256 1"/>
              <a:gd name="T9" fmla="*/ 360 256 1"/>
              <a:gd name="G11" fmla="+- G10 T8 T9"/>
              <a:gd name="G12" fmla="?: G10 G11 G10"/>
              <a:gd name="T10" fmla="*/ 0 256 1"/>
              <a:gd name="T11" fmla="*/ 360 256 1"/>
              <a:gd name="G13" fmla="+- G12 T10 T11"/>
              <a:gd name="G14" fmla="?: G12 G13 G12"/>
              <a:gd name="G15" fmla="+- 0 0 G14"/>
              <a:gd name="G16" fmla="+- 10800 0 0"/>
              <a:gd name="G17" fmla="+- 10800 0 56"/>
              <a:gd name="G18" fmla="*/ 56 1 2"/>
              <a:gd name="G19" fmla="+- G18 5400 0"/>
              <a:gd name="G20" fmla="cos G19 11796480"/>
              <a:gd name="G21" fmla="sin G19 11796480"/>
              <a:gd name="G22" fmla="+- G20 10800 0"/>
              <a:gd name="G23" fmla="+- G21 10800 0"/>
              <a:gd name="G24" fmla="+- 10800 0 G20"/>
              <a:gd name="G25" fmla="+- 56 10800 0"/>
              <a:gd name="G26" fmla="?: G9 G17 G25"/>
              <a:gd name="G27" fmla="?: G9 0 21600"/>
              <a:gd name="G28" fmla="cos 10800 11796480"/>
              <a:gd name="G29" fmla="sin 10800 11796480"/>
              <a:gd name="G30" fmla="sin 56 11796480"/>
              <a:gd name="G31" fmla="+- G28 10800 0"/>
              <a:gd name="G32" fmla="+- G29 10800 0"/>
              <a:gd name="G33" fmla="+- G30 10800 0"/>
              <a:gd name="G34" fmla="?: G4 0 G31"/>
              <a:gd name="G35" fmla="?: 11796480 G34 0"/>
              <a:gd name="G36" fmla="?: G6 G35 G31"/>
              <a:gd name="G37" fmla="+- 21600 0 G36"/>
              <a:gd name="G38" fmla="?: G4 0 G33"/>
              <a:gd name="G39" fmla="?: 11796480 G38 G32"/>
              <a:gd name="G40" fmla="?: G6 G39 0"/>
              <a:gd name="G41" fmla="?: G4 G32 21600"/>
              <a:gd name="G42" fmla="?: G6 G41 G33"/>
              <a:gd name="T12" fmla="*/ 10800 w 21600"/>
              <a:gd name="T13" fmla="*/ 0 h 21600"/>
              <a:gd name="T14" fmla="*/ 5372 w 21600"/>
              <a:gd name="T15" fmla="*/ 10800 h 21600"/>
              <a:gd name="T16" fmla="*/ 10800 w 21600"/>
              <a:gd name="T17" fmla="*/ 10744 h 21600"/>
              <a:gd name="T18" fmla="*/ 16228 w 21600"/>
              <a:gd name="T19" fmla="*/ 10800 h 21600"/>
              <a:gd name="T20" fmla="*/ G36 w 21600"/>
              <a:gd name="T21" fmla="*/ G40 h 21600"/>
              <a:gd name="T22" fmla="*/ G37 w 21600"/>
              <a:gd name="T23" fmla="*/ G42 h 21600"/>
            </a:gdLst>
            <a:ahLst/>
            <a:cxnLst>
              <a:cxn ang="0">
                <a:pos x="T12" y="T13"/>
              </a:cxn>
              <a:cxn ang="0">
                <a:pos x="T14" y="T15"/>
              </a:cxn>
              <a:cxn ang="0">
                <a:pos x="T16" y="T17"/>
              </a:cxn>
              <a:cxn ang="0">
                <a:pos x="T18" y="T19"/>
              </a:cxn>
            </a:cxnLst>
            <a:rect l="T20" t="T21" r="T22" b="T23"/>
            <a:pathLst>
              <a:path w="21600" h="21600">
                <a:moveTo>
                  <a:pt x="10744" y="10800"/>
                </a:moveTo>
                <a:cubicBezTo>
                  <a:pt x="10744" y="10769"/>
                  <a:pt x="10769" y="10744"/>
                  <a:pt x="10800" y="10744"/>
                </a:cubicBezTo>
                <a:cubicBezTo>
                  <a:pt x="10830" y="10743"/>
                  <a:pt x="10855" y="10769"/>
                  <a:pt x="10856" y="10799"/>
                </a:cubicBezTo>
                <a:lnTo>
                  <a:pt x="21600" y="10800"/>
                </a:lnTo>
                <a:cubicBezTo>
                  <a:pt x="21600" y="4835"/>
                  <a:pt x="16764" y="0"/>
                  <a:pt x="10800" y="0"/>
                </a:cubicBezTo>
                <a:cubicBezTo>
                  <a:pt x="4835" y="0"/>
                  <a:pt x="0" y="4835"/>
                  <a:pt x="0" y="10800"/>
                </a:cubicBezTo>
                <a:close/>
              </a:path>
            </a:pathLst>
          </a:custGeom>
          <a:gradFill rotWithShape="0">
            <a:gsLst>
              <a:gs pos="0">
                <a:srgbClr val="B8CCFE">
                  <a:gamma/>
                  <a:tint val="39216"/>
                  <a:invGamma/>
                </a:srgbClr>
              </a:gs>
              <a:gs pos="100000">
                <a:srgbClr val="B8CCFE"/>
              </a:gs>
            </a:gsLst>
            <a:lin ang="0" scaled="1"/>
          </a:gradFill>
          <a:ln w="0" algn="ctr">
            <a:noFill/>
            <a:miter lim="800000"/>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185" name="TextBox 184">
            <a:extLst>
              <a:ext uri="{FF2B5EF4-FFF2-40B4-BE49-F238E27FC236}">
                <a16:creationId xmlns:a16="http://schemas.microsoft.com/office/drawing/2014/main" id="{F43469DC-7F5B-471E-BD74-ED709E621F63}"/>
              </a:ext>
            </a:extLst>
          </p:cNvPr>
          <p:cNvSpPr txBox="1"/>
          <p:nvPr/>
        </p:nvSpPr>
        <p:spPr>
          <a:xfrm>
            <a:off x="5139383" y="2092656"/>
            <a:ext cx="2392001" cy="369332"/>
          </a:xfrm>
          <a:prstGeom prst="rect">
            <a:avLst/>
          </a:prstGeom>
          <a:noFill/>
        </p:spPr>
        <p:txBody>
          <a:bodyPr wrap="none" rtlCol="0">
            <a:spAutoFit/>
          </a:bodyPr>
          <a:lstStyle/>
          <a:p>
            <a:pPr algn="r" rtl="1"/>
            <a:r>
              <a:rPr lang="fa-IR" b="1" dirty="0">
                <a:cs typeface="B Nazanin" panose="00000400000000000000" pitchFamily="2" charset="-78"/>
              </a:rPr>
              <a:t>توپولوژی های همسان سازی</a:t>
            </a:r>
          </a:p>
        </p:txBody>
      </p:sp>
      <p:grpSp>
        <p:nvGrpSpPr>
          <p:cNvPr id="187" name="Group 23">
            <a:extLst>
              <a:ext uri="{FF2B5EF4-FFF2-40B4-BE49-F238E27FC236}">
                <a16:creationId xmlns:a16="http://schemas.microsoft.com/office/drawing/2014/main" id="{978D1582-1549-4D37-9C95-34020E281F7D}"/>
              </a:ext>
            </a:extLst>
          </p:cNvPr>
          <p:cNvGrpSpPr>
            <a:grpSpLocks noChangeAspect="1"/>
          </p:cNvGrpSpPr>
          <p:nvPr/>
        </p:nvGrpSpPr>
        <p:grpSpPr bwMode="auto">
          <a:xfrm>
            <a:off x="7028955" y="2792456"/>
            <a:ext cx="381000" cy="381000"/>
            <a:chOff x="2078" y="1680"/>
            <a:chExt cx="1615" cy="1615"/>
          </a:xfrm>
        </p:grpSpPr>
        <p:sp>
          <p:nvSpPr>
            <p:cNvPr id="188" name="Oval 24">
              <a:extLst>
                <a:ext uri="{FF2B5EF4-FFF2-40B4-BE49-F238E27FC236}">
                  <a16:creationId xmlns:a16="http://schemas.microsoft.com/office/drawing/2014/main" id="{394744AB-69AD-4039-A10B-0D8E0439243B}"/>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89" name="Oval 25">
              <a:extLst>
                <a:ext uri="{FF2B5EF4-FFF2-40B4-BE49-F238E27FC236}">
                  <a16:creationId xmlns:a16="http://schemas.microsoft.com/office/drawing/2014/main" id="{154704C5-3C92-4C99-8D43-D388A6C5B289}"/>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90" name="Oval 26">
              <a:extLst>
                <a:ext uri="{FF2B5EF4-FFF2-40B4-BE49-F238E27FC236}">
                  <a16:creationId xmlns:a16="http://schemas.microsoft.com/office/drawing/2014/main" id="{04F66D2C-385D-4CBC-8E8F-3E3A912DFC98}"/>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91" name="Oval 27">
              <a:extLst>
                <a:ext uri="{FF2B5EF4-FFF2-40B4-BE49-F238E27FC236}">
                  <a16:creationId xmlns:a16="http://schemas.microsoft.com/office/drawing/2014/main" id="{EA27390D-90C7-4FEF-9F37-D35FD2EA7723}"/>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92" name="Oval 28">
              <a:extLst>
                <a:ext uri="{FF2B5EF4-FFF2-40B4-BE49-F238E27FC236}">
                  <a16:creationId xmlns:a16="http://schemas.microsoft.com/office/drawing/2014/main" id="{5C9AFE92-58F0-4BF1-8021-7EEAC92E3206}"/>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93" name="Oval 29">
              <a:extLst>
                <a:ext uri="{FF2B5EF4-FFF2-40B4-BE49-F238E27FC236}">
                  <a16:creationId xmlns:a16="http://schemas.microsoft.com/office/drawing/2014/main" id="{1B81B5B2-AD7F-472D-BBE8-64F0040E5D5F}"/>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grpSp>
        <p:nvGrpSpPr>
          <p:cNvPr id="197" name="Group 23">
            <a:extLst>
              <a:ext uri="{FF2B5EF4-FFF2-40B4-BE49-F238E27FC236}">
                <a16:creationId xmlns:a16="http://schemas.microsoft.com/office/drawing/2014/main" id="{480CFC9E-AE3C-48F6-BC4D-4934E415B67E}"/>
              </a:ext>
            </a:extLst>
          </p:cNvPr>
          <p:cNvGrpSpPr>
            <a:grpSpLocks noChangeAspect="1"/>
          </p:cNvGrpSpPr>
          <p:nvPr/>
        </p:nvGrpSpPr>
        <p:grpSpPr bwMode="auto">
          <a:xfrm>
            <a:off x="6644181" y="4105317"/>
            <a:ext cx="381000" cy="381000"/>
            <a:chOff x="2078" y="1680"/>
            <a:chExt cx="1615" cy="1615"/>
          </a:xfrm>
        </p:grpSpPr>
        <p:sp>
          <p:nvSpPr>
            <p:cNvPr id="198" name="Oval 24">
              <a:extLst>
                <a:ext uri="{FF2B5EF4-FFF2-40B4-BE49-F238E27FC236}">
                  <a16:creationId xmlns:a16="http://schemas.microsoft.com/office/drawing/2014/main" id="{CACFC30A-9877-4806-9B4C-587ACE150345}"/>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99" name="Oval 25">
              <a:extLst>
                <a:ext uri="{FF2B5EF4-FFF2-40B4-BE49-F238E27FC236}">
                  <a16:creationId xmlns:a16="http://schemas.microsoft.com/office/drawing/2014/main" id="{640C1602-143A-456B-BA22-7664A3DEFFCF}"/>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200" name="Oval 26">
              <a:extLst>
                <a:ext uri="{FF2B5EF4-FFF2-40B4-BE49-F238E27FC236}">
                  <a16:creationId xmlns:a16="http://schemas.microsoft.com/office/drawing/2014/main" id="{53792F8F-0D9C-4345-A703-F034640FA7A7}"/>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201" name="Oval 27">
              <a:extLst>
                <a:ext uri="{FF2B5EF4-FFF2-40B4-BE49-F238E27FC236}">
                  <a16:creationId xmlns:a16="http://schemas.microsoft.com/office/drawing/2014/main" id="{B29790E8-4F4B-4579-8A6B-FE3F9B0CAEF2}"/>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202" name="Oval 28">
              <a:extLst>
                <a:ext uri="{FF2B5EF4-FFF2-40B4-BE49-F238E27FC236}">
                  <a16:creationId xmlns:a16="http://schemas.microsoft.com/office/drawing/2014/main" id="{358C33BB-071D-4F24-839E-CC9C393EF0D8}"/>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203" name="Oval 29">
              <a:extLst>
                <a:ext uri="{FF2B5EF4-FFF2-40B4-BE49-F238E27FC236}">
                  <a16:creationId xmlns:a16="http://schemas.microsoft.com/office/drawing/2014/main" id="{4E06C84A-1EFC-44EA-B29A-11ED722DE85A}"/>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grpSp>
        <p:nvGrpSpPr>
          <p:cNvPr id="204" name="Group 23">
            <a:extLst>
              <a:ext uri="{FF2B5EF4-FFF2-40B4-BE49-F238E27FC236}">
                <a16:creationId xmlns:a16="http://schemas.microsoft.com/office/drawing/2014/main" id="{DBD88F74-281E-49A6-BC26-B30CBBAE64C9}"/>
              </a:ext>
            </a:extLst>
          </p:cNvPr>
          <p:cNvGrpSpPr>
            <a:grpSpLocks noChangeAspect="1"/>
          </p:cNvGrpSpPr>
          <p:nvPr/>
        </p:nvGrpSpPr>
        <p:grpSpPr bwMode="auto">
          <a:xfrm>
            <a:off x="7050659" y="5431096"/>
            <a:ext cx="381000" cy="381000"/>
            <a:chOff x="2078" y="1680"/>
            <a:chExt cx="1615" cy="1615"/>
          </a:xfrm>
        </p:grpSpPr>
        <p:sp>
          <p:nvSpPr>
            <p:cNvPr id="205" name="Oval 24">
              <a:extLst>
                <a:ext uri="{FF2B5EF4-FFF2-40B4-BE49-F238E27FC236}">
                  <a16:creationId xmlns:a16="http://schemas.microsoft.com/office/drawing/2014/main" id="{8B6A68AB-47EE-4BEB-9563-FC726BE4E43A}"/>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206" name="Oval 25">
              <a:extLst>
                <a:ext uri="{FF2B5EF4-FFF2-40B4-BE49-F238E27FC236}">
                  <a16:creationId xmlns:a16="http://schemas.microsoft.com/office/drawing/2014/main" id="{004826CD-E5CF-47B8-BD5C-D81E5D353CD7}"/>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207" name="Oval 26">
              <a:extLst>
                <a:ext uri="{FF2B5EF4-FFF2-40B4-BE49-F238E27FC236}">
                  <a16:creationId xmlns:a16="http://schemas.microsoft.com/office/drawing/2014/main" id="{3B71C91A-95B1-48A6-8F6E-2BCE30BA5067}"/>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208" name="Oval 27">
              <a:extLst>
                <a:ext uri="{FF2B5EF4-FFF2-40B4-BE49-F238E27FC236}">
                  <a16:creationId xmlns:a16="http://schemas.microsoft.com/office/drawing/2014/main" id="{4B68C4BF-098A-4123-BB53-98CECA7F4A81}"/>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209" name="Oval 28">
              <a:extLst>
                <a:ext uri="{FF2B5EF4-FFF2-40B4-BE49-F238E27FC236}">
                  <a16:creationId xmlns:a16="http://schemas.microsoft.com/office/drawing/2014/main" id="{3C5FE447-2DEF-4C03-AA66-D8D7E4B6E8E3}"/>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210" name="Oval 29">
              <a:extLst>
                <a:ext uri="{FF2B5EF4-FFF2-40B4-BE49-F238E27FC236}">
                  <a16:creationId xmlns:a16="http://schemas.microsoft.com/office/drawing/2014/main" id="{A8ADD6E4-DB30-4BEC-98B9-1D2EAA799DA1}"/>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41" name="Rounded Rectangle 175">
            <a:extLst>
              <a:ext uri="{FF2B5EF4-FFF2-40B4-BE49-F238E27FC236}">
                <a16:creationId xmlns:a16="http://schemas.microsoft.com/office/drawing/2014/main" id="{5ED324C1-9E82-4B7C-8E12-63B5A59FFFC0}"/>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همسان سازی باتری</a:t>
            </a:r>
          </a:p>
        </p:txBody>
      </p:sp>
      <p:pic>
        <p:nvPicPr>
          <p:cNvPr id="42" name="Picture 41" descr="پرونده:Azad University logo.png - ویکی‌پدیا، دانشنامهٔ آزاد">
            <a:extLst>
              <a:ext uri="{FF2B5EF4-FFF2-40B4-BE49-F238E27FC236}">
                <a16:creationId xmlns:a16="http://schemas.microsoft.com/office/drawing/2014/main" id="{1A9FEE44-0F48-48EE-A201-613E74B88238}"/>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43" name="AutoShape 10">
            <a:extLst>
              <a:ext uri="{FF2B5EF4-FFF2-40B4-BE49-F238E27FC236}">
                <a16:creationId xmlns:a16="http://schemas.microsoft.com/office/drawing/2014/main" id="{F6266893-797F-40B9-B7F1-28B13A3984C3}"/>
              </a:ext>
            </a:extLst>
          </p:cNvPr>
          <p:cNvSpPr>
            <a:spLocks noChangeArrowheads="1"/>
          </p:cNvSpPr>
          <p:nvPr/>
        </p:nvSpPr>
        <p:spPr bwMode="gray">
          <a:xfrm flipH="1">
            <a:off x="6246677" y="59426"/>
            <a:ext cx="2057400"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44" name="AutoShape 3">
            <a:extLst>
              <a:ext uri="{FF2B5EF4-FFF2-40B4-BE49-F238E27FC236}">
                <a16:creationId xmlns:a16="http://schemas.microsoft.com/office/drawing/2014/main" id="{3450B81F-1BA9-4F41-945E-CF31FD6A1BE2}"/>
              </a:ext>
            </a:extLst>
          </p:cNvPr>
          <p:cNvSpPr>
            <a:spLocks noChangeArrowheads="1"/>
          </p:cNvSpPr>
          <p:nvPr/>
        </p:nvSpPr>
        <p:spPr bwMode="gray">
          <a:xfrm flipH="1">
            <a:off x="4188613" y="57140"/>
            <a:ext cx="2056086" cy="651510"/>
          </a:xfrm>
          <a:prstGeom prst="chevron">
            <a:avLst>
              <a:gd name="adj" fmla="val 17009"/>
            </a:avLst>
          </a:prstGeom>
          <a:solidFill>
            <a:srgbClr val="2842AE"/>
          </a:soli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dirty="0">
              <a:ln>
                <a:noFill/>
              </a:ln>
              <a:solidFill>
                <a:srgbClr val="3D81BF"/>
              </a:solidFill>
              <a:effectLst/>
              <a:uLnTx/>
              <a:uFillTx/>
            </a:endParaRPr>
          </a:p>
        </p:txBody>
      </p:sp>
      <p:sp>
        <p:nvSpPr>
          <p:cNvPr id="45" name="AutoShape 3">
            <a:extLst>
              <a:ext uri="{FF2B5EF4-FFF2-40B4-BE49-F238E27FC236}">
                <a16:creationId xmlns:a16="http://schemas.microsoft.com/office/drawing/2014/main" id="{278C3753-7E5F-4A07-84E8-FA915CB0CE87}"/>
              </a:ext>
            </a:extLst>
          </p:cNvPr>
          <p:cNvSpPr>
            <a:spLocks noChangeArrowheads="1"/>
          </p:cNvSpPr>
          <p:nvPr/>
        </p:nvSpPr>
        <p:spPr bwMode="gray">
          <a:xfrm flipH="1">
            <a:off x="2588411" y="57141"/>
            <a:ext cx="1600202"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6" name="AutoShape 3">
            <a:extLst>
              <a:ext uri="{FF2B5EF4-FFF2-40B4-BE49-F238E27FC236}">
                <a16:creationId xmlns:a16="http://schemas.microsoft.com/office/drawing/2014/main" id="{B202AEB4-F766-4F6D-9D49-804AECBBBB79}"/>
              </a:ext>
            </a:extLst>
          </p:cNvPr>
          <p:cNvSpPr>
            <a:spLocks noChangeArrowheads="1"/>
          </p:cNvSpPr>
          <p:nvPr/>
        </p:nvSpPr>
        <p:spPr bwMode="gray">
          <a:xfrm flipH="1">
            <a:off x="161661" y="57140"/>
            <a:ext cx="2426749"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7" name="Rectangle 46">
            <a:extLst>
              <a:ext uri="{FF2B5EF4-FFF2-40B4-BE49-F238E27FC236}">
                <a16:creationId xmlns:a16="http://schemas.microsoft.com/office/drawing/2014/main" id="{89552ECA-1CA1-40F1-A87E-809897E322A0}"/>
              </a:ext>
            </a:extLst>
          </p:cNvPr>
          <p:cNvSpPr/>
          <p:nvPr/>
        </p:nvSpPr>
        <p:spPr>
          <a:xfrm>
            <a:off x="403231" y="91457"/>
            <a:ext cx="2056085"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طراحی و پیاده سازی همسان ساز پیشنهادی</a:t>
            </a:r>
          </a:p>
        </p:txBody>
      </p:sp>
      <p:sp>
        <p:nvSpPr>
          <p:cNvPr id="48" name="Rectangle 47">
            <a:extLst>
              <a:ext uri="{FF2B5EF4-FFF2-40B4-BE49-F238E27FC236}">
                <a16:creationId xmlns:a16="http://schemas.microsoft.com/office/drawing/2014/main" id="{2A9B9FDD-FEF5-46D3-8995-5604A1B4B80E}"/>
              </a:ext>
            </a:extLst>
          </p:cNvPr>
          <p:cNvSpPr/>
          <p:nvPr/>
        </p:nvSpPr>
        <p:spPr>
          <a:xfrm>
            <a:off x="2636749" y="78259"/>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پیشنهادی</a:t>
            </a:r>
          </a:p>
        </p:txBody>
      </p:sp>
      <p:sp>
        <p:nvSpPr>
          <p:cNvPr id="49" name="Rectangle 48">
            <a:extLst>
              <a:ext uri="{FF2B5EF4-FFF2-40B4-BE49-F238E27FC236}">
                <a16:creationId xmlns:a16="http://schemas.microsoft.com/office/drawing/2014/main" id="{4756B784-8B4C-449F-AE9D-2B6BBC518073}"/>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باتری</a:t>
            </a:r>
          </a:p>
        </p:txBody>
      </p:sp>
      <p:sp>
        <p:nvSpPr>
          <p:cNvPr id="50" name="Rectangle 49">
            <a:extLst>
              <a:ext uri="{FF2B5EF4-FFF2-40B4-BE49-F238E27FC236}">
                <a16:creationId xmlns:a16="http://schemas.microsoft.com/office/drawing/2014/main" id="{E9011965-C922-40BF-B928-2A7E03BC5CDA}"/>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a:solidFill>
                  <a:srgbClr val="FFFFFF"/>
                </a:solidFill>
                <a:latin typeface="Times New Roman" panose="02020603050405020304" pitchFamily="18" charset="0"/>
                <a:cs typeface="B Nazanin" pitchFamily="2" charset="-78"/>
              </a:rPr>
              <a:t>باتری ها</a:t>
            </a:r>
            <a:endParaRPr lang="en-US" sz="1500" b="1" kern="0" dirty="0">
              <a:solidFill>
                <a:srgbClr val="FFFFFF"/>
              </a:solidFill>
              <a:latin typeface="Times New Roman" panose="02020603050405020304" pitchFamily="18" charset="0"/>
              <a:cs typeface="B Nazanin" pitchFamily="2" charset="-78"/>
            </a:endParaRPr>
          </a:p>
        </p:txBody>
      </p:sp>
    </p:spTree>
    <p:extLst>
      <p:ext uri="{BB962C8B-B14F-4D97-AF65-F5344CB8AC3E}">
        <p14:creationId xmlns:p14="http://schemas.microsoft.com/office/powerpoint/2010/main" val="206125430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Picture 16"/>
          <p:cNvPicPr/>
          <p:nvPr/>
        </p:nvPicPr>
        <p:blipFill>
          <a:blip r:embed="rId3">
            <a:extLst>
              <a:ext uri="{28A0092B-C50C-407E-A947-70E740481C1C}">
                <a14:useLocalDpi xmlns:a14="http://schemas.microsoft.com/office/drawing/2010/main" val="0"/>
              </a:ext>
            </a:extLst>
          </a:blip>
          <a:stretch>
            <a:fillRect/>
          </a:stretch>
        </p:blipFill>
        <p:spPr bwMode="auto">
          <a:xfrm>
            <a:off x="304800" y="2050503"/>
            <a:ext cx="8683490" cy="4057300"/>
          </a:xfrm>
          <a:prstGeom prst="rect">
            <a:avLst/>
          </a:prstGeom>
          <a:noFill/>
          <a:ln>
            <a:noFill/>
          </a:ln>
        </p:spPr>
      </p:pic>
      <p:sp>
        <p:nvSpPr>
          <p:cNvPr id="44" name="Rectangle 43"/>
          <p:cNvSpPr/>
          <p:nvPr/>
        </p:nvSpPr>
        <p:spPr>
          <a:xfrm>
            <a:off x="2221390" y="6172200"/>
            <a:ext cx="3988592" cy="369332"/>
          </a:xfrm>
          <a:prstGeom prst="rect">
            <a:avLst/>
          </a:prstGeom>
        </p:spPr>
        <p:txBody>
          <a:bodyPr wrap="none">
            <a:spAutoFit/>
          </a:bodyPr>
          <a:lstStyle/>
          <a:p>
            <a:pPr algn="ctr" rtl="1" fontAlgn="base">
              <a:spcBef>
                <a:spcPct val="0"/>
              </a:spcBef>
              <a:spcAft>
                <a:spcPct val="0"/>
              </a:spcAft>
            </a:pPr>
            <a:r>
              <a:rPr lang="fa-IR" dirty="0">
                <a:latin typeface="Times New Roman" panose="02020603050405020304" pitchFamily="18" charset="0"/>
                <a:cs typeface="B Lotus" panose="00000400000000000000" pitchFamily="2" charset="-78"/>
              </a:rPr>
              <a:t>شماتیک دیاگرام همسان سازی ماژولار سلول به سلول.</a:t>
            </a:r>
            <a:endParaRPr lang="en-US" dirty="0">
              <a:latin typeface="Times New Roman" panose="02020603050405020304" pitchFamily="18" charset="0"/>
              <a:cs typeface="B Lotus" panose="00000400000000000000" pitchFamily="2" charset="-78"/>
            </a:endParaRPr>
          </a:p>
        </p:txBody>
      </p:sp>
      <p:sp>
        <p:nvSpPr>
          <p:cNvPr id="45" name="TextBox 44">
            <a:extLst>
              <a:ext uri="{FF2B5EF4-FFF2-40B4-BE49-F238E27FC236}">
                <a16:creationId xmlns:a16="http://schemas.microsoft.com/office/drawing/2014/main" id="{F43469DC-7F5B-471E-BD74-ED709E621F63}"/>
              </a:ext>
            </a:extLst>
          </p:cNvPr>
          <p:cNvSpPr txBox="1"/>
          <p:nvPr/>
        </p:nvSpPr>
        <p:spPr>
          <a:xfrm>
            <a:off x="7741141" y="1726687"/>
            <a:ext cx="1151276" cy="369332"/>
          </a:xfrm>
          <a:prstGeom prst="rect">
            <a:avLst/>
          </a:prstGeom>
          <a:noFill/>
        </p:spPr>
        <p:txBody>
          <a:bodyPr wrap="none" rtlCol="0">
            <a:spAutoFit/>
          </a:bodyPr>
          <a:lstStyle/>
          <a:p>
            <a:pPr algn="r" rtl="1"/>
            <a:r>
              <a:rPr lang="fa-IR" b="1" dirty="0">
                <a:cs typeface="B Nazanin" panose="00000400000000000000" pitchFamily="2" charset="-78"/>
              </a:rPr>
              <a:t>انتقال مجاور</a:t>
            </a:r>
          </a:p>
        </p:txBody>
      </p:sp>
      <p:sp>
        <p:nvSpPr>
          <p:cNvPr id="19"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8</a:t>
            </a:fld>
            <a:endParaRPr lang="fa-IR" sz="1800" dirty="0">
              <a:solidFill>
                <a:schemeClr val="tx1"/>
              </a:solidFill>
              <a:cs typeface="B Lotus" panose="00000400000000000000" pitchFamily="2" charset="-78"/>
            </a:endParaRPr>
          </a:p>
        </p:txBody>
      </p:sp>
      <p:sp>
        <p:nvSpPr>
          <p:cNvPr id="20" name="Rounded Rectangle 175">
            <a:extLst>
              <a:ext uri="{FF2B5EF4-FFF2-40B4-BE49-F238E27FC236}">
                <a16:creationId xmlns:a16="http://schemas.microsoft.com/office/drawing/2014/main" id="{5ED324C1-9E82-4B7C-8E12-63B5A59FFFC0}"/>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همسان سازی باتری</a:t>
            </a:r>
          </a:p>
        </p:txBody>
      </p:sp>
      <p:pic>
        <p:nvPicPr>
          <p:cNvPr id="21" name="Picture 20" descr="پرونده:Azad University logo.png - ویکی‌پدیا، دانشنامهٔ آزاد">
            <a:extLst>
              <a:ext uri="{FF2B5EF4-FFF2-40B4-BE49-F238E27FC236}">
                <a16:creationId xmlns:a16="http://schemas.microsoft.com/office/drawing/2014/main" id="{1A9FEE44-0F48-48EE-A201-613E74B88238}"/>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2" name="AutoShape 10">
            <a:extLst>
              <a:ext uri="{FF2B5EF4-FFF2-40B4-BE49-F238E27FC236}">
                <a16:creationId xmlns:a16="http://schemas.microsoft.com/office/drawing/2014/main" id="{F6266893-797F-40B9-B7F1-28B13A3984C3}"/>
              </a:ext>
            </a:extLst>
          </p:cNvPr>
          <p:cNvSpPr>
            <a:spLocks noChangeArrowheads="1"/>
          </p:cNvSpPr>
          <p:nvPr/>
        </p:nvSpPr>
        <p:spPr bwMode="gray">
          <a:xfrm flipH="1">
            <a:off x="6246677" y="59426"/>
            <a:ext cx="2057400"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23" name="AutoShape 3">
            <a:extLst>
              <a:ext uri="{FF2B5EF4-FFF2-40B4-BE49-F238E27FC236}">
                <a16:creationId xmlns:a16="http://schemas.microsoft.com/office/drawing/2014/main" id="{3450B81F-1BA9-4F41-945E-CF31FD6A1BE2}"/>
              </a:ext>
            </a:extLst>
          </p:cNvPr>
          <p:cNvSpPr>
            <a:spLocks noChangeArrowheads="1"/>
          </p:cNvSpPr>
          <p:nvPr/>
        </p:nvSpPr>
        <p:spPr bwMode="gray">
          <a:xfrm flipH="1">
            <a:off x="4188613" y="57140"/>
            <a:ext cx="2056086" cy="651510"/>
          </a:xfrm>
          <a:prstGeom prst="chevron">
            <a:avLst>
              <a:gd name="adj" fmla="val 17009"/>
            </a:avLst>
          </a:prstGeom>
          <a:solidFill>
            <a:srgbClr val="2842AE"/>
          </a:soli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dirty="0">
              <a:ln>
                <a:noFill/>
              </a:ln>
              <a:solidFill>
                <a:srgbClr val="3D81BF"/>
              </a:solidFill>
              <a:effectLst/>
              <a:uLnTx/>
              <a:uFillTx/>
            </a:endParaRPr>
          </a:p>
        </p:txBody>
      </p:sp>
      <p:sp>
        <p:nvSpPr>
          <p:cNvPr id="30" name="AutoShape 3">
            <a:extLst>
              <a:ext uri="{FF2B5EF4-FFF2-40B4-BE49-F238E27FC236}">
                <a16:creationId xmlns:a16="http://schemas.microsoft.com/office/drawing/2014/main" id="{278C3753-7E5F-4A07-84E8-FA915CB0CE87}"/>
              </a:ext>
            </a:extLst>
          </p:cNvPr>
          <p:cNvSpPr>
            <a:spLocks noChangeArrowheads="1"/>
          </p:cNvSpPr>
          <p:nvPr/>
        </p:nvSpPr>
        <p:spPr bwMode="gray">
          <a:xfrm flipH="1">
            <a:off x="2588411" y="57141"/>
            <a:ext cx="1600202"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4" name="AutoShape 3">
            <a:extLst>
              <a:ext uri="{FF2B5EF4-FFF2-40B4-BE49-F238E27FC236}">
                <a16:creationId xmlns:a16="http://schemas.microsoft.com/office/drawing/2014/main" id="{B202AEB4-F766-4F6D-9D49-804AECBBBB79}"/>
              </a:ext>
            </a:extLst>
          </p:cNvPr>
          <p:cNvSpPr>
            <a:spLocks noChangeArrowheads="1"/>
          </p:cNvSpPr>
          <p:nvPr/>
        </p:nvSpPr>
        <p:spPr bwMode="gray">
          <a:xfrm flipH="1">
            <a:off x="161661" y="57140"/>
            <a:ext cx="2426749"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5" name="Rectangle 34">
            <a:extLst>
              <a:ext uri="{FF2B5EF4-FFF2-40B4-BE49-F238E27FC236}">
                <a16:creationId xmlns:a16="http://schemas.microsoft.com/office/drawing/2014/main" id="{89552ECA-1CA1-40F1-A87E-809897E322A0}"/>
              </a:ext>
            </a:extLst>
          </p:cNvPr>
          <p:cNvSpPr/>
          <p:nvPr/>
        </p:nvSpPr>
        <p:spPr>
          <a:xfrm>
            <a:off x="403231" y="91457"/>
            <a:ext cx="2056085"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طراحی و پیاده سازی همسان ساز پیشنهادی</a:t>
            </a:r>
          </a:p>
        </p:txBody>
      </p:sp>
      <p:sp>
        <p:nvSpPr>
          <p:cNvPr id="36" name="Rectangle 35">
            <a:extLst>
              <a:ext uri="{FF2B5EF4-FFF2-40B4-BE49-F238E27FC236}">
                <a16:creationId xmlns:a16="http://schemas.microsoft.com/office/drawing/2014/main" id="{2A9B9FDD-FEF5-46D3-8995-5604A1B4B80E}"/>
              </a:ext>
            </a:extLst>
          </p:cNvPr>
          <p:cNvSpPr/>
          <p:nvPr/>
        </p:nvSpPr>
        <p:spPr>
          <a:xfrm>
            <a:off x="2636749" y="78259"/>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پیشنهادی</a:t>
            </a:r>
          </a:p>
        </p:txBody>
      </p:sp>
      <p:sp>
        <p:nvSpPr>
          <p:cNvPr id="37" name="Rectangle 36">
            <a:extLst>
              <a:ext uri="{FF2B5EF4-FFF2-40B4-BE49-F238E27FC236}">
                <a16:creationId xmlns:a16="http://schemas.microsoft.com/office/drawing/2014/main" id="{4756B784-8B4C-449F-AE9D-2B6BBC518073}"/>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باتری</a:t>
            </a:r>
          </a:p>
        </p:txBody>
      </p:sp>
      <p:sp>
        <p:nvSpPr>
          <p:cNvPr id="38" name="Rectangle 37">
            <a:extLst>
              <a:ext uri="{FF2B5EF4-FFF2-40B4-BE49-F238E27FC236}">
                <a16:creationId xmlns:a16="http://schemas.microsoft.com/office/drawing/2014/main" id="{E9011965-C922-40BF-B928-2A7E03BC5CDA}"/>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a:solidFill>
                  <a:srgbClr val="FFFFFF"/>
                </a:solidFill>
                <a:latin typeface="Times New Roman" panose="02020603050405020304" pitchFamily="18" charset="0"/>
                <a:cs typeface="B Nazanin" pitchFamily="2" charset="-78"/>
              </a:rPr>
              <a:t>باتری ها</a:t>
            </a:r>
            <a:endParaRPr lang="en-US" sz="1500" b="1" kern="0" dirty="0">
              <a:solidFill>
                <a:srgbClr val="FFFFFF"/>
              </a:solidFill>
              <a:latin typeface="Times New Roman" panose="02020603050405020304" pitchFamily="18" charset="0"/>
              <a:cs typeface="B Nazanin" pitchFamily="2" charset="-78"/>
            </a:endParaRPr>
          </a:p>
        </p:txBody>
      </p:sp>
    </p:spTree>
    <p:extLst>
      <p:ext uri="{BB962C8B-B14F-4D97-AF65-F5344CB8AC3E}">
        <p14:creationId xmlns:p14="http://schemas.microsoft.com/office/powerpoint/2010/main" val="335284249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Picture 16"/>
          <p:cNvPicPr/>
          <p:nvPr/>
        </p:nvPicPr>
        <p:blipFill>
          <a:blip r:embed="rId3">
            <a:extLst>
              <a:ext uri="{28A0092B-C50C-407E-A947-70E740481C1C}">
                <a14:useLocalDpi xmlns:a14="http://schemas.microsoft.com/office/drawing/2010/main" val="0"/>
              </a:ext>
            </a:extLst>
          </a:blip>
          <a:stretch>
            <a:fillRect/>
          </a:stretch>
        </p:blipFill>
        <p:spPr bwMode="auto">
          <a:xfrm>
            <a:off x="640257" y="2054475"/>
            <a:ext cx="7778650" cy="4296544"/>
          </a:xfrm>
          <a:prstGeom prst="rect">
            <a:avLst/>
          </a:prstGeom>
          <a:noFill/>
          <a:ln>
            <a:noFill/>
          </a:ln>
        </p:spPr>
      </p:pic>
      <p:sp>
        <p:nvSpPr>
          <p:cNvPr id="34" name="TextBox 33">
            <a:extLst>
              <a:ext uri="{FF2B5EF4-FFF2-40B4-BE49-F238E27FC236}">
                <a16:creationId xmlns:a16="http://schemas.microsoft.com/office/drawing/2014/main" id="{F43469DC-7F5B-471E-BD74-ED709E621F63}"/>
              </a:ext>
            </a:extLst>
          </p:cNvPr>
          <p:cNvSpPr txBox="1"/>
          <p:nvPr/>
        </p:nvSpPr>
        <p:spPr>
          <a:xfrm>
            <a:off x="7404509" y="1726687"/>
            <a:ext cx="1487908" cy="369332"/>
          </a:xfrm>
          <a:prstGeom prst="rect">
            <a:avLst/>
          </a:prstGeom>
          <a:noFill/>
        </p:spPr>
        <p:txBody>
          <a:bodyPr wrap="none" rtlCol="0">
            <a:spAutoFit/>
          </a:bodyPr>
          <a:lstStyle/>
          <a:p>
            <a:pPr algn="r" rtl="1"/>
            <a:r>
              <a:rPr lang="fa-IR" b="1" dirty="0">
                <a:cs typeface="B Nazanin" panose="00000400000000000000" pitchFamily="2" charset="-78"/>
              </a:rPr>
              <a:t>انتقال غیر مجاور</a:t>
            </a:r>
          </a:p>
        </p:txBody>
      </p:sp>
      <p:sp>
        <p:nvSpPr>
          <p:cNvPr id="35" name="Rectangle 34"/>
          <p:cNvSpPr/>
          <p:nvPr/>
        </p:nvSpPr>
        <p:spPr>
          <a:xfrm>
            <a:off x="2812605" y="6351019"/>
            <a:ext cx="3820277" cy="369332"/>
          </a:xfrm>
          <a:prstGeom prst="rect">
            <a:avLst/>
          </a:prstGeom>
        </p:spPr>
        <p:txBody>
          <a:bodyPr wrap="none">
            <a:spAutoFit/>
          </a:bodyPr>
          <a:lstStyle/>
          <a:p>
            <a:pPr algn="r" rtl="1" fontAlgn="base">
              <a:spcBef>
                <a:spcPct val="0"/>
              </a:spcBef>
              <a:spcAft>
                <a:spcPct val="0"/>
              </a:spcAft>
            </a:pPr>
            <a:r>
              <a:rPr lang="fa-IR" dirty="0">
                <a:latin typeface="Times New Roman" panose="02020603050405020304" pitchFamily="18" charset="0"/>
                <a:ea typeface="Calibri" panose="020F0502020204030204" pitchFamily="34" charset="0"/>
                <a:cs typeface="B Lotus" panose="00000400000000000000" pitchFamily="2" charset="-78"/>
              </a:rPr>
              <a:t>شماتیک دیاگرام همسان سازی سلول و پک ماژولار.</a:t>
            </a:r>
            <a:endParaRPr lang="en-US" b="1" dirty="0">
              <a:solidFill>
                <a:srgbClr val="000000"/>
              </a:solidFill>
              <a:latin typeface="Times New Roman" panose="02020603050405020304" pitchFamily="18" charset="0"/>
              <a:cs typeface="B Nazanin" pitchFamily="2" charset="-78"/>
            </a:endParaRPr>
          </a:p>
        </p:txBody>
      </p:sp>
      <p:sp>
        <p:nvSpPr>
          <p:cNvPr id="20"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9</a:t>
            </a:fld>
            <a:endParaRPr lang="fa-IR" sz="1800" dirty="0">
              <a:solidFill>
                <a:schemeClr val="tx1"/>
              </a:solidFill>
              <a:cs typeface="B Lotus" panose="00000400000000000000" pitchFamily="2" charset="-78"/>
            </a:endParaRPr>
          </a:p>
        </p:txBody>
      </p:sp>
      <p:sp>
        <p:nvSpPr>
          <p:cNvPr id="41" name="Rounded Rectangle 175">
            <a:extLst>
              <a:ext uri="{FF2B5EF4-FFF2-40B4-BE49-F238E27FC236}">
                <a16:creationId xmlns:a16="http://schemas.microsoft.com/office/drawing/2014/main" id="{5ED324C1-9E82-4B7C-8E12-63B5A59FFFC0}"/>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همسان سازی باتری</a:t>
            </a:r>
          </a:p>
        </p:txBody>
      </p:sp>
      <p:pic>
        <p:nvPicPr>
          <p:cNvPr id="42" name="Picture 41" descr="پرونده:Azad University logo.png - ویکی‌پدیا، دانشنامهٔ آزاد">
            <a:extLst>
              <a:ext uri="{FF2B5EF4-FFF2-40B4-BE49-F238E27FC236}">
                <a16:creationId xmlns:a16="http://schemas.microsoft.com/office/drawing/2014/main" id="{1A9FEE44-0F48-48EE-A201-613E74B88238}"/>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43" name="AutoShape 10">
            <a:extLst>
              <a:ext uri="{FF2B5EF4-FFF2-40B4-BE49-F238E27FC236}">
                <a16:creationId xmlns:a16="http://schemas.microsoft.com/office/drawing/2014/main" id="{F6266893-797F-40B9-B7F1-28B13A3984C3}"/>
              </a:ext>
            </a:extLst>
          </p:cNvPr>
          <p:cNvSpPr>
            <a:spLocks noChangeArrowheads="1"/>
          </p:cNvSpPr>
          <p:nvPr/>
        </p:nvSpPr>
        <p:spPr bwMode="gray">
          <a:xfrm flipH="1">
            <a:off x="6246677" y="59426"/>
            <a:ext cx="2057400"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44" name="AutoShape 3">
            <a:extLst>
              <a:ext uri="{FF2B5EF4-FFF2-40B4-BE49-F238E27FC236}">
                <a16:creationId xmlns:a16="http://schemas.microsoft.com/office/drawing/2014/main" id="{3450B81F-1BA9-4F41-945E-CF31FD6A1BE2}"/>
              </a:ext>
            </a:extLst>
          </p:cNvPr>
          <p:cNvSpPr>
            <a:spLocks noChangeArrowheads="1"/>
          </p:cNvSpPr>
          <p:nvPr/>
        </p:nvSpPr>
        <p:spPr bwMode="gray">
          <a:xfrm flipH="1">
            <a:off x="4188613" y="57140"/>
            <a:ext cx="2056086" cy="651510"/>
          </a:xfrm>
          <a:prstGeom prst="chevron">
            <a:avLst>
              <a:gd name="adj" fmla="val 17009"/>
            </a:avLst>
          </a:prstGeom>
          <a:solidFill>
            <a:srgbClr val="2842AE"/>
          </a:soli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dirty="0">
              <a:ln>
                <a:noFill/>
              </a:ln>
              <a:solidFill>
                <a:srgbClr val="3D81BF"/>
              </a:solidFill>
              <a:effectLst/>
              <a:uLnTx/>
              <a:uFillTx/>
            </a:endParaRPr>
          </a:p>
        </p:txBody>
      </p:sp>
      <p:sp>
        <p:nvSpPr>
          <p:cNvPr id="45" name="AutoShape 3">
            <a:extLst>
              <a:ext uri="{FF2B5EF4-FFF2-40B4-BE49-F238E27FC236}">
                <a16:creationId xmlns:a16="http://schemas.microsoft.com/office/drawing/2014/main" id="{278C3753-7E5F-4A07-84E8-FA915CB0CE87}"/>
              </a:ext>
            </a:extLst>
          </p:cNvPr>
          <p:cNvSpPr>
            <a:spLocks noChangeArrowheads="1"/>
          </p:cNvSpPr>
          <p:nvPr/>
        </p:nvSpPr>
        <p:spPr bwMode="gray">
          <a:xfrm flipH="1">
            <a:off x="2588411" y="57141"/>
            <a:ext cx="1600202"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6" name="AutoShape 3">
            <a:extLst>
              <a:ext uri="{FF2B5EF4-FFF2-40B4-BE49-F238E27FC236}">
                <a16:creationId xmlns:a16="http://schemas.microsoft.com/office/drawing/2014/main" id="{B202AEB4-F766-4F6D-9D49-804AECBBBB79}"/>
              </a:ext>
            </a:extLst>
          </p:cNvPr>
          <p:cNvSpPr>
            <a:spLocks noChangeArrowheads="1"/>
          </p:cNvSpPr>
          <p:nvPr/>
        </p:nvSpPr>
        <p:spPr bwMode="gray">
          <a:xfrm flipH="1">
            <a:off x="161661" y="57140"/>
            <a:ext cx="2426749"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7" name="Rectangle 46">
            <a:extLst>
              <a:ext uri="{FF2B5EF4-FFF2-40B4-BE49-F238E27FC236}">
                <a16:creationId xmlns:a16="http://schemas.microsoft.com/office/drawing/2014/main" id="{89552ECA-1CA1-40F1-A87E-809897E322A0}"/>
              </a:ext>
            </a:extLst>
          </p:cNvPr>
          <p:cNvSpPr/>
          <p:nvPr/>
        </p:nvSpPr>
        <p:spPr>
          <a:xfrm>
            <a:off x="403231" y="91457"/>
            <a:ext cx="2056085"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طراحی و پیاده سازی همسان ساز پیشنهادی</a:t>
            </a:r>
          </a:p>
        </p:txBody>
      </p:sp>
      <p:sp>
        <p:nvSpPr>
          <p:cNvPr id="48" name="Rectangle 47">
            <a:extLst>
              <a:ext uri="{FF2B5EF4-FFF2-40B4-BE49-F238E27FC236}">
                <a16:creationId xmlns:a16="http://schemas.microsoft.com/office/drawing/2014/main" id="{2A9B9FDD-FEF5-46D3-8995-5604A1B4B80E}"/>
              </a:ext>
            </a:extLst>
          </p:cNvPr>
          <p:cNvSpPr/>
          <p:nvPr/>
        </p:nvSpPr>
        <p:spPr>
          <a:xfrm>
            <a:off x="2636749" y="78259"/>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پیشنهادی</a:t>
            </a:r>
          </a:p>
        </p:txBody>
      </p:sp>
      <p:sp>
        <p:nvSpPr>
          <p:cNvPr id="49" name="Rectangle 48">
            <a:extLst>
              <a:ext uri="{FF2B5EF4-FFF2-40B4-BE49-F238E27FC236}">
                <a16:creationId xmlns:a16="http://schemas.microsoft.com/office/drawing/2014/main" id="{4756B784-8B4C-449F-AE9D-2B6BBC518073}"/>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باتری</a:t>
            </a:r>
          </a:p>
        </p:txBody>
      </p:sp>
      <p:sp>
        <p:nvSpPr>
          <p:cNvPr id="50" name="Rectangle 49">
            <a:extLst>
              <a:ext uri="{FF2B5EF4-FFF2-40B4-BE49-F238E27FC236}">
                <a16:creationId xmlns:a16="http://schemas.microsoft.com/office/drawing/2014/main" id="{E9011965-C922-40BF-B928-2A7E03BC5CDA}"/>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a:solidFill>
                  <a:srgbClr val="FFFFFF"/>
                </a:solidFill>
                <a:latin typeface="Times New Roman" panose="02020603050405020304" pitchFamily="18" charset="0"/>
                <a:cs typeface="B Nazanin" pitchFamily="2" charset="-78"/>
              </a:rPr>
              <a:t>باتری ها</a:t>
            </a:r>
            <a:endParaRPr lang="en-US" sz="1500" b="1" kern="0" dirty="0">
              <a:solidFill>
                <a:srgbClr val="FFFFFF"/>
              </a:solidFill>
              <a:latin typeface="Times New Roman" panose="02020603050405020304" pitchFamily="18" charset="0"/>
              <a:cs typeface="B Nazanin" pitchFamily="2" charset="-78"/>
            </a:endParaRPr>
          </a:p>
        </p:txBody>
      </p:sp>
    </p:spTree>
    <p:extLst>
      <p:ext uri="{BB962C8B-B14F-4D97-AF65-F5344CB8AC3E}">
        <p14:creationId xmlns:p14="http://schemas.microsoft.com/office/powerpoint/2010/main" val="159976790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TextBox 34">
            <a:extLst>
              <a:ext uri="{FF2B5EF4-FFF2-40B4-BE49-F238E27FC236}">
                <a16:creationId xmlns:a16="http://schemas.microsoft.com/office/drawing/2014/main" id="{F43469DC-7F5B-471E-BD74-ED709E621F63}"/>
              </a:ext>
            </a:extLst>
          </p:cNvPr>
          <p:cNvSpPr txBox="1"/>
          <p:nvPr/>
        </p:nvSpPr>
        <p:spPr>
          <a:xfrm>
            <a:off x="7055055" y="1726687"/>
            <a:ext cx="1837362" cy="369332"/>
          </a:xfrm>
          <a:prstGeom prst="rect">
            <a:avLst/>
          </a:prstGeom>
          <a:noFill/>
        </p:spPr>
        <p:txBody>
          <a:bodyPr wrap="none" rtlCol="0">
            <a:spAutoFit/>
          </a:bodyPr>
          <a:lstStyle/>
          <a:p>
            <a:pPr algn="r" rtl="1"/>
            <a:r>
              <a:rPr lang="fa-IR" b="1" dirty="0">
                <a:cs typeface="B Nazanin" panose="00000400000000000000" pitchFamily="2" charset="-78"/>
              </a:rPr>
              <a:t>انتقال سلول به سلول</a:t>
            </a:r>
          </a:p>
        </p:txBody>
      </p:sp>
      <p:sp>
        <p:nvSpPr>
          <p:cNvPr id="17"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10</a:t>
            </a:fld>
            <a:endParaRPr lang="fa-IR" sz="1800" dirty="0">
              <a:solidFill>
                <a:schemeClr val="tx1"/>
              </a:solidFill>
              <a:cs typeface="B Lotus" panose="00000400000000000000" pitchFamily="2" charset="-78"/>
            </a:endParaRPr>
          </a:p>
        </p:txBody>
      </p:sp>
      <p:pic>
        <p:nvPicPr>
          <p:cNvPr id="21" name="Picture 20"/>
          <p:cNvPicPr/>
          <p:nvPr/>
        </p:nvPicPr>
        <p:blipFill>
          <a:blip r:embed="rId3">
            <a:extLst>
              <a:ext uri="{28A0092B-C50C-407E-A947-70E740481C1C}">
                <a14:useLocalDpi xmlns:a14="http://schemas.microsoft.com/office/drawing/2010/main" val="0"/>
              </a:ext>
            </a:extLst>
          </a:blip>
          <a:stretch>
            <a:fillRect/>
          </a:stretch>
        </p:blipFill>
        <p:spPr bwMode="auto">
          <a:xfrm>
            <a:off x="567182" y="2108678"/>
            <a:ext cx="7924800" cy="3916079"/>
          </a:xfrm>
          <a:prstGeom prst="rect">
            <a:avLst/>
          </a:prstGeom>
          <a:noFill/>
          <a:ln>
            <a:noFill/>
          </a:ln>
        </p:spPr>
      </p:pic>
      <p:sp>
        <p:nvSpPr>
          <p:cNvPr id="22" name="Rectangle 21"/>
          <p:cNvSpPr/>
          <p:nvPr/>
        </p:nvSpPr>
        <p:spPr>
          <a:xfrm>
            <a:off x="2455855" y="6154049"/>
            <a:ext cx="4011034" cy="369332"/>
          </a:xfrm>
          <a:prstGeom prst="rect">
            <a:avLst/>
          </a:prstGeom>
        </p:spPr>
        <p:txBody>
          <a:bodyPr wrap="none">
            <a:spAutoFit/>
          </a:bodyPr>
          <a:lstStyle/>
          <a:p>
            <a:pPr algn="ctr" rtl="1" fontAlgn="base">
              <a:spcBef>
                <a:spcPct val="0"/>
              </a:spcBef>
              <a:spcAft>
                <a:spcPct val="0"/>
              </a:spcAft>
            </a:pPr>
            <a:r>
              <a:rPr lang="fa-IR" dirty="0">
                <a:latin typeface="Times New Roman" panose="02020603050405020304" pitchFamily="18" charset="0"/>
                <a:ea typeface="Calibri" panose="020F0502020204030204" pitchFamily="34" charset="0"/>
                <a:cs typeface="B Lotus" panose="00000400000000000000" pitchFamily="2" charset="-78"/>
              </a:rPr>
              <a:t>شکل 7 </a:t>
            </a:r>
            <a:r>
              <a:rPr lang="fa-IR" dirty="0">
                <a:latin typeface="Times New Roman" panose="02020603050405020304" pitchFamily="18" charset="0"/>
                <a:cs typeface="B Lotus" panose="00000400000000000000" pitchFamily="2" charset="-78"/>
              </a:rPr>
              <a:t>شماتیک دیاگرام همسان سازی سلول به سلول.</a:t>
            </a:r>
            <a:endParaRPr lang="en-US" dirty="0">
              <a:latin typeface="Times New Roman" panose="02020603050405020304" pitchFamily="18" charset="0"/>
              <a:cs typeface="B Lotus" panose="00000400000000000000" pitchFamily="2" charset="-78"/>
            </a:endParaRPr>
          </a:p>
        </p:txBody>
      </p:sp>
      <p:sp>
        <p:nvSpPr>
          <p:cNvPr id="44" name="Rounded Rectangle 175">
            <a:extLst>
              <a:ext uri="{FF2B5EF4-FFF2-40B4-BE49-F238E27FC236}">
                <a16:creationId xmlns:a16="http://schemas.microsoft.com/office/drawing/2014/main" id="{5ED324C1-9E82-4B7C-8E12-63B5A59FFFC0}"/>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همسان سازی باتری</a:t>
            </a:r>
          </a:p>
        </p:txBody>
      </p:sp>
      <p:pic>
        <p:nvPicPr>
          <p:cNvPr id="45" name="Picture 44" descr="پرونده:Azad University logo.png - ویکی‌پدیا، دانشنامهٔ آزاد">
            <a:extLst>
              <a:ext uri="{FF2B5EF4-FFF2-40B4-BE49-F238E27FC236}">
                <a16:creationId xmlns:a16="http://schemas.microsoft.com/office/drawing/2014/main" id="{1A9FEE44-0F48-48EE-A201-613E74B88238}"/>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46" name="AutoShape 10">
            <a:extLst>
              <a:ext uri="{FF2B5EF4-FFF2-40B4-BE49-F238E27FC236}">
                <a16:creationId xmlns:a16="http://schemas.microsoft.com/office/drawing/2014/main" id="{F6266893-797F-40B9-B7F1-28B13A3984C3}"/>
              </a:ext>
            </a:extLst>
          </p:cNvPr>
          <p:cNvSpPr>
            <a:spLocks noChangeArrowheads="1"/>
          </p:cNvSpPr>
          <p:nvPr/>
        </p:nvSpPr>
        <p:spPr bwMode="gray">
          <a:xfrm flipH="1">
            <a:off x="6246677" y="59426"/>
            <a:ext cx="2057400"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47" name="AutoShape 3">
            <a:extLst>
              <a:ext uri="{FF2B5EF4-FFF2-40B4-BE49-F238E27FC236}">
                <a16:creationId xmlns:a16="http://schemas.microsoft.com/office/drawing/2014/main" id="{3450B81F-1BA9-4F41-945E-CF31FD6A1BE2}"/>
              </a:ext>
            </a:extLst>
          </p:cNvPr>
          <p:cNvSpPr>
            <a:spLocks noChangeArrowheads="1"/>
          </p:cNvSpPr>
          <p:nvPr/>
        </p:nvSpPr>
        <p:spPr bwMode="gray">
          <a:xfrm flipH="1">
            <a:off x="4188613" y="57140"/>
            <a:ext cx="2056086" cy="651510"/>
          </a:xfrm>
          <a:prstGeom prst="chevron">
            <a:avLst>
              <a:gd name="adj" fmla="val 17009"/>
            </a:avLst>
          </a:prstGeom>
          <a:solidFill>
            <a:srgbClr val="2842AE"/>
          </a:soli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dirty="0">
              <a:ln>
                <a:noFill/>
              </a:ln>
              <a:solidFill>
                <a:srgbClr val="3D81BF"/>
              </a:solidFill>
              <a:effectLst/>
              <a:uLnTx/>
              <a:uFillTx/>
            </a:endParaRPr>
          </a:p>
        </p:txBody>
      </p:sp>
      <p:sp>
        <p:nvSpPr>
          <p:cNvPr id="48" name="AutoShape 3">
            <a:extLst>
              <a:ext uri="{FF2B5EF4-FFF2-40B4-BE49-F238E27FC236}">
                <a16:creationId xmlns:a16="http://schemas.microsoft.com/office/drawing/2014/main" id="{278C3753-7E5F-4A07-84E8-FA915CB0CE87}"/>
              </a:ext>
            </a:extLst>
          </p:cNvPr>
          <p:cNvSpPr>
            <a:spLocks noChangeArrowheads="1"/>
          </p:cNvSpPr>
          <p:nvPr/>
        </p:nvSpPr>
        <p:spPr bwMode="gray">
          <a:xfrm flipH="1">
            <a:off x="2588411" y="57141"/>
            <a:ext cx="1600202"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9" name="AutoShape 3">
            <a:extLst>
              <a:ext uri="{FF2B5EF4-FFF2-40B4-BE49-F238E27FC236}">
                <a16:creationId xmlns:a16="http://schemas.microsoft.com/office/drawing/2014/main" id="{B202AEB4-F766-4F6D-9D49-804AECBBBB79}"/>
              </a:ext>
            </a:extLst>
          </p:cNvPr>
          <p:cNvSpPr>
            <a:spLocks noChangeArrowheads="1"/>
          </p:cNvSpPr>
          <p:nvPr/>
        </p:nvSpPr>
        <p:spPr bwMode="gray">
          <a:xfrm flipH="1">
            <a:off x="161661" y="57140"/>
            <a:ext cx="2426749"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50" name="Rectangle 49">
            <a:extLst>
              <a:ext uri="{FF2B5EF4-FFF2-40B4-BE49-F238E27FC236}">
                <a16:creationId xmlns:a16="http://schemas.microsoft.com/office/drawing/2014/main" id="{89552ECA-1CA1-40F1-A87E-809897E322A0}"/>
              </a:ext>
            </a:extLst>
          </p:cNvPr>
          <p:cNvSpPr/>
          <p:nvPr/>
        </p:nvSpPr>
        <p:spPr>
          <a:xfrm>
            <a:off x="403231" y="91457"/>
            <a:ext cx="2056085"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طراحی و پیاده سازی همسان ساز پیشنهادی</a:t>
            </a:r>
          </a:p>
        </p:txBody>
      </p:sp>
      <p:sp>
        <p:nvSpPr>
          <p:cNvPr id="51" name="Rectangle 50">
            <a:extLst>
              <a:ext uri="{FF2B5EF4-FFF2-40B4-BE49-F238E27FC236}">
                <a16:creationId xmlns:a16="http://schemas.microsoft.com/office/drawing/2014/main" id="{2A9B9FDD-FEF5-46D3-8995-5604A1B4B80E}"/>
              </a:ext>
            </a:extLst>
          </p:cNvPr>
          <p:cNvSpPr/>
          <p:nvPr/>
        </p:nvSpPr>
        <p:spPr>
          <a:xfrm>
            <a:off x="2636749" y="78259"/>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پیشنهادی</a:t>
            </a:r>
          </a:p>
        </p:txBody>
      </p:sp>
      <p:sp>
        <p:nvSpPr>
          <p:cNvPr id="52" name="Rectangle 51">
            <a:extLst>
              <a:ext uri="{FF2B5EF4-FFF2-40B4-BE49-F238E27FC236}">
                <a16:creationId xmlns:a16="http://schemas.microsoft.com/office/drawing/2014/main" id="{4756B784-8B4C-449F-AE9D-2B6BBC518073}"/>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باتری</a:t>
            </a:r>
          </a:p>
        </p:txBody>
      </p:sp>
      <p:sp>
        <p:nvSpPr>
          <p:cNvPr id="53" name="Rectangle 52">
            <a:extLst>
              <a:ext uri="{FF2B5EF4-FFF2-40B4-BE49-F238E27FC236}">
                <a16:creationId xmlns:a16="http://schemas.microsoft.com/office/drawing/2014/main" id="{E9011965-C922-40BF-B928-2A7E03BC5CDA}"/>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a:solidFill>
                  <a:srgbClr val="FFFFFF"/>
                </a:solidFill>
                <a:latin typeface="Times New Roman" panose="02020603050405020304" pitchFamily="18" charset="0"/>
                <a:cs typeface="B Nazanin" pitchFamily="2" charset="-78"/>
              </a:rPr>
              <a:t>باتری ها</a:t>
            </a:r>
            <a:endParaRPr lang="en-US" sz="1500" b="1" kern="0" dirty="0">
              <a:solidFill>
                <a:srgbClr val="FFFFFF"/>
              </a:solidFill>
              <a:latin typeface="Times New Roman" panose="02020603050405020304" pitchFamily="18" charset="0"/>
              <a:cs typeface="B Nazanin" pitchFamily="2" charset="-78"/>
            </a:endParaRPr>
          </a:p>
        </p:txBody>
      </p:sp>
    </p:spTree>
    <p:extLst>
      <p:ext uri="{BB962C8B-B14F-4D97-AF65-F5344CB8AC3E}">
        <p14:creationId xmlns:p14="http://schemas.microsoft.com/office/powerpoint/2010/main" val="212230634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TextBox 25">
            <a:extLst>
              <a:ext uri="{FF2B5EF4-FFF2-40B4-BE49-F238E27FC236}">
                <a16:creationId xmlns:a16="http://schemas.microsoft.com/office/drawing/2014/main" id="{90C43403-B77E-474E-A638-C5BD6540DB40}"/>
              </a:ext>
            </a:extLst>
          </p:cNvPr>
          <p:cNvSpPr txBox="1"/>
          <p:nvPr/>
        </p:nvSpPr>
        <p:spPr>
          <a:xfrm>
            <a:off x="-635497" y="2998200"/>
            <a:ext cx="65" cy="276999"/>
          </a:xfrm>
          <a:prstGeom prst="rect">
            <a:avLst/>
          </a:prstGeom>
          <a:noFill/>
        </p:spPr>
        <p:txBody>
          <a:bodyPr wrap="none" lIns="0" tIns="0" rIns="0" bIns="0" rtlCol="0">
            <a:spAutoFit/>
          </a:bodyPr>
          <a:lstStyle/>
          <a:p>
            <a:endParaRPr lang="en-US" dirty="0"/>
          </a:p>
        </p:txBody>
      </p:sp>
      <p:pic>
        <p:nvPicPr>
          <p:cNvPr id="5" name="Picture 4"/>
          <p:cNvPicPr>
            <a:picLocks noChangeAspect="1"/>
          </p:cNvPicPr>
          <p:nvPr/>
        </p:nvPicPr>
        <p:blipFill>
          <a:blip r:embed="rId3"/>
          <a:stretch>
            <a:fillRect/>
          </a:stretch>
        </p:blipFill>
        <p:spPr>
          <a:xfrm>
            <a:off x="148662" y="921845"/>
            <a:ext cx="1234508" cy="1234508"/>
          </a:xfrm>
          <a:prstGeom prst="rect">
            <a:avLst/>
          </a:prstGeom>
        </p:spPr>
      </p:pic>
      <p:sp>
        <p:nvSpPr>
          <p:cNvPr id="45" name="AutoShape 2">
            <a:extLst>
              <a:ext uri="{FF2B5EF4-FFF2-40B4-BE49-F238E27FC236}">
                <a16:creationId xmlns:a16="http://schemas.microsoft.com/office/drawing/2014/main" id="{497A908A-E454-4B9F-A07D-96505D4C7818}"/>
              </a:ext>
            </a:extLst>
          </p:cNvPr>
          <p:cNvSpPr>
            <a:spLocks noChangeAspect="1" noChangeArrowheads="1"/>
          </p:cNvSpPr>
          <p:nvPr/>
        </p:nvSpPr>
        <p:spPr bwMode="ltGray">
          <a:xfrm rot="16200000" flipH="1">
            <a:off x="6766228" y="1901826"/>
            <a:ext cx="4824413" cy="4770438"/>
          </a:xfrm>
          <a:custGeom>
            <a:avLst/>
            <a:gdLst>
              <a:gd name="G0" fmla="+- 10478 0 0"/>
              <a:gd name="G1" fmla="+- -11739500 0 0"/>
              <a:gd name="G2" fmla="+- 0 0 -11739500"/>
              <a:gd name="T0" fmla="*/ 0 256 1"/>
              <a:gd name="T1" fmla="*/ 180 256 1"/>
              <a:gd name="G3" fmla="+- -11739500 T0 T1"/>
              <a:gd name="T2" fmla="*/ 0 256 1"/>
              <a:gd name="T3" fmla="*/ 90 256 1"/>
              <a:gd name="G4" fmla="+- -11739500 T2 T3"/>
              <a:gd name="G5" fmla="*/ G4 2 1"/>
              <a:gd name="T4" fmla="*/ 90 256 1"/>
              <a:gd name="T5" fmla="*/ 0 256 1"/>
              <a:gd name="G6" fmla="+- -11739500 T4 T5"/>
              <a:gd name="G7" fmla="*/ G6 2 1"/>
              <a:gd name="G8" fmla="abs -11739500"/>
              <a:gd name="T6" fmla="*/ 0 256 1"/>
              <a:gd name="T7" fmla="*/ 90 256 1"/>
              <a:gd name="G9" fmla="+- G8 T6 T7"/>
              <a:gd name="G10" fmla="?: G9 G7 G5"/>
              <a:gd name="T8" fmla="*/ 0 256 1"/>
              <a:gd name="T9" fmla="*/ 360 256 1"/>
              <a:gd name="G11" fmla="+- G10 T8 T9"/>
              <a:gd name="G12" fmla="?: G10 G11 G10"/>
              <a:gd name="T10" fmla="*/ 0 256 1"/>
              <a:gd name="T11" fmla="*/ 360 256 1"/>
              <a:gd name="G13" fmla="+- G12 T10 T11"/>
              <a:gd name="G14" fmla="?: G12 G13 G12"/>
              <a:gd name="G15" fmla="+- 0 0 G14"/>
              <a:gd name="G16" fmla="+- 10800 0 0"/>
              <a:gd name="G17" fmla="+- 10800 0 10478"/>
              <a:gd name="G18" fmla="*/ 10478 1 2"/>
              <a:gd name="G19" fmla="+- G18 5400 0"/>
              <a:gd name="G20" fmla="cos G19 -11739500"/>
              <a:gd name="G21" fmla="sin G19 -11739500"/>
              <a:gd name="G22" fmla="+- G20 10800 0"/>
              <a:gd name="G23" fmla="+- G21 10800 0"/>
              <a:gd name="G24" fmla="+- 10800 0 G20"/>
              <a:gd name="G25" fmla="+- 10478 10800 0"/>
              <a:gd name="G26" fmla="?: G9 G17 G25"/>
              <a:gd name="G27" fmla="?: G9 0 21600"/>
              <a:gd name="G28" fmla="cos 10800 -11739500"/>
              <a:gd name="G29" fmla="sin 10800 -11739500"/>
              <a:gd name="G30" fmla="sin 10478 -11739500"/>
              <a:gd name="G31" fmla="+- G28 10800 0"/>
              <a:gd name="G32" fmla="+- G29 10800 0"/>
              <a:gd name="G33" fmla="+- G30 10800 0"/>
              <a:gd name="G34" fmla="?: G4 0 G31"/>
              <a:gd name="G35" fmla="?: -11739500 G34 0"/>
              <a:gd name="G36" fmla="?: G6 G35 G31"/>
              <a:gd name="G37" fmla="+- 21600 0 G36"/>
              <a:gd name="G38" fmla="?: G4 0 G33"/>
              <a:gd name="G39" fmla="?: -11739500 G38 G32"/>
              <a:gd name="G40" fmla="?: G6 G39 0"/>
              <a:gd name="G41" fmla="?: G4 G32 21600"/>
              <a:gd name="G42" fmla="?: G6 G41 G33"/>
              <a:gd name="T12" fmla="*/ 10800 w 21600"/>
              <a:gd name="T13" fmla="*/ 0 h 21600"/>
              <a:gd name="T14" fmla="*/ 162 w 21600"/>
              <a:gd name="T15" fmla="*/ 10638 h 21600"/>
              <a:gd name="T16" fmla="*/ 10800 w 21600"/>
              <a:gd name="T17" fmla="*/ 322 h 21600"/>
              <a:gd name="T18" fmla="*/ 21438 w 21600"/>
              <a:gd name="T19" fmla="*/ 10638 h 21600"/>
              <a:gd name="T20" fmla="*/ G36 w 21600"/>
              <a:gd name="T21" fmla="*/ G40 h 21600"/>
              <a:gd name="T22" fmla="*/ G37 w 21600"/>
              <a:gd name="T23" fmla="*/ G42 h 21600"/>
            </a:gdLst>
            <a:ahLst/>
            <a:cxnLst>
              <a:cxn ang="0">
                <a:pos x="T12" y="T13"/>
              </a:cxn>
              <a:cxn ang="0">
                <a:pos x="T14" y="T15"/>
              </a:cxn>
              <a:cxn ang="0">
                <a:pos x="T16" y="T17"/>
              </a:cxn>
              <a:cxn ang="0">
                <a:pos x="T18" y="T19"/>
              </a:cxn>
            </a:cxnLst>
            <a:rect l="T20" t="T21" r="T22" b="T23"/>
            <a:pathLst>
              <a:path w="21600" h="21600">
                <a:moveTo>
                  <a:pt x="323" y="10641"/>
                </a:moveTo>
                <a:cubicBezTo>
                  <a:pt x="410" y="4916"/>
                  <a:pt x="5075" y="321"/>
                  <a:pt x="10800" y="322"/>
                </a:cubicBezTo>
                <a:cubicBezTo>
                  <a:pt x="16524" y="322"/>
                  <a:pt x="21189" y="4916"/>
                  <a:pt x="21276" y="10641"/>
                </a:cubicBezTo>
                <a:lnTo>
                  <a:pt x="21598" y="10636"/>
                </a:lnTo>
                <a:cubicBezTo>
                  <a:pt x="21509" y="4736"/>
                  <a:pt x="16700" y="-1"/>
                  <a:pt x="10799" y="0"/>
                </a:cubicBezTo>
                <a:cubicBezTo>
                  <a:pt x="4899" y="0"/>
                  <a:pt x="90" y="4736"/>
                  <a:pt x="1" y="10636"/>
                </a:cubicBezTo>
                <a:close/>
              </a:path>
            </a:pathLst>
          </a:custGeom>
          <a:gradFill rotWithShape="0">
            <a:gsLst>
              <a:gs pos="0">
                <a:srgbClr val="B0BAD8">
                  <a:gamma/>
                  <a:tint val="45490"/>
                  <a:invGamma/>
                </a:srgbClr>
              </a:gs>
              <a:gs pos="100000">
                <a:srgbClr val="B0BAD8"/>
              </a:gs>
            </a:gsLst>
            <a:lin ang="0" scaled="1"/>
          </a:gradFill>
          <a:ln w="9525" algn="ctr">
            <a:noFill/>
            <a:miter lim="800000"/>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6" name="AutoShape 3">
            <a:extLst>
              <a:ext uri="{FF2B5EF4-FFF2-40B4-BE49-F238E27FC236}">
                <a16:creationId xmlns:a16="http://schemas.microsoft.com/office/drawing/2014/main" id="{481E592A-A902-40E8-8D57-EEB2C886C06E}"/>
              </a:ext>
            </a:extLst>
          </p:cNvPr>
          <p:cNvSpPr>
            <a:spLocks noChangeAspect="1" noChangeArrowheads="1"/>
          </p:cNvSpPr>
          <p:nvPr/>
        </p:nvSpPr>
        <p:spPr bwMode="ltGray">
          <a:xfrm rot="16200000">
            <a:off x="7127876" y="2337594"/>
            <a:ext cx="4032250" cy="3929063"/>
          </a:xfrm>
          <a:custGeom>
            <a:avLst/>
            <a:gdLst>
              <a:gd name="G0" fmla="+- 56 0 0"/>
              <a:gd name="G1" fmla="+- 11796480 0 0"/>
              <a:gd name="G2" fmla="+- 0 0 11796480"/>
              <a:gd name="T0" fmla="*/ 0 256 1"/>
              <a:gd name="T1" fmla="*/ 180 256 1"/>
              <a:gd name="G3" fmla="+- 11796480 T0 T1"/>
              <a:gd name="T2" fmla="*/ 0 256 1"/>
              <a:gd name="T3" fmla="*/ 90 256 1"/>
              <a:gd name="G4" fmla="+- 11796480 T2 T3"/>
              <a:gd name="G5" fmla="*/ G4 2 1"/>
              <a:gd name="T4" fmla="*/ 90 256 1"/>
              <a:gd name="T5" fmla="*/ 0 256 1"/>
              <a:gd name="G6" fmla="+- 11796480 T4 T5"/>
              <a:gd name="G7" fmla="*/ G6 2 1"/>
              <a:gd name="G8" fmla="abs 11796480"/>
              <a:gd name="T6" fmla="*/ 0 256 1"/>
              <a:gd name="T7" fmla="*/ 90 256 1"/>
              <a:gd name="G9" fmla="+- G8 T6 T7"/>
              <a:gd name="G10" fmla="?: G9 G7 G5"/>
              <a:gd name="T8" fmla="*/ 0 256 1"/>
              <a:gd name="T9" fmla="*/ 360 256 1"/>
              <a:gd name="G11" fmla="+- G10 T8 T9"/>
              <a:gd name="G12" fmla="?: G10 G11 G10"/>
              <a:gd name="T10" fmla="*/ 0 256 1"/>
              <a:gd name="T11" fmla="*/ 360 256 1"/>
              <a:gd name="G13" fmla="+- G12 T10 T11"/>
              <a:gd name="G14" fmla="?: G12 G13 G12"/>
              <a:gd name="G15" fmla="+- 0 0 G14"/>
              <a:gd name="G16" fmla="+- 10800 0 0"/>
              <a:gd name="G17" fmla="+- 10800 0 56"/>
              <a:gd name="G18" fmla="*/ 56 1 2"/>
              <a:gd name="G19" fmla="+- G18 5400 0"/>
              <a:gd name="G20" fmla="cos G19 11796480"/>
              <a:gd name="G21" fmla="sin G19 11796480"/>
              <a:gd name="G22" fmla="+- G20 10800 0"/>
              <a:gd name="G23" fmla="+- G21 10800 0"/>
              <a:gd name="G24" fmla="+- 10800 0 G20"/>
              <a:gd name="G25" fmla="+- 56 10800 0"/>
              <a:gd name="G26" fmla="?: G9 G17 G25"/>
              <a:gd name="G27" fmla="?: G9 0 21600"/>
              <a:gd name="G28" fmla="cos 10800 11796480"/>
              <a:gd name="G29" fmla="sin 10800 11796480"/>
              <a:gd name="G30" fmla="sin 56 11796480"/>
              <a:gd name="G31" fmla="+- G28 10800 0"/>
              <a:gd name="G32" fmla="+- G29 10800 0"/>
              <a:gd name="G33" fmla="+- G30 10800 0"/>
              <a:gd name="G34" fmla="?: G4 0 G31"/>
              <a:gd name="G35" fmla="?: 11796480 G34 0"/>
              <a:gd name="G36" fmla="?: G6 G35 G31"/>
              <a:gd name="G37" fmla="+- 21600 0 G36"/>
              <a:gd name="G38" fmla="?: G4 0 G33"/>
              <a:gd name="G39" fmla="?: 11796480 G38 G32"/>
              <a:gd name="G40" fmla="?: G6 G39 0"/>
              <a:gd name="G41" fmla="?: G4 G32 21600"/>
              <a:gd name="G42" fmla="?: G6 G41 G33"/>
              <a:gd name="T12" fmla="*/ 10800 w 21600"/>
              <a:gd name="T13" fmla="*/ 0 h 21600"/>
              <a:gd name="T14" fmla="*/ 5372 w 21600"/>
              <a:gd name="T15" fmla="*/ 10800 h 21600"/>
              <a:gd name="T16" fmla="*/ 10800 w 21600"/>
              <a:gd name="T17" fmla="*/ 10744 h 21600"/>
              <a:gd name="T18" fmla="*/ 16228 w 21600"/>
              <a:gd name="T19" fmla="*/ 10800 h 21600"/>
              <a:gd name="T20" fmla="*/ G36 w 21600"/>
              <a:gd name="T21" fmla="*/ G40 h 21600"/>
              <a:gd name="T22" fmla="*/ G37 w 21600"/>
              <a:gd name="T23" fmla="*/ G42 h 21600"/>
            </a:gdLst>
            <a:ahLst/>
            <a:cxnLst>
              <a:cxn ang="0">
                <a:pos x="T12" y="T13"/>
              </a:cxn>
              <a:cxn ang="0">
                <a:pos x="T14" y="T15"/>
              </a:cxn>
              <a:cxn ang="0">
                <a:pos x="T16" y="T17"/>
              </a:cxn>
              <a:cxn ang="0">
                <a:pos x="T18" y="T19"/>
              </a:cxn>
            </a:cxnLst>
            <a:rect l="T20" t="T21" r="T22" b="T23"/>
            <a:pathLst>
              <a:path w="21600" h="21600">
                <a:moveTo>
                  <a:pt x="10744" y="10800"/>
                </a:moveTo>
                <a:cubicBezTo>
                  <a:pt x="10744" y="10769"/>
                  <a:pt x="10769" y="10744"/>
                  <a:pt x="10800" y="10744"/>
                </a:cubicBezTo>
                <a:cubicBezTo>
                  <a:pt x="10830" y="10743"/>
                  <a:pt x="10855" y="10769"/>
                  <a:pt x="10856" y="10799"/>
                </a:cubicBezTo>
                <a:lnTo>
                  <a:pt x="21600" y="10800"/>
                </a:lnTo>
                <a:cubicBezTo>
                  <a:pt x="21600" y="4835"/>
                  <a:pt x="16764" y="0"/>
                  <a:pt x="10800" y="0"/>
                </a:cubicBezTo>
                <a:cubicBezTo>
                  <a:pt x="4835" y="0"/>
                  <a:pt x="0" y="4835"/>
                  <a:pt x="0" y="10800"/>
                </a:cubicBezTo>
                <a:close/>
              </a:path>
            </a:pathLst>
          </a:custGeom>
          <a:gradFill rotWithShape="0">
            <a:gsLst>
              <a:gs pos="0">
                <a:srgbClr val="B8CCFE">
                  <a:gamma/>
                  <a:tint val="39216"/>
                  <a:invGamma/>
                </a:srgbClr>
              </a:gs>
              <a:gs pos="100000">
                <a:srgbClr val="B8CCFE"/>
              </a:gs>
            </a:gsLst>
            <a:lin ang="0" scaled="1"/>
          </a:gradFill>
          <a:ln w="0" algn="ctr">
            <a:noFill/>
            <a:miter lim="800000"/>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8" name="AutoShape 8">
            <a:extLst>
              <a:ext uri="{FF2B5EF4-FFF2-40B4-BE49-F238E27FC236}">
                <a16:creationId xmlns:a16="http://schemas.microsoft.com/office/drawing/2014/main" id="{FF901E6E-4D39-4565-9B46-60C2C5B1D5F6}"/>
              </a:ext>
            </a:extLst>
          </p:cNvPr>
          <p:cNvSpPr>
            <a:spLocks noChangeAspect="1" noChangeArrowheads="1"/>
          </p:cNvSpPr>
          <p:nvPr/>
        </p:nvSpPr>
        <p:spPr bwMode="gray">
          <a:xfrm>
            <a:off x="685800" y="2534512"/>
            <a:ext cx="6459816"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dirty="0">
                <a:cs typeface="B Lotus" panose="00000400000000000000" pitchFamily="2" charset="-78"/>
              </a:rPr>
              <a:t>روشی نو برای همسان‌سازی باتری پک با اتصال سری بر مبنای تجزیه و تحلیل خوشه‌بندی</a:t>
            </a:r>
          </a:p>
          <a:p>
            <a:pPr algn="r" rtl="1" fontAlgn="base">
              <a:spcBef>
                <a:spcPct val="0"/>
              </a:spcBef>
              <a:spcAft>
                <a:spcPct val="0"/>
              </a:spcAft>
            </a:pPr>
            <a:r>
              <a:rPr lang="fa-IR" dirty="0">
                <a:cs typeface="B Lotus" panose="00000400000000000000" pitchFamily="2" charset="-78"/>
              </a:rPr>
              <a:t> همراه با الگوریتم ژنتیک</a:t>
            </a:r>
            <a:endParaRPr lang="en-US" dirty="0">
              <a:cs typeface="B Lotus" panose="00000400000000000000" pitchFamily="2" charset="-78"/>
            </a:endParaRPr>
          </a:p>
        </p:txBody>
      </p:sp>
      <p:grpSp>
        <p:nvGrpSpPr>
          <p:cNvPr id="49" name="Group 23">
            <a:extLst>
              <a:ext uri="{FF2B5EF4-FFF2-40B4-BE49-F238E27FC236}">
                <a16:creationId xmlns:a16="http://schemas.microsoft.com/office/drawing/2014/main" id="{978D1582-1549-4D37-9C95-34020E281F7D}"/>
              </a:ext>
            </a:extLst>
          </p:cNvPr>
          <p:cNvGrpSpPr>
            <a:grpSpLocks noChangeAspect="1"/>
          </p:cNvGrpSpPr>
          <p:nvPr/>
        </p:nvGrpSpPr>
        <p:grpSpPr bwMode="auto">
          <a:xfrm>
            <a:off x="7102750" y="2610712"/>
            <a:ext cx="381000" cy="381000"/>
            <a:chOff x="2078" y="1680"/>
            <a:chExt cx="1615" cy="1615"/>
          </a:xfrm>
        </p:grpSpPr>
        <p:sp>
          <p:nvSpPr>
            <p:cNvPr id="50" name="Oval 24">
              <a:extLst>
                <a:ext uri="{FF2B5EF4-FFF2-40B4-BE49-F238E27FC236}">
                  <a16:creationId xmlns:a16="http://schemas.microsoft.com/office/drawing/2014/main" id="{394744AB-69AD-4039-A10B-0D8E0439243B}"/>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51" name="Oval 25">
              <a:extLst>
                <a:ext uri="{FF2B5EF4-FFF2-40B4-BE49-F238E27FC236}">
                  <a16:creationId xmlns:a16="http://schemas.microsoft.com/office/drawing/2014/main" id="{154704C5-3C92-4C99-8D43-D388A6C5B289}"/>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52" name="Oval 26">
              <a:extLst>
                <a:ext uri="{FF2B5EF4-FFF2-40B4-BE49-F238E27FC236}">
                  <a16:creationId xmlns:a16="http://schemas.microsoft.com/office/drawing/2014/main" id="{04F66D2C-385D-4CBC-8E8F-3E3A912DFC98}"/>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53" name="Oval 27">
              <a:extLst>
                <a:ext uri="{FF2B5EF4-FFF2-40B4-BE49-F238E27FC236}">
                  <a16:creationId xmlns:a16="http://schemas.microsoft.com/office/drawing/2014/main" id="{EA27390D-90C7-4FEF-9F37-D35FD2EA7723}"/>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54" name="Oval 28">
              <a:extLst>
                <a:ext uri="{FF2B5EF4-FFF2-40B4-BE49-F238E27FC236}">
                  <a16:creationId xmlns:a16="http://schemas.microsoft.com/office/drawing/2014/main" id="{5C9AFE92-58F0-4BF1-8021-7EEAC92E3206}"/>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55" name="Oval 29">
              <a:extLst>
                <a:ext uri="{FF2B5EF4-FFF2-40B4-BE49-F238E27FC236}">
                  <a16:creationId xmlns:a16="http://schemas.microsoft.com/office/drawing/2014/main" id="{1B81B5B2-AD7F-472D-BBE8-64F0040E5D5F}"/>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56" name="TextBox 55">
            <a:extLst>
              <a:ext uri="{FF2B5EF4-FFF2-40B4-BE49-F238E27FC236}">
                <a16:creationId xmlns:a16="http://schemas.microsoft.com/office/drawing/2014/main" id="{90C43403-B77E-474E-A638-C5BD6540DB40}"/>
              </a:ext>
            </a:extLst>
          </p:cNvPr>
          <p:cNvSpPr txBox="1"/>
          <p:nvPr/>
        </p:nvSpPr>
        <p:spPr>
          <a:xfrm>
            <a:off x="2992949" y="3228549"/>
            <a:ext cx="65" cy="276999"/>
          </a:xfrm>
          <a:prstGeom prst="rect">
            <a:avLst/>
          </a:prstGeom>
          <a:noFill/>
        </p:spPr>
        <p:txBody>
          <a:bodyPr wrap="none" lIns="0" tIns="0" rIns="0" bIns="0" rtlCol="0">
            <a:spAutoFit/>
          </a:bodyPr>
          <a:lstStyle/>
          <a:p>
            <a:endParaRPr lang="en-US" dirty="0"/>
          </a:p>
        </p:txBody>
      </p:sp>
      <p:sp>
        <p:nvSpPr>
          <p:cNvPr id="57" name="AutoShape 8">
            <a:extLst>
              <a:ext uri="{FF2B5EF4-FFF2-40B4-BE49-F238E27FC236}">
                <a16:creationId xmlns:a16="http://schemas.microsoft.com/office/drawing/2014/main" id="{B5862EDC-452E-4DF3-BF8D-680DE0577504}"/>
              </a:ext>
            </a:extLst>
          </p:cNvPr>
          <p:cNvSpPr>
            <a:spLocks noChangeAspect="1" noChangeArrowheads="1"/>
          </p:cNvSpPr>
          <p:nvPr/>
        </p:nvSpPr>
        <p:spPr bwMode="gray">
          <a:xfrm>
            <a:off x="148662" y="3953150"/>
            <a:ext cx="6575687" cy="595352"/>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dirty="0">
                <a:cs typeface="B Lotus" panose="00000400000000000000" pitchFamily="2" charset="-78"/>
              </a:rPr>
              <a:t>پژوهشی بر روی همسان ساز باتری پک </a:t>
            </a:r>
            <a:r>
              <a:rPr lang="fa-IR" dirty="0" err="1">
                <a:cs typeface="B Lotus" panose="00000400000000000000" pitchFamily="2" charset="-78"/>
              </a:rPr>
              <a:t>لیتیوم</a:t>
            </a:r>
            <a:r>
              <a:rPr lang="fa-IR" dirty="0">
                <a:cs typeface="B Lotus" panose="00000400000000000000" pitchFamily="2" charset="-78"/>
              </a:rPr>
              <a:t> </a:t>
            </a:r>
            <a:r>
              <a:rPr lang="fa-IR" dirty="0" err="1">
                <a:cs typeface="B Lotus" panose="00000400000000000000" pitchFamily="2" charset="-78"/>
              </a:rPr>
              <a:t>یونی</a:t>
            </a:r>
            <a:r>
              <a:rPr lang="fa-IR" dirty="0">
                <a:cs typeface="B Lotus" panose="00000400000000000000" pitchFamily="2" charset="-78"/>
              </a:rPr>
              <a:t> با دو مرحله ای بر مبنای</a:t>
            </a:r>
            <a:br>
              <a:rPr lang="en-US" dirty="0">
                <a:cs typeface="B Lotus" panose="00000400000000000000" pitchFamily="2" charset="-78"/>
              </a:rPr>
            </a:br>
            <a:r>
              <a:rPr lang="fa-IR" dirty="0">
                <a:cs typeface="B Lotus" panose="00000400000000000000" pitchFamily="2" charset="-78"/>
              </a:rPr>
              <a:t> کنترل منطق </a:t>
            </a:r>
            <a:r>
              <a:rPr lang="fa-IR" dirty="0" err="1">
                <a:cs typeface="B Lotus" panose="00000400000000000000" pitchFamily="2" charset="-78"/>
              </a:rPr>
              <a:t>فازی</a:t>
            </a:r>
            <a:endParaRPr lang="en-US" dirty="0">
              <a:latin typeface="Times New Roman" panose="02020603050405020304" pitchFamily="18" charset="0"/>
              <a:cs typeface="Times New Roman" panose="02020603050405020304" pitchFamily="18" charset="0"/>
            </a:endParaRPr>
          </a:p>
        </p:txBody>
      </p:sp>
      <p:sp>
        <p:nvSpPr>
          <p:cNvPr id="58" name="AutoShape 8">
            <a:extLst>
              <a:ext uri="{FF2B5EF4-FFF2-40B4-BE49-F238E27FC236}">
                <a16:creationId xmlns:a16="http://schemas.microsoft.com/office/drawing/2014/main" id="{3B3A499C-E5A4-4F32-9CCC-AD714CA7AEF7}"/>
              </a:ext>
            </a:extLst>
          </p:cNvPr>
          <p:cNvSpPr>
            <a:spLocks noChangeAspect="1" noChangeArrowheads="1"/>
          </p:cNvSpPr>
          <p:nvPr/>
        </p:nvSpPr>
        <p:spPr bwMode="gray">
          <a:xfrm>
            <a:off x="777499" y="5459140"/>
            <a:ext cx="6383614" cy="654499"/>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dirty="0">
                <a:cs typeface="B Lotus" panose="00000400000000000000" pitchFamily="2" charset="-78"/>
              </a:rPr>
              <a:t>روشی بهینه و سریع برای </a:t>
            </a:r>
            <a:r>
              <a:rPr lang="fa-IR" dirty="0" err="1">
                <a:cs typeface="B Lotus" panose="00000400000000000000" pitchFamily="2" charset="-78"/>
              </a:rPr>
              <a:t>همسان‌سازی</a:t>
            </a:r>
            <a:r>
              <a:rPr lang="fa-IR" dirty="0">
                <a:cs typeface="B Lotus" panose="00000400000000000000" pitchFamily="2" charset="-78"/>
              </a:rPr>
              <a:t> فعال پک باتری مستهلک با استفاده از مبدل ولتاژ</a:t>
            </a:r>
            <a:br>
              <a:rPr lang="en-US" dirty="0">
                <a:cs typeface="B Lotus" panose="00000400000000000000" pitchFamily="2" charset="-78"/>
              </a:rPr>
            </a:br>
            <a:r>
              <a:rPr lang="fa-IR" dirty="0">
                <a:cs typeface="B Lotus" panose="00000400000000000000" pitchFamily="2" charset="-78"/>
              </a:rPr>
              <a:t> دوطرفه با دامنه ولتاژ کاری وسیع و </a:t>
            </a:r>
            <a:r>
              <a:rPr lang="fa-IR" dirty="0" err="1">
                <a:cs typeface="B Lotus" panose="00000400000000000000" pitchFamily="2" charset="-78"/>
              </a:rPr>
              <a:t>الگوریتم</a:t>
            </a:r>
            <a:r>
              <a:rPr lang="fa-IR" dirty="0">
                <a:cs typeface="B Lotus" panose="00000400000000000000" pitchFamily="2" charset="-78"/>
              </a:rPr>
              <a:t> </a:t>
            </a:r>
            <a:r>
              <a:rPr lang="fa-IR" dirty="0" err="1">
                <a:cs typeface="B Lotus" panose="00000400000000000000" pitchFamily="2" charset="-78"/>
              </a:rPr>
              <a:t>خوشه‌بندی</a:t>
            </a:r>
            <a:r>
              <a:rPr lang="fa-IR" dirty="0">
                <a:cs typeface="B Lotus" panose="00000400000000000000" pitchFamily="2" charset="-78"/>
              </a:rPr>
              <a:t> </a:t>
            </a:r>
            <a:r>
              <a:rPr lang="en-US" i="1" dirty="0">
                <a:latin typeface="Times New Roman" panose="02020603050405020304" pitchFamily="18" charset="0"/>
                <a:cs typeface="Times New Roman" panose="02020603050405020304" pitchFamily="18" charset="0"/>
              </a:rPr>
              <a:t>DBSCAN</a:t>
            </a:r>
            <a:endParaRPr lang="en-US" dirty="0">
              <a:latin typeface="Times New Roman" panose="02020603050405020304" pitchFamily="18" charset="0"/>
              <a:cs typeface="Times New Roman" panose="02020603050405020304" pitchFamily="18" charset="0"/>
            </a:endParaRPr>
          </a:p>
        </p:txBody>
      </p:sp>
      <p:grpSp>
        <p:nvGrpSpPr>
          <p:cNvPr id="59" name="Group 23">
            <a:extLst>
              <a:ext uri="{FF2B5EF4-FFF2-40B4-BE49-F238E27FC236}">
                <a16:creationId xmlns:a16="http://schemas.microsoft.com/office/drawing/2014/main" id="{480CFC9E-AE3C-48F6-BC4D-4934E415B67E}"/>
              </a:ext>
            </a:extLst>
          </p:cNvPr>
          <p:cNvGrpSpPr>
            <a:grpSpLocks noChangeAspect="1"/>
          </p:cNvGrpSpPr>
          <p:nvPr/>
        </p:nvGrpSpPr>
        <p:grpSpPr bwMode="auto">
          <a:xfrm>
            <a:off x="6629139" y="4057157"/>
            <a:ext cx="381000" cy="381000"/>
            <a:chOff x="2078" y="1680"/>
            <a:chExt cx="1615" cy="1615"/>
          </a:xfrm>
        </p:grpSpPr>
        <p:sp>
          <p:nvSpPr>
            <p:cNvPr id="60" name="Oval 24">
              <a:extLst>
                <a:ext uri="{FF2B5EF4-FFF2-40B4-BE49-F238E27FC236}">
                  <a16:creationId xmlns:a16="http://schemas.microsoft.com/office/drawing/2014/main" id="{CACFC30A-9877-4806-9B4C-587ACE150345}"/>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61" name="Oval 25">
              <a:extLst>
                <a:ext uri="{FF2B5EF4-FFF2-40B4-BE49-F238E27FC236}">
                  <a16:creationId xmlns:a16="http://schemas.microsoft.com/office/drawing/2014/main" id="{640C1602-143A-456B-BA22-7664A3DEFFCF}"/>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62" name="Oval 26">
              <a:extLst>
                <a:ext uri="{FF2B5EF4-FFF2-40B4-BE49-F238E27FC236}">
                  <a16:creationId xmlns:a16="http://schemas.microsoft.com/office/drawing/2014/main" id="{53792F8F-0D9C-4345-A703-F034640FA7A7}"/>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63" name="Oval 27">
              <a:extLst>
                <a:ext uri="{FF2B5EF4-FFF2-40B4-BE49-F238E27FC236}">
                  <a16:creationId xmlns:a16="http://schemas.microsoft.com/office/drawing/2014/main" id="{B29790E8-4F4B-4579-8A6B-FE3F9B0CAEF2}"/>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64" name="Oval 28">
              <a:extLst>
                <a:ext uri="{FF2B5EF4-FFF2-40B4-BE49-F238E27FC236}">
                  <a16:creationId xmlns:a16="http://schemas.microsoft.com/office/drawing/2014/main" id="{358C33BB-071D-4F24-839E-CC9C393EF0D8}"/>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65" name="Oval 29">
              <a:extLst>
                <a:ext uri="{FF2B5EF4-FFF2-40B4-BE49-F238E27FC236}">
                  <a16:creationId xmlns:a16="http://schemas.microsoft.com/office/drawing/2014/main" id="{4E06C84A-1EFC-44EA-B29A-11ED722DE85A}"/>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grpSp>
        <p:nvGrpSpPr>
          <p:cNvPr id="66" name="Group 23">
            <a:extLst>
              <a:ext uri="{FF2B5EF4-FFF2-40B4-BE49-F238E27FC236}">
                <a16:creationId xmlns:a16="http://schemas.microsoft.com/office/drawing/2014/main" id="{DBD88F74-281E-49A6-BC26-B30CBBAE64C9}"/>
              </a:ext>
            </a:extLst>
          </p:cNvPr>
          <p:cNvGrpSpPr>
            <a:grpSpLocks noChangeAspect="1"/>
          </p:cNvGrpSpPr>
          <p:nvPr/>
        </p:nvGrpSpPr>
        <p:grpSpPr bwMode="auto">
          <a:xfrm>
            <a:off x="7066156" y="5621597"/>
            <a:ext cx="381000" cy="381000"/>
            <a:chOff x="2078" y="1680"/>
            <a:chExt cx="1615" cy="1615"/>
          </a:xfrm>
        </p:grpSpPr>
        <p:sp>
          <p:nvSpPr>
            <p:cNvPr id="67" name="Oval 24">
              <a:extLst>
                <a:ext uri="{FF2B5EF4-FFF2-40B4-BE49-F238E27FC236}">
                  <a16:creationId xmlns:a16="http://schemas.microsoft.com/office/drawing/2014/main" id="{8B6A68AB-47EE-4BEB-9563-FC726BE4E43A}"/>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68" name="Oval 25">
              <a:extLst>
                <a:ext uri="{FF2B5EF4-FFF2-40B4-BE49-F238E27FC236}">
                  <a16:creationId xmlns:a16="http://schemas.microsoft.com/office/drawing/2014/main" id="{004826CD-E5CF-47B8-BD5C-D81E5D353CD7}"/>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69" name="Oval 26">
              <a:extLst>
                <a:ext uri="{FF2B5EF4-FFF2-40B4-BE49-F238E27FC236}">
                  <a16:creationId xmlns:a16="http://schemas.microsoft.com/office/drawing/2014/main" id="{3B71C91A-95B1-48A6-8F6E-2BCE30BA5067}"/>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70" name="Oval 27">
              <a:extLst>
                <a:ext uri="{FF2B5EF4-FFF2-40B4-BE49-F238E27FC236}">
                  <a16:creationId xmlns:a16="http://schemas.microsoft.com/office/drawing/2014/main" id="{4B68C4BF-098A-4123-BB53-98CECA7F4A81}"/>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71" name="Oval 28">
              <a:extLst>
                <a:ext uri="{FF2B5EF4-FFF2-40B4-BE49-F238E27FC236}">
                  <a16:creationId xmlns:a16="http://schemas.microsoft.com/office/drawing/2014/main" id="{3C5FE447-2DEF-4C03-AA66-D8D7E4B6E8E3}"/>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72" name="Oval 29">
              <a:extLst>
                <a:ext uri="{FF2B5EF4-FFF2-40B4-BE49-F238E27FC236}">
                  <a16:creationId xmlns:a16="http://schemas.microsoft.com/office/drawing/2014/main" id="{A8ADD6E4-DB30-4BEC-98B9-1D2EAA799DA1}"/>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43"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11</a:t>
            </a:fld>
            <a:endParaRPr lang="fa-IR" sz="1800" dirty="0">
              <a:solidFill>
                <a:schemeClr val="tx1"/>
              </a:solidFill>
              <a:cs typeface="B Lotus" panose="00000400000000000000" pitchFamily="2" charset="-78"/>
            </a:endParaRPr>
          </a:p>
        </p:txBody>
      </p:sp>
      <p:pic>
        <p:nvPicPr>
          <p:cNvPr id="107" name="Picture 106" descr="پرونده:Azad University logo.png - ویکی‌پدیا، دانشنامهٔ آزاد">
            <a:extLst>
              <a:ext uri="{FF2B5EF4-FFF2-40B4-BE49-F238E27FC236}">
                <a16:creationId xmlns:a16="http://schemas.microsoft.com/office/drawing/2014/main" id="{1A9FEE44-0F48-48EE-A201-613E74B88238}"/>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108" name="AutoShape 10">
            <a:extLst>
              <a:ext uri="{FF2B5EF4-FFF2-40B4-BE49-F238E27FC236}">
                <a16:creationId xmlns:a16="http://schemas.microsoft.com/office/drawing/2014/main" id="{F6266893-797F-40B9-B7F1-28B13A3984C3}"/>
              </a:ext>
            </a:extLst>
          </p:cNvPr>
          <p:cNvSpPr>
            <a:spLocks noChangeArrowheads="1"/>
          </p:cNvSpPr>
          <p:nvPr/>
        </p:nvSpPr>
        <p:spPr bwMode="gray">
          <a:xfrm flipH="1">
            <a:off x="6246677" y="59426"/>
            <a:ext cx="2057400"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109" name="AutoShape 3">
            <a:extLst>
              <a:ext uri="{FF2B5EF4-FFF2-40B4-BE49-F238E27FC236}">
                <a16:creationId xmlns:a16="http://schemas.microsoft.com/office/drawing/2014/main" id="{3450B81F-1BA9-4F41-945E-CF31FD6A1BE2}"/>
              </a:ext>
            </a:extLst>
          </p:cNvPr>
          <p:cNvSpPr>
            <a:spLocks noChangeArrowheads="1"/>
          </p:cNvSpPr>
          <p:nvPr/>
        </p:nvSpPr>
        <p:spPr bwMode="gray">
          <a:xfrm flipH="1">
            <a:off x="4188613" y="57140"/>
            <a:ext cx="2056086" cy="651510"/>
          </a:xfrm>
          <a:prstGeom prst="chevron">
            <a:avLst>
              <a:gd name="adj" fmla="val 17009"/>
            </a:avLst>
          </a:prstGeom>
          <a:solidFill>
            <a:srgbClr val="2842AE"/>
          </a:soli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dirty="0">
              <a:ln>
                <a:noFill/>
              </a:ln>
              <a:solidFill>
                <a:srgbClr val="3D81BF"/>
              </a:solidFill>
              <a:effectLst/>
              <a:uLnTx/>
              <a:uFillTx/>
            </a:endParaRPr>
          </a:p>
        </p:txBody>
      </p:sp>
      <p:sp>
        <p:nvSpPr>
          <p:cNvPr id="110" name="AutoShape 3">
            <a:extLst>
              <a:ext uri="{FF2B5EF4-FFF2-40B4-BE49-F238E27FC236}">
                <a16:creationId xmlns:a16="http://schemas.microsoft.com/office/drawing/2014/main" id="{278C3753-7E5F-4A07-84E8-FA915CB0CE87}"/>
              </a:ext>
            </a:extLst>
          </p:cNvPr>
          <p:cNvSpPr>
            <a:spLocks noChangeArrowheads="1"/>
          </p:cNvSpPr>
          <p:nvPr/>
        </p:nvSpPr>
        <p:spPr bwMode="gray">
          <a:xfrm flipH="1">
            <a:off x="2588411" y="57141"/>
            <a:ext cx="1600202"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111" name="AutoShape 3">
            <a:extLst>
              <a:ext uri="{FF2B5EF4-FFF2-40B4-BE49-F238E27FC236}">
                <a16:creationId xmlns:a16="http://schemas.microsoft.com/office/drawing/2014/main" id="{B202AEB4-F766-4F6D-9D49-804AECBBBB79}"/>
              </a:ext>
            </a:extLst>
          </p:cNvPr>
          <p:cNvSpPr>
            <a:spLocks noChangeArrowheads="1"/>
          </p:cNvSpPr>
          <p:nvPr/>
        </p:nvSpPr>
        <p:spPr bwMode="gray">
          <a:xfrm flipH="1">
            <a:off x="161661" y="57140"/>
            <a:ext cx="2426749"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112" name="Rectangle 111">
            <a:extLst>
              <a:ext uri="{FF2B5EF4-FFF2-40B4-BE49-F238E27FC236}">
                <a16:creationId xmlns:a16="http://schemas.microsoft.com/office/drawing/2014/main" id="{89552ECA-1CA1-40F1-A87E-809897E322A0}"/>
              </a:ext>
            </a:extLst>
          </p:cNvPr>
          <p:cNvSpPr/>
          <p:nvPr/>
        </p:nvSpPr>
        <p:spPr>
          <a:xfrm>
            <a:off x="403231" y="91457"/>
            <a:ext cx="2056085"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طراحی و پیاده سازی همسان ساز پیشنهادی</a:t>
            </a:r>
          </a:p>
        </p:txBody>
      </p:sp>
      <p:sp>
        <p:nvSpPr>
          <p:cNvPr id="113" name="Rectangle 112">
            <a:extLst>
              <a:ext uri="{FF2B5EF4-FFF2-40B4-BE49-F238E27FC236}">
                <a16:creationId xmlns:a16="http://schemas.microsoft.com/office/drawing/2014/main" id="{2A9B9FDD-FEF5-46D3-8995-5604A1B4B80E}"/>
              </a:ext>
            </a:extLst>
          </p:cNvPr>
          <p:cNvSpPr/>
          <p:nvPr/>
        </p:nvSpPr>
        <p:spPr>
          <a:xfrm>
            <a:off x="2636749" y="78259"/>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پیشنهادی</a:t>
            </a:r>
          </a:p>
        </p:txBody>
      </p:sp>
      <p:sp>
        <p:nvSpPr>
          <p:cNvPr id="114" name="Rectangle 113">
            <a:extLst>
              <a:ext uri="{FF2B5EF4-FFF2-40B4-BE49-F238E27FC236}">
                <a16:creationId xmlns:a16="http://schemas.microsoft.com/office/drawing/2014/main" id="{4756B784-8B4C-449F-AE9D-2B6BBC518073}"/>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باتری</a:t>
            </a:r>
          </a:p>
        </p:txBody>
      </p:sp>
      <p:sp>
        <p:nvSpPr>
          <p:cNvPr id="115" name="Rectangle 114">
            <a:extLst>
              <a:ext uri="{FF2B5EF4-FFF2-40B4-BE49-F238E27FC236}">
                <a16:creationId xmlns:a16="http://schemas.microsoft.com/office/drawing/2014/main" id="{E9011965-C922-40BF-B928-2A7E03BC5CDA}"/>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a:solidFill>
                  <a:srgbClr val="FFFFFF"/>
                </a:solidFill>
                <a:latin typeface="Times New Roman" panose="02020603050405020304" pitchFamily="18" charset="0"/>
                <a:cs typeface="B Nazanin" pitchFamily="2" charset="-78"/>
              </a:rPr>
              <a:t>باتری ها</a:t>
            </a:r>
            <a:endParaRPr lang="en-US" sz="1500" b="1" kern="0" dirty="0">
              <a:solidFill>
                <a:srgbClr val="FFFFFF"/>
              </a:solidFill>
              <a:latin typeface="Times New Roman" panose="02020603050405020304" pitchFamily="18" charset="0"/>
              <a:cs typeface="B Nazanin" pitchFamily="2" charset="-78"/>
            </a:endParaRPr>
          </a:p>
        </p:txBody>
      </p:sp>
      <p:sp>
        <p:nvSpPr>
          <p:cNvPr id="116" name="Rounded Rectangle 175">
            <a:extLst>
              <a:ext uri="{FF2B5EF4-FFF2-40B4-BE49-F238E27FC236}">
                <a16:creationId xmlns:a16="http://schemas.microsoft.com/office/drawing/2014/main" id="{5ED324C1-9E82-4B7C-8E12-63B5A59FFFC0}"/>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همسان سازی باتری</a:t>
            </a:r>
          </a:p>
        </p:txBody>
      </p:sp>
      <p:sp>
        <p:nvSpPr>
          <p:cNvPr id="117" name="TextBox 116">
            <a:extLst>
              <a:ext uri="{FF2B5EF4-FFF2-40B4-BE49-F238E27FC236}">
                <a16:creationId xmlns:a16="http://schemas.microsoft.com/office/drawing/2014/main" id="{F43469DC-7F5B-471E-BD74-ED709E621F63}"/>
              </a:ext>
            </a:extLst>
          </p:cNvPr>
          <p:cNvSpPr txBox="1"/>
          <p:nvPr/>
        </p:nvSpPr>
        <p:spPr>
          <a:xfrm>
            <a:off x="7055055" y="1726687"/>
            <a:ext cx="1837362" cy="369332"/>
          </a:xfrm>
          <a:prstGeom prst="rect">
            <a:avLst/>
          </a:prstGeom>
          <a:noFill/>
        </p:spPr>
        <p:txBody>
          <a:bodyPr wrap="none" rtlCol="0">
            <a:spAutoFit/>
          </a:bodyPr>
          <a:lstStyle/>
          <a:p>
            <a:pPr algn="r" rtl="1"/>
            <a:r>
              <a:rPr lang="fa-IR" b="1" dirty="0">
                <a:cs typeface="B Nazanin" panose="00000400000000000000" pitchFamily="2" charset="-78"/>
              </a:rPr>
              <a:t>انتقال سلول به سلول</a:t>
            </a:r>
          </a:p>
        </p:txBody>
      </p:sp>
    </p:spTree>
    <p:extLst>
      <p:ext uri="{BB962C8B-B14F-4D97-AF65-F5344CB8AC3E}">
        <p14:creationId xmlns:p14="http://schemas.microsoft.com/office/powerpoint/2010/main" val="78431786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TextBox 51"/>
          <p:cNvSpPr txBox="1"/>
          <p:nvPr/>
        </p:nvSpPr>
        <p:spPr>
          <a:xfrm>
            <a:off x="486680" y="4496953"/>
            <a:ext cx="1962396" cy="307777"/>
          </a:xfrm>
          <a:prstGeom prst="rect">
            <a:avLst/>
          </a:prstGeom>
          <a:noFill/>
        </p:spPr>
        <p:txBody>
          <a:bodyPr wrap="none" rtlCol="0">
            <a:spAutoFit/>
          </a:bodyPr>
          <a:lstStyle/>
          <a:p>
            <a:pPr algn="ctr" rtl="1"/>
            <a:r>
              <a:rPr lang="fa-IR" sz="1400" dirty="0">
                <a:latin typeface="Times New Roman" panose="02020603050405020304" pitchFamily="18" charset="0"/>
                <a:cs typeface="B Lotus" panose="00000400000000000000" pitchFamily="2" charset="-78"/>
              </a:rPr>
              <a:t>توپولوژی سلول به سلول مستقیم</a:t>
            </a:r>
          </a:p>
        </p:txBody>
      </p:sp>
      <p:pic>
        <p:nvPicPr>
          <p:cNvPr id="18" name="Picture 17"/>
          <p:cNvPicPr/>
          <p:nvPr/>
        </p:nvPicPr>
        <p:blipFill>
          <a:blip r:embed="rId3" cstate="print">
            <a:extLst>
              <a:ext uri="{28A0092B-C50C-407E-A947-70E740481C1C}">
                <a14:useLocalDpi xmlns:a14="http://schemas.microsoft.com/office/drawing/2010/main" val="0"/>
              </a:ext>
            </a:extLst>
          </a:blip>
          <a:stretch>
            <a:fillRect/>
          </a:stretch>
        </p:blipFill>
        <p:spPr bwMode="auto">
          <a:xfrm>
            <a:off x="242586" y="2714641"/>
            <a:ext cx="2206490" cy="1428979"/>
          </a:xfrm>
          <a:prstGeom prst="rect">
            <a:avLst/>
          </a:prstGeom>
          <a:noFill/>
          <a:ln>
            <a:noFill/>
          </a:ln>
        </p:spPr>
      </p:pic>
      <p:sp>
        <p:nvSpPr>
          <p:cNvPr id="19" name="TextBox 18"/>
          <p:cNvSpPr txBox="1"/>
          <p:nvPr/>
        </p:nvSpPr>
        <p:spPr>
          <a:xfrm>
            <a:off x="2964074" y="3011266"/>
            <a:ext cx="461986" cy="707886"/>
          </a:xfrm>
          <a:prstGeom prst="rect">
            <a:avLst/>
          </a:prstGeom>
          <a:noFill/>
        </p:spPr>
        <p:txBody>
          <a:bodyPr wrap="none" rtlCol="0">
            <a:spAutoFit/>
          </a:bodyPr>
          <a:lstStyle/>
          <a:p>
            <a:pPr algn="ctr" rtl="1"/>
            <a:r>
              <a:rPr lang="fa-IR" sz="4000" dirty="0">
                <a:latin typeface="Times New Roman" panose="02020603050405020304" pitchFamily="18" charset="0"/>
                <a:cs typeface="B Nasim" panose="00000700000000000000" pitchFamily="2" charset="-78"/>
              </a:rPr>
              <a:t>+</a:t>
            </a:r>
          </a:p>
        </p:txBody>
      </p:sp>
      <p:grpSp>
        <p:nvGrpSpPr>
          <p:cNvPr id="11" name="Group 10"/>
          <p:cNvGrpSpPr/>
          <p:nvPr/>
        </p:nvGrpSpPr>
        <p:grpSpPr>
          <a:xfrm>
            <a:off x="3941058" y="2708408"/>
            <a:ext cx="1977889" cy="1631758"/>
            <a:chOff x="3352800" y="2129958"/>
            <a:chExt cx="2469779" cy="1962379"/>
          </a:xfrm>
        </p:grpSpPr>
        <p:pic>
          <p:nvPicPr>
            <p:cNvPr id="3" name="Picture 2"/>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612509" y="2129958"/>
              <a:ext cx="1970413" cy="1962379"/>
            </a:xfrm>
            <a:prstGeom prst="rect">
              <a:avLst/>
            </a:prstGeom>
          </p:spPr>
        </p:pic>
        <p:pic>
          <p:nvPicPr>
            <p:cNvPr id="6" name="Picture 5"/>
            <p:cNvPicPr>
              <a:picLocks noChangeAspect="1"/>
            </p:cNvPicPr>
            <p:nvPr/>
          </p:nvPicPr>
          <p:blipFill>
            <a:blip r:embed="rId5"/>
            <a:stretch>
              <a:fillRect/>
            </a:stretch>
          </p:blipFill>
          <p:spPr>
            <a:xfrm>
              <a:off x="3352800" y="2711192"/>
              <a:ext cx="691014" cy="521361"/>
            </a:xfrm>
            <a:prstGeom prst="rect">
              <a:avLst/>
            </a:prstGeom>
          </p:spPr>
        </p:pic>
        <p:pic>
          <p:nvPicPr>
            <p:cNvPr id="9" name="Picture 8"/>
            <p:cNvPicPr>
              <a:picLocks noChangeAspect="1"/>
            </p:cNvPicPr>
            <p:nvPr/>
          </p:nvPicPr>
          <p:blipFill>
            <a:blip r:embed="rId6"/>
            <a:stretch>
              <a:fillRect/>
            </a:stretch>
          </p:blipFill>
          <p:spPr>
            <a:xfrm>
              <a:off x="5029200" y="3217313"/>
              <a:ext cx="793379" cy="368852"/>
            </a:xfrm>
            <a:prstGeom prst="rect">
              <a:avLst/>
            </a:prstGeom>
          </p:spPr>
        </p:pic>
      </p:grpSp>
      <p:sp>
        <p:nvSpPr>
          <p:cNvPr id="28" name="TextBox 27"/>
          <p:cNvSpPr txBox="1"/>
          <p:nvPr/>
        </p:nvSpPr>
        <p:spPr>
          <a:xfrm>
            <a:off x="3769419" y="4506152"/>
            <a:ext cx="2272812" cy="738664"/>
          </a:xfrm>
          <a:prstGeom prst="rect">
            <a:avLst/>
          </a:prstGeom>
          <a:noFill/>
        </p:spPr>
        <p:txBody>
          <a:bodyPr wrap="square" rtlCol="0">
            <a:spAutoFit/>
          </a:bodyPr>
          <a:lstStyle/>
          <a:p>
            <a:pPr algn="ctr" rtl="1"/>
            <a:r>
              <a:rPr lang="fa-IR" sz="1400" dirty="0">
                <a:latin typeface="Times New Roman" panose="02020603050405020304" pitchFamily="18" charset="0"/>
                <a:cs typeface="B Lotus" panose="00000400000000000000" pitchFamily="2" charset="-78"/>
              </a:rPr>
              <a:t>الگوریتم </a:t>
            </a:r>
            <a:r>
              <a:rPr lang="en-US" sz="1400" dirty="0">
                <a:latin typeface="Times New Roman" panose="02020603050405020304" pitchFamily="18" charset="0"/>
                <a:cs typeface="B Lotus" panose="00000400000000000000" pitchFamily="2" charset="-78"/>
              </a:rPr>
              <a:t>GA</a:t>
            </a:r>
            <a:r>
              <a:rPr lang="fa-IR" sz="1400" dirty="0">
                <a:latin typeface="Times New Roman" panose="02020603050405020304" pitchFamily="18" charset="0"/>
                <a:cs typeface="B Lotus" panose="00000400000000000000" pitchFamily="2" charset="-78"/>
              </a:rPr>
              <a:t> و </a:t>
            </a:r>
            <a:r>
              <a:rPr lang="en-US" sz="1400" dirty="0">
                <a:latin typeface="Times New Roman" panose="02020603050405020304" pitchFamily="18" charset="0"/>
                <a:cs typeface="B Lotus" panose="00000400000000000000" pitchFamily="2" charset="-78"/>
              </a:rPr>
              <a:t>K-means</a:t>
            </a:r>
            <a:r>
              <a:rPr lang="fa-IR" sz="1400" dirty="0">
                <a:latin typeface="Times New Roman" panose="02020603050405020304" pitchFamily="18" charset="0"/>
                <a:cs typeface="B Lotus" panose="00000400000000000000" pitchFamily="2" charset="-78"/>
              </a:rPr>
              <a:t> بمنظور یافتن حد وسط زمان سازی و میزان همسان سازی</a:t>
            </a:r>
            <a:endParaRPr lang="en-US" sz="1400" dirty="0">
              <a:latin typeface="Times New Roman" panose="02020603050405020304" pitchFamily="18" charset="0"/>
              <a:cs typeface="B Lotus" panose="00000400000000000000" pitchFamily="2" charset="-78"/>
            </a:endParaRPr>
          </a:p>
        </p:txBody>
      </p:sp>
      <p:grpSp>
        <p:nvGrpSpPr>
          <p:cNvPr id="25" name="Group 24"/>
          <p:cNvGrpSpPr/>
          <p:nvPr/>
        </p:nvGrpSpPr>
        <p:grpSpPr>
          <a:xfrm>
            <a:off x="7410928" y="3007766"/>
            <a:ext cx="1057224" cy="1198909"/>
            <a:chOff x="7554537" y="3065788"/>
            <a:chExt cx="1057224" cy="1198909"/>
          </a:xfrm>
        </p:grpSpPr>
        <p:pic>
          <p:nvPicPr>
            <p:cNvPr id="21" name="Picture 20"/>
            <p:cNvPicPr>
              <a:picLocks noChangeAspect="1"/>
            </p:cNvPicPr>
            <p:nvPr/>
          </p:nvPicPr>
          <p:blipFill>
            <a:blip r:embed="rId7"/>
            <a:stretch>
              <a:fillRect/>
            </a:stretch>
          </p:blipFill>
          <p:spPr>
            <a:xfrm>
              <a:off x="7554537" y="3194958"/>
              <a:ext cx="247650" cy="250160"/>
            </a:xfrm>
            <a:prstGeom prst="rect">
              <a:avLst/>
            </a:prstGeom>
          </p:spPr>
        </p:pic>
        <p:pic>
          <p:nvPicPr>
            <p:cNvPr id="22" name="Picture 21"/>
            <p:cNvPicPr>
              <a:picLocks noChangeAspect="1"/>
            </p:cNvPicPr>
            <p:nvPr/>
          </p:nvPicPr>
          <p:blipFill>
            <a:blip r:embed="rId8"/>
            <a:stretch>
              <a:fillRect/>
            </a:stretch>
          </p:blipFill>
          <p:spPr>
            <a:xfrm>
              <a:off x="7999857" y="3065788"/>
              <a:ext cx="610743" cy="586411"/>
            </a:xfrm>
            <a:prstGeom prst="rect">
              <a:avLst/>
            </a:prstGeom>
          </p:spPr>
        </p:pic>
        <p:pic>
          <p:nvPicPr>
            <p:cNvPr id="24" name="Picture 23"/>
            <p:cNvPicPr>
              <a:picLocks noChangeAspect="1"/>
            </p:cNvPicPr>
            <p:nvPr/>
          </p:nvPicPr>
          <p:blipFill>
            <a:blip r:embed="rId9"/>
            <a:stretch>
              <a:fillRect/>
            </a:stretch>
          </p:blipFill>
          <p:spPr>
            <a:xfrm>
              <a:off x="7999857" y="3783397"/>
              <a:ext cx="611904" cy="481300"/>
            </a:xfrm>
            <a:prstGeom prst="rect">
              <a:avLst/>
            </a:prstGeom>
          </p:spPr>
        </p:pic>
        <p:pic>
          <p:nvPicPr>
            <p:cNvPr id="38" name="Picture 37"/>
            <p:cNvPicPr>
              <a:picLocks noChangeAspect="1"/>
            </p:cNvPicPr>
            <p:nvPr/>
          </p:nvPicPr>
          <p:blipFill>
            <a:blip r:embed="rId7"/>
            <a:stretch>
              <a:fillRect/>
            </a:stretch>
          </p:blipFill>
          <p:spPr>
            <a:xfrm>
              <a:off x="7560281" y="3895149"/>
              <a:ext cx="247650" cy="250160"/>
            </a:xfrm>
            <a:prstGeom prst="rect">
              <a:avLst/>
            </a:prstGeom>
          </p:spPr>
        </p:pic>
      </p:grpSp>
      <p:sp>
        <p:nvSpPr>
          <p:cNvPr id="39" name="TextBox 38"/>
          <p:cNvSpPr txBox="1"/>
          <p:nvPr/>
        </p:nvSpPr>
        <p:spPr>
          <a:xfrm>
            <a:off x="6433945" y="3011266"/>
            <a:ext cx="461986" cy="707886"/>
          </a:xfrm>
          <a:prstGeom prst="rect">
            <a:avLst/>
          </a:prstGeom>
          <a:noFill/>
        </p:spPr>
        <p:txBody>
          <a:bodyPr wrap="none" rtlCol="0">
            <a:spAutoFit/>
          </a:bodyPr>
          <a:lstStyle/>
          <a:p>
            <a:pPr algn="ctr" rtl="1"/>
            <a:r>
              <a:rPr lang="fa-IR" sz="4000" dirty="0">
                <a:latin typeface="Times New Roman" panose="02020603050405020304" pitchFamily="18" charset="0"/>
                <a:cs typeface="B Nasim" panose="00000700000000000000" pitchFamily="2" charset="-78"/>
              </a:rPr>
              <a:t>+</a:t>
            </a:r>
          </a:p>
        </p:txBody>
      </p:sp>
      <p:sp>
        <p:nvSpPr>
          <p:cNvPr id="41" name="TextBox 40"/>
          <p:cNvSpPr txBox="1"/>
          <p:nvPr/>
        </p:nvSpPr>
        <p:spPr>
          <a:xfrm>
            <a:off x="6871188" y="4405850"/>
            <a:ext cx="2272812" cy="307777"/>
          </a:xfrm>
          <a:prstGeom prst="rect">
            <a:avLst/>
          </a:prstGeom>
          <a:noFill/>
        </p:spPr>
        <p:txBody>
          <a:bodyPr wrap="square" rtlCol="0">
            <a:spAutoFit/>
          </a:bodyPr>
          <a:lstStyle/>
          <a:p>
            <a:pPr algn="ctr" rtl="1"/>
            <a:r>
              <a:rPr lang="fa-IR" sz="1400" dirty="0">
                <a:latin typeface="Times New Roman" panose="02020603050405020304" pitchFamily="18" charset="0"/>
                <a:cs typeface="B Lotus" panose="00000400000000000000" pitchFamily="2" charset="-78"/>
              </a:rPr>
              <a:t>شبیه سازی و پیاده سازی عملی</a:t>
            </a:r>
            <a:endParaRPr lang="en-US" sz="1400" dirty="0">
              <a:latin typeface="Times New Roman" panose="02020603050405020304" pitchFamily="18" charset="0"/>
              <a:cs typeface="B Lotus" panose="00000400000000000000" pitchFamily="2" charset="-78"/>
            </a:endParaRPr>
          </a:p>
        </p:txBody>
      </p:sp>
      <p:sp>
        <p:nvSpPr>
          <p:cNvPr id="70" name="TextBox 69">
            <a:extLst>
              <a:ext uri="{FF2B5EF4-FFF2-40B4-BE49-F238E27FC236}">
                <a16:creationId xmlns:a16="http://schemas.microsoft.com/office/drawing/2014/main" id="{F43469DC-7F5B-471E-BD74-ED709E621F63}"/>
              </a:ext>
            </a:extLst>
          </p:cNvPr>
          <p:cNvSpPr txBox="1"/>
          <p:nvPr/>
        </p:nvSpPr>
        <p:spPr>
          <a:xfrm>
            <a:off x="-900706" y="941383"/>
            <a:ext cx="7315201" cy="307777"/>
          </a:xfrm>
          <a:prstGeom prst="rect">
            <a:avLst/>
          </a:prstGeom>
          <a:noFill/>
        </p:spPr>
        <p:txBody>
          <a:bodyPr wrap="square" rtlCol="0">
            <a:spAutoFit/>
          </a:bodyPr>
          <a:lstStyle/>
          <a:p>
            <a:pPr algn="r" rtl="1" fontAlgn="base">
              <a:spcBef>
                <a:spcPct val="0"/>
              </a:spcBef>
              <a:spcAft>
                <a:spcPct val="0"/>
              </a:spcAft>
            </a:pPr>
            <a:r>
              <a:rPr lang="fa-IR" sz="1400" dirty="0">
                <a:cs typeface="B Lotus" panose="00000400000000000000" pitchFamily="2" charset="-78"/>
              </a:rPr>
              <a:t>روشی نو برای همسان‌سازی باتری پک با اتصال سری بر مبنای تجزیه و تحلیل خوشه‌بندی همراه با الگوریتم ژنتیک</a:t>
            </a:r>
            <a:endParaRPr lang="en-US" sz="1400" dirty="0">
              <a:cs typeface="B Lotus" panose="00000400000000000000" pitchFamily="2" charset="-78"/>
            </a:endParaRPr>
          </a:p>
        </p:txBody>
      </p:sp>
      <p:sp>
        <p:nvSpPr>
          <p:cNvPr id="29"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12</a:t>
            </a:fld>
            <a:endParaRPr lang="fa-IR" sz="1800" dirty="0">
              <a:solidFill>
                <a:schemeClr val="tx1"/>
              </a:solidFill>
              <a:cs typeface="B Lotus" panose="00000400000000000000" pitchFamily="2" charset="-78"/>
            </a:endParaRPr>
          </a:p>
        </p:txBody>
      </p:sp>
      <p:pic>
        <p:nvPicPr>
          <p:cNvPr id="30" name="Picture 29" descr="پرونده:Azad University logo.png - ویکی‌پدیا، دانشنامهٔ آزاد">
            <a:extLst>
              <a:ext uri="{FF2B5EF4-FFF2-40B4-BE49-F238E27FC236}">
                <a16:creationId xmlns:a16="http://schemas.microsoft.com/office/drawing/2014/main" id="{1A9FEE44-0F48-48EE-A201-613E74B88238}"/>
              </a:ext>
            </a:extLst>
          </p:cNvPr>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31" name="AutoShape 10">
            <a:extLst>
              <a:ext uri="{FF2B5EF4-FFF2-40B4-BE49-F238E27FC236}">
                <a16:creationId xmlns:a16="http://schemas.microsoft.com/office/drawing/2014/main" id="{F6266893-797F-40B9-B7F1-28B13A3984C3}"/>
              </a:ext>
            </a:extLst>
          </p:cNvPr>
          <p:cNvSpPr>
            <a:spLocks noChangeArrowheads="1"/>
          </p:cNvSpPr>
          <p:nvPr/>
        </p:nvSpPr>
        <p:spPr bwMode="gray">
          <a:xfrm flipH="1">
            <a:off x="6246677" y="59426"/>
            <a:ext cx="2057400"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32" name="AutoShape 3">
            <a:extLst>
              <a:ext uri="{FF2B5EF4-FFF2-40B4-BE49-F238E27FC236}">
                <a16:creationId xmlns:a16="http://schemas.microsoft.com/office/drawing/2014/main" id="{3450B81F-1BA9-4F41-945E-CF31FD6A1BE2}"/>
              </a:ext>
            </a:extLst>
          </p:cNvPr>
          <p:cNvSpPr>
            <a:spLocks noChangeArrowheads="1"/>
          </p:cNvSpPr>
          <p:nvPr/>
        </p:nvSpPr>
        <p:spPr bwMode="gray">
          <a:xfrm flipH="1">
            <a:off x="4188613" y="57140"/>
            <a:ext cx="2056086" cy="651510"/>
          </a:xfrm>
          <a:prstGeom prst="chevron">
            <a:avLst>
              <a:gd name="adj" fmla="val 17009"/>
            </a:avLst>
          </a:prstGeom>
          <a:solidFill>
            <a:srgbClr val="2842AE"/>
          </a:soli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dirty="0">
              <a:ln>
                <a:noFill/>
              </a:ln>
              <a:solidFill>
                <a:srgbClr val="3D81BF"/>
              </a:solidFill>
              <a:effectLst/>
              <a:uLnTx/>
              <a:uFillTx/>
            </a:endParaRPr>
          </a:p>
        </p:txBody>
      </p:sp>
      <p:sp>
        <p:nvSpPr>
          <p:cNvPr id="33" name="AutoShape 3">
            <a:extLst>
              <a:ext uri="{FF2B5EF4-FFF2-40B4-BE49-F238E27FC236}">
                <a16:creationId xmlns:a16="http://schemas.microsoft.com/office/drawing/2014/main" id="{278C3753-7E5F-4A07-84E8-FA915CB0CE87}"/>
              </a:ext>
            </a:extLst>
          </p:cNvPr>
          <p:cNvSpPr>
            <a:spLocks noChangeArrowheads="1"/>
          </p:cNvSpPr>
          <p:nvPr/>
        </p:nvSpPr>
        <p:spPr bwMode="gray">
          <a:xfrm flipH="1">
            <a:off x="2588411" y="57141"/>
            <a:ext cx="1600202"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4" name="AutoShape 3">
            <a:extLst>
              <a:ext uri="{FF2B5EF4-FFF2-40B4-BE49-F238E27FC236}">
                <a16:creationId xmlns:a16="http://schemas.microsoft.com/office/drawing/2014/main" id="{B202AEB4-F766-4F6D-9D49-804AECBBBB79}"/>
              </a:ext>
            </a:extLst>
          </p:cNvPr>
          <p:cNvSpPr>
            <a:spLocks noChangeArrowheads="1"/>
          </p:cNvSpPr>
          <p:nvPr/>
        </p:nvSpPr>
        <p:spPr bwMode="gray">
          <a:xfrm flipH="1">
            <a:off x="161661" y="57140"/>
            <a:ext cx="2426749"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5" name="Rectangle 34">
            <a:extLst>
              <a:ext uri="{FF2B5EF4-FFF2-40B4-BE49-F238E27FC236}">
                <a16:creationId xmlns:a16="http://schemas.microsoft.com/office/drawing/2014/main" id="{89552ECA-1CA1-40F1-A87E-809897E322A0}"/>
              </a:ext>
            </a:extLst>
          </p:cNvPr>
          <p:cNvSpPr/>
          <p:nvPr/>
        </p:nvSpPr>
        <p:spPr>
          <a:xfrm>
            <a:off x="403231" y="91457"/>
            <a:ext cx="2056085"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طراحی و پیاده سازی همسان ساز پیشنهادی</a:t>
            </a:r>
          </a:p>
        </p:txBody>
      </p:sp>
      <p:sp>
        <p:nvSpPr>
          <p:cNvPr id="36" name="Rectangle 35">
            <a:extLst>
              <a:ext uri="{FF2B5EF4-FFF2-40B4-BE49-F238E27FC236}">
                <a16:creationId xmlns:a16="http://schemas.microsoft.com/office/drawing/2014/main" id="{2A9B9FDD-FEF5-46D3-8995-5604A1B4B80E}"/>
              </a:ext>
            </a:extLst>
          </p:cNvPr>
          <p:cNvSpPr/>
          <p:nvPr/>
        </p:nvSpPr>
        <p:spPr>
          <a:xfrm>
            <a:off x="2636749" y="78259"/>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پیشنهادی</a:t>
            </a:r>
          </a:p>
        </p:txBody>
      </p:sp>
      <p:sp>
        <p:nvSpPr>
          <p:cNvPr id="37" name="Rectangle 36">
            <a:extLst>
              <a:ext uri="{FF2B5EF4-FFF2-40B4-BE49-F238E27FC236}">
                <a16:creationId xmlns:a16="http://schemas.microsoft.com/office/drawing/2014/main" id="{4756B784-8B4C-449F-AE9D-2B6BBC518073}"/>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باتری</a:t>
            </a:r>
          </a:p>
        </p:txBody>
      </p:sp>
      <p:sp>
        <p:nvSpPr>
          <p:cNvPr id="40" name="Rectangle 39">
            <a:extLst>
              <a:ext uri="{FF2B5EF4-FFF2-40B4-BE49-F238E27FC236}">
                <a16:creationId xmlns:a16="http://schemas.microsoft.com/office/drawing/2014/main" id="{E9011965-C922-40BF-B928-2A7E03BC5CDA}"/>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a:solidFill>
                  <a:srgbClr val="FFFFFF"/>
                </a:solidFill>
                <a:latin typeface="Times New Roman" panose="02020603050405020304" pitchFamily="18" charset="0"/>
                <a:cs typeface="B Nazanin" pitchFamily="2" charset="-78"/>
              </a:rPr>
              <a:t>باتری ها</a:t>
            </a:r>
            <a:endParaRPr lang="en-US" sz="1500" b="1" kern="0" dirty="0">
              <a:solidFill>
                <a:srgbClr val="FFFFFF"/>
              </a:solidFill>
              <a:latin typeface="Times New Roman" panose="02020603050405020304" pitchFamily="18" charset="0"/>
              <a:cs typeface="B Nazanin" pitchFamily="2" charset="-78"/>
            </a:endParaRPr>
          </a:p>
        </p:txBody>
      </p:sp>
      <p:sp>
        <p:nvSpPr>
          <p:cNvPr id="42" name="Rounded Rectangle 175">
            <a:extLst>
              <a:ext uri="{FF2B5EF4-FFF2-40B4-BE49-F238E27FC236}">
                <a16:creationId xmlns:a16="http://schemas.microsoft.com/office/drawing/2014/main" id="{5ED324C1-9E82-4B7C-8E12-63B5A59FFFC0}"/>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همسان سازی باتری</a:t>
            </a:r>
          </a:p>
        </p:txBody>
      </p:sp>
    </p:spTree>
    <p:extLst>
      <p:ext uri="{BB962C8B-B14F-4D97-AF65-F5344CB8AC3E}">
        <p14:creationId xmlns:p14="http://schemas.microsoft.com/office/powerpoint/2010/main" val="257219440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13</a:t>
            </a:fld>
            <a:endParaRPr lang="fa-IR" sz="1800" dirty="0">
              <a:solidFill>
                <a:schemeClr val="tx1"/>
              </a:solidFill>
              <a:cs typeface="B Lotus" panose="00000400000000000000" pitchFamily="2" charset="-78"/>
            </a:endParaRPr>
          </a:p>
        </p:txBody>
      </p:sp>
      <p:pic>
        <p:nvPicPr>
          <p:cNvPr id="4" name="Picture 3"/>
          <p:cNvPicPr>
            <a:picLocks noChangeAspect="1"/>
          </p:cNvPicPr>
          <p:nvPr/>
        </p:nvPicPr>
        <p:blipFill>
          <a:blip r:embed="rId3"/>
          <a:stretch>
            <a:fillRect/>
          </a:stretch>
        </p:blipFill>
        <p:spPr>
          <a:xfrm>
            <a:off x="85165" y="1830481"/>
            <a:ext cx="8906435" cy="4132315"/>
          </a:xfrm>
          <a:prstGeom prst="rect">
            <a:avLst/>
          </a:prstGeom>
        </p:spPr>
      </p:pic>
      <p:sp>
        <p:nvSpPr>
          <p:cNvPr id="37" name="TextBox 36"/>
          <p:cNvSpPr txBox="1"/>
          <p:nvPr/>
        </p:nvSpPr>
        <p:spPr>
          <a:xfrm>
            <a:off x="936768" y="5943746"/>
            <a:ext cx="7176965" cy="369332"/>
          </a:xfrm>
          <a:prstGeom prst="rect">
            <a:avLst/>
          </a:prstGeom>
          <a:noFill/>
        </p:spPr>
        <p:txBody>
          <a:bodyPr wrap="none" rtlCol="0">
            <a:spAutoFit/>
          </a:bodyPr>
          <a:lstStyle/>
          <a:p>
            <a:pPr algn="ctr" rtl="1"/>
            <a:r>
              <a:rPr lang="fa-IR" dirty="0">
                <a:latin typeface="Times New Roman" panose="02020603050405020304" pitchFamily="18" charset="0"/>
                <a:ea typeface="Calibri" panose="020F0502020204030204" pitchFamily="34" charset="0"/>
                <a:cs typeface="B Lotus" panose="00000400000000000000" pitchFamily="2" charset="-78"/>
              </a:rPr>
              <a:t>شکل 11</a:t>
            </a:r>
            <a:r>
              <a:rPr lang="fa-IR" dirty="0">
                <a:latin typeface="Times New Roman" panose="02020603050405020304" pitchFamily="18" charset="0"/>
                <a:cs typeface="B Lotus" panose="00000400000000000000" pitchFamily="2" charset="-78"/>
              </a:rPr>
              <a:t>فلوچارت الگوریتم خوشه بندی باتری ها به روش </a:t>
            </a:r>
            <a:r>
              <a:rPr lang="en-US" dirty="0">
                <a:latin typeface="Times New Roman" panose="02020603050405020304" pitchFamily="18" charset="0"/>
                <a:cs typeface="B Lotus" panose="00000400000000000000" pitchFamily="2" charset="-78"/>
              </a:rPr>
              <a:t>k-means</a:t>
            </a:r>
            <a:r>
              <a:rPr lang="fa-IR" dirty="0">
                <a:latin typeface="Times New Roman" panose="02020603050405020304" pitchFamily="18" charset="0"/>
                <a:cs typeface="B Lotus" panose="00000400000000000000" pitchFamily="2" charset="-78"/>
              </a:rPr>
              <a:t> با نقاط حاصل از </a:t>
            </a:r>
            <a:r>
              <a:rPr lang="en-US" dirty="0">
                <a:latin typeface="Times New Roman" panose="02020603050405020304" pitchFamily="18" charset="0"/>
                <a:cs typeface="B Lotus" panose="00000400000000000000" pitchFamily="2" charset="-78"/>
              </a:rPr>
              <a:t>GA</a:t>
            </a:r>
            <a:r>
              <a:rPr lang="fa-IR" dirty="0">
                <a:solidFill>
                  <a:srgbClr val="61D6FF"/>
                </a:solidFill>
                <a:latin typeface="Times New Roman" panose="02020603050405020304" pitchFamily="18" charset="0"/>
                <a:cs typeface="B Lotus" panose="00000400000000000000" pitchFamily="2" charset="-78"/>
              </a:rPr>
              <a:t> [3]</a:t>
            </a:r>
            <a:r>
              <a:rPr lang="fa-IR" dirty="0">
                <a:latin typeface="Times New Roman" panose="02020603050405020304" pitchFamily="18" charset="0"/>
                <a:cs typeface="B Lotus" panose="00000400000000000000" pitchFamily="2" charset="-78"/>
              </a:rPr>
              <a:t>.</a:t>
            </a:r>
            <a:r>
              <a:rPr lang="fa-IR" dirty="0">
                <a:latin typeface="Times New Roman" panose="02020603050405020304" pitchFamily="18" charset="0"/>
                <a:ea typeface="Calibri" panose="020F0502020204030204" pitchFamily="34" charset="0"/>
                <a:cs typeface="B Lotus" panose="00000400000000000000" pitchFamily="2" charset="-78"/>
              </a:rPr>
              <a:t> </a:t>
            </a:r>
            <a:endParaRPr lang="en-US" dirty="0">
              <a:latin typeface="Times New Roman" panose="02020603050405020304" pitchFamily="18" charset="0"/>
              <a:cs typeface="B Lotus" panose="00000400000000000000" pitchFamily="2" charset="-78"/>
            </a:endParaRPr>
          </a:p>
        </p:txBody>
      </p:sp>
      <p:sp>
        <p:nvSpPr>
          <p:cNvPr id="38" name="Rectangle 37"/>
          <p:cNvSpPr/>
          <p:nvPr/>
        </p:nvSpPr>
        <p:spPr>
          <a:xfrm>
            <a:off x="418672" y="6427113"/>
            <a:ext cx="8725328" cy="430887"/>
          </a:xfrm>
          <a:prstGeom prst="rect">
            <a:avLst/>
          </a:prstGeom>
        </p:spPr>
        <p:txBody>
          <a:bodyPr wrap="square">
            <a:spAutoFit/>
          </a:bodyPr>
          <a:lstStyle/>
          <a:p>
            <a:pPr lvl="0">
              <a:defRPr/>
            </a:pPr>
            <a:r>
              <a:rPr lang="en-US" sz="1100" dirty="0"/>
              <a:t>[3]      S. </a:t>
            </a:r>
            <a:r>
              <a:rPr lang="en-US" sz="1100" dirty="0" err="1"/>
              <a:t>Jinlei</a:t>
            </a:r>
            <a:r>
              <a:rPr lang="en-US" sz="1100" dirty="0"/>
              <a:t>, L. Wei, T. </a:t>
            </a:r>
            <a:r>
              <a:rPr lang="en-US" sz="1100" dirty="0" err="1"/>
              <a:t>Chuanyu</a:t>
            </a:r>
            <a:r>
              <a:rPr lang="en-US" sz="1100" dirty="0"/>
              <a:t>, W. </a:t>
            </a:r>
            <a:r>
              <a:rPr lang="en-US" sz="1100" dirty="0" err="1"/>
              <a:t>Tianru</a:t>
            </a:r>
            <a:r>
              <a:rPr lang="en-US" sz="1100" dirty="0"/>
              <a:t>, J. Tao, and T. Yong, "A novel active equalization method for series-connected battery packs based on clustering analysis with genetic algorithm," </a:t>
            </a:r>
            <a:r>
              <a:rPr lang="en-US" sz="1100" i="1" dirty="0"/>
              <a:t>IEEE Transactions on Power Electronics, </a:t>
            </a:r>
            <a:r>
              <a:rPr lang="en-US" sz="1100" dirty="0"/>
              <a:t>vol. 36, no. 7, pp. 7853-7865, 2021.</a:t>
            </a:r>
          </a:p>
        </p:txBody>
      </p:sp>
      <p:sp>
        <p:nvSpPr>
          <p:cNvPr id="40" name="TextBox 39">
            <a:extLst>
              <a:ext uri="{FF2B5EF4-FFF2-40B4-BE49-F238E27FC236}">
                <a16:creationId xmlns:a16="http://schemas.microsoft.com/office/drawing/2014/main" id="{F43469DC-7F5B-471E-BD74-ED709E621F63}"/>
              </a:ext>
            </a:extLst>
          </p:cNvPr>
          <p:cNvSpPr txBox="1"/>
          <p:nvPr/>
        </p:nvSpPr>
        <p:spPr>
          <a:xfrm>
            <a:off x="-900706" y="941383"/>
            <a:ext cx="7315201" cy="307777"/>
          </a:xfrm>
          <a:prstGeom prst="rect">
            <a:avLst/>
          </a:prstGeom>
          <a:noFill/>
        </p:spPr>
        <p:txBody>
          <a:bodyPr wrap="square" rtlCol="0">
            <a:spAutoFit/>
          </a:bodyPr>
          <a:lstStyle/>
          <a:p>
            <a:pPr algn="r" rtl="1" fontAlgn="base">
              <a:spcBef>
                <a:spcPct val="0"/>
              </a:spcBef>
              <a:spcAft>
                <a:spcPct val="0"/>
              </a:spcAft>
            </a:pPr>
            <a:r>
              <a:rPr lang="fa-IR" sz="1400" dirty="0">
                <a:cs typeface="B Lotus" panose="00000400000000000000" pitchFamily="2" charset="-78"/>
              </a:rPr>
              <a:t>روشی نو برای همسان‌سازی باتری پک با اتصال سری بر مبنای تجزیه و تحلیل خوشه‌بندی همراه با الگوریتم ژنتیک</a:t>
            </a:r>
            <a:endParaRPr lang="en-US" sz="1400" dirty="0">
              <a:cs typeface="B Lotus" panose="00000400000000000000" pitchFamily="2" charset="-78"/>
            </a:endParaRPr>
          </a:p>
        </p:txBody>
      </p:sp>
      <p:pic>
        <p:nvPicPr>
          <p:cNvPr id="41" name="Picture 40" descr="پرونده:Azad University logo.png - ویکی‌پدیا، دانشنامهٔ آزاد">
            <a:extLst>
              <a:ext uri="{FF2B5EF4-FFF2-40B4-BE49-F238E27FC236}">
                <a16:creationId xmlns:a16="http://schemas.microsoft.com/office/drawing/2014/main" id="{1A9FEE44-0F48-48EE-A201-613E74B88238}"/>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42" name="AutoShape 10">
            <a:extLst>
              <a:ext uri="{FF2B5EF4-FFF2-40B4-BE49-F238E27FC236}">
                <a16:creationId xmlns:a16="http://schemas.microsoft.com/office/drawing/2014/main" id="{F6266893-797F-40B9-B7F1-28B13A3984C3}"/>
              </a:ext>
            </a:extLst>
          </p:cNvPr>
          <p:cNvSpPr>
            <a:spLocks noChangeArrowheads="1"/>
          </p:cNvSpPr>
          <p:nvPr/>
        </p:nvSpPr>
        <p:spPr bwMode="gray">
          <a:xfrm flipH="1">
            <a:off x="6246677" y="59426"/>
            <a:ext cx="2057400"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43" name="AutoShape 3">
            <a:extLst>
              <a:ext uri="{FF2B5EF4-FFF2-40B4-BE49-F238E27FC236}">
                <a16:creationId xmlns:a16="http://schemas.microsoft.com/office/drawing/2014/main" id="{3450B81F-1BA9-4F41-945E-CF31FD6A1BE2}"/>
              </a:ext>
            </a:extLst>
          </p:cNvPr>
          <p:cNvSpPr>
            <a:spLocks noChangeArrowheads="1"/>
          </p:cNvSpPr>
          <p:nvPr/>
        </p:nvSpPr>
        <p:spPr bwMode="gray">
          <a:xfrm flipH="1">
            <a:off x="4188613" y="57140"/>
            <a:ext cx="2056086" cy="651510"/>
          </a:xfrm>
          <a:prstGeom prst="chevron">
            <a:avLst>
              <a:gd name="adj" fmla="val 17009"/>
            </a:avLst>
          </a:prstGeom>
          <a:solidFill>
            <a:srgbClr val="2842AE"/>
          </a:soli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dirty="0">
              <a:ln>
                <a:noFill/>
              </a:ln>
              <a:solidFill>
                <a:srgbClr val="3D81BF"/>
              </a:solidFill>
              <a:effectLst/>
              <a:uLnTx/>
              <a:uFillTx/>
            </a:endParaRPr>
          </a:p>
        </p:txBody>
      </p:sp>
      <p:sp>
        <p:nvSpPr>
          <p:cNvPr id="44" name="AutoShape 3">
            <a:extLst>
              <a:ext uri="{FF2B5EF4-FFF2-40B4-BE49-F238E27FC236}">
                <a16:creationId xmlns:a16="http://schemas.microsoft.com/office/drawing/2014/main" id="{278C3753-7E5F-4A07-84E8-FA915CB0CE87}"/>
              </a:ext>
            </a:extLst>
          </p:cNvPr>
          <p:cNvSpPr>
            <a:spLocks noChangeArrowheads="1"/>
          </p:cNvSpPr>
          <p:nvPr/>
        </p:nvSpPr>
        <p:spPr bwMode="gray">
          <a:xfrm flipH="1">
            <a:off x="2588411" y="57141"/>
            <a:ext cx="1600202"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5" name="AutoShape 3">
            <a:extLst>
              <a:ext uri="{FF2B5EF4-FFF2-40B4-BE49-F238E27FC236}">
                <a16:creationId xmlns:a16="http://schemas.microsoft.com/office/drawing/2014/main" id="{B202AEB4-F766-4F6D-9D49-804AECBBBB79}"/>
              </a:ext>
            </a:extLst>
          </p:cNvPr>
          <p:cNvSpPr>
            <a:spLocks noChangeArrowheads="1"/>
          </p:cNvSpPr>
          <p:nvPr/>
        </p:nvSpPr>
        <p:spPr bwMode="gray">
          <a:xfrm flipH="1">
            <a:off x="161661" y="57140"/>
            <a:ext cx="2426749"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6" name="Rectangle 45">
            <a:extLst>
              <a:ext uri="{FF2B5EF4-FFF2-40B4-BE49-F238E27FC236}">
                <a16:creationId xmlns:a16="http://schemas.microsoft.com/office/drawing/2014/main" id="{89552ECA-1CA1-40F1-A87E-809897E322A0}"/>
              </a:ext>
            </a:extLst>
          </p:cNvPr>
          <p:cNvSpPr/>
          <p:nvPr/>
        </p:nvSpPr>
        <p:spPr>
          <a:xfrm>
            <a:off x="403231" y="91457"/>
            <a:ext cx="2056085"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طراحی و پیاده سازی همسان ساز پیشنهادی</a:t>
            </a:r>
          </a:p>
        </p:txBody>
      </p:sp>
      <p:sp>
        <p:nvSpPr>
          <p:cNvPr id="47" name="Rectangle 46">
            <a:extLst>
              <a:ext uri="{FF2B5EF4-FFF2-40B4-BE49-F238E27FC236}">
                <a16:creationId xmlns:a16="http://schemas.microsoft.com/office/drawing/2014/main" id="{2A9B9FDD-FEF5-46D3-8995-5604A1B4B80E}"/>
              </a:ext>
            </a:extLst>
          </p:cNvPr>
          <p:cNvSpPr/>
          <p:nvPr/>
        </p:nvSpPr>
        <p:spPr>
          <a:xfrm>
            <a:off x="2636749" y="78259"/>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پیشنهادی</a:t>
            </a:r>
          </a:p>
        </p:txBody>
      </p:sp>
      <p:sp>
        <p:nvSpPr>
          <p:cNvPr id="48" name="Rectangle 47">
            <a:extLst>
              <a:ext uri="{FF2B5EF4-FFF2-40B4-BE49-F238E27FC236}">
                <a16:creationId xmlns:a16="http://schemas.microsoft.com/office/drawing/2014/main" id="{4756B784-8B4C-449F-AE9D-2B6BBC518073}"/>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باتری</a:t>
            </a:r>
          </a:p>
        </p:txBody>
      </p:sp>
      <p:sp>
        <p:nvSpPr>
          <p:cNvPr id="49" name="Rectangle 48">
            <a:extLst>
              <a:ext uri="{FF2B5EF4-FFF2-40B4-BE49-F238E27FC236}">
                <a16:creationId xmlns:a16="http://schemas.microsoft.com/office/drawing/2014/main" id="{E9011965-C922-40BF-B928-2A7E03BC5CDA}"/>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a:solidFill>
                  <a:srgbClr val="FFFFFF"/>
                </a:solidFill>
                <a:latin typeface="Times New Roman" panose="02020603050405020304" pitchFamily="18" charset="0"/>
                <a:cs typeface="B Nazanin" pitchFamily="2" charset="-78"/>
              </a:rPr>
              <a:t>باتری ها</a:t>
            </a:r>
            <a:endParaRPr lang="en-US" sz="1500" b="1" kern="0" dirty="0">
              <a:solidFill>
                <a:srgbClr val="FFFFFF"/>
              </a:solidFill>
              <a:latin typeface="Times New Roman" panose="02020603050405020304" pitchFamily="18" charset="0"/>
              <a:cs typeface="B Nazanin" pitchFamily="2" charset="-78"/>
            </a:endParaRPr>
          </a:p>
        </p:txBody>
      </p:sp>
      <p:sp>
        <p:nvSpPr>
          <p:cNvPr id="50" name="Rounded Rectangle 175">
            <a:extLst>
              <a:ext uri="{FF2B5EF4-FFF2-40B4-BE49-F238E27FC236}">
                <a16:creationId xmlns:a16="http://schemas.microsoft.com/office/drawing/2014/main" id="{5ED324C1-9E82-4B7C-8E12-63B5A59FFFC0}"/>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همسان سازی باتری</a:t>
            </a:r>
          </a:p>
        </p:txBody>
      </p:sp>
    </p:spTree>
    <p:extLst>
      <p:ext uri="{BB962C8B-B14F-4D97-AF65-F5344CB8AC3E}">
        <p14:creationId xmlns:p14="http://schemas.microsoft.com/office/powerpoint/2010/main" val="31067953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TextBox 51"/>
          <p:cNvSpPr txBox="1"/>
          <p:nvPr/>
        </p:nvSpPr>
        <p:spPr>
          <a:xfrm>
            <a:off x="482367" y="4830312"/>
            <a:ext cx="1962396" cy="307777"/>
          </a:xfrm>
          <a:prstGeom prst="rect">
            <a:avLst/>
          </a:prstGeom>
          <a:noFill/>
        </p:spPr>
        <p:txBody>
          <a:bodyPr wrap="none" rtlCol="0">
            <a:spAutoFit/>
          </a:bodyPr>
          <a:lstStyle/>
          <a:p>
            <a:pPr algn="ctr" rtl="1"/>
            <a:r>
              <a:rPr lang="fa-IR" sz="1400" dirty="0">
                <a:latin typeface="Times New Roman" panose="02020603050405020304" pitchFamily="18" charset="0"/>
                <a:cs typeface="B Lotus" panose="00000400000000000000" pitchFamily="2" charset="-78"/>
              </a:rPr>
              <a:t>توپولوژی سلول به سلول مستقیم</a:t>
            </a:r>
          </a:p>
        </p:txBody>
      </p:sp>
      <p:pic>
        <p:nvPicPr>
          <p:cNvPr id="18" name="Picture 17"/>
          <p:cNvPicPr/>
          <p:nvPr/>
        </p:nvPicPr>
        <p:blipFill>
          <a:blip r:embed="rId3" cstate="print">
            <a:extLst>
              <a:ext uri="{28A0092B-C50C-407E-A947-70E740481C1C}">
                <a14:useLocalDpi xmlns:a14="http://schemas.microsoft.com/office/drawing/2010/main" val="0"/>
              </a:ext>
            </a:extLst>
          </a:blip>
          <a:stretch>
            <a:fillRect/>
          </a:stretch>
        </p:blipFill>
        <p:spPr bwMode="auto">
          <a:xfrm>
            <a:off x="238273" y="3048000"/>
            <a:ext cx="2206490" cy="1428979"/>
          </a:xfrm>
          <a:prstGeom prst="rect">
            <a:avLst/>
          </a:prstGeom>
          <a:noFill/>
          <a:ln>
            <a:noFill/>
          </a:ln>
        </p:spPr>
      </p:pic>
      <p:sp>
        <p:nvSpPr>
          <p:cNvPr id="19" name="TextBox 18"/>
          <p:cNvSpPr txBox="1"/>
          <p:nvPr/>
        </p:nvSpPr>
        <p:spPr>
          <a:xfrm>
            <a:off x="2959761" y="3344625"/>
            <a:ext cx="461986" cy="707886"/>
          </a:xfrm>
          <a:prstGeom prst="rect">
            <a:avLst/>
          </a:prstGeom>
          <a:noFill/>
        </p:spPr>
        <p:txBody>
          <a:bodyPr wrap="none" rtlCol="0">
            <a:spAutoFit/>
          </a:bodyPr>
          <a:lstStyle/>
          <a:p>
            <a:pPr algn="ctr" rtl="1"/>
            <a:r>
              <a:rPr lang="fa-IR" sz="4000" dirty="0">
                <a:latin typeface="Times New Roman" panose="02020603050405020304" pitchFamily="18" charset="0"/>
                <a:cs typeface="B Nasim" panose="00000700000000000000" pitchFamily="2" charset="-78"/>
              </a:rPr>
              <a:t>+</a:t>
            </a:r>
          </a:p>
        </p:txBody>
      </p:sp>
      <p:sp>
        <p:nvSpPr>
          <p:cNvPr id="28" name="TextBox 27"/>
          <p:cNvSpPr txBox="1"/>
          <p:nvPr/>
        </p:nvSpPr>
        <p:spPr>
          <a:xfrm>
            <a:off x="3744631" y="4830312"/>
            <a:ext cx="2272812" cy="738664"/>
          </a:xfrm>
          <a:prstGeom prst="rect">
            <a:avLst/>
          </a:prstGeom>
          <a:noFill/>
        </p:spPr>
        <p:txBody>
          <a:bodyPr wrap="square" rtlCol="0">
            <a:spAutoFit/>
          </a:bodyPr>
          <a:lstStyle/>
          <a:p>
            <a:pPr algn="ctr" rtl="1"/>
            <a:r>
              <a:rPr lang="fa-IR" sz="1400" dirty="0">
                <a:solidFill>
                  <a:srgbClr val="C00000"/>
                </a:solidFill>
                <a:latin typeface="Times New Roman" panose="02020603050405020304" pitchFamily="18" charset="0"/>
                <a:cs typeface="B Lotus" panose="00000400000000000000" pitchFamily="2" charset="-78"/>
              </a:rPr>
              <a:t>همسان سازی </a:t>
            </a:r>
            <a:r>
              <a:rPr lang="en-US" sz="1400" dirty="0">
                <a:solidFill>
                  <a:srgbClr val="C00000"/>
                </a:solidFill>
                <a:latin typeface="Times New Roman" panose="02020603050405020304" pitchFamily="18" charset="0"/>
                <a:cs typeface="B Lotus" panose="00000400000000000000" pitchFamily="2" charset="-78"/>
              </a:rPr>
              <a:t>FLC</a:t>
            </a:r>
            <a:r>
              <a:rPr lang="fa-IR" sz="1400" dirty="0">
                <a:solidFill>
                  <a:srgbClr val="C00000"/>
                </a:solidFill>
                <a:latin typeface="Times New Roman" panose="02020603050405020304" pitchFamily="18" charset="0"/>
                <a:cs typeface="B Lotus" panose="00000400000000000000" pitchFamily="2" charset="-78"/>
              </a:rPr>
              <a:t> بمنظور یافتن بهینه ترین جریان همسان سازی بین سلول ها و ماژول ها</a:t>
            </a:r>
            <a:endParaRPr lang="en-US" sz="1400" dirty="0">
              <a:solidFill>
                <a:srgbClr val="C00000"/>
              </a:solidFill>
              <a:latin typeface="Times New Roman" panose="02020603050405020304" pitchFamily="18" charset="0"/>
              <a:cs typeface="B Lotus" panose="00000400000000000000" pitchFamily="2" charset="-78"/>
            </a:endParaRPr>
          </a:p>
        </p:txBody>
      </p:sp>
      <p:grpSp>
        <p:nvGrpSpPr>
          <p:cNvPr id="25" name="Group 24"/>
          <p:cNvGrpSpPr/>
          <p:nvPr/>
        </p:nvGrpSpPr>
        <p:grpSpPr>
          <a:xfrm>
            <a:off x="7406615" y="3341125"/>
            <a:ext cx="1057224" cy="1198909"/>
            <a:chOff x="7554537" y="3065788"/>
            <a:chExt cx="1057224" cy="1198909"/>
          </a:xfrm>
        </p:grpSpPr>
        <p:pic>
          <p:nvPicPr>
            <p:cNvPr id="21" name="Picture 20"/>
            <p:cNvPicPr>
              <a:picLocks noChangeAspect="1"/>
            </p:cNvPicPr>
            <p:nvPr/>
          </p:nvPicPr>
          <p:blipFill>
            <a:blip r:embed="rId4"/>
            <a:stretch>
              <a:fillRect/>
            </a:stretch>
          </p:blipFill>
          <p:spPr>
            <a:xfrm>
              <a:off x="7554537" y="3194958"/>
              <a:ext cx="247650" cy="250160"/>
            </a:xfrm>
            <a:prstGeom prst="rect">
              <a:avLst/>
            </a:prstGeom>
          </p:spPr>
        </p:pic>
        <p:pic>
          <p:nvPicPr>
            <p:cNvPr id="22" name="Picture 21"/>
            <p:cNvPicPr>
              <a:picLocks noChangeAspect="1"/>
            </p:cNvPicPr>
            <p:nvPr/>
          </p:nvPicPr>
          <p:blipFill>
            <a:blip r:embed="rId5"/>
            <a:stretch>
              <a:fillRect/>
            </a:stretch>
          </p:blipFill>
          <p:spPr>
            <a:xfrm>
              <a:off x="7999857" y="3065788"/>
              <a:ext cx="610743" cy="586411"/>
            </a:xfrm>
            <a:prstGeom prst="rect">
              <a:avLst/>
            </a:prstGeom>
          </p:spPr>
        </p:pic>
        <p:pic>
          <p:nvPicPr>
            <p:cNvPr id="24" name="Picture 23"/>
            <p:cNvPicPr>
              <a:picLocks noChangeAspect="1"/>
            </p:cNvPicPr>
            <p:nvPr/>
          </p:nvPicPr>
          <p:blipFill>
            <a:blip r:embed="rId6"/>
            <a:stretch>
              <a:fillRect/>
            </a:stretch>
          </p:blipFill>
          <p:spPr>
            <a:xfrm>
              <a:off x="7999857" y="3783397"/>
              <a:ext cx="611904" cy="481300"/>
            </a:xfrm>
            <a:prstGeom prst="rect">
              <a:avLst/>
            </a:prstGeom>
          </p:spPr>
        </p:pic>
      </p:grpSp>
      <p:sp>
        <p:nvSpPr>
          <p:cNvPr id="39" name="TextBox 38"/>
          <p:cNvSpPr txBox="1"/>
          <p:nvPr/>
        </p:nvSpPr>
        <p:spPr>
          <a:xfrm>
            <a:off x="6429632" y="3344625"/>
            <a:ext cx="461986" cy="707886"/>
          </a:xfrm>
          <a:prstGeom prst="rect">
            <a:avLst/>
          </a:prstGeom>
          <a:noFill/>
        </p:spPr>
        <p:txBody>
          <a:bodyPr wrap="none" rtlCol="0">
            <a:spAutoFit/>
          </a:bodyPr>
          <a:lstStyle/>
          <a:p>
            <a:pPr algn="ctr" rtl="1"/>
            <a:r>
              <a:rPr lang="fa-IR" sz="4000" dirty="0">
                <a:latin typeface="Times New Roman" panose="02020603050405020304" pitchFamily="18" charset="0"/>
                <a:cs typeface="B Nasim" panose="00000700000000000000" pitchFamily="2" charset="-78"/>
              </a:rPr>
              <a:t>+</a:t>
            </a:r>
          </a:p>
        </p:txBody>
      </p:sp>
      <p:sp>
        <p:nvSpPr>
          <p:cNvPr id="41" name="TextBox 40"/>
          <p:cNvSpPr txBox="1"/>
          <p:nvPr/>
        </p:nvSpPr>
        <p:spPr>
          <a:xfrm>
            <a:off x="6866875" y="4739209"/>
            <a:ext cx="2272812" cy="307777"/>
          </a:xfrm>
          <a:prstGeom prst="rect">
            <a:avLst/>
          </a:prstGeom>
          <a:noFill/>
        </p:spPr>
        <p:txBody>
          <a:bodyPr wrap="square" rtlCol="0">
            <a:spAutoFit/>
          </a:bodyPr>
          <a:lstStyle/>
          <a:p>
            <a:pPr algn="ctr" rtl="1"/>
            <a:r>
              <a:rPr lang="fa-IR" sz="1400" dirty="0">
                <a:latin typeface="Times New Roman" panose="02020603050405020304" pitchFamily="18" charset="0"/>
                <a:cs typeface="B Lotus" panose="00000400000000000000" pitchFamily="2" charset="-78"/>
              </a:rPr>
              <a:t>شبیه سازی و پیاده سازی عملی</a:t>
            </a:r>
            <a:endParaRPr lang="en-US" sz="1400" dirty="0">
              <a:latin typeface="Times New Roman" panose="02020603050405020304" pitchFamily="18" charset="0"/>
              <a:cs typeface="B Lotus" panose="00000400000000000000" pitchFamily="2" charset="-78"/>
            </a:endParaRPr>
          </a:p>
        </p:txBody>
      </p:sp>
      <p:sp>
        <p:nvSpPr>
          <p:cNvPr id="40" name="AutoShape 8">
            <a:extLst>
              <a:ext uri="{FF2B5EF4-FFF2-40B4-BE49-F238E27FC236}">
                <a16:creationId xmlns:a16="http://schemas.microsoft.com/office/drawing/2014/main" id="{FF901E6E-4D39-4565-9B46-60C2C5B1D5F6}"/>
              </a:ext>
            </a:extLst>
          </p:cNvPr>
          <p:cNvSpPr>
            <a:spLocks noChangeAspect="1" noChangeArrowheads="1"/>
          </p:cNvSpPr>
          <p:nvPr/>
        </p:nvSpPr>
        <p:spPr bwMode="gray">
          <a:xfrm>
            <a:off x="914399" y="1546002"/>
            <a:ext cx="7740651" cy="556259"/>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sz="1600" dirty="0">
                <a:cs typeface="B Lotus" panose="00000400000000000000" pitchFamily="2" charset="-78"/>
              </a:rPr>
              <a:t>پژوهشی بر روی همسان ساز باتری پک لیتیوم یونی با دو مرحله ای بر مبنای کنترل منطق فازی</a:t>
            </a:r>
            <a:endParaRPr lang="en-US" sz="1600" dirty="0">
              <a:latin typeface="Times New Roman" panose="02020603050405020304" pitchFamily="18" charset="0"/>
              <a:cs typeface="Times New Roman" panose="02020603050405020304" pitchFamily="18" charset="0"/>
            </a:endParaRPr>
          </a:p>
        </p:txBody>
      </p:sp>
      <p:grpSp>
        <p:nvGrpSpPr>
          <p:cNvPr id="42" name="Group 23">
            <a:extLst>
              <a:ext uri="{FF2B5EF4-FFF2-40B4-BE49-F238E27FC236}">
                <a16:creationId xmlns:a16="http://schemas.microsoft.com/office/drawing/2014/main" id="{978D1582-1549-4D37-9C95-34020E281F7D}"/>
              </a:ext>
            </a:extLst>
          </p:cNvPr>
          <p:cNvGrpSpPr>
            <a:grpSpLocks noChangeAspect="1"/>
          </p:cNvGrpSpPr>
          <p:nvPr/>
        </p:nvGrpSpPr>
        <p:grpSpPr bwMode="auto">
          <a:xfrm>
            <a:off x="8473468" y="1620134"/>
            <a:ext cx="381000" cy="381000"/>
            <a:chOff x="2078" y="1680"/>
            <a:chExt cx="1615" cy="1615"/>
          </a:xfrm>
        </p:grpSpPr>
        <p:sp>
          <p:nvSpPr>
            <p:cNvPr id="43" name="Oval 24">
              <a:extLst>
                <a:ext uri="{FF2B5EF4-FFF2-40B4-BE49-F238E27FC236}">
                  <a16:creationId xmlns:a16="http://schemas.microsoft.com/office/drawing/2014/main" id="{394744AB-69AD-4039-A10B-0D8E0439243B}"/>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4" name="Oval 25">
              <a:extLst>
                <a:ext uri="{FF2B5EF4-FFF2-40B4-BE49-F238E27FC236}">
                  <a16:creationId xmlns:a16="http://schemas.microsoft.com/office/drawing/2014/main" id="{154704C5-3C92-4C99-8D43-D388A6C5B289}"/>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5" name="Oval 26">
              <a:extLst>
                <a:ext uri="{FF2B5EF4-FFF2-40B4-BE49-F238E27FC236}">
                  <a16:creationId xmlns:a16="http://schemas.microsoft.com/office/drawing/2014/main" id="{04F66D2C-385D-4CBC-8E8F-3E3A912DFC98}"/>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6" name="Oval 27">
              <a:extLst>
                <a:ext uri="{FF2B5EF4-FFF2-40B4-BE49-F238E27FC236}">
                  <a16:creationId xmlns:a16="http://schemas.microsoft.com/office/drawing/2014/main" id="{EA27390D-90C7-4FEF-9F37-D35FD2EA7723}"/>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7" name="Oval 28">
              <a:extLst>
                <a:ext uri="{FF2B5EF4-FFF2-40B4-BE49-F238E27FC236}">
                  <a16:creationId xmlns:a16="http://schemas.microsoft.com/office/drawing/2014/main" id="{5C9AFE92-58F0-4BF1-8021-7EEAC92E3206}"/>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51" name="Oval 29">
              <a:extLst>
                <a:ext uri="{FF2B5EF4-FFF2-40B4-BE49-F238E27FC236}">
                  <a16:creationId xmlns:a16="http://schemas.microsoft.com/office/drawing/2014/main" id="{1B81B5B2-AD7F-472D-BBE8-64F0040E5D5F}"/>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49"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14</a:t>
            </a:fld>
            <a:endParaRPr lang="fa-IR" sz="1800" dirty="0">
              <a:solidFill>
                <a:schemeClr val="tx1"/>
              </a:solidFill>
              <a:cs typeface="B Lotus" panose="00000400000000000000" pitchFamily="2" charset="-78"/>
            </a:endParaRPr>
          </a:p>
        </p:txBody>
      </p:sp>
      <p:pic>
        <p:nvPicPr>
          <p:cNvPr id="58" name="Picture 57" descr="پرونده:Azad University logo.png - ویکی‌پدیا، دانشنامهٔ آزاد">
            <a:extLst>
              <a:ext uri="{FF2B5EF4-FFF2-40B4-BE49-F238E27FC236}">
                <a16:creationId xmlns:a16="http://schemas.microsoft.com/office/drawing/2014/main" id="{1A9FEE44-0F48-48EE-A201-613E74B88238}"/>
              </a:ext>
            </a:extLst>
          </p:cNvPr>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59" name="AutoShape 10">
            <a:extLst>
              <a:ext uri="{FF2B5EF4-FFF2-40B4-BE49-F238E27FC236}">
                <a16:creationId xmlns:a16="http://schemas.microsoft.com/office/drawing/2014/main" id="{F6266893-797F-40B9-B7F1-28B13A3984C3}"/>
              </a:ext>
            </a:extLst>
          </p:cNvPr>
          <p:cNvSpPr>
            <a:spLocks noChangeArrowheads="1"/>
          </p:cNvSpPr>
          <p:nvPr/>
        </p:nvSpPr>
        <p:spPr bwMode="gray">
          <a:xfrm flipH="1">
            <a:off x="6246677" y="59426"/>
            <a:ext cx="2057400"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60" name="AutoShape 3">
            <a:extLst>
              <a:ext uri="{FF2B5EF4-FFF2-40B4-BE49-F238E27FC236}">
                <a16:creationId xmlns:a16="http://schemas.microsoft.com/office/drawing/2014/main" id="{3450B81F-1BA9-4F41-945E-CF31FD6A1BE2}"/>
              </a:ext>
            </a:extLst>
          </p:cNvPr>
          <p:cNvSpPr>
            <a:spLocks noChangeArrowheads="1"/>
          </p:cNvSpPr>
          <p:nvPr/>
        </p:nvSpPr>
        <p:spPr bwMode="gray">
          <a:xfrm flipH="1">
            <a:off x="4188613" y="57140"/>
            <a:ext cx="2056086" cy="651510"/>
          </a:xfrm>
          <a:prstGeom prst="chevron">
            <a:avLst>
              <a:gd name="adj" fmla="val 17009"/>
            </a:avLst>
          </a:prstGeom>
          <a:solidFill>
            <a:srgbClr val="2842AE"/>
          </a:soli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dirty="0">
              <a:ln>
                <a:noFill/>
              </a:ln>
              <a:solidFill>
                <a:srgbClr val="3D81BF"/>
              </a:solidFill>
              <a:effectLst/>
              <a:uLnTx/>
              <a:uFillTx/>
            </a:endParaRPr>
          </a:p>
        </p:txBody>
      </p:sp>
      <p:sp>
        <p:nvSpPr>
          <p:cNvPr id="61" name="AutoShape 3">
            <a:extLst>
              <a:ext uri="{FF2B5EF4-FFF2-40B4-BE49-F238E27FC236}">
                <a16:creationId xmlns:a16="http://schemas.microsoft.com/office/drawing/2014/main" id="{278C3753-7E5F-4A07-84E8-FA915CB0CE87}"/>
              </a:ext>
            </a:extLst>
          </p:cNvPr>
          <p:cNvSpPr>
            <a:spLocks noChangeArrowheads="1"/>
          </p:cNvSpPr>
          <p:nvPr/>
        </p:nvSpPr>
        <p:spPr bwMode="gray">
          <a:xfrm flipH="1">
            <a:off x="2588411" y="57141"/>
            <a:ext cx="1600202"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62" name="AutoShape 3">
            <a:extLst>
              <a:ext uri="{FF2B5EF4-FFF2-40B4-BE49-F238E27FC236}">
                <a16:creationId xmlns:a16="http://schemas.microsoft.com/office/drawing/2014/main" id="{B202AEB4-F766-4F6D-9D49-804AECBBBB79}"/>
              </a:ext>
            </a:extLst>
          </p:cNvPr>
          <p:cNvSpPr>
            <a:spLocks noChangeArrowheads="1"/>
          </p:cNvSpPr>
          <p:nvPr/>
        </p:nvSpPr>
        <p:spPr bwMode="gray">
          <a:xfrm flipH="1">
            <a:off x="161661" y="57140"/>
            <a:ext cx="2426749"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63" name="Rectangle 62">
            <a:extLst>
              <a:ext uri="{FF2B5EF4-FFF2-40B4-BE49-F238E27FC236}">
                <a16:creationId xmlns:a16="http://schemas.microsoft.com/office/drawing/2014/main" id="{89552ECA-1CA1-40F1-A87E-809897E322A0}"/>
              </a:ext>
            </a:extLst>
          </p:cNvPr>
          <p:cNvSpPr/>
          <p:nvPr/>
        </p:nvSpPr>
        <p:spPr>
          <a:xfrm>
            <a:off x="403231" y="91457"/>
            <a:ext cx="2056085"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طراحی و پیاده سازی همسان ساز پیشنهادی</a:t>
            </a:r>
          </a:p>
        </p:txBody>
      </p:sp>
      <p:sp>
        <p:nvSpPr>
          <p:cNvPr id="64" name="Rectangle 63">
            <a:extLst>
              <a:ext uri="{FF2B5EF4-FFF2-40B4-BE49-F238E27FC236}">
                <a16:creationId xmlns:a16="http://schemas.microsoft.com/office/drawing/2014/main" id="{2A9B9FDD-FEF5-46D3-8995-5604A1B4B80E}"/>
              </a:ext>
            </a:extLst>
          </p:cNvPr>
          <p:cNvSpPr/>
          <p:nvPr/>
        </p:nvSpPr>
        <p:spPr>
          <a:xfrm>
            <a:off x="2636749" y="78259"/>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پیشنهادی</a:t>
            </a:r>
          </a:p>
        </p:txBody>
      </p:sp>
      <p:sp>
        <p:nvSpPr>
          <p:cNvPr id="65" name="Rectangle 64">
            <a:extLst>
              <a:ext uri="{FF2B5EF4-FFF2-40B4-BE49-F238E27FC236}">
                <a16:creationId xmlns:a16="http://schemas.microsoft.com/office/drawing/2014/main" id="{4756B784-8B4C-449F-AE9D-2B6BBC518073}"/>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باتری</a:t>
            </a:r>
          </a:p>
        </p:txBody>
      </p:sp>
      <p:sp>
        <p:nvSpPr>
          <p:cNvPr id="66" name="Rectangle 65">
            <a:extLst>
              <a:ext uri="{FF2B5EF4-FFF2-40B4-BE49-F238E27FC236}">
                <a16:creationId xmlns:a16="http://schemas.microsoft.com/office/drawing/2014/main" id="{E9011965-C922-40BF-B928-2A7E03BC5CDA}"/>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a:solidFill>
                  <a:srgbClr val="FFFFFF"/>
                </a:solidFill>
                <a:latin typeface="Times New Roman" panose="02020603050405020304" pitchFamily="18" charset="0"/>
                <a:cs typeface="B Nazanin" pitchFamily="2" charset="-78"/>
              </a:rPr>
              <a:t>باتری ها</a:t>
            </a:r>
            <a:endParaRPr lang="en-US" sz="1500" b="1" kern="0" dirty="0">
              <a:solidFill>
                <a:srgbClr val="FFFFFF"/>
              </a:solidFill>
              <a:latin typeface="Times New Roman" panose="02020603050405020304" pitchFamily="18" charset="0"/>
              <a:cs typeface="B Nazanin" pitchFamily="2" charset="-78"/>
            </a:endParaRPr>
          </a:p>
        </p:txBody>
      </p:sp>
      <p:sp>
        <p:nvSpPr>
          <p:cNvPr id="67" name="Rounded Rectangle 175">
            <a:extLst>
              <a:ext uri="{FF2B5EF4-FFF2-40B4-BE49-F238E27FC236}">
                <a16:creationId xmlns:a16="http://schemas.microsoft.com/office/drawing/2014/main" id="{5ED324C1-9E82-4B7C-8E12-63B5A59FFFC0}"/>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همسان سازی باتری</a:t>
            </a:r>
          </a:p>
        </p:txBody>
      </p:sp>
      <p:pic>
        <p:nvPicPr>
          <p:cNvPr id="1026" name="Picture 2" descr="Fuzzy Logic Icons - Free SVG &amp; PNG Fuzzy Logic Images - Noun Project"/>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4018026" y="2835557"/>
            <a:ext cx="1726022" cy="1726022"/>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33"/>
          <p:cNvPicPr>
            <a:picLocks noChangeAspect="1"/>
          </p:cNvPicPr>
          <p:nvPr/>
        </p:nvPicPr>
        <p:blipFill>
          <a:blip r:embed="rId9"/>
          <a:stretch>
            <a:fillRect/>
          </a:stretch>
        </p:blipFill>
        <p:spPr>
          <a:xfrm>
            <a:off x="7406615" y="4167785"/>
            <a:ext cx="247650" cy="263198"/>
          </a:xfrm>
          <a:prstGeom prst="rect">
            <a:avLst/>
          </a:prstGeom>
        </p:spPr>
      </p:pic>
    </p:spTree>
    <p:extLst>
      <p:ext uri="{BB962C8B-B14F-4D97-AF65-F5344CB8AC3E}">
        <p14:creationId xmlns:p14="http://schemas.microsoft.com/office/powerpoint/2010/main" val="88439026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15</a:t>
            </a:fld>
            <a:endParaRPr lang="fa-IR" sz="1800" dirty="0">
              <a:solidFill>
                <a:schemeClr val="tx1"/>
              </a:solidFill>
              <a:cs typeface="B Lotus" panose="00000400000000000000" pitchFamily="2" charset="-78"/>
            </a:endParaRPr>
          </a:p>
        </p:txBody>
      </p:sp>
      <p:pic>
        <p:nvPicPr>
          <p:cNvPr id="58" name="Picture 57" descr="پرونده:Azad University logo.png - ویکی‌پدیا، دانشنامهٔ آزاد">
            <a:extLst>
              <a:ext uri="{FF2B5EF4-FFF2-40B4-BE49-F238E27FC236}">
                <a16:creationId xmlns:a16="http://schemas.microsoft.com/office/drawing/2014/main" id="{1A9FEE44-0F48-48EE-A201-613E74B88238}"/>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59" name="AutoShape 10">
            <a:extLst>
              <a:ext uri="{FF2B5EF4-FFF2-40B4-BE49-F238E27FC236}">
                <a16:creationId xmlns:a16="http://schemas.microsoft.com/office/drawing/2014/main" id="{F6266893-797F-40B9-B7F1-28B13A3984C3}"/>
              </a:ext>
            </a:extLst>
          </p:cNvPr>
          <p:cNvSpPr>
            <a:spLocks noChangeArrowheads="1"/>
          </p:cNvSpPr>
          <p:nvPr/>
        </p:nvSpPr>
        <p:spPr bwMode="gray">
          <a:xfrm flipH="1">
            <a:off x="6246677" y="59426"/>
            <a:ext cx="2057400"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60" name="AutoShape 3">
            <a:extLst>
              <a:ext uri="{FF2B5EF4-FFF2-40B4-BE49-F238E27FC236}">
                <a16:creationId xmlns:a16="http://schemas.microsoft.com/office/drawing/2014/main" id="{3450B81F-1BA9-4F41-945E-CF31FD6A1BE2}"/>
              </a:ext>
            </a:extLst>
          </p:cNvPr>
          <p:cNvSpPr>
            <a:spLocks noChangeArrowheads="1"/>
          </p:cNvSpPr>
          <p:nvPr/>
        </p:nvSpPr>
        <p:spPr bwMode="gray">
          <a:xfrm flipH="1">
            <a:off x="4188613" y="57140"/>
            <a:ext cx="2056086" cy="651510"/>
          </a:xfrm>
          <a:prstGeom prst="chevron">
            <a:avLst>
              <a:gd name="adj" fmla="val 17009"/>
            </a:avLst>
          </a:prstGeom>
          <a:solidFill>
            <a:srgbClr val="2842AE"/>
          </a:soli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dirty="0">
              <a:ln>
                <a:noFill/>
              </a:ln>
              <a:solidFill>
                <a:srgbClr val="3D81BF"/>
              </a:solidFill>
              <a:effectLst/>
              <a:uLnTx/>
              <a:uFillTx/>
            </a:endParaRPr>
          </a:p>
        </p:txBody>
      </p:sp>
      <p:sp>
        <p:nvSpPr>
          <p:cNvPr id="61" name="AutoShape 3">
            <a:extLst>
              <a:ext uri="{FF2B5EF4-FFF2-40B4-BE49-F238E27FC236}">
                <a16:creationId xmlns:a16="http://schemas.microsoft.com/office/drawing/2014/main" id="{278C3753-7E5F-4A07-84E8-FA915CB0CE87}"/>
              </a:ext>
            </a:extLst>
          </p:cNvPr>
          <p:cNvSpPr>
            <a:spLocks noChangeArrowheads="1"/>
          </p:cNvSpPr>
          <p:nvPr/>
        </p:nvSpPr>
        <p:spPr bwMode="gray">
          <a:xfrm flipH="1">
            <a:off x="2588411" y="57141"/>
            <a:ext cx="1600202"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62" name="AutoShape 3">
            <a:extLst>
              <a:ext uri="{FF2B5EF4-FFF2-40B4-BE49-F238E27FC236}">
                <a16:creationId xmlns:a16="http://schemas.microsoft.com/office/drawing/2014/main" id="{B202AEB4-F766-4F6D-9D49-804AECBBBB79}"/>
              </a:ext>
            </a:extLst>
          </p:cNvPr>
          <p:cNvSpPr>
            <a:spLocks noChangeArrowheads="1"/>
          </p:cNvSpPr>
          <p:nvPr/>
        </p:nvSpPr>
        <p:spPr bwMode="gray">
          <a:xfrm flipH="1">
            <a:off x="161661" y="57140"/>
            <a:ext cx="2426749"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63" name="Rectangle 62">
            <a:extLst>
              <a:ext uri="{FF2B5EF4-FFF2-40B4-BE49-F238E27FC236}">
                <a16:creationId xmlns:a16="http://schemas.microsoft.com/office/drawing/2014/main" id="{89552ECA-1CA1-40F1-A87E-809897E322A0}"/>
              </a:ext>
            </a:extLst>
          </p:cNvPr>
          <p:cNvSpPr/>
          <p:nvPr/>
        </p:nvSpPr>
        <p:spPr>
          <a:xfrm>
            <a:off x="403231" y="91457"/>
            <a:ext cx="2056085"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طراحی و پیاده سازی همسان ساز پیشنهادی</a:t>
            </a:r>
          </a:p>
        </p:txBody>
      </p:sp>
      <p:sp>
        <p:nvSpPr>
          <p:cNvPr id="64" name="Rectangle 63">
            <a:extLst>
              <a:ext uri="{FF2B5EF4-FFF2-40B4-BE49-F238E27FC236}">
                <a16:creationId xmlns:a16="http://schemas.microsoft.com/office/drawing/2014/main" id="{2A9B9FDD-FEF5-46D3-8995-5604A1B4B80E}"/>
              </a:ext>
            </a:extLst>
          </p:cNvPr>
          <p:cNvSpPr/>
          <p:nvPr/>
        </p:nvSpPr>
        <p:spPr>
          <a:xfrm>
            <a:off x="2636749" y="78259"/>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پیشنهادی</a:t>
            </a:r>
          </a:p>
        </p:txBody>
      </p:sp>
      <p:sp>
        <p:nvSpPr>
          <p:cNvPr id="65" name="Rectangle 64">
            <a:extLst>
              <a:ext uri="{FF2B5EF4-FFF2-40B4-BE49-F238E27FC236}">
                <a16:creationId xmlns:a16="http://schemas.microsoft.com/office/drawing/2014/main" id="{4756B784-8B4C-449F-AE9D-2B6BBC518073}"/>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باتری</a:t>
            </a:r>
          </a:p>
        </p:txBody>
      </p:sp>
      <p:sp>
        <p:nvSpPr>
          <p:cNvPr id="66" name="Rectangle 65">
            <a:extLst>
              <a:ext uri="{FF2B5EF4-FFF2-40B4-BE49-F238E27FC236}">
                <a16:creationId xmlns:a16="http://schemas.microsoft.com/office/drawing/2014/main" id="{E9011965-C922-40BF-B928-2A7E03BC5CDA}"/>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a:solidFill>
                  <a:srgbClr val="FFFFFF"/>
                </a:solidFill>
                <a:latin typeface="Times New Roman" panose="02020603050405020304" pitchFamily="18" charset="0"/>
                <a:cs typeface="B Nazanin" pitchFamily="2" charset="-78"/>
              </a:rPr>
              <a:t>باتری ها</a:t>
            </a:r>
            <a:endParaRPr lang="en-US" sz="1500" b="1" kern="0" dirty="0">
              <a:solidFill>
                <a:srgbClr val="FFFFFF"/>
              </a:solidFill>
              <a:latin typeface="Times New Roman" panose="02020603050405020304" pitchFamily="18" charset="0"/>
              <a:cs typeface="B Nazanin" pitchFamily="2" charset="-78"/>
            </a:endParaRPr>
          </a:p>
        </p:txBody>
      </p:sp>
      <p:sp>
        <p:nvSpPr>
          <p:cNvPr id="67" name="Rounded Rectangle 175">
            <a:extLst>
              <a:ext uri="{FF2B5EF4-FFF2-40B4-BE49-F238E27FC236}">
                <a16:creationId xmlns:a16="http://schemas.microsoft.com/office/drawing/2014/main" id="{5ED324C1-9E82-4B7C-8E12-63B5A59FFFC0}"/>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همسان سازی باتری</a:t>
            </a:r>
          </a:p>
        </p:txBody>
      </p:sp>
      <p:sp>
        <p:nvSpPr>
          <p:cNvPr id="35" name="Rectangle 34"/>
          <p:cNvSpPr/>
          <p:nvPr/>
        </p:nvSpPr>
        <p:spPr>
          <a:xfrm>
            <a:off x="-923562" y="913041"/>
            <a:ext cx="6861738" cy="307777"/>
          </a:xfrm>
          <a:prstGeom prst="rect">
            <a:avLst/>
          </a:prstGeom>
        </p:spPr>
        <p:txBody>
          <a:bodyPr wrap="square">
            <a:spAutoFit/>
          </a:bodyPr>
          <a:lstStyle/>
          <a:p>
            <a:pPr algn="r" rtl="1" fontAlgn="base">
              <a:spcBef>
                <a:spcPct val="0"/>
              </a:spcBef>
              <a:spcAft>
                <a:spcPct val="0"/>
              </a:spcAft>
            </a:pPr>
            <a:r>
              <a:rPr lang="fa-IR" sz="1400" dirty="0">
                <a:cs typeface="B Lotus" panose="00000400000000000000" pitchFamily="2" charset="-78"/>
              </a:rPr>
              <a:t>پژوهشی بر روی همسان ساز باتری پک لیتیوم یونی با دو مرحله ای بر مبنای کنترل منطق فازی</a:t>
            </a:r>
            <a:endParaRPr lang="en-US" sz="1400" dirty="0">
              <a:latin typeface="Times New Roman" panose="02020603050405020304" pitchFamily="18" charset="0"/>
              <a:cs typeface="Times New Roman" panose="02020603050405020304" pitchFamily="18" charset="0"/>
            </a:endParaRPr>
          </a:p>
        </p:txBody>
      </p:sp>
      <p:sp>
        <p:nvSpPr>
          <p:cNvPr id="3" name="Rectangle 2"/>
          <p:cNvSpPr/>
          <p:nvPr/>
        </p:nvSpPr>
        <p:spPr>
          <a:xfrm>
            <a:off x="37438" y="5610426"/>
            <a:ext cx="8915399" cy="369332"/>
          </a:xfrm>
          <a:prstGeom prst="rect">
            <a:avLst/>
          </a:prstGeom>
        </p:spPr>
        <p:txBody>
          <a:bodyPr wrap="square">
            <a:spAutoFit/>
          </a:bodyPr>
          <a:lstStyle/>
          <a:p>
            <a:pPr algn="ctr" rtl="1"/>
            <a:r>
              <a:rPr lang="fa-IR" dirty="0">
                <a:latin typeface="Times New Roman" panose="02020603050405020304" pitchFamily="18" charset="0"/>
                <a:ea typeface="Calibri" panose="020F0502020204030204" pitchFamily="34" charset="0"/>
                <a:cs typeface="B Lotus" panose="00000400000000000000" pitchFamily="2" charset="-78"/>
              </a:rPr>
              <a:t>شکل 11</a:t>
            </a:r>
            <a:r>
              <a:rPr lang="fa-IR" dirty="0">
                <a:latin typeface="Times New Roman" panose="02020603050405020304" pitchFamily="18" charset="0"/>
                <a:cs typeface="B Lotus" panose="00000400000000000000" pitchFamily="2" charset="-78"/>
              </a:rPr>
              <a:t>فلوچارت الگوریتم همسان سازی دو مرحله ای باتری ها باتری ها با </a:t>
            </a:r>
            <a:r>
              <a:rPr lang="en-US" dirty="0">
                <a:latin typeface="Times New Roman" panose="02020603050405020304" pitchFamily="18" charset="0"/>
                <a:cs typeface="B Lotus" panose="00000400000000000000" pitchFamily="2" charset="-78"/>
              </a:rPr>
              <a:t>FLC</a:t>
            </a:r>
            <a:r>
              <a:rPr lang="fa-IR" dirty="0">
                <a:latin typeface="Times New Roman" panose="02020603050405020304" pitchFamily="18" charset="0"/>
                <a:cs typeface="B Lotus" panose="00000400000000000000" pitchFamily="2" charset="-78"/>
              </a:rPr>
              <a:t>.</a:t>
            </a:r>
            <a:r>
              <a:rPr lang="fa-IR" dirty="0">
                <a:latin typeface="Times New Roman" panose="02020603050405020304" pitchFamily="18" charset="0"/>
                <a:ea typeface="Calibri" panose="020F0502020204030204" pitchFamily="34" charset="0"/>
                <a:cs typeface="B Lotus" panose="00000400000000000000" pitchFamily="2" charset="-78"/>
              </a:rPr>
              <a:t> </a:t>
            </a:r>
            <a:endParaRPr lang="en-US" dirty="0">
              <a:latin typeface="Times New Roman" panose="02020603050405020304" pitchFamily="18" charset="0"/>
              <a:cs typeface="B Lotus" panose="00000400000000000000" pitchFamily="2" charset="-78"/>
            </a:endParaRPr>
          </a:p>
        </p:txBody>
      </p:sp>
      <p:pic>
        <p:nvPicPr>
          <p:cNvPr id="4" name="Picture 3"/>
          <p:cNvPicPr>
            <a:picLocks noChangeAspect="1"/>
          </p:cNvPicPr>
          <p:nvPr/>
        </p:nvPicPr>
        <p:blipFill>
          <a:blip r:embed="rId4"/>
          <a:stretch>
            <a:fillRect/>
          </a:stretch>
        </p:blipFill>
        <p:spPr>
          <a:xfrm>
            <a:off x="8965" y="1999199"/>
            <a:ext cx="9144000" cy="3432968"/>
          </a:xfrm>
          <a:prstGeom prst="rect">
            <a:avLst/>
          </a:prstGeom>
        </p:spPr>
      </p:pic>
    </p:spTree>
    <p:extLst>
      <p:ext uri="{BB962C8B-B14F-4D97-AF65-F5344CB8AC3E}">
        <p14:creationId xmlns:p14="http://schemas.microsoft.com/office/powerpoint/2010/main" val="95889316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16</a:t>
            </a:fld>
            <a:endParaRPr lang="fa-IR" sz="1800" dirty="0">
              <a:solidFill>
                <a:schemeClr val="tx1"/>
              </a:solidFill>
              <a:cs typeface="B Lotus" panose="00000400000000000000" pitchFamily="2" charset="-78"/>
            </a:endParaRPr>
          </a:p>
        </p:txBody>
      </p:sp>
      <p:pic>
        <p:nvPicPr>
          <p:cNvPr id="58" name="Picture 57" descr="پرونده:Azad University logo.png - ویکی‌پدیا، دانشنامهٔ آزاد">
            <a:extLst>
              <a:ext uri="{FF2B5EF4-FFF2-40B4-BE49-F238E27FC236}">
                <a16:creationId xmlns:a16="http://schemas.microsoft.com/office/drawing/2014/main" id="{1A9FEE44-0F48-48EE-A201-613E74B88238}"/>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59" name="AutoShape 10">
            <a:extLst>
              <a:ext uri="{FF2B5EF4-FFF2-40B4-BE49-F238E27FC236}">
                <a16:creationId xmlns:a16="http://schemas.microsoft.com/office/drawing/2014/main" id="{F6266893-797F-40B9-B7F1-28B13A3984C3}"/>
              </a:ext>
            </a:extLst>
          </p:cNvPr>
          <p:cNvSpPr>
            <a:spLocks noChangeArrowheads="1"/>
          </p:cNvSpPr>
          <p:nvPr/>
        </p:nvSpPr>
        <p:spPr bwMode="gray">
          <a:xfrm flipH="1">
            <a:off x="6246677" y="59426"/>
            <a:ext cx="2057400"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60" name="AutoShape 3">
            <a:extLst>
              <a:ext uri="{FF2B5EF4-FFF2-40B4-BE49-F238E27FC236}">
                <a16:creationId xmlns:a16="http://schemas.microsoft.com/office/drawing/2014/main" id="{3450B81F-1BA9-4F41-945E-CF31FD6A1BE2}"/>
              </a:ext>
            </a:extLst>
          </p:cNvPr>
          <p:cNvSpPr>
            <a:spLocks noChangeArrowheads="1"/>
          </p:cNvSpPr>
          <p:nvPr/>
        </p:nvSpPr>
        <p:spPr bwMode="gray">
          <a:xfrm flipH="1">
            <a:off x="4188613" y="57140"/>
            <a:ext cx="2056086" cy="651510"/>
          </a:xfrm>
          <a:prstGeom prst="chevron">
            <a:avLst>
              <a:gd name="adj" fmla="val 17009"/>
            </a:avLst>
          </a:prstGeom>
          <a:solidFill>
            <a:srgbClr val="2842AE"/>
          </a:soli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dirty="0">
              <a:ln>
                <a:noFill/>
              </a:ln>
              <a:solidFill>
                <a:srgbClr val="3D81BF"/>
              </a:solidFill>
              <a:effectLst/>
              <a:uLnTx/>
              <a:uFillTx/>
            </a:endParaRPr>
          </a:p>
        </p:txBody>
      </p:sp>
      <p:sp>
        <p:nvSpPr>
          <p:cNvPr id="61" name="AutoShape 3">
            <a:extLst>
              <a:ext uri="{FF2B5EF4-FFF2-40B4-BE49-F238E27FC236}">
                <a16:creationId xmlns:a16="http://schemas.microsoft.com/office/drawing/2014/main" id="{278C3753-7E5F-4A07-84E8-FA915CB0CE87}"/>
              </a:ext>
            </a:extLst>
          </p:cNvPr>
          <p:cNvSpPr>
            <a:spLocks noChangeArrowheads="1"/>
          </p:cNvSpPr>
          <p:nvPr/>
        </p:nvSpPr>
        <p:spPr bwMode="gray">
          <a:xfrm flipH="1">
            <a:off x="2588411" y="57141"/>
            <a:ext cx="1600202"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62" name="AutoShape 3">
            <a:extLst>
              <a:ext uri="{FF2B5EF4-FFF2-40B4-BE49-F238E27FC236}">
                <a16:creationId xmlns:a16="http://schemas.microsoft.com/office/drawing/2014/main" id="{B202AEB4-F766-4F6D-9D49-804AECBBBB79}"/>
              </a:ext>
            </a:extLst>
          </p:cNvPr>
          <p:cNvSpPr>
            <a:spLocks noChangeArrowheads="1"/>
          </p:cNvSpPr>
          <p:nvPr/>
        </p:nvSpPr>
        <p:spPr bwMode="gray">
          <a:xfrm flipH="1">
            <a:off x="161661" y="57140"/>
            <a:ext cx="2426749"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63" name="Rectangle 62">
            <a:extLst>
              <a:ext uri="{FF2B5EF4-FFF2-40B4-BE49-F238E27FC236}">
                <a16:creationId xmlns:a16="http://schemas.microsoft.com/office/drawing/2014/main" id="{89552ECA-1CA1-40F1-A87E-809897E322A0}"/>
              </a:ext>
            </a:extLst>
          </p:cNvPr>
          <p:cNvSpPr/>
          <p:nvPr/>
        </p:nvSpPr>
        <p:spPr>
          <a:xfrm>
            <a:off x="403231" y="91457"/>
            <a:ext cx="2056085"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طراحی و پیاده سازی همسان ساز پیشنهادی</a:t>
            </a:r>
          </a:p>
        </p:txBody>
      </p:sp>
      <p:sp>
        <p:nvSpPr>
          <p:cNvPr id="64" name="Rectangle 63">
            <a:extLst>
              <a:ext uri="{FF2B5EF4-FFF2-40B4-BE49-F238E27FC236}">
                <a16:creationId xmlns:a16="http://schemas.microsoft.com/office/drawing/2014/main" id="{2A9B9FDD-FEF5-46D3-8995-5604A1B4B80E}"/>
              </a:ext>
            </a:extLst>
          </p:cNvPr>
          <p:cNvSpPr/>
          <p:nvPr/>
        </p:nvSpPr>
        <p:spPr>
          <a:xfrm>
            <a:off x="2636749" y="78259"/>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پیشنهادی</a:t>
            </a:r>
          </a:p>
        </p:txBody>
      </p:sp>
      <p:sp>
        <p:nvSpPr>
          <p:cNvPr id="65" name="Rectangle 64">
            <a:extLst>
              <a:ext uri="{FF2B5EF4-FFF2-40B4-BE49-F238E27FC236}">
                <a16:creationId xmlns:a16="http://schemas.microsoft.com/office/drawing/2014/main" id="{4756B784-8B4C-449F-AE9D-2B6BBC518073}"/>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باتری</a:t>
            </a:r>
          </a:p>
        </p:txBody>
      </p:sp>
      <p:sp>
        <p:nvSpPr>
          <p:cNvPr id="66" name="Rectangle 65">
            <a:extLst>
              <a:ext uri="{FF2B5EF4-FFF2-40B4-BE49-F238E27FC236}">
                <a16:creationId xmlns:a16="http://schemas.microsoft.com/office/drawing/2014/main" id="{E9011965-C922-40BF-B928-2A7E03BC5CDA}"/>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a:solidFill>
                  <a:srgbClr val="FFFFFF"/>
                </a:solidFill>
                <a:latin typeface="Times New Roman" panose="02020603050405020304" pitchFamily="18" charset="0"/>
                <a:cs typeface="B Nazanin" pitchFamily="2" charset="-78"/>
              </a:rPr>
              <a:t>باتری ها</a:t>
            </a:r>
            <a:endParaRPr lang="en-US" sz="1500" b="1" kern="0" dirty="0">
              <a:solidFill>
                <a:srgbClr val="FFFFFF"/>
              </a:solidFill>
              <a:latin typeface="Times New Roman" panose="02020603050405020304" pitchFamily="18" charset="0"/>
              <a:cs typeface="B Nazanin" pitchFamily="2" charset="-78"/>
            </a:endParaRPr>
          </a:p>
        </p:txBody>
      </p:sp>
      <p:sp>
        <p:nvSpPr>
          <p:cNvPr id="67" name="Rounded Rectangle 175">
            <a:extLst>
              <a:ext uri="{FF2B5EF4-FFF2-40B4-BE49-F238E27FC236}">
                <a16:creationId xmlns:a16="http://schemas.microsoft.com/office/drawing/2014/main" id="{5ED324C1-9E82-4B7C-8E12-63B5A59FFFC0}"/>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همسان سازی باتری</a:t>
            </a:r>
          </a:p>
        </p:txBody>
      </p:sp>
      <p:sp>
        <p:nvSpPr>
          <p:cNvPr id="35" name="Rectangle 34"/>
          <p:cNvSpPr/>
          <p:nvPr/>
        </p:nvSpPr>
        <p:spPr>
          <a:xfrm>
            <a:off x="-923562" y="913041"/>
            <a:ext cx="6861738" cy="307777"/>
          </a:xfrm>
          <a:prstGeom prst="rect">
            <a:avLst/>
          </a:prstGeom>
        </p:spPr>
        <p:txBody>
          <a:bodyPr wrap="square">
            <a:spAutoFit/>
          </a:bodyPr>
          <a:lstStyle/>
          <a:p>
            <a:pPr algn="r" rtl="1" fontAlgn="base">
              <a:spcBef>
                <a:spcPct val="0"/>
              </a:spcBef>
              <a:spcAft>
                <a:spcPct val="0"/>
              </a:spcAft>
            </a:pPr>
            <a:r>
              <a:rPr lang="fa-IR" sz="1400" dirty="0">
                <a:cs typeface="B Lotus" panose="00000400000000000000" pitchFamily="2" charset="-78"/>
              </a:rPr>
              <a:t>پژوهشی بر روی همسان ساز باتری پک لیتیوم یونی با دو مرحله ای بر مبنای کنترل منطق فازی</a:t>
            </a:r>
            <a:endParaRPr lang="en-US" sz="1400" dirty="0">
              <a:latin typeface="Times New Roman" panose="02020603050405020304" pitchFamily="18" charset="0"/>
              <a:cs typeface="Times New Roman" panose="02020603050405020304" pitchFamily="18" charset="0"/>
            </a:endParaRPr>
          </a:p>
        </p:txBody>
      </p:sp>
      <p:sp>
        <p:nvSpPr>
          <p:cNvPr id="3" name="Rectangle 2"/>
          <p:cNvSpPr/>
          <p:nvPr/>
        </p:nvSpPr>
        <p:spPr>
          <a:xfrm>
            <a:off x="-152400" y="2770408"/>
            <a:ext cx="8915399" cy="369332"/>
          </a:xfrm>
          <a:prstGeom prst="rect">
            <a:avLst/>
          </a:prstGeom>
        </p:spPr>
        <p:txBody>
          <a:bodyPr wrap="square">
            <a:spAutoFit/>
          </a:bodyPr>
          <a:lstStyle/>
          <a:p>
            <a:pPr algn="ctr" rtl="1"/>
            <a:r>
              <a:rPr lang="fa-IR" dirty="0">
                <a:latin typeface="Times New Roman" panose="02020603050405020304" pitchFamily="18" charset="0"/>
                <a:cs typeface="B Lotus" panose="00000400000000000000" pitchFamily="2" charset="-78"/>
              </a:rPr>
              <a:t>عکس نمودار سه بعدی و ج یک مرحله همسان سازی</a:t>
            </a:r>
            <a:endParaRPr lang="en-US" dirty="0">
              <a:latin typeface="Times New Roman" panose="02020603050405020304" pitchFamily="18" charset="0"/>
              <a:cs typeface="B Lotus" panose="00000400000000000000" pitchFamily="2" charset="-78"/>
            </a:endParaRPr>
          </a:p>
        </p:txBody>
      </p:sp>
    </p:spTree>
    <p:extLst>
      <p:ext uri="{BB962C8B-B14F-4D97-AF65-F5344CB8AC3E}">
        <p14:creationId xmlns:p14="http://schemas.microsoft.com/office/powerpoint/2010/main" val="63418804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TextBox 51"/>
          <p:cNvSpPr txBox="1"/>
          <p:nvPr/>
        </p:nvSpPr>
        <p:spPr>
          <a:xfrm>
            <a:off x="482367" y="4830312"/>
            <a:ext cx="1962396" cy="307777"/>
          </a:xfrm>
          <a:prstGeom prst="rect">
            <a:avLst/>
          </a:prstGeom>
          <a:noFill/>
        </p:spPr>
        <p:txBody>
          <a:bodyPr wrap="none" rtlCol="0">
            <a:spAutoFit/>
          </a:bodyPr>
          <a:lstStyle/>
          <a:p>
            <a:pPr algn="ctr" rtl="1"/>
            <a:r>
              <a:rPr lang="fa-IR" sz="1400" dirty="0">
                <a:latin typeface="Times New Roman" panose="02020603050405020304" pitchFamily="18" charset="0"/>
                <a:cs typeface="B Lotus" panose="00000400000000000000" pitchFamily="2" charset="-78"/>
              </a:rPr>
              <a:t>توپولوژی سلول به سلول مستقیم</a:t>
            </a:r>
          </a:p>
        </p:txBody>
      </p:sp>
      <p:pic>
        <p:nvPicPr>
          <p:cNvPr id="18" name="Picture 17"/>
          <p:cNvPicPr/>
          <p:nvPr/>
        </p:nvPicPr>
        <p:blipFill>
          <a:blip r:embed="rId3" cstate="print">
            <a:extLst>
              <a:ext uri="{28A0092B-C50C-407E-A947-70E740481C1C}">
                <a14:useLocalDpi xmlns:a14="http://schemas.microsoft.com/office/drawing/2010/main" val="0"/>
              </a:ext>
            </a:extLst>
          </a:blip>
          <a:stretch>
            <a:fillRect/>
          </a:stretch>
        </p:blipFill>
        <p:spPr bwMode="auto">
          <a:xfrm>
            <a:off x="238273" y="3048000"/>
            <a:ext cx="2206490" cy="1428979"/>
          </a:xfrm>
          <a:prstGeom prst="rect">
            <a:avLst/>
          </a:prstGeom>
          <a:noFill/>
          <a:ln>
            <a:noFill/>
          </a:ln>
        </p:spPr>
      </p:pic>
      <p:sp>
        <p:nvSpPr>
          <p:cNvPr id="19" name="TextBox 18"/>
          <p:cNvSpPr txBox="1"/>
          <p:nvPr/>
        </p:nvSpPr>
        <p:spPr>
          <a:xfrm>
            <a:off x="2959761" y="3344625"/>
            <a:ext cx="461986" cy="707886"/>
          </a:xfrm>
          <a:prstGeom prst="rect">
            <a:avLst/>
          </a:prstGeom>
          <a:noFill/>
        </p:spPr>
        <p:txBody>
          <a:bodyPr wrap="none" rtlCol="0">
            <a:spAutoFit/>
          </a:bodyPr>
          <a:lstStyle/>
          <a:p>
            <a:pPr algn="ctr" rtl="1"/>
            <a:r>
              <a:rPr lang="fa-IR" sz="4000" dirty="0">
                <a:latin typeface="Times New Roman" panose="02020603050405020304" pitchFamily="18" charset="0"/>
                <a:cs typeface="B Nasim" panose="00000700000000000000" pitchFamily="2" charset="-78"/>
              </a:rPr>
              <a:t>+</a:t>
            </a:r>
          </a:p>
        </p:txBody>
      </p:sp>
      <p:sp>
        <p:nvSpPr>
          <p:cNvPr id="28" name="TextBox 27"/>
          <p:cNvSpPr txBox="1"/>
          <p:nvPr/>
        </p:nvSpPr>
        <p:spPr>
          <a:xfrm>
            <a:off x="3744631" y="4830312"/>
            <a:ext cx="2272812" cy="523220"/>
          </a:xfrm>
          <a:prstGeom prst="rect">
            <a:avLst/>
          </a:prstGeom>
          <a:noFill/>
        </p:spPr>
        <p:txBody>
          <a:bodyPr wrap="square" rtlCol="0">
            <a:spAutoFit/>
          </a:bodyPr>
          <a:lstStyle/>
          <a:p>
            <a:pPr algn="ctr" rtl="1"/>
            <a:r>
              <a:rPr lang="fa-IR" sz="1400" dirty="0">
                <a:latin typeface="Times New Roman" panose="02020603050405020304" pitchFamily="18" charset="0"/>
                <a:cs typeface="B Lotus" panose="00000400000000000000" pitchFamily="2" charset="-78"/>
              </a:rPr>
              <a:t>الگوریتم </a:t>
            </a:r>
            <a:r>
              <a:rPr lang="en-US" sz="1400" dirty="0">
                <a:latin typeface="Times New Roman" panose="02020603050405020304" pitchFamily="18" charset="0"/>
                <a:cs typeface="B Lotus" panose="00000400000000000000" pitchFamily="2" charset="-78"/>
              </a:rPr>
              <a:t>DBSCAN</a:t>
            </a:r>
            <a:r>
              <a:rPr lang="fa-IR" sz="1400" dirty="0">
                <a:latin typeface="Times New Roman" panose="02020603050405020304" pitchFamily="18" charset="0"/>
                <a:cs typeface="B Lotus" panose="00000400000000000000" pitchFamily="2" charset="-78"/>
              </a:rPr>
              <a:t> بمنظور یافتن نزدیکترین و دورترین نقاط به یکدیگر</a:t>
            </a:r>
            <a:endParaRPr lang="en-US" sz="1400" dirty="0">
              <a:latin typeface="Times New Roman" panose="02020603050405020304" pitchFamily="18" charset="0"/>
              <a:cs typeface="B Lotus" panose="00000400000000000000" pitchFamily="2" charset="-78"/>
            </a:endParaRPr>
          </a:p>
        </p:txBody>
      </p:sp>
      <p:grpSp>
        <p:nvGrpSpPr>
          <p:cNvPr id="25" name="Group 24"/>
          <p:cNvGrpSpPr/>
          <p:nvPr/>
        </p:nvGrpSpPr>
        <p:grpSpPr>
          <a:xfrm>
            <a:off x="7406615" y="3341125"/>
            <a:ext cx="1057224" cy="1198909"/>
            <a:chOff x="7554537" y="3065788"/>
            <a:chExt cx="1057224" cy="1198909"/>
          </a:xfrm>
        </p:grpSpPr>
        <p:pic>
          <p:nvPicPr>
            <p:cNvPr id="21" name="Picture 20"/>
            <p:cNvPicPr>
              <a:picLocks noChangeAspect="1"/>
            </p:cNvPicPr>
            <p:nvPr/>
          </p:nvPicPr>
          <p:blipFill>
            <a:blip r:embed="rId4"/>
            <a:stretch>
              <a:fillRect/>
            </a:stretch>
          </p:blipFill>
          <p:spPr>
            <a:xfrm>
              <a:off x="7554537" y="3194958"/>
              <a:ext cx="247650" cy="250160"/>
            </a:xfrm>
            <a:prstGeom prst="rect">
              <a:avLst/>
            </a:prstGeom>
          </p:spPr>
        </p:pic>
        <p:pic>
          <p:nvPicPr>
            <p:cNvPr id="22" name="Picture 21"/>
            <p:cNvPicPr>
              <a:picLocks noChangeAspect="1"/>
            </p:cNvPicPr>
            <p:nvPr/>
          </p:nvPicPr>
          <p:blipFill>
            <a:blip r:embed="rId5"/>
            <a:stretch>
              <a:fillRect/>
            </a:stretch>
          </p:blipFill>
          <p:spPr>
            <a:xfrm>
              <a:off x="7999857" y="3065788"/>
              <a:ext cx="610743" cy="586411"/>
            </a:xfrm>
            <a:prstGeom prst="rect">
              <a:avLst/>
            </a:prstGeom>
          </p:spPr>
        </p:pic>
        <p:pic>
          <p:nvPicPr>
            <p:cNvPr id="24" name="Picture 23"/>
            <p:cNvPicPr>
              <a:picLocks noChangeAspect="1"/>
            </p:cNvPicPr>
            <p:nvPr/>
          </p:nvPicPr>
          <p:blipFill>
            <a:blip r:embed="rId6"/>
            <a:stretch>
              <a:fillRect/>
            </a:stretch>
          </p:blipFill>
          <p:spPr>
            <a:xfrm>
              <a:off x="7999857" y="3783397"/>
              <a:ext cx="611904" cy="481300"/>
            </a:xfrm>
            <a:prstGeom prst="rect">
              <a:avLst/>
            </a:prstGeom>
          </p:spPr>
        </p:pic>
        <p:pic>
          <p:nvPicPr>
            <p:cNvPr id="38" name="Picture 37"/>
            <p:cNvPicPr>
              <a:picLocks noChangeAspect="1"/>
            </p:cNvPicPr>
            <p:nvPr/>
          </p:nvPicPr>
          <p:blipFill>
            <a:blip r:embed="rId4"/>
            <a:stretch>
              <a:fillRect/>
            </a:stretch>
          </p:blipFill>
          <p:spPr>
            <a:xfrm>
              <a:off x="7560281" y="3895149"/>
              <a:ext cx="247650" cy="250160"/>
            </a:xfrm>
            <a:prstGeom prst="rect">
              <a:avLst/>
            </a:prstGeom>
          </p:spPr>
        </p:pic>
      </p:grpSp>
      <p:sp>
        <p:nvSpPr>
          <p:cNvPr id="39" name="TextBox 38"/>
          <p:cNvSpPr txBox="1"/>
          <p:nvPr/>
        </p:nvSpPr>
        <p:spPr>
          <a:xfrm>
            <a:off x="6429632" y="3344625"/>
            <a:ext cx="461986" cy="707886"/>
          </a:xfrm>
          <a:prstGeom prst="rect">
            <a:avLst/>
          </a:prstGeom>
          <a:noFill/>
        </p:spPr>
        <p:txBody>
          <a:bodyPr wrap="none" rtlCol="0">
            <a:spAutoFit/>
          </a:bodyPr>
          <a:lstStyle/>
          <a:p>
            <a:pPr algn="ctr" rtl="1"/>
            <a:r>
              <a:rPr lang="fa-IR" sz="4000" dirty="0">
                <a:latin typeface="Times New Roman" panose="02020603050405020304" pitchFamily="18" charset="0"/>
                <a:cs typeface="B Nasim" panose="00000700000000000000" pitchFamily="2" charset="-78"/>
              </a:rPr>
              <a:t>+</a:t>
            </a:r>
          </a:p>
        </p:txBody>
      </p:sp>
      <p:sp>
        <p:nvSpPr>
          <p:cNvPr id="41" name="TextBox 40"/>
          <p:cNvSpPr txBox="1"/>
          <p:nvPr/>
        </p:nvSpPr>
        <p:spPr>
          <a:xfrm>
            <a:off x="6866875" y="4739209"/>
            <a:ext cx="2272812" cy="307777"/>
          </a:xfrm>
          <a:prstGeom prst="rect">
            <a:avLst/>
          </a:prstGeom>
          <a:noFill/>
        </p:spPr>
        <p:txBody>
          <a:bodyPr wrap="square" rtlCol="0">
            <a:spAutoFit/>
          </a:bodyPr>
          <a:lstStyle/>
          <a:p>
            <a:pPr algn="ctr" rtl="1"/>
            <a:r>
              <a:rPr lang="fa-IR" sz="1400" dirty="0">
                <a:latin typeface="Times New Roman" panose="02020603050405020304" pitchFamily="18" charset="0"/>
                <a:cs typeface="B Lotus" panose="00000400000000000000" pitchFamily="2" charset="-78"/>
              </a:rPr>
              <a:t>شبیه سازی و پیاده سازی عملی</a:t>
            </a:r>
            <a:endParaRPr lang="en-US" sz="1400" dirty="0">
              <a:latin typeface="Times New Roman" panose="02020603050405020304" pitchFamily="18" charset="0"/>
              <a:cs typeface="B Lotus" panose="00000400000000000000" pitchFamily="2" charset="-78"/>
            </a:endParaRPr>
          </a:p>
        </p:txBody>
      </p:sp>
      <p:pic>
        <p:nvPicPr>
          <p:cNvPr id="4" name="Picture 3"/>
          <p:cNvPicPr>
            <a:picLocks noChangeAspect="1"/>
          </p:cNvPicPr>
          <p:nvPr/>
        </p:nvPicPr>
        <p:blipFill>
          <a:blip r:embed="rId7"/>
          <a:stretch>
            <a:fillRect/>
          </a:stretch>
        </p:blipFill>
        <p:spPr>
          <a:xfrm>
            <a:off x="4154756" y="3034951"/>
            <a:ext cx="1452563" cy="1452563"/>
          </a:xfrm>
          <a:prstGeom prst="rect">
            <a:avLst/>
          </a:prstGeom>
        </p:spPr>
      </p:pic>
      <p:sp>
        <p:nvSpPr>
          <p:cNvPr id="40" name="AutoShape 8">
            <a:extLst>
              <a:ext uri="{FF2B5EF4-FFF2-40B4-BE49-F238E27FC236}">
                <a16:creationId xmlns:a16="http://schemas.microsoft.com/office/drawing/2014/main" id="{FF901E6E-4D39-4565-9B46-60C2C5B1D5F6}"/>
              </a:ext>
            </a:extLst>
          </p:cNvPr>
          <p:cNvSpPr>
            <a:spLocks noChangeAspect="1" noChangeArrowheads="1"/>
          </p:cNvSpPr>
          <p:nvPr/>
        </p:nvSpPr>
        <p:spPr bwMode="gray">
          <a:xfrm>
            <a:off x="914399" y="1546002"/>
            <a:ext cx="7740651" cy="556259"/>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sz="1600" dirty="0">
                <a:cs typeface="B Lotus" panose="00000400000000000000" pitchFamily="2" charset="-78"/>
              </a:rPr>
              <a:t>روشی بهینه و سریع برای همسان‌سازی فعال پک باتری مستهلک با استفاده از مبدل ولتاژ</a:t>
            </a:r>
            <a:r>
              <a:rPr lang="en-US" sz="1600" dirty="0">
                <a:cs typeface="B Lotus" panose="00000400000000000000" pitchFamily="2" charset="-78"/>
              </a:rPr>
              <a:t> </a:t>
            </a:r>
            <a:r>
              <a:rPr lang="fa-IR" sz="1600" dirty="0">
                <a:cs typeface="B Lotus" panose="00000400000000000000" pitchFamily="2" charset="-78"/>
              </a:rPr>
              <a:t>دوطرفه با دامنه ولتاژ کاری وسیع</a:t>
            </a:r>
          </a:p>
          <a:p>
            <a:pPr algn="r" rtl="1" fontAlgn="base">
              <a:spcBef>
                <a:spcPct val="0"/>
              </a:spcBef>
              <a:spcAft>
                <a:spcPct val="0"/>
              </a:spcAft>
            </a:pPr>
            <a:r>
              <a:rPr lang="fa-IR" sz="1600" dirty="0">
                <a:cs typeface="B Lotus" panose="00000400000000000000" pitchFamily="2" charset="-78"/>
              </a:rPr>
              <a:t> و الگوریتم خوشه‌بندی </a:t>
            </a:r>
            <a:r>
              <a:rPr lang="en-US" sz="1600" i="1" dirty="0">
                <a:latin typeface="Times New Roman" panose="02020603050405020304" pitchFamily="18" charset="0"/>
                <a:cs typeface="Times New Roman" panose="02020603050405020304" pitchFamily="18" charset="0"/>
              </a:rPr>
              <a:t>DBSCAN</a:t>
            </a:r>
            <a:endParaRPr lang="en-US" sz="1600" dirty="0">
              <a:latin typeface="Times New Roman" panose="02020603050405020304" pitchFamily="18" charset="0"/>
              <a:cs typeface="Times New Roman" panose="02020603050405020304" pitchFamily="18" charset="0"/>
            </a:endParaRPr>
          </a:p>
        </p:txBody>
      </p:sp>
      <p:grpSp>
        <p:nvGrpSpPr>
          <p:cNvPr id="42" name="Group 23">
            <a:extLst>
              <a:ext uri="{FF2B5EF4-FFF2-40B4-BE49-F238E27FC236}">
                <a16:creationId xmlns:a16="http://schemas.microsoft.com/office/drawing/2014/main" id="{978D1582-1549-4D37-9C95-34020E281F7D}"/>
              </a:ext>
            </a:extLst>
          </p:cNvPr>
          <p:cNvGrpSpPr>
            <a:grpSpLocks noChangeAspect="1"/>
          </p:cNvGrpSpPr>
          <p:nvPr/>
        </p:nvGrpSpPr>
        <p:grpSpPr bwMode="auto">
          <a:xfrm>
            <a:off x="8473468" y="1620134"/>
            <a:ext cx="381000" cy="381000"/>
            <a:chOff x="2078" y="1680"/>
            <a:chExt cx="1615" cy="1615"/>
          </a:xfrm>
        </p:grpSpPr>
        <p:sp>
          <p:nvSpPr>
            <p:cNvPr id="43" name="Oval 24">
              <a:extLst>
                <a:ext uri="{FF2B5EF4-FFF2-40B4-BE49-F238E27FC236}">
                  <a16:creationId xmlns:a16="http://schemas.microsoft.com/office/drawing/2014/main" id="{394744AB-69AD-4039-A10B-0D8E0439243B}"/>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4" name="Oval 25">
              <a:extLst>
                <a:ext uri="{FF2B5EF4-FFF2-40B4-BE49-F238E27FC236}">
                  <a16:creationId xmlns:a16="http://schemas.microsoft.com/office/drawing/2014/main" id="{154704C5-3C92-4C99-8D43-D388A6C5B289}"/>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5" name="Oval 26">
              <a:extLst>
                <a:ext uri="{FF2B5EF4-FFF2-40B4-BE49-F238E27FC236}">
                  <a16:creationId xmlns:a16="http://schemas.microsoft.com/office/drawing/2014/main" id="{04F66D2C-385D-4CBC-8E8F-3E3A912DFC98}"/>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6" name="Oval 27">
              <a:extLst>
                <a:ext uri="{FF2B5EF4-FFF2-40B4-BE49-F238E27FC236}">
                  <a16:creationId xmlns:a16="http://schemas.microsoft.com/office/drawing/2014/main" id="{EA27390D-90C7-4FEF-9F37-D35FD2EA7723}"/>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7" name="Oval 28">
              <a:extLst>
                <a:ext uri="{FF2B5EF4-FFF2-40B4-BE49-F238E27FC236}">
                  <a16:creationId xmlns:a16="http://schemas.microsoft.com/office/drawing/2014/main" id="{5C9AFE92-58F0-4BF1-8021-7EEAC92E3206}"/>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51" name="Oval 29">
              <a:extLst>
                <a:ext uri="{FF2B5EF4-FFF2-40B4-BE49-F238E27FC236}">
                  <a16:creationId xmlns:a16="http://schemas.microsoft.com/office/drawing/2014/main" id="{1B81B5B2-AD7F-472D-BBE8-64F0040E5D5F}"/>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49"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17</a:t>
            </a:fld>
            <a:endParaRPr lang="fa-IR" sz="1800" dirty="0">
              <a:solidFill>
                <a:schemeClr val="tx1"/>
              </a:solidFill>
              <a:cs typeface="B Lotus" panose="00000400000000000000" pitchFamily="2" charset="-78"/>
            </a:endParaRPr>
          </a:p>
        </p:txBody>
      </p:sp>
      <p:pic>
        <p:nvPicPr>
          <p:cNvPr id="58" name="Picture 57" descr="پرونده:Azad University logo.png - ویکی‌پدیا، دانشنامهٔ آزاد">
            <a:extLst>
              <a:ext uri="{FF2B5EF4-FFF2-40B4-BE49-F238E27FC236}">
                <a16:creationId xmlns:a16="http://schemas.microsoft.com/office/drawing/2014/main" id="{1A9FEE44-0F48-48EE-A201-613E74B88238}"/>
              </a:ext>
            </a:extLst>
          </p:cNvPr>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59" name="AutoShape 10">
            <a:extLst>
              <a:ext uri="{FF2B5EF4-FFF2-40B4-BE49-F238E27FC236}">
                <a16:creationId xmlns:a16="http://schemas.microsoft.com/office/drawing/2014/main" id="{F6266893-797F-40B9-B7F1-28B13A3984C3}"/>
              </a:ext>
            </a:extLst>
          </p:cNvPr>
          <p:cNvSpPr>
            <a:spLocks noChangeArrowheads="1"/>
          </p:cNvSpPr>
          <p:nvPr/>
        </p:nvSpPr>
        <p:spPr bwMode="gray">
          <a:xfrm flipH="1">
            <a:off x="6246677" y="59426"/>
            <a:ext cx="2057400"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60" name="AutoShape 3">
            <a:extLst>
              <a:ext uri="{FF2B5EF4-FFF2-40B4-BE49-F238E27FC236}">
                <a16:creationId xmlns:a16="http://schemas.microsoft.com/office/drawing/2014/main" id="{3450B81F-1BA9-4F41-945E-CF31FD6A1BE2}"/>
              </a:ext>
            </a:extLst>
          </p:cNvPr>
          <p:cNvSpPr>
            <a:spLocks noChangeArrowheads="1"/>
          </p:cNvSpPr>
          <p:nvPr/>
        </p:nvSpPr>
        <p:spPr bwMode="gray">
          <a:xfrm flipH="1">
            <a:off x="4188613" y="57140"/>
            <a:ext cx="2056086" cy="651510"/>
          </a:xfrm>
          <a:prstGeom prst="chevron">
            <a:avLst>
              <a:gd name="adj" fmla="val 17009"/>
            </a:avLst>
          </a:prstGeom>
          <a:solidFill>
            <a:srgbClr val="2842AE"/>
          </a:soli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dirty="0">
              <a:ln>
                <a:noFill/>
              </a:ln>
              <a:solidFill>
                <a:srgbClr val="3D81BF"/>
              </a:solidFill>
              <a:effectLst/>
              <a:uLnTx/>
              <a:uFillTx/>
            </a:endParaRPr>
          </a:p>
        </p:txBody>
      </p:sp>
      <p:sp>
        <p:nvSpPr>
          <p:cNvPr id="61" name="AutoShape 3">
            <a:extLst>
              <a:ext uri="{FF2B5EF4-FFF2-40B4-BE49-F238E27FC236}">
                <a16:creationId xmlns:a16="http://schemas.microsoft.com/office/drawing/2014/main" id="{278C3753-7E5F-4A07-84E8-FA915CB0CE87}"/>
              </a:ext>
            </a:extLst>
          </p:cNvPr>
          <p:cNvSpPr>
            <a:spLocks noChangeArrowheads="1"/>
          </p:cNvSpPr>
          <p:nvPr/>
        </p:nvSpPr>
        <p:spPr bwMode="gray">
          <a:xfrm flipH="1">
            <a:off x="2588411" y="57141"/>
            <a:ext cx="1600202"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62" name="AutoShape 3">
            <a:extLst>
              <a:ext uri="{FF2B5EF4-FFF2-40B4-BE49-F238E27FC236}">
                <a16:creationId xmlns:a16="http://schemas.microsoft.com/office/drawing/2014/main" id="{B202AEB4-F766-4F6D-9D49-804AECBBBB79}"/>
              </a:ext>
            </a:extLst>
          </p:cNvPr>
          <p:cNvSpPr>
            <a:spLocks noChangeArrowheads="1"/>
          </p:cNvSpPr>
          <p:nvPr/>
        </p:nvSpPr>
        <p:spPr bwMode="gray">
          <a:xfrm flipH="1">
            <a:off x="161661" y="57140"/>
            <a:ext cx="2426749"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63" name="Rectangle 62">
            <a:extLst>
              <a:ext uri="{FF2B5EF4-FFF2-40B4-BE49-F238E27FC236}">
                <a16:creationId xmlns:a16="http://schemas.microsoft.com/office/drawing/2014/main" id="{89552ECA-1CA1-40F1-A87E-809897E322A0}"/>
              </a:ext>
            </a:extLst>
          </p:cNvPr>
          <p:cNvSpPr/>
          <p:nvPr/>
        </p:nvSpPr>
        <p:spPr>
          <a:xfrm>
            <a:off x="403231" y="91457"/>
            <a:ext cx="2056085"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طراحی و پیاده سازی همسان ساز پیشنهادی</a:t>
            </a:r>
          </a:p>
        </p:txBody>
      </p:sp>
      <p:sp>
        <p:nvSpPr>
          <p:cNvPr id="64" name="Rectangle 63">
            <a:extLst>
              <a:ext uri="{FF2B5EF4-FFF2-40B4-BE49-F238E27FC236}">
                <a16:creationId xmlns:a16="http://schemas.microsoft.com/office/drawing/2014/main" id="{2A9B9FDD-FEF5-46D3-8995-5604A1B4B80E}"/>
              </a:ext>
            </a:extLst>
          </p:cNvPr>
          <p:cNvSpPr/>
          <p:nvPr/>
        </p:nvSpPr>
        <p:spPr>
          <a:xfrm>
            <a:off x="2636749" y="78259"/>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پیشنهادی</a:t>
            </a:r>
          </a:p>
        </p:txBody>
      </p:sp>
      <p:sp>
        <p:nvSpPr>
          <p:cNvPr id="65" name="Rectangle 64">
            <a:extLst>
              <a:ext uri="{FF2B5EF4-FFF2-40B4-BE49-F238E27FC236}">
                <a16:creationId xmlns:a16="http://schemas.microsoft.com/office/drawing/2014/main" id="{4756B784-8B4C-449F-AE9D-2B6BBC518073}"/>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باتری</a:t>
            </a:r>
          </a:p>
        </p:txBody>
      </p:sp>
      <p:sp>
        <p:nvSpPr>
          <p:cNvPr id="66" name="Rectangle 65">
            <a:extLst>
              <a:ext uri="{FF2B5EF4-FFF2-40B4-BE49-F238E27FC236}">
                <a16:creationId xmlns:a16="http://schemas.microsoft.com/office/drawing/2014/main" id="{E9011965-C922-40BF-B928-2A7E03BC5CDA}"/>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a:solidFill>
                  <a:srgbClr val="FFFFFF"/>
                </a:solidFill>
                <a:latin typeface="Times New Roman" panose="02020603050405020304" pitchFamily="18" charset="0"/>
                <a:cs typeface="B Nazanin" pitchFamily="2" charset="-78"/>
              </a:rPr>
              <a:t>باتری ها</a:t>
            </a:r>
            <a:endParaRPr lang="en-US" sz="1500" b="1" kern="0" dirty="0">
              <a:solidFill>
                <a:srgbClr val="FFFFFF"/>
              </a:solidFill>
              <a:latin typeface="Times New Roman" panose="02020603050405020304" pitchFamily="18" charset="0"/>
              <a:cs typeface="B Nazanin" pitchFamily="2" charset="-78"/>
            </a:endParaRPr>
          </a:p>
        </p:txBody>
      </p:sp>
      <p:sp>
        <p:nvSpPr>
          <p:cNvPr id="67" name="Rounded Rectangle 175">
            <a:extLst>
              <a:ext uri="{FF2B5EF4-FFF2-40B4-BE49-F238E27FC236}">
                <a16:creationId xmlns:a16="http://schemas.microsoft.com/office/drawing/2014/main" id="{5ED324C1-9E82-4B7C-8E12-63B5A59FFFC0}"/>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همسان سازی باتری</a:t>
            </a:r>
          </a:p>
        </p:txBody>
      </p:sp>
    </p:spTree>
    <p:extLst>
      <p:ext uri="{BB962C8B-B14F-4D97-AF65-F5344CB8AC3E}">
        <p14:creationId xmlns:p14="http://schemas.microsoft.com/office/powerpoint/2010/main" val="241021287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AutoShape 3">
            <a:extLst>
              <a:ext uri="{FF2B5EF4-FFF2-40B4-BE49-F238E27FC236}">
                <a16:creationId xmlns:a16="http://schemas.microsoft.com/office/drawing/2014/main" id="{2E7CFF1D-4628-454A-8E3A-7632D84A13A7}"/>
              </a:ext>
            </a:extLst>
          </p:cNvPr>
          <p:cNvSpPr>
            <a:spLocks noChangeArrowheads="1"/>
          </p:cNvSpPr>
          <p:nvPr/>
        </p:nvSpPr>
        <p:spPr bwMode="gray">
          <a:xfrm flipH="1">
            <a:off x="161661" y="57140"/>
            <a:ext cx="2426749"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 name="Rectangle 2">
            <a:extLst>
              <a:ext uri="{FF2B5EF4-FFF2-40B4-BE49-F238E27FC236}">
                <a16:creationId xmlns:a16="http://schemas.microsoft.com/office/drawing/2014/main" id="{DBC95E25-1BC4-4BA6-800E-CB747C68872A}"/>
              </a:ext>
            </a:extLst>
          </p:cNvPr>
          <p:cNvSpPr/>
          <p:nvPr/>
        </p:nvSpPr>
        <p:spPr>
          <a:xfrm>
            <a:off x="1552854" y="6104824"/>
            <a:ext cx="5049780" cy="369332"/>
          </a:xfrm>
          <a:prstGeom prst="rect">
            <a:avLst/>
          </a:prstGeom>
        </p:spPr>
        <p:txBody>
          <a:bodyPr wrap="none">
            <a:spAutoFit/>
          </a:bodyPr>
          <a:lstStyle/>
          <a:p>
            <a:pPr algn="ctr" rtl="1"/>
            <a:r>
              <a:rPr lang="fa-IR" dirty="0">
                <a:latin typeface="Times New Roman" panose="02020603050405020304" pitchFamily="18" charset="0"/>
                <a:ea typeface="Calibri" panose="020F0502020204030204" pitchFamily="34" charset="0"/>
                <a:cs typeface="B Lotus" panose="00000400000000000000" pitchFamily="2" charset="-78"/>
              </a:rPr>
              <a:t>شکل 13 </a:t>
            </a:r>
            <a:r>
              <a:rPr lang="fa-IR" dirty="0">
                <a:latin typeface="Times New Roman" panose="02020603050405020304" pitchFamily="18" charset="0"/>
                <a:cs typeface="B Lotus" panose="00000400000000000000" pitchFamily="2" charset="-78"/>
              </a:rPr>
              <a:t>نحوه خوشه بندی</a:t>
            </a:r>
            <a:r>
              <a:rPr lang="en-US" dirty="0">
                <a:latin typeface="Times New Roman" panose="02020603050405020304" pitchFamily="18" charset="0"/>
                <a:cs typeface="B Lotus" panose="00000400000000000000" pitchFamily="2" charset="-78"/>
              </a:rPr>
              <a:t>DBSCAN</a:t>
            </a:r>
            <a:r>
              <a:rPr lang="fa-IR" dirty="0">
                <a:latin typeface="Times New Roman" panose="02020603050405020304" pitchFamily="18" charset="0"/>
                <a:cs typeface="B Lotus" panose="00000400000000000000" pitchFamily="2" charset="-78"/>
              </a:rPr>
              <a:t> به شعاع </a:t>
            </a:r>
            <a:r>
              <a:rPr lang="en-US" b="1" dirty="0"/>
              <a:t>ɛ</a:t>
            </a:r>
            <a:r>
              <a:rPr lang="fa-IR" dirty="0">
                <a:latin typeface="Times New Roman" panose="02020603050405020304" pitchFamily="18" charset="0"/>
                <a:cs typeface="B Lotus" panose="00000400000000000000" pitchFamily="2" charset="-78"/>
              </a:rPr>
              <a:t> و حداقل نقاط 5.</a:t>
            </a:r>
            <a:endParaRPr lang="en-US" dirty="0"/>
          </a:p>
        </p:txBody>
      </p:sp>
      <p:sp>
        <p:nvSpPr>
          <p:cNvPr id="34" name="Rectangle 33"/>
          <p:cNvSpPr/>
          <p:nvPr/>
        </p:nvSpPr>
        <p:spPr>
          <a:xfrm>
            <a:off x="148663" y="916237"/>
            <a:ext cx="6861738" cy="523220"/>
          </a:xfrm>
          <a:prstGeom prst="rect">
            <a:avLst/>
          </a:prstGeom>
        </p:spPr>
        <p:txBody>
          <a:bodyPr wrap="square">
            <a:spAutoFit/>
          </a:bodyPr>
          <a:lstStyle/>
          <a:p>
            <a:pPr algn="r" rtl="1" fontAlgn="base">
              <a:spcBef>
                <a:spcPct val="0"/>
              </a:spcBef>
              <a:spcAft>
                <a:spcPct val="0"/>
              </a:spcAft>
            </a:pPr>
            <a:r>
              <a:rPr lang="fa-IR" sz="1400" dirty="0">
                <a:cs typeface="B Lotus" panose="00000400000000000000" pitchFamily="2" charset="-78"/>
              </a:rPr>
              <a:t>روشی بهینه و سریع برای همسان‌سازی فعال پک باتری مستهلک با استفاده از مبدل ولتاژ</a:t>
            </a:r>
            <a:r>
              <a:rPr lang="en-US" sz="1400" dirty="0">
                <a:cs typeface="B Lotus" panose="00000400000000000000" pitchFamily="2" charset="-78"/>
              </a:rPr>
              <a:t> </a:t>
            </a:r>
            <a:r>
              <a:rPr lang="fa-IR" sz="1400" dirty="0">
                <a:cs typeface="B Lotus" panose="00000400000000000000" pitchFamily="2" charset="-78"/>
              </a:rPr>
              <a:t>دوطرفه با دامنه ولتاژ کاری وسیع و الگوریتم خوشه‌بندی </a:t>
            </a:r>
            <a:r>
              <a:rPr lang="en-US" sz="1400" i="1" dirty="0">
                <a:latin typeface="Times New Roman" panose="02020603050405020304" pitchFamily="18" charset="0"/>
                <a:cs typeface="Times New Roman" panose="02020603050405020304" pitchFamily="18" charset="0"/>
              </a:rPr>
              <a:t>DBSCAN</a:t>
            </a:r>
            <a:endParaRPr lang="en-US" sz="1400" dirty="0">
              <a:latin typeface="Times New Roman" panose="02020603050405020304" pitchFamily="18" charset="0"/>
              <a:cs typeface="Times New Roman" panose="02020603050405020304" pitchFamily="18" charset="0"/>
            </a:endParaRPr>
          </a:p>
        </p:txBody>
      </p:sp>
      <p:grpSp>
        <p:nvGrpSpPr>
          <p:cNvPr id="8" name="Group 7"/>
          <p:cNvGrpSpPr/>
          <p:nvPr/>
        </p:nvGrpSpPr>
        <p:grpSpPr>
          <a:xfrm>
            <a:off x="575493" y="1683836"/>
            <a:ext cx="7899513" cy="3903001"/>
            <a:chOff x="533400" y="1657956"/>
            <a:chExt cx="7899513" cy="3903001"/>
          </a:xfrm>
        </p:grpSpPr>
        <p:pic>
          <p:nvPicPr>
            <p:cNvPr id="6" name="Picture 5"/>
            <p:cNvPicPr>
              <a:picLocks noChangeAspect="1"/>
            </p:cNvPicPr>
            <p:nvPr/>
          </p:nvPicPr>
          <p:blipFill rotWithShape="1">
            <a:blip r:embed="rId3"/>
            <a:srcRect l="1431"/>
            <a:stretch/>
          </p:blipFill>
          <p:spPr>
            <a:xfrm>
              <a:off x="533400" y="1657956"/>
              <a:ext cx="7899513" cy="3903001"/>
            </a:xfrm>
            <a:prstGeom prst="rect">
              <a:avLst/>
            </a:prstGeom>
          </p:spPr>
        </p:pic>
        <p:pic>
          <p:nvPicPr>
            <p:cNvPr id="7" name="Picture 6"/>
            <p:cNvPicPr>
              <a:picLocks noChangeAspect="1"/>
            </p:cNvPicPr>
            <p:nvPr/>
          </p:nvPicPr>
          <p:blipFill>
            <a:blip r:embed="rId4"/>
            <a:stretch>
              <a:fillRect/>
            </a:stretch>
          </p:blipFill>
          <p:spPr>
            <a:xfrm>
              <a:off x="2206062" y="2971800"/>
              <a:ext cx="760219" cy="1072000"/>
            </a:xfrm>
            <a:prstGeom prst="rect">
              <a:avLst/>
            </a:prstGeom>
          </p:spPr>
        </p:pic>
      </p:grpSp>
      <p:sp>
        <p:nvSpPr>
          <p:cNvPr id="26"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18</a:t>
            </a:fld>
            <a:endParaRPr lang="fa-IR" sz="1800" dirty="0">
              <a:solidFill>
                <a:schemeClr val="tx1"/>
              </a:solidFill>
              <a:cs typeface="B Lotus" panose="00000400000000000000" pitchFamily="2" charset="-78"/>
            </a:endParaRPr>
          </a:p>
        </p:txBody>
      </p:sp>
      <p:pic>
        <p:nvPicPr>
          <p:cNvPr id="30" name="Picture 29" descr="پرونده:Azad University logo.png - ویکی‌پدیا، دانشنامهٔ آزاد">
            <a:extLst>
              <a:ext uri="{FF2B5EF4-FFF2-40B4-BE49-F238E27FC236}">
                <a16:creationId xmlns:a16="http://schemas.microsoft.com/office/drawing/2014/main" id="{2F67C891-7A76-4BAB-A300-B54DFBDD9870}"/>
              </a:ext>
            </a:extLst>
          </p:cNvPr>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35" name="AutoShape 10">
            <a:extLst>
              <a:ext uri="{FF2B5EF4-FFF2-40B4-BE49-F238E27FC236}">
                <a16:creationId xmlns:a16="http://schemas.microsoft.com/office/drawing/2014/main" id="{2A2EA850-A064-4A9D-9C26-C017D368DF1D}"/>
              </a:ext>
            </a:extLst>
          </p:cNvPr>
          <p:cNvSpPr>
            <a:spLocks noChangeArrowheads="1"/>
          </p:cNvSpPr>
          <p:nvPr/>
        </p:nvSpPr>
        <p:spPr bwMode="gray">
          <a:xfrm flipH="1">
            <a:off x="6246677" y="59426"/>
            <a:ext cx="2057400"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36" name="AutoShape 3">
            <a:extLst>
              <a:ext uri="{FF2B5EF4-FFF2-40B4-BE49-F238E27FC236}">
                <a16:creationId xmlns:a16="http://schemas.microsoft.com/office/drawing/2014/main" id="{B742D6B4-C2BA-456D-8EF1-01FC0D22E95C}"/>
              </a:ext>
            </a:extLst>
          </p:cNvPr>
          <p:cNvSpPr>
            <a:spLocks noChangeArrowheads="1"/>
          </p:cNvSpPr>
          <p:nvPr/>
        </p:nvSpPr>
        <p:spPr bwMode="gray">
          <a:xfrm flipH="1">
            <a:off x="4188613" y="57140"/>
            <a:ext cx="2056086" cy="651510"/>
          </a:xfrm>
          <a:prstGeom prst="chevron">
            <a:avLst>
              <a:gd name="adj" fmla="val 17009"/>
            </a:avLst>
          </a:prstGeom>
          <a:solidFill>
            <a:srgbClr val="2842AE"/>
          </a:soli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dirty="0">
              <a:ln>
                <a:noFill/>
              </a:ln>
              <a:solidFill>
                <a:srgbClr val="3D81BF"/>
              </a:solidFill>
              <a:effectLst/>
              <a:uLnTx/>
              <a:uFillTx/>
            </a:endParaRPr>
          </a:p>
        </p:txBody>
      </p:sp>
      <p:sp>
        <p:nvSpPr>
          <p:cNvPr id="37" name="AutoShape 3">
            <a:extLst>
              <a:ext uri="{FF2B5EF4-FFF2-40B4-BE49-F238E27FC236}">
                <a16:creationId xmlns:a16="http://schemas.microsoft.com/office/drawing/2014/main" id="{A5531835-C6DF-4085-9BDC-A727B5CE3B64}"/>
              </a:ext>
            </a:extLst>
          </p:cNvPr>
          <p:cNvSpPr>
            <a:spLocks noChangeArrowheads="1"/>
          </p:cNvSpPr>
          <p:nvPr/>
        </p:nvSpPr>
        <p:spPr bwMode="gray">
          <a:xfrm flipH="1">
            <a:off x="2588411" y="57141"/>
            <a:ext cx="1600202"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8" name="Rectangle 37">
            <a:extLst>
              <a:ext uri="{FF2B5EF4-FFF2-40B4-BE49-F238E27FC236}">
                <a16:creationId xmlns:a16="http://schemas.microsoft.com/office/drawing/2014/main" id="{B51F10B5-E430-4BC2-858C-405C3B009988}"/>
              </a:ext>
            </a:extLst>
          </p:cNvPr>
          <p:cNvSpPr/>
          <p:nvPr/>
        </p:nvSpPr>
        <p:spPr>
          <a:xfrm>
            <a:off x="403231" y="91457"/>
            <a:ext cx="2056085"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طراحی و پیاده سازی همسان ساز پیشنهادی</a:t>
            </a:r>
          </a:p>
        </p:txBody>
      </p:sp>
      <p:sp>
        <p:nvSpPr>
          <p:cNvPr id="39" name="Rectangle 38">
            <a:extLst>
              <a:ext uri="{FF2B5EF4-FFF2-40B4-BE49-F238E27FC236}">
                <a16:creationId xmlns:a16="http://schemas.microsoft.com/office/drawing/2014/main" id="{BA7FD763-7392-4FB3-B13F-EF9D935A7C24}"/>
              </a:ext>
            </a:extLst>
          </p:cNvPr>
          <p:cNvSpPr/>
          <p:nvPr/>
        </p:nvSpPr>
        <p:spPr>
          <a:xfrm>
            <a:off x="2636749" y="78259"/>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پیشنهادی</a:t>
            </a:r>
          </a:p>
        </p:txBody>
      </p:sp>
      <p:sp>
        <p:nvSpPr>
          <p:cNvPr id="40" name="Rectangle 39">
            <a:extLst>
              <a:ext uri="{FF2B5EF4-FFF2-40B4-BE49-F238E27FC236}">
                <a16:creationId xmlns:a16="http://schemas.microsoft.com/office/drawing/2014/main" id="{4E566E01-C2D9-408C-9484-C0EBBF4D2C33}"/>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باتری</a:t>
            </a:r>
          </a:p>
        </p:txBody>
      </p:sp>
      <p:sp>
        <p:nvSpPr>
          <p:cNvPr id="41" name="Rectangle 40">
            <a:extLst>
              <a:ext uri="{FF2B5EF4-FFF2-40B4-BE49-F238E27FC236}">
                <a16:creationId xmlns:a16="http://schemas.microsoft.com/office/drawing/2014/main" id="{4574B186-F112-4A6C-ADFE-E46D302B236B}"/>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a:solidFill>
                  <a:srgbClr val="FFFFFF"/>
                </a:solidFill>
                <a:latin typeface="Times New Roman" panose="02020603050405020304" pitchFamily="18" charset="0"/>
                <a:cs typeface="B Nazanin" pitchFamily="2" charset="-78"/>
              </a:rPr>
              <a:t>باتری ها</a:t>
            </a:r>
            <a:endParaRPr lang="en-US" sz="1500" b="1" kern="0" dirty="0">
              <a:solidFill>
                <a:srgbClr val="FFFFFF"/>
              </a:solidFill>
              <a:latin typeface="Times New Roman" panose="02020603050405020304" pitchFamily="18" charset="0"/>
              <a:cs typeface="B Nazanin" pitchFamily="2" charset="-78"/>
            </a:endParaRPr>
          </a:p>
        </p:txBody>
      </p:sp>
      <p:sp>
        <p:nvSpPr>
          <p:cNvPr id="42" name="Rounded Rectangle 175">
            <a:extLst>
              <a:ext uri="{FF2B5EF4-FFF2-40B4-BE49-F238E27FC236}">
                <a16:creationId xmlns:a16="http://schemas.microsoft.com/office/drawing/2014/main" id="{72F1F36F-BC0F-4EAB-B733-3BEB63BA174F}"/>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همسان سازی باتری</a:t>
            </a:r>
          </a:p>
        </p:txBody>
      </p:sp>
    </p:spTree>
    <p:extLst>
      <p:ext uri="{BB962C8B-B14F-4D97-AF65-F5344CB8AC3E}">
        <p14:creationId xmlns:p14="http://schemas.microsoft.com/office/powerpoint/2010/main" val="141472052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Picture 18">
            <a:extLst>
              <a:ext uri="{FF2B5EF4-FFF2-40B4-BE49-F238E27FC236}">
                <a16:creationId xmlns:a16="http://schemas.microsoft.com/office/drawing/2014/main" id="{371C0AE6-C772-4760-8F2C-92733C382053}"/>
              </a:ext>
            </a:extLst>
          </p:cNvPr>
          <p:cNvPicPr/>
          <p:nvPr/>
        </p:nvPicPr>
        <p:blipFill>
          <a:blip r:embed="rId3">
            <a:extLst>
              <a:ext uri="{28A0092B-C50C-407E-A947-70E740481C1C}">
                <a14:useLocalDpi xmlns:a14="http://schemas.microsoft.com/office/drawing/2010/main" val="0"/>
              </a:ext>
            </a:extLst>
          </a:blip>
          <a:stretch>
            <a:fillRect/>
          </a:stretch>
        </p:blipFill>
        <p:spPr>
          <a:xfrm>
            <a:off x="857165" y="1496489"/>
            <a:ext cx="7010400" cy="4451218"/>
          </a:xfrm>
          <a:prstGeom prst="rect">
            <a:avLst/>
          </a:prstGeom>
        </p:spPr>
      </p:pic>
      <p:sp>
        <p:nvSpPr>
          <p:cNvPr id="20" name="Text Box 63">
            <a:extLst>
              <a:ext uri="{FF2B5EF4-FFF2-40B4-BE49-F238E27FC236}">
                <a16:creationId xmlns:a16="http://schemas.microsoft.com/office/drawing/2014/main" id="{7DE4DEE4-712A-4CFA-A055-E6C6E9E30DE0}"/>
              </a:ext>
            </a:extLst>
          </p:cNvPr>
          <p:cNvSpPr txBox="1"/>
          <p:nvPr/>
        </p:nvSpPr>
        <p:spPr>
          <a:xfrm>
            <a:off x="1957029" y="5951813"/>
            <a:ext cx="4579620" cy="276999"/>
          </a:xfrm>
          <a:prstGeom prst="rect">
            <a:avLst/>
          </a:prstGeom>
          <a:solidFill>
            <a:prstClr val="white"/>
          </a:solidFill>
          <a:ln>
            <a:noFill/>
          </a:ln>
          <a:effectLst/>
        </p:spPr>
        <p:txBody>
          <a:bodyPr rot="0" spcFirstLastPara="0" vert="horz" wrap="square" lIns="0" tIns="0" rIns="0" bIns="0" numCol="1" spcCol="0" rtlCol="0" fromWordArt="0" anchor="t" anchorCtr="0" forceAA="0" compatLnSpc="1">
            <a:prstTxWarp prst="textNoShape">
              <a:avLst/>
            </a:prstTxWarp>
            <a:spAutoFit/>
          </a:bodyPr>
          <a:lstStyle/>
          <a:p>
            <a:pPr algn="ctr" rtl="1">
              <a:spcAft>
                <a:spcPts val="1000"/>
              </a:spcAft>
            </a:pPr>
            <a:r>
              <a:rPr lang="fa-IR" dirty="0">
                <a:latin typeface="Times New Roman" panose="02020603050405020304" pitchFamily="18" charset="0"/>
                <a:ea typeface="Calibri" panose="020F0502020204030204" pitchFamily="34" charset="0"/>
                <a:cs typeface="B Lotus" panose="00000400000000000000" pitchFamily="2" charset="-78"/>
              </a:rPr>
              <a:t>شکل 14 </a:t>
            </a:r>
            <a:r>
              <a:rPr lang="fa-IR" i="0" dirty="0">
                <a:solidFill>
                  <a:srgbClr val="262626"/>
                </a:solidFill>
                <a:effectLst/>
                <a:latin typeface="Times New Roman" panose="02020603050405020304" pitchFamily="18" charset="0"/>
                <a:ea typeface="Calibri" panose="020F0502020204030204" pitchFamily="34" charset="0"/>
                <a:cs typeface="B Lotus" panose="00000400000000000000" pitchFamily="2" charset="-78"/>
              </a:rPr>
              <a:t>دیاگرام </a:t>
            </a:r>
            <a:r>
              <a:rPr lang="fa-IR" sz="1600" i="0" dirty="0">
                <a:solidFill>
                  <a:srgbClr val="262626"/>
                </a:solidFill>
                <a:effectLst/>
                <a:latin typeface="Times New Roman" panose="02020603050405020304" pitchFamily="18" charset="0"/>
                <a:ea typeface="Calibri" panose="020F0502020204030204" pitchFamily="34" charset="0"/>
                <a:cs typeface="B Lotus" panose="00000400000000000000" pitchFamily="2" charset="-78"/>
              </a:rPr>
              <a:t>الگوریتم</a:t>
            </a:r>
            <a:r>
              <a:rPr lang="fa-IR" i="0" dirty="0">
                <a:solidFill>
                  <a:srgbClr val="262626"/>
                </a:solidFill>
                <a:effectLst/>
                <a:latin typeface="Times New Roman" panose="02020603050405020304" pitchFamily="18" charset="0"/>
                <a:ea typeface="Calibri" panose="020F0502020204030204" pitchFamily="34" charset="0"/>
                <a:cs typeface="B Lotus" panose="00000400000000000000" pitchFamily="2" charset="-78"/>
              </a:rPr>
              <a:t> همسان‌سازی پیشنهادی </a:t>
            </a:r>
            <a:r>
              <a:rPr lang="fa-IR" dirty="0">
                <a:solidFill>
                  <a:srgbClr val="61D6FF"/>
                </a:solidFill>
                <a:latin typeface="Times New Roman" panose="02020603050405020304" pitchFamily="18" charset="0"/>
                <a:ea typeface="Calibri" panose="020F0502020204030204" pitchFamily="34" charset="0"/>
                <a:cs typeface="B Lotus" panose="00000400000000000000" pitchFamily="2" charset="-78"/>
              </a:rPr>
              <a:t>[4]</a:t>
            </a:r>
            <a:r>
              <a:rPr lang="fa-IR" dirty="0">
                <a:latin typeface="Times New Roman" panose="02020603050405020304" pitchFamily="18" charset="0"/>
                <a:ea typeface="Calibri" panose="020F0502020204030204" pitchFamily="34" charset="0"/>
                <a:cs typeface="B Lotus" panose="00000400000000000000" pitchFamily="2" charset="-78"/>
              </a:rPr>
              <a:t>.</a:t>
            </a:r>
            <a:r>
              <a:rPr lang="fa-IR" i="0" dirty="0">
                <a:solidFill>
                  <a:srgbClr val="262626"/>
                </a:solidFill>
                <a:effectLst/>
                <a:latin typeface="Times New Roman" panose="02020603050405020304" pitchFamily="18" charset="0"/>
                <a:ea typeface="Calibri" panose="020F0502020204030204" pitchFamily="34" charset="0"/>
                <a:cs typeface="B Lotus" panose="00000400000000000000" pitchFamily="2" charset="-78"/>
              </a:rPr>
              <a:t> </a:t>
            </a:r>
            <a:endParaRPr lang="en-US" i="0" dirty="0">
              <a:solidFill>
                <a:srgbClr val="262626"/>
              </a:solidFill>
              <a:effectLst/>
              <a:latin typeface="Times New Roman" panose="02020603050405020304" pitchFamily="18" charset="0"/>
              <a:ea typeface="Calibri" panose="020F0502020204030204" pitchFamily="34" charset="0"/>
              <a:cs typeface="B Lotus" panose="00000400000000000000" pitchFamily="2" charset="-78"/>
            </a:endParaRPr>
          </a:p>
        </p:txBody>
      </p:sp>
      <p:sp>
        <p:nvSpPr>
          <p:cNvPr id="51" name="Rectangle 50"/>
          <p:cNvSpPr/>
          <p:nvPr/>
        </p:nvSpPr>
        <p:spPr>
          <a:xfrm>
            <a:off x="148663" y="916237"/>
            <a:ext cx="6861738" cy="523220"/>
          </a:xfrm>
          <a:prstGeom prst="rect">
            <a:avLst/>
          </a:prstGeom>
        </p:spPr>
        <p:txBody>
          <a:bodyPr wrap="square">
            <a:spAutoFit/>
          </a:bodyPr>
          <a:lstStyle/>
          <a:p>
            <a:pPr algn="r" rtl="1" fontAlgn="base">
              <a:spcBef>
                <a:spcPct val="0"/>
              </a:spcBef>
              <a:spcAft>
                <a:spcPct val="0"/>
              </a:spcAft>
            </a:pPr>
            <a:r>
              <a:rPr lang="fa-IR" sz="1400" dirty="0">
                <a:cs typeface="B Lotus" panose="00000400000000000000" pitchFamily="2" charset="-78"/>
              </a:rPr>
              <a:t>روشی بهینه و سریع برای همسان‌سازی فعال پک باتری مستهلک با استفاده از مبدل ولتاژ</a:t>
            </a:r>
            <a:r>
              <a:rPr lang="en-US" sz="1400" dirty="0">
                <a:cs typeface="B Lotus" panose="00000400000000000000" pitchFamily="2" charset="-78"/>
              </a:rPr>
              <a:t> </a:t>
            </a:r>
            <a:r>
              <a:rPr lang="fa-IR" sz="1400" dirty="0">
                <a:cs typeface="B Lotus" panose="00000400000000000000" pitchFamily="2" charset="-78"/>
              </a:rPr>
              <a:t>دوطرفه با دامنه ولتاژ کاری وسیع و الگوریتم خوشه‌بندی </a:t>
            </a:r>
            <a:r>
              <a:rPr lang="en-US" sz="1400" i="1" dirty="0">
                <a:latin typeface="Times New Roman" panose="02020603050405020304" pitchFamily="18" charset="0"/>
                <a:cs typeface="Times New Roman" panose="02020603050405020304" pitchFamily="18" charset="0"/>
              </a:rPr>
              <a:t>DBSCAN</a:t>
            </a:r>
            <a:endParaRPr lang="en-US" sz="1400" dirty="0">
              <a:latin typeface="Times New Roman" panose="02020603050405020304" pitchFamily="18" charset="0"/>
              <a:cs typeface="Times New Roman" panose="02020603050405020304" pitchFamily="18" charset="0"/>
            </a:endParaRPr>
          </a:p>
        </p:txBody>
      </p:sp>
      <p:sp>
        <p:nvSpPr>
          <p:cNvPr id="18"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19</a:t>
            </a:fld>
            <a:endParaRPr lang="fa-IR" sz="1800" dirty="0">
              <a:solidFill>
                <a:schemeClr val="tx1"/>
              </a:solidFill>
              <a:cs typeface="B Lotus" panose="00000400000000000000" pitchFamily="2" charset="-78"/>
            </a:endParaRPr>
          </a:p>
        </p:txBody>
      </p:sp>
      <p:sp>
        <p:nvSpPr>
          <p:cNvPr id="21" name="Rectangle 20"/>
          <p:cNvSpPr/>
          <p:nvPr/>
        </p:nvSpPr>
        <p:spPr>
          <a:xfrm>
            <a:off x="418672" y="6427113"/>
            <a:ext cx="8725328" cy="430887"/>
          </a:xfrm>
          <a:prstGeom prst="rect">
            <a:avLst/>
          </a:prstGeom>
        </p:spPr>
        <p:txBody>
          <a:bodyPr wrap="square">
            <a:spAutoFit/>
          </a:bodyPr>
          <a:lstStyle/>
          <a:p>
            <a:r>
              <a:rPr lang="en-US" sz="1100" dirty="0"/>
              <a:t>[4]         </a:t>
            </a:r>
            <a:r>
              <a:rPr lang="en-US" sz="1100" dirty="0" err="1"/>
              <a:t>Difrancesco</a:t>
            </a:r>
            <a:r>
              <a:rPr lang="en-US" sz="1100" dirty="0"/>
              <a:t>, Paul-Mark &amp; </a:t>
            </a:r>
            <a:r>
              <a:rPr lang="en-US" sz="1100" dirty="0" err="1"/>
              <a:t>Bonneau</a:t>
            </a:r>
            <a:r>
              <a:rPr lang="en-US" sz="1100" dirty="0"/>
              <a:t>, David &amp; Hutchinson, D.. (2020). The Implications of M3C2 Projection Diameter on 3D Semi-Automated </a:t>
            </a:r>
            <a:r>
              <a:rPr lang="en-US" sz="1100" dirty="0" err="1"/>
              <a:t>Rockfall</a:t>
            </a:r>
            <a:r>
              <a:rPr lang="en-US" sz="1100" dirty="0"/>
              <a:t> Extraction from Sequential Terrestrial Laser Scanning Point Clouds. Remote Sensing. 12. 1885. 10.3390/rs12111885. </a:t>
            </a:r>
            <a:endParaRPr lang="en-US" sz="1100" i="1" dirty="0"/>
          </a:p>
        </p:txBody>
      </p:sp>
      <p:sp>
        <p:nvSpPr>
          <p:cNvPr id="32" name="AutoShape 3">
            <a:extLst>
              <a:ext uri="{FF2B5EF4-FFF2-40B4-BE49-F238E27FC236}">
                <a16:creationId xmlns:a16="http://schemas.microsoft.com/office/drawing/2014/main" id="{C53EA03E-4D17-4BD5-A1D3-CA779876F9A1}"/>
              </a:ext>
            </a:extLst>
          </p:cNvPr>
          <p:cNvSpPr>
            <a:spLocks noChangeArrowheads="1"/>
          </p:cNvSpPr>
          <p:nvPr/>
        </p:nvSpPr>
        <p:spPr bwMode="gray">
          <a:xfrm flipH="1">
            <a:off x="161661" y="57140"/>
            <a:ext cx="2426749"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pic>
        <p:nvPicPr>
          <p:cNvPr id="33" name="Picture 32" descr="پرونده:Azad University logo.png - ویکی‌پدیا، دانشنامهٔ آزاد">
            <a:extLst>
              <a:ext uri="{FF2B5EF4-FFF2-40B4-BE49-F238E27FC236}">
                <a16:creationId xmlns:a16="http://schemas.microsoft.com/office/drawing/2014/main" id="{551027E7-59DE-4013-9F55-C99B19434F53}"/>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34" name="AutoShape 10">
            <a:extLst>
              <a:ext uri="{FF2B5EF4-FFF2-40B4-BE49-F238E27FC236}">
                <a16:creationId xmlns:a16="http://schemas.microsoft.com/office/drawing/2014/main" id="{24F8D050-FD93-4E88-A90B-610AEE6684EB}"/>
              </a:ext>
            </a:extLst>
          </p:cNvPr>
          <p:cNvSpPr>
            <a:spLocks noChangeArrowheads="1"/>
          </p:cNvSpPr>
          <p:nvPr/>
        </p:nvSpPr>
        <p:spPr bwMode="gray">
          <a:xfrm flipH="1">
            <a:off x="6246677" y="59426"/>
            <a:ext cx="2057400"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35" name="AutoShape 3">
            <a:extLst>
              <a:ext uri="{FF2B5EF4-FFF2-40B4-BE49-F238E27FC236}">
                <a16:creationId xmlns:a16="http://schemas.microsoft.com/office/drawing/2014/main" id="{F98670FB-AB73-4AA8-88C0-C2D4EEFC9BE3}"/>
              </a:ext>
            </a:extLst>
          </p:cNvPr>
          <p:cNvSpPr>
            <a:spLocks noChangeArrowheads="1"/>
          </p:cNvSpPr>
          <p:nvPr/>
        </p:nvSpPr>
        <p:spPr bwMode="gray">
          <a:xfrm flipH="1">
            <a:off x="4188613" y="57140"/>
            <a:ext cx="2056086" cy="651510"/>
          </a:xfrm>
          <a:prstGeom prst="chevron">
            <a:avLst>
              <a:gd name="adj" fmla="val 17009"/>
            </a:avLst>
          </a:prstGeom>
          <a:solidFill>
            <a:srgbClr val="2842AE"/>
          </a:soli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dirty="0">
              <a:ln>
                <a:noFill/>
              </a:ln>
              <a:solidFill>
                <a:srgbClr val="3D81BF"/>
              </a:solidFill>
              <a:effectLst/>
              <a:uLnTx/>
              <a:uFillTx/>
            </a:endParaRPr>
          </a:p>
        </p:txBody>
      </p:sp>
      <p:sp>
        <p:nvSpPr>
          <p:cNvPr id="49" name="AutoShape 3">
            <a:extLst>
              <a:ext uri="{FF2B5EF4-FFF2-40B4-BE49-F238E27FC236}">
                <a16:creationId xmlns:a16="http://schemas.microsoft.com/office/drawing/2014/main" id="{3C3D4D9F-E024-4576-B473-4B1EE7214194}"/>
              </a:ext>
            </a:extLst>
          </p:cNvPr>
          <p:cNvSpPr>
            <a:spLocks noChangeArrowheads="1"/>
          </p:cNvSpPr>
          <p:nvPr/>
        </p:nvSpPr>
        <p:spPr bwMode="gray">
          <a:xfrm flipH="1">
            <a:off x="2588411" y="57141"/>
            <a:ext cx="1600202"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50" name="Rectangle 49">
            <a:extLst>
              <a:ext uri="{FF2B5EF4-FFF2-40B4-BE49-F238E27FC236}">
                <a16:creationId xmlns:a16="http://schemas.microsoft.com/office/drawing/2014/main" id="{A8AAFECE-A791-4B82-98F2-159C643F76B8}"/>
              </a:ext>
            </a:extLst>
          </p:cNvPr>
          <p:cNvSpPr/>
          <p:nvPr/>
        </p:nvSpPr>
        <p:spPr>
          <a:xfrm>
            <a:off x="403231" y="91457"/>
            <a:ext cx="2056085"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طراحی و پیاده سازی همسان ساز پیشنهادی</a:t>
            </a:r>
          </a:p>
        </p:txBody>
      </p:sp>
      <p:sp>
        <p:nvSpPr>
          <p:cNvPr id="52" name="Rectangle 51">
            <a:extLst>
              <a:ext uri="{FF2B5EF4-FFF2-40B4-BE49-F238E27FC236}">
                <a16:creationId xmlns:a16="http://schemas.microsoft.com/office/drawing/2014/main" id="{36E5427D-8796-4624-BDEE-54E00504AEB2}"/>
              </a:ext>
            </a:extLst>
          </p:cNvPr>
          <p:cNvSpPr/>
          <p:nvPr/>
        </p:nvSpPr>
        <p:spPr>
          <a:xfrm>
            <a:off x="2636749" y="78259"/>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پیشنهادی</a:t>
            </a:r>
          </a:p>
        </p:txBody>
      </p:sp>
      <p:sp>
        <p:nvSpPr>
          <p:cNvPr id="53" name="Rectangle 52">
            <a:extLst>
              <a:ext uri="{FF2B5EF4-FFF2-40B4-BE49-F238E27FC236}">
                <a16:creationId xmlns:a16="http://schemas.microsoft.com/office/drawing/2014/main" id="{753064DC-3B18-47CB-A6BB-170B09C37269}"/>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باتری</a:t>
            </a:r>
          </a:p>
        </p:txBody>
      </p:sp>
      <p:sp>
        <p:nvSpPr>
          <p:cNvPr id="54" name="Rectangle 53">
            <a:extLst>
              <a:ext uri="{FF2B5EF4-FFF2-40B4-BE49-F238E27FC236}">
                <a16:creationId xmlns:a16="http://schemas.microsoft.com/office/drawing/2014/main" id="{E881CACA-1B7E-46AA-9B9F-9DAF54C6D0BA}"/>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a:solidFill>
                  <a:srgbClr val="FFFFFF"/>
                </a:solidFill>
                <a:latin typeface="Times New Roman" panose="02020603050405020304" pitchFamily="18" charset="0"/>
                <a:cs typeface="B Nazanin" pitchFamily="2" charset="-78"/>
              </a:rPr>
              <a:t>باتری ها</a:t>
            </a:r>
            <a:endParaRPr lang="en-US" sz="1500" b="1" kern="0" dirty="0">
              <a:solidFill>
                <a:srgbClr val="FFFFFF"/>
              </a:solidFill>
              <a:latin typeface="Times New Roman" panose="02020603050405020304" pitchFamily="18" charset="0"/>
              <a:cs typeface="B Nazanin" pitchFamily="2" charset="-78"/>
            </a:endParaRPr>
          </a:p>
        </p:txBody>
      </p:sp>
      <p:sp>
        <p:nvSpPr>
          <p:cNvPr id="55" name="Rounded Rectangle 175">
            <a:extLst>
              <a:ext uri="{FF2B5EF4-FFF2-40B4-BE49-F238E27FC236}">
                <a16:creationId xmlns:a16="http://schemas.microsoft.com/office/drawing/2014/main" id="{30EF608F-7EC5-4F68-8931-4D9CB88CD230}"/>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همسان سازی باتری</a:t>
            </a:r>
          </a:p>
        </p:txBody>
      </p:sp>
    </p:spTree>
    <p:extLst>
      <p:ext uri="{BB962C8B-B14F-4D97-AF65-F5344CB8AC3E}">
        <p14:creationId xmlns:p14="http://schemas.microsoft.com/office/powerpoint/2010/main" val="19165111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AutoShape 3">
            <a:extLst>
              <a:ext uri="{FF2B5EF4-FFF2-40B4-BE49-F238E27FC236}">
                <a16:creationId xmlns:a16="http://schemas.microsoft.com/office/drawing/2014/main" id="{2E7CFF1D-4628-454A-8E3A-7632D84A13A7}"/>
              </a:ext>
            </a:extLst>
          </p:cNvPr>
          <p:cNvSpPr>
            <a:spLocks noChangeArrowheads="1"/>
          </p:cNvSpPr>
          <p:nvPr/>
        </p:nvSpPr>
        <p:spPr bwMode="gray">
          <a:xfrm flipH="1">
            <a:off x="161661" y="57140"/>
            <a:ext cx="2426749"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 name="Rectangle 2">
            <a:extLst>
              <a:ext uri="{FF2B5EF4-FFF2-40B4-BE49-F238E27FC236}">
                <a16:creationId xmlns:a16="http://schemas.microsoft.com/office/drawing/2014/main" id="{DBC95E25-1BC4-4BA6-800E-CB747C68872A}"/>
              </a:ext>
            </a:extLst>
          </p:cNvPr>
          <p:cNvSpPr/>
          <p:nvPr/>
        </p:nvSpPr>
        <p:spPr>
          <a:xfrm>
            <a:off x="789173" y="6291506"/>
            <a:ext cx="6750567" cy="369332"/>
          </a:xfrm>
          <a:prstGeom prst="rect">
            <a:avLst/>
          </a:prstGeom>
        </p:spPr>
        <p:txBody>
          <a:bodyPr wrap="none">
            <a:spAutoFit/>
          </a:bodyPr>
          <a:lstStyle/>
          <a:p>
            <a:pPr algn="ctr" rtl="1"/>
            <a:r>
              <a:rPr lang="fa-IR" dirty="0">
                <a:latin typeface="Times New Roman" panose="02020603050405020304" pitchFamily="18" charset="0"/>
                <a:ea typeface="Calibri" panose="020F0502020204030204" pitchFamily="34" charset="0"/>
                <a:cs typeface="B Lotus" panose="00000400000000000000" pitchFamily="2" charset="-78"/>
              </a:rPr>
              <a:t>شکل 13 مقایسه تأثیر ضریب </a:t>
            </a:r>
            <a:r>
              <a:rPr lang="fa-IR" dirty="0" err="1">
                <a:latin typeface="Times New Roman" panose="02020603050405020304" pitchFamily="18" charset="0"/>
                <a:ea typeface="Calibri" panose="020F0502020204030204" pitchFamily="34" charset="0"/>
                <a:cs typeface="B Lotus" panose="00000400000000000000" pitchFamily="2" charset="-78"/>
              </a:rPr>
              <a:t>اپسیلون</a:t>
            </a:r>
            <a:r>
              <a:rPr lang="fa-IR" dirty="0">
                <a:latin typeface="Times New Roman" panose="02020603050405020304" pitchFamily="18" charset="0"/>
                <a:ea typeface="Calibri" panose="020F0502020204030204" pitchFamily="34" charset="0"/>
                <a:cs typeface="B Lotus" panose="00000400000000000000" pitchFamily="2" charset="-78"/>
              </a:rPr>
              <a:t> در خوشه بندی </a:t>
            </a:r>
            <a:r>
              <a:rPr lang="en-US" dirty="0">
                <a:latin typeface="Times New Roman" panose="02020603050405020304" pitchFamily="18" charset="0"/>
                <a:ea typeface="Calibri" panose="020F0502020204030204" pitchFamily="34" charset="0"/>
                <a:cs typeface="B Lotus" panose="00000400000000000000" pitchFamily="2" charset="-78"/>
              </a:rPr>
              <a:t>DBSCAN</a:t>
            </a:r>
            <a:r>
              <a:rPr lang="fa-IR" dirty="0">
                <a:latin typeface="Times New Roman" panose="02020603050405020304" pitchFamily="18" charset="0"/>
                <a:ea typeface="Calibri" panose="020F0502020204030204" pitchFamily="34" charset="0"/>
                <a:cs typeface="B Lotus" panose="00000400000000000000" pitchFamily="2" charset="-78"/>
              </a:rPr>
              <a:t> با در نظر گرفتن 5 = </a:t>
            </a:r>
            <a:r>
              <a:rPr lang="en-US" dirty="0" err="1">
                <a:latin typeface="Times New Roman" panose="02020603050405020304" pitchFamily="18" charset="0"/>
                <a:ea typeface="Calibri" panose="020F0502020204030204" pitchFamily="34" charset="0"/>
                <a:cs typeface="B Lotus" panose="00000400000000000000" pitchFamily="2" charset="-78"/>
              </a:rPr>
              <a:t>mp</a:t>
            </a:r>
            <a:r>
              <a:rPr lang="fa-IR" dirty="0">
                <a:latin typeface="Times New Roman" panose="02020603050405020304" pitchFamily="18" charset="0"/>
                <a:ea typeface="Calibri" panose="020F0502020204030204" pitchFamily="34" charset="0"/>
                <a:cs typeface="B Lotus" panose="00000400000000000000" pitchFamily="2" charset="-78"/>
              </a:rPr>
              <a:t>.</a:t>
            </a:r>
            <a:endParaRPr lang="en-US" dirty="0"/>
          </a:p>
        </p:txBody>
      </p:sp>
      <p:sp>
        <p:nvSpPr>
          <p:cNvPr id="26"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20</a:t>
            </a:fld>
            <a:endParaRPr lang="fa-IR" sz="1800" dirty="0">
              <a:solidFill>
                <a:schemeClr val="tx1"/>
              </a:solidFill>
              <a:cs typeface="B Lotus" panose="00000400000000000000" pitchFamily="2" charset="-78"/>
            </a:endParaRPr>
          </a:p>
        </p:txBody>
      </p:sp>
      <p:pic>
        <p:nvPicPr>
          <p:cNvPr id="30" name="Picture 29" descr="پرونده:Azad University logo.png - ویکی‌پدیا، دانشنامهٔ آزاد">
            <a:extLst>
              <a:ext uri="{FF2B5EF4-FFF2-40B4-BE49-F238E27FC236}">
                <a16:creationId xmlns:a16="http://schemas.microsoft.com/office/drawing/2014/main" id="{2F67C891-7A76-4BAB-A300-B54DFBDD9870}"/>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35" name="AutoShape 10">
            <a:extLst>
              <a:ext uri="{FF2B5EF4-FFF2-40B4-BE49-F238E27FC236}">
                <a16:creationId xmlns:a16="http://schemas.microsoft.com/office/drawing/2014/main" id="{2A2EA850-A064-4A9D-9C26-C017D368DF1D}"/>
              </a:ext>
            </a:extLst>
          </p:cNvPr>
          <p:cNvSpPr>
            <a:spLocks noChangeArrowheads="1"/>
          </p:cNvSpPr>
          <p:nvPr/>
        </p:nvSpPr>
        <p:spPr bwMode="gray">
          <a:xfrm flipH="1">
            <a:off x="6246677" y="59426"/>
            <a:ext cx="2057400"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36" name="AutoShape 3">
            <a:extLst>
              <a:ext uri="{FF2B5EF4-FFF2-40B4-BE49-F238E27FC236}">
                <a16:creationId xmlns:a16="http://schemas.microsoft.com/office/drawing/2014/main" id="{B742D6B4-C2BA-456D-8EF1-01FC0D22E95C}"/>
              </a:ext>
            </a:extLst>
          </p:cNvPr>
          <p:cNvSpPr>
            <a:spLocks noChangeArrowheads="1"/>
          </p:cNvSpPr>
          <p:nvPr/>
        </p:nvSpPr>
        <p:spPr bwMode="gray">
          <a:xfrm flipH="1">
            <a:off x="4200083" y="65559"/>
            <a:ext cx="2056086" cy="649224"/>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37" name="AutoShape 3">
            <a:extLst>
              <a:ext uri="{FF2B5EF4-FFF2-40B4-BE49-F238E27FC236}">
                <a16:creationId xmlns:a16="http://schemas.microsoft.com/office/drawing/2014/main" id="{A5531835-C6DF-4085-9BDC-A727B5CE3B64}"/>
              </a:ext>
            </a:extLst>
          </p:cNvPr>
          <p:cNvSpPr>
            <a:spLocks noChangeArrowheads="1"/>
          </p:cNvSpPr>
          <p:nvPr/>
        </p:nvSpPr>
        <p:spPr bwMode="gray">
          <a:xfrm flipH="1">
            <a:off x="2564242" y="54759"/>
            <a:ext cx="1600202" cy="649224"/>
          </a:xfrm>
          <a:prstGeom prst="chevron">
            <a:avLst>
              <a:gd name="adj" fmla="val 17009"/>
            </a:avLst>
          </a:prstGeom>
          <a:solidFill>
            <a:srgbClr val="2842AE"/>
          </a:soli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8" name="Rectangle 37">
            <a:extLst>
              <a:ext uri="{FF2B5EF4-FFF2-40B4-BE49-F238E27FC236}">
                <a16:creationId xmlns:a16="http://schemas.microsoft.com/office/drawing/2014/main" id="{B51F10B5-E430-4BC2-858C-405C3B009988}"/>
              </a:ext>
            </a:extLst>
          </p:cNvPr>
          <p:cNvSpPr/>
          <p:nvPr/>
        </p:nvSpPr>
        <p:spPr>
          <a:xfrm>
            <a:off x="403231" y="91457"/>
            <a:ext cx="2056085"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طراحی و پیاده سازی همسان ساز پیشنهادی</a:t>
            </a:r>
          </a:p>
        </p:txBody>
      </p:sp>
      <p:sp>
        <p:nvSpPr>
          <p:cNvPr id="39" name="Rectangle 38">
            <a:extLst>
              <a:ext uri="{FF2B5EF4-FFF2-40B4-BE49-F238E27FC236}">
                <a16:creationId xmlns:a16="http://schemas.microsoft.com/office/drawing/2014/main" id="{BA7FD763-7392-4FB3-B13F-EF9D935A7C24}"/>
              </a:ext>
            </a:extLst>
          </p:cNvPr>
          <p:cNvSpPr/>
          <p:nvPr/>
        </p:nvSpPr>
        <p:spPr>
          <a:xfrm>
            <a:off x="2636749" y="78259"/>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پیشنهادی</a:t>
            </a:r>
          </a:p>
        </p:txBody>
      </p:sp>
      <p:sp>
        <p:nvSpPr>
          <p:cNvPr id="40" name="Rectangle 39">
            <a:extLst>
              <a:ext uri="{FF2B5EF4-FFF2-40B4-BE49-F238E27FC236}">
                <a16:creationId xmlns:a16="http://schemas.microsoft.com/office/drawing/2014/main" id="{4E566E01-C2D9-408C-9484-C0EBBF4D2C33}"/>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باتری</a:t>
            </a:r>
          </a:p>
        </p:txBody>
      </p:sp>
      <p:sp>
        <p:nvSpPr>
          <p:cNvPr id="41" name="Rectangle 40">
            <a:extLst>
              <a:ext uri="{FF2B5EF4-FFF2-40B4-BE49-F238E27FC236}">
                <a16:creationId xmlns:a16="http://schemas.microsoft.com/office/drawing/2014/main" id="{4574B186-F112-4A6C-ADFE-E46D302B236B}"/>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a:solidFill>
                  <a:srgbClr val="FFFFFF"/>
                </a:solidFill>
                <a:latin typeface="Times New Roman" panose="02020603050405020304" pitchFamily="18" charset="0"/>
                <a:cs typeface="B Nazanin" pitchFamily="2" charset="-78"/>
              </a:rPr>
              <a:t>باتری ها</a:t>
            </a:r>
            <a:endParaRPr lang="en-US" sz="1500" b="1" kern="0" dirty="0">
              <a:solidFill>
                <a:srgbClr val="FFFFFF"/>
              </a:solidFill>
              <a:latin typeface="Times New Roman" panose="02020603050405020304" pitchFamily="18" charset="0"/>
              <a:cs typeface="B Nazanin" pitchFamily="2" charset="-78"/>
            </a:endParaRPr>
          </a:p>
        </p:txBody>
      </p:sp>
      <p:sp>
        <p:nvSpPr>
          <p:cNvPr id="42" name="Rounded Rectangle 175">
            <a:extLst>
              <a:ext uri="{FF2B5EF4-FFF2-40B4-BE49-F238E27FC236}">
                <a16:creationId xmlns:a16="http://schemas.microsoft.com/office/drawing/2014/main" id="{72F1F36F-BC0F-4EAB-B733-3BEB63BA174F}"/>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همسان سازی پیشنهادی</a:t>
            </a:r>
          </a:p>
        </p:txBody>
      </p:sp>
      <p:pic>
        <p:nvPicPr>
          <p:cNvPr id="9" name="Picture 8">
            <a:extLst>
              <a:ext uri="{FF2B5EF4-FFF2-40B4-BE49-F238E27FC236}">
                <a16:creationId xmlns:a16="http://schemas.microsoft.com/office/drawing/2014/main" id="{2B4C75A0-C110-4706-A399-1BE002E2002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965" y="1698668"/>
            <a:ext cx="9144000" cy="4586287"/>
          </a:xfrm>
          <a:prstGeom prst="rect">
            <a:avLst/>
          </a:prstGeom>
        </p:spPr>
      </p:pic>
    </p:spTree>
    <p:extLst>
      <p:ext uri="{BB962C8B-B14F-4D97-AF65-F5344CB8AC3E}">
        <p14:creationId xmlns:p14="http://schemas.microsoft.com/office/powerpoint/2010/main" val="370864301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AutoShape 3">
            <a:extLst>
              <a:ext uri="{FF2B5EF4-FFF2-40B4-BE49-F238E27FC236}">
                <a16:creationId xmlns:a16="http://schemas.microsoft.com/office/drawing/2014/main" id="{2E7CFF1D-4628-454A-8E3A-7632D84A13A7}"/>
              </a:ext>
            </a:extLst>
          </p:cNvPr>
          <p:cNvSpPr>
            <a:spLocks noChangeArrowheads="1"/>
          </p:cNvSpPr>
          <p:nvPr/>
        </p:nvSpPr>
        <p:spPr bwMode="gray">
          <a:xfrm flipH="1">
            <a:off x="161661" y="57140"/>
            <a:ext cx="2426749"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 name="Rectangle 2">
            <a:extLst>
              <a:ext uri="{FF2B5EF4-FFF2-40B4-BE49-F238E27FC236}">
                <a16:creationId xmlns:a16="http://schemas.microsoft.com/office/drawing/2014/main" id="{DBC95E25-1BC4-4BA6-800E-CB747C68872A}"/>
              </a:ext>
            </a:extLst>
          </p:cNvPr>
          <p:cNvSpPr/>
          <p:nvPr/>
        </p:nvSpPr>
        <p:spPr>
          <a:xfrm>
            <a:off x="1947340" y="6291506"/>
            <a:ext cx="4434226" cy="369332"/>
          </a:xfrm>
          <a:prstGeom prst="rect">
            <a:avLst/>
          </a:prstGeom>
        </p:spPr>
        <p:txBody>
          <a:bodyPr wrap="none">
            <a:spAutoFit/>
          </a:bodyPr>
          <a:lstStyle/>
          <a:p>
            <a:pPr algn="ctr" rtl="1"/>
            <a:r>
              <a:rPr lang="fa-IR" dirty="0">
                <a:latin typeface="Times New Roman" panose="02020603050405020304" pitchFamily="18" charset="0"/>
                <a:ea typeface="Calibri" panose="020F0502020204030204" pitchFamily="34" charset="0"/>
                <a:cs typeface="B Lotus" panose="00000400000000000000" pitchFamily="2" charset="-78"/>
              </a:rPr>
              <a:t>شکل 13 مقایسه تأثیر ضریب </a:t>
            </a:r>
            <a:r>
              <a:rPr lang="fa-IR" dirty="0" err="1">
                <a:latin typeface="Times New Roman" panose="02020603050405020304" pitchFamily="18" charset="0"/>
                <a:ea typeface="Calibri" panose="020F0502020204030204" pitchFamily="34" charset="0"/>
                <a:cs typeface="B Lotus" panose="00000400000000000000" pitchFamily="2" charset="-78"/>
              </a:rPr>
              <a:t>اپسیلون</a:t>
            </a:r>
            <a:r>
              <a:rPr lang="fa-IR" dirty="0">
                <a:latin typeface="Times New Roman" panose="02020603050405020304" pitchFamily="18" charset="0"/>
                <a:ea typeface="Calibri" panose="020F0502020204030204" pitchFamily="34" charset="0"/>
                <a:cs typeface="B Lotus" panose="00000400000000000000" pitchFamily="2" charset="-78"/>
              </a:rPr>
              <a:t> در نتایج همسان سازی</a:t>
            </a:r>
            <a:endParaRPr lang="en-US" dirty="0"/>
          </a:p>
        </p:txBody>
      </p:sp>
      <p:sp>
        <p:nvSpPr>
          <p:cNvPr id="26"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21</a:t>
            </a:fld>
            <a:endParaRPr lang="fa-IR" sz="1800" dirty="0">
              <a:solidFill>
                <a:schemeClr val="tx1"/>
              </a:solidFill>
              <a:cs typeface="B Lotus" panose="00000400000000000000" pitchFamily="2" charset="-78"/>
            </a:endParaRPr>
          </a:p>
        </p:txBody>
      </p:sp>
      <p:pic>
        <p:nvPicPr>
          <p:cNvPr id="30" name="Picture 29" descr="پرونده:Azad University logo.png - ویکی‌پدیا، دانشنامهٔ آزاد">
            <a:extLst>
              <a:ext uri="{FF2B5EF4-FFF2-40B4-BE49-F238E27FC236}">
                <a16:creationId xmlns:a16="http://schemas.microsoft.com/office/drawing/2014/main" id="{2F67C891-7A76-4BAB-A300-B54DFBDD9870}"/>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35" name="AutoShape 10">
            <a:extLst>
              <a:ext uri="{FF2B5EF4-FFF2-40B4-BE49-F238E27FC236}">
                <a16:creationId xmlns:a16="http://schemas.microsoft.com/office/drawing/2014/main" id="{2A2EA850-A064-4A9D-9C26-C017D368DF1D}"/>
              </a:ext>
            </a:extLst>
          </p:cNvPr>
          <p:cNvSpPr>
            <a:spLocks noChangeArrowheads="1"/>
          </p:cNvSpPr>
          <p:nvPr/>
        </p:nvSpPr>
        <p:spPr bwMode="gray">
          <a:xfrm flipH="1">
            <a:off x="6246677" y="59426"/>
            <a:ext cx="2057400"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36" name="AutoShape 3">
            <a:extLst>
              <a:ext uri="{FF2B5EF4-FFF2-40B4-BE49-F238E27FC236}">
                <a16:creationId xmlns:a16="http://schemas.microsoft.com/office/drawing/2014/main" id="{B742D6B4-C2BA-456D-8EF1-01FC0D22E95C}"/>
              </a:ext>
            </a:extLst>
          </p:cNvPr>
          <p:cNvSpPr>
            <a:spLocks noChangeArrowheads="1"/>
          </p:cNvSpPr>
          <p:nvPr/>
        </p:nvSpPr>
        <p:spPr bwMode="gray">
          <a:xfrm flipH="1">
            <a:off x="4200083" y="65559"/>
            <a:ext cx="2056086" cy="649224"/>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37" name="AutoShape 3">
            <a:extLst>
              <a:ext uri="{FF2B5EF4-FFF2-40B4-BE49-F238E27FC236}">
                <a16:creationId xmlns:a16="http://schemas.microsoft.com/office/drawing/2014/main" id="{A5531835-C6DF-4085-9BDC-A727B5CE3B64}"/>
              </a:ext>
            </a:extLst>
          </p:cNvPr>
          <p:cNvSpPr>
            <a:spLocks noChangeArrowheads="1"/>
          </p:cNvSpPr>
          <p:nvPr/>
        </p:nvSpPr>
        <p:spPr bwMode="gray">
          <a:xfrm flipH="1">
            <a:off x="2564242" y="54759"/>
            <a:ext cx="1600202" cy="649224"/>
          </a:xfrm>
          <a:prstGeom prst="chevron">
            <a:avLst>
              <a:gd name="adj" fmla="val 17009"/>
            </a:avLst>
          </a:prstGeom>
          <a:solidFill>
            <a:srgbClr val="2842AE"/>
          </a:soli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8" name="Rectangle 37">
            <a:extLst>
              <a:ext uri="{FF2B5EF4-FFF2-40B4-BE49-F238E27FC236}">
                <a16:creationId xmlns:a16="http://schemas.microsoft.com/office/drawing/2014/main" id="{B51F10B5-E430-4BC2-858C-405C3B009988}"/>
              </a:ext>
            </a:extLst>
          </p:cNvPr>
          <p:cNvSpPr/>
          <p:nvPr/>
        </p:nvSpPr>
        <p:spPr>
          <a:xfrm>
            <a:off x="403231" y="91457"/>
            <a:ext cx="2056085"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طراحی و پیاده سازی همسان ساز پیشنهادی</a:t>
            </a:r>
          </a:p>
        </p:txBody>
      </p:sp>
      <p:sp>
        <p:nvSpPr>
          <p:cNvPr id="39" name="Rectangle 38">
            <a:extLst>
              <a:ext uri="{FF2B5EF4-FFF2-40B4-BE49-F238E27FC236}">
                <a16:creationId xmlns:a16="http://schemas.microsoft.com/office/drawing/2014/main" id="{BA7FD763-7392-4FB3-B13F-EF9D935A7C24}"/>
              </a:ext>
            </a:extLst>
          </p:cNvPr>
          <p:cNvSpPr/>
          <p:nvPr/>
        </p:nvSpPr>
        <p:spPr>
          <a:xfrm>
            <a:off x="2636749" y="78259"/>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پیشنهادی</a:t>
            </a:r>
          </a:p>
        </p:txBody>
      </p:sp>
      <p:sp>
        <p:nvSpPr>
          <p:cNvPr id="40" name="Rectangle 39">
            <a:extLst>
              <a:ext uri="{FF2B5EF4-FFF2-40B4-BE49-F238E27FC236}">
                <a16:creationId xmlns:a16="http://schemas.microsoft.com/office/drawing/2014/main" id="{4E566E01-C2D9-408C-9484-C0EBBF4D2C33}"/>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باتری</a:t>
            </a:r>
          </a:p>
        </p:txBody>
      </p:sp>
      <p:sp>
        <p:nvSpPr>
          <p:cNvPr id="41" name="Rectangle 40">
            <a:extLst>
              <a:ext uri="{FF2B5EF4-FFF2-40B4-BE49-F238E27FC236}">
                <a16:creationId xmlns:a16="http://schemas.microsoft.com/office/drawing/2014/main" id="{4574B186-F112-4A6C-ADFE-E46D302B236B}"/>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a:solidFill>
                  <a:srgbClr val="FFFFFF"/>
                </a:solidFill>
                <a:latin typeface="Times New Roman" panose="02020603050405020304" pitchFamily="18" charset="0"/>
                <a:cs typeface="B Nazanin" pitchFamily="2" charset="-78"/>
              </a:rPr>
              <a:t>باتری ها</a:t>
            </a:r>
            <a:endParaRPr lang="en-US" sz="1500" b="1" kern="0" dirty="0">
              <a:solidFill>
                <a:srgbClr val="FFFFFF"/>
              </a:solidFill>
              <a:latin typeface="Times New Roman" panose="02020603050405020304" pitchFamily="18" charset="0"/>
              <a:cs typeface="B Nazanin" pitchFamily="2" charset="-78"/>
            </a:endParaRPr>
          </a:p>
        </p:txBody>
      </p:sp>
      <p:sp>
        <p:nvSpPr>
          <p:cNvPr id="42" name="Rounded Rectangle 175">
            <a:extLst>
              <a:ext uri="{FF2B5EF4-FFF2-40B4-BE49-F238E27FC236}">
                <a16:creationId xmlns:a16="http://schemas.microsoft.com/office/drawing/2014/main" id="{72F1F36F-BC0F-4EAB-B733-3BEB63BA174F}"/>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همسان سازی پیشنهادی</a:t>
            </a:r>
          </a:p>
        </p:txBody>
      </p:sp>
      <p:pic>
        <p:nvPicPr>
          <p:cNvPr id="9" name="Picture 8">
            <a:extLst>
              <a:ext uri="{FF2B5EF4-FFF2-40B4-BE49-F238E27FC236}">
                <a16:creationId xmlns:a16="http://schemas.microsoft.com/office/drawing/2014/main" id="{2B4C75A0-C110-4706-A399-1BE002E20020}"/>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38844" y="1698668"/>
            <a:ext cx="8848382" cy="4586288"/>
          </a:xfrm>
          <a:prstGeom prst="rect">
            <a:avLst/>
          </a:prstGeom>
        </p:spPr>
      </p:pic>
    </p:spTree>
    <p:extLst>
      <p:ext uri="{BB962C8B-B14F-4D97-AF65-F5344CB8AC3E}">
        <p14:creationId xmlns:p14="http://schemas.microsoft.com/office/powerpoint/2010/main" val="381762821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AutoShape 3">
            <a:extLst>
              <a:ext uri="{FF2B5EF4-FFF2-40B4-BE49-F238E27FC236}">
                <a16:creationId xmlns:a16="http://schemas.microsoft.com/office/drawing/2014/main" id="{2E7CFF1D-4628-454A-8E3A-7632D84A13A7}"/>
              </a:ext>
            </a:extLst>
          </p:cNvPr>
          <p:cNvSpPr>
            <a:spLocks noChangeArrowheads="1"/>
          </p:cNvSpPr>
          <p:nvPr/>
        </p:nvSpPr>
        <p:spPr bwMode="gray">
          <a:xfrm flipH="1">
            <a:off x="161661" y="57140"/>
            <a:ext cx="2426749"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 name="Rectangle 2">
            <a:extLst>
              <a:ext uri="{FF2B5EF4-FFF2-40B4-BE49-F238E27FC236}">
                <a16:creationId xmlns:a16="http://schemas.microsoft.com/office/drawing/2014/main" id="{DBC95E25-1BC4-4BA6-800E-CB747C68872A}"/>
              </a:ext>
            </a:extLst>
          </p:cNvPr>
          <p:cNvSpPr/>
          <p:nvPr/>
        </p:nvSpPr>
        <p:spPr>
          <a:xfrm>
            <a:off x="1947340" y="6291506"/>
            <a:ext cx="4434226" cy="369332"/>
          </a:xfrm>
          <a:prstGeom prst="rect">
            <a:avLst/>
          </a:prstGeom>
        </p:spPr>
        <p:txBody>
          <a:bodyPr wrap="none">
            <a:spAutoFit/>
          </a:bodyPr>
          <a:lstStyle/>
          <a:p>
            <a:pPr algn="ctr" rtl="1"/>
            <a:r>
              <a:rPr lang="fa-IR" dirty="0">
                <a:latin typeface="Times New Roman" panose="02020603050405020304" pitchFamily="18" charset="0"/>
                <a:ea typeface="Calibri" panose="020F0502020204030204" pitchFamily="34" charset="0"/>
                <a:cs typeface="B Lotus" panose="00000400000000000000" pitchFamily="2" charset="-78"/>
              </a:rPr>
              <a:t>شکل 13 مقایسه تأثیر ضریب </a:t>
            </a:r>
            <a:r>
              <a:rPr lang="fa-IR" dirty="0" err="1">
                <a:latin typeface="Times New Roman" panose="02020603050405020304" pitchFamily="18" charset="0"/>
                <a:ea typeface="Calibri" panose="020F0502020204030204" pitchFamily="34" charset="0"/>
                <a:cs typeface="B Lotus" panose="00000400000000000000" pitchFamily="2" charset="-78"/>
              </a:rPr>
              <a:t>اپسیلون</a:t>
            </a:r>
            <a:r>
              <a:rPr lang="fa-IR" dirty="0">
                <a:latin typeface="Times New Roman" panose="02020603050405020304" pitchFamily="18" charset="0"/>
                <a:ea typeface="Calibri" panose="020F0502020204030204" pitchFamily="34" charset="0"/>
                <a:cs typeface="B Lotus" panose="00000400000000000000" pitchFamily="2" charset="-78"/>
              </a:rPr>
              <a:t> در نتایج همسان سازی</a:t>
            </a:r>
            <a:endParaRPr lang="en-US" dirty="0"/>
          </a:p>
        </p:txBody>
      </p:sp>
      <p:sp>
        <p:nvSpPr>
          <p:cNvPr id="26"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22</a:t>
            </a:fld>
            <a:endParaRPr lang="fa-IR" sz="1800" dirty="0">
              <a:solidFill>
                <a:schemeClr val="tx1"/>
              </a:solidFill>
              <a:cs typeface="B Lotus" panose="00000400000000000000" pitchFamily="2" charset="-78"/>
            </a:endParaRPr>
          </a:p>
        </p:txBody>
      </p:sp>
      <p:pic>
        <p:nvPicPr>
          <p:cNvPr id="30" name="Picture 29" descr="پرونده:Azad University logo.png - ویکی‌پدیا، دانشنامهٔ آزاد">
            <a:extLst>
              <a:ext uri="{FF2B5EF4-FFF2-40B4-BE49-F238E27FC236}">
                <a16:creationId xmlns:a16="http://schemas.microsoft.com/office/drawing/2014/main" id="{2F67C891-7A76-4BAB-A300-B54DFBDD9870}"/>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35" name="AutoShape 10">
            <a:extLst>
              <a:ext uri="{FF2B5EF4-FFF2-40B4-BE49-F238E27FC236}">
                <a16:creationId xmlns:a16="http://schemas.microsoft.com/office/drawing/2014/main" id="{2A2EA850-A064-4A9D-9C26-C017D368DF1D}"/>
              </a:ext>
            </a:extLst>
          </p:cNvPr>
          <p:cNvSpPr>
            <a:spLocks noChangeArrowheads="1"/>
          </p:cNvSpPr>
          <p:nvPr/>
        </p:nvSpPr>
        <p:spPr bwMode="gray">
          <a:xfrm flipH="1">
            <a:off x="6246677" y="59426"/>
            <a:ext cx="2057400"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36" name="AutoShape 3">
            <a:extLst>
              <a:ext uri="{FF2B5EF4-FFF2-40B4-BE49-F238E27FC236}">
                <a16:creationId xmlns:a16="http://schemas.microsoft.com/office/drawing/2014/main" id="{B742D6B4-C2BA-456D-8EF1-01FC0D22E95C}"/>
              </a:ext>
            </a:extLst>
          </p:cNvPr>
          <p:cNvSpPr>
            <a:spLocks noChangeArrowheads="1"/>
          </p:cNvSpPr>
          <p:nvPr/>
        </p:nvSpPr>
        <p:spPr bwMode="gray">
          <a:xfrm flipH="1">
            <a:off x="4200083" y="65559"/>
            <a:ext cx="2056086" cy="649224"/>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37" name="AutoShape 3">
            <a:extLst>
              <a:ext uri="{FF2B5EF4-FFF2-40B4-BE49-F238E27FC236}">
                <a16:creationId xmlns:a16="http://schemas.microsoft.com/office/drawing/2014/main" id="{A5531835-C6DF-4085-9BDC-A727B5CE3B64}"/>
              </a:ext>
            </a:extLst>
          </p:cNvPr>
          <p:cNvSpPr>
            <a:spLocks noChangeArrowheads="1"/>
          </p:cNvSpPr>
          <p:nvPr/>
        </p:nvSpPr>
        <p:spPr bwMode="gray">
          <a:xfrm flipH="1">
            <a:off x="2564242" y="54759"/>
            <a:ext cx="1600202" cy="649224"/>
          </a:xfrm>
          <a:prstGeom prst="chevron">
            <a:avLst>
              <a:gd name="adj" fmla="val 17009"/>
            </a:avLst>
          </a:prstGeom>
          <a:solidFill>
            <a:srgbClr val="2842AE"/>
          </a:soli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8" name="Rectangle 37">
            <a:extLst>
              <a:ext uri="{FF2B5EF4-FFF2-40B4-BE49-F238E27FC236}">
                <a16:creationId xmlns:a16="http://schemas.microsoft.com/office/drawing/2014/main" id="{B51F10B5-E430-4BC2-858C-405C3B009988}"/>
              </a:ext>
            </a:extLst>
          </p:cNvPr>
          <p:cNvSpPr/>
          <p:nvPr/>
        </p:nvSpPr>
        <p:spPr>
          <a:xfrm>
            <a:off x="403231" y="91457"/>
            <a:ext cx="2056085"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طراحی و پیاده سازی همسان ساز پیشنهادی</a:t>
            </a:r>
          </a:p>
        </p:txBody>
      </p:sp>
      <p:sp>
        <p:nvSpPr>
          <p:cNvPr id="39" name="Rectangle 38">
            <a:extLst>
              <a:ext uri="{FF2B5EF4-FFF2-40B4-BE49-F238E27FC236}">
                <a16:creationId xmlns:a16="http://schemas.microsoft.com/office/drawing/2014/main" id="{BA7FD763-7392-4FB3-B13F-EF9D935A7C24}"/>
              </a:ext>
            </a:extLst>
          </p:cNvPr>
          <p:cNvSpPr/>
          <p:nvPr/>
        </p:nvSpPr>
        <p:spPr>
          <a:xfrm>
            <a:off x="2636749" y="78259"/>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پیشنهادی</a:t>
            </a:r>
          </a:p>
        </p:txBody>
      </p:sp>
      <p:sp>
        <p:nvSpPr>
          <p:cNvPr id="40" name="Rectangle 39">
            <a:extLst>
              <a:ext uri="{FF2B5EF4-FFF2-40B4-BE49-F238E27FC236}">
                <a16:creationId xmlns:a16="http://schemas.microsoft.com/office/drawing/2014/main" id="{4E566E01-C2D9-408C-9484-C0EBBF4D2C33}"/>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باتری</a:t>
            </a:r>
          </a:p>
        </p:txBody>
      </p:sp>
      <p:sp>
        <p:nvSpPr>
          <p:cNvPr id="41" name="Rectangle 40">
            <a:extLst>
              <a:ext uri="{FF2B5EF4-FFF2-40B4-BE49-F238E27FC236}">
                <a16:creationId xmlns:a16="http://schemas.microsoft.com/office/drawing/2014/main" id="{4574B186-F112-4A6C-ADFE-E46D302B236B}"/>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a:solidFill>
                  <a:srgbClr val="FFFFFF"/>
                </a:solidFill>
                <a:latin typeface="Times New Roman" panose="02020603050405020304" pitchFamily="18" charset="0"/>
                <a:cs typeface="B Nazanin" pitchFamily="2" charset="-78"/>
              </a:rPr>
              <a:t>باتری ها</a:t>
            </a:r>
            <a:endParaRPr lang="en-US" sz="1500" b="1" kern="0" dirty="0">
              <a:solidFill>
                <a:srgbClr val="FFFFFF"/>
              </a:solidFill>
              <a:latin typeface="Times New Roman" panose="02020603050405020304" pitchFamily="18" charset="0"/>
              <a:cs typeface="B Nazanin" pitchFamily="2" charset="-78"/>
            </a:endParaRPr>
          </a:p>
        </p:txBody>
      </p:sp>
      <p:sp>
        <p:nvSpPr>
          <p:cNvPr id="42" name="Rounded Rectangle 175">
            <a:extLst>
              <a:ext uri="{FF2B5EF4-FFF2-40B4-BE49-F238E27FC236}">
                <a16:creationId xmlns:a16="http://schemas.microsoft.com/office/drawing/2014/main" id="{72F1F36F-BC0F-4EAB-B733-3BEB63BA174F}"/>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همسان سازی پیشنهادی</a:t>
            </a:r>
          </a:p>
        </p:txBody>
      </p:sp>
      <p:pic>
        <p:nvPicPr>
          <p:cNvPr id="2" name="Picture 1">
            <a:extLst>
              <a:ext uri="{FF2B5EF4-FFF2-40B4-BE49-F238E27FC236}">
                <a16:creationId xmlns:a16="http://schemas.microsoft.com/office/drawing/2014/main" id="{6C503396-79A2-47A1-92ED-C6AE4EA9FF7E}"/>
              </a:ext>
            </a:extLst>
          </p:cNvPr>
          <p:cNvPicPr>
            <a:picLocks noChangeAspect="1"/>
          </p:cNvPicPr>
          <p:nvPr/>
        </p:nvPicPr>
        <p:blipFill>
          <a:blip r:embed="rId4"/>
          <a:stretch>
            <a:fillRect/>
          </a:stretch>
        </p:blipFill>
        <p:spPr>
          <a:xfrm>
            <a:off x="1300497" y="1005557"/>
            <a:ext cx="5924550" cy="5326898"/>
          </a:xfrm>
          <a:prstGeom prst="rect">
            <a:avLst/>
          </a:prstGeom>
        </p:spPr>
      </p:pic>
    </p:spTree>
    <p:extLst>
      <p:ext uri="{BB962C8B-B14F-4D97-AF65-F5344CB8AC3E}">
        <p14:creationId xmlns:p14="http://schemas.microsoft.com/office/powerpoint/2010/main" val="129734964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 name="Picture 29" descr="پرونده:Azad University logo.png - ویکی‌پدیا، دانشنامهٔ آزاد">
            <a:extLst>
              <a:ext uri="{FF2B5EF4-FFF2-40B4-BE49-F238E27FC236}">
                <a16:creationId xmlns:a16="http://schemas.microsoft.com/office/drawing/2014/main" id="{B260B773-F2C5-485B-BA12-93452E166218}"/>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 name="Rectangle 1"/>
          <p:cNvSpPr/>
          <p:nvPr/>
        </p:nvSpPr>
        <p:spPr>
          <a:xfrm>
            <a:off x="1930091" y="2967335"/>
            <a:ext cx="5283819" cy="923330"/>
          </a:xfrm>
          <a:prstGeom prst="rect">
            <a:avLst/>
          </a:prstGeom>
          <a:noFill/>
        </p:spPr>
        <p:txBody>
          <a:bodyPr wrap="none" lIns="91440" tIns="45720" rIns="91440" bIns="45720">
            <a:spAutoFit/>
          </a:bodyPr>
          <a:lstStyle/>
          <a:p>
            <a:pPr algn="ctr"/>
            <a:r>
              <a:rPr lang="fa-IR" sz="5400" b="1" dirty="0">
                <a:ln w="9525">
                  <a:solidFill>
                    <a:schemeClr val="bg1"/>
                  </a:solidFill>
                  <a:prstDash val="solid"/>
                </a:ln>
                <a:solidFill>
                  <a:schemeClr val="accent1">
                    <a:lumMod val="75000"/>
                  </a:schemeClr>
                </a:solidFill>
                <a:effectLst>
                  <a:outerShdw blurRad="12700" dist="38100" dir="2700000" algn="tl" rotWithShape="0">
                    <a:schemeClr val="bg1">
                      <a:lumMod val="50000"/>
                    </a:schemeClr>
                  </a:outerShdw>
                </a:effectLst>
                <a:cs typeface="B Nazanin" panose="00000400000000000000" pitchFamily="2" charset="-78"/>
              </a:rPr>
              <a:t>سپاس از همراهی شما</a:t>
            </a:r>
            <a:endParaRPr lang="en-US" sz="5400" b="1" dirty="0">
              <a:ln w="9525">
                <a:solidFill>
                  <a:schemeClr val="bg1"/>
                </a:solidFill>
                <a:prstDash val="solid"/>
              </a:ln>
              <a:solidFill>
                <a:schemeClr val="accent1">
                  <a:lumMod val="75000"/>
                </a:schemeClr>
              </a:solidFill>
              <a:effectLst>
                <a:outerShdw blurRad="12700" dist="38100" dir="2700000" algn="tl" rotWithShape="0">
                  <a:schemeClr val="bg1">
                    <a:lumMod val="50000"/>
                  </a:schemeClr>
                </a:outerShdw>
              </a:effectLst>
              <a:cs typeface="B Nazanin" panose="00000400000000000000" pitchFamily="2" charset="-78"/>
            </a:endParaRPr>
          </a:p>
        </p:txBody>
      </p:sp>
      <p:sp>
        <p:nvSpPr>
          <p:cNvPr id="5"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23</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395186681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24</a:t>
            </a:fld>
            <a:endParaRPr lang="fa-IR" sz="1800" dirty="0">
              <a:solidFill>
                <a:schemeClr val="tx1"/>
              </a:solidFill>
              <a:cs typeface="B Lotus" panose="00000400000000000000" pitchFamily="2" charset="-78"/>
            </a:endParaRPr>
          </a:p>
        </p:txBody>
      </p:sp>
      <p:pic>
        <p:nvPicPr>
          <p:cNvPr id="4" name="Picture 3"/>
          <p:cNvPicPr>
            <a:picLocks noChangeAspect="1"/>
          </p:cNvPicPr>
          <p:nvPr/>
        </p:nvPicPr>
        <p:blipFill>
          <a:blip r:embed="rId3"/>
          <a:stretch>
            <a:fillRect/>
          </a:stretch>
        </p:blipFill>
        <p:spPr>
          <a:xfrm>
            <a:off x="85165" y="1830481"/>
            <a:ext cx="8906435" cy="4132315"/>
          </a:xfrm>
          <a:prstGeom prst="rect">
            <a:avLst/>
          </a:prstGeom>
        </p:spPr>
      </p:pic>
      <p:grpSp>
        <p:nvGrpSpPr>
          <p:cNvPr id="26" name="Group 25"/>
          <p:cNvGrpSpPr/>
          <p:nvPr/>
        </p:nvGrpSpPr>
        <p:grpSpPr>
          <a:xfrm>
            <a:off x="4922520" y="4372036"/>
            <a:ext cx="4191000" cy="1511418"/>
            <a:chOff x="9102590" y="2006844"/>
            <a:chExt cx="4495800" cy="1786464"/>
          </a:xfrm>
        </p:grpSpPr>
        <p:pic>
          <p:nvPicPr>
            <p:cNvPr id="30" name="Picture 29"/>
            <p:cNvPicPr/>
            <p:nvPr/>
          </p:nvPicPr>
          <p:blipFill>
            <a:blip r:embed="rId4" cstate="print">
              <a:extLst>
                <a:ext uri="{28A0092B-C50C-407E-A947-70E740481C1C}">
                  <a14:useLocalDpi xmlns:a14="http://schemas.microsoft.com/office/drawing/2010/main" val="0"/>
                </a:ext>
              </a:extLst>
            </a:blip>
            <a:stretch>
              <a:fillRect/>
            </a:stretch>
          </p:blipFill>
          <p:spPr>
            <a:xfrm>
              <a:off x="9144000" y="3048001"/>
              <a:ext cx="4454390" cy="745307"/>
            </a:xfrm>
            <a:prstGeom prst="rect">
              <a:avLst/>
            </a:prstGeom>
          </p:spPr>
        </p:pic>
        <p:sp>
          <p:nvSpPr>
            <p:cNvPr id="33" name="Rounded Rectangle 32"/>
            <p:cNvSpPr/>
            <p:nvPr/>
          </p:nvSpPr>
          <p:spPr>
            <a:xfrm>
              <a:off x="9102590" y="2998331"/>
              <a:ext cx="4495800" cy="794977"/>
            </a:xfrm>
            <a:prstGeom prst="roundRect">
              <a:avLst/>
            </a:prstGeom>
            <a:noFill/>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cxnSp>
          <p:nvCxnSpPr>
            <p:cNvPr id="34" name="Straight Connector 33"/>
            <p:cNvCxnSpPr/>
            <p:nvPr/>
          </p:nvCxnSpPr>
          <p:spPr>
            <a:xfrm flipV="1">
              <a:off x="9144000" y="2006844"/>
              <a:ext cx="154770" cy="1008739"/>
            </a:xfrm>
            <a:prstGeom prst="line">
              <a:avLst/>
            </a:prstGeom>
          </p:spPr>
          <p:style>
            <a:lnRef idx="2">
              <a:schemeClr val="dk1"/>
            </a:lnRef>
            <a:fillRef idx="0">
              <a:schemeClr val="dk1"/>
            </a:fillRef>
            <a:effectRef idx="1">
              <a:schemeClr val="dk1"/>
            </a:effectRef>
            <a:fontRef idx="minor">
              <a:schemeClr val="tx1"/>
            </a:fontRef>
          </p:style>
        </p:cxnSp>
        <p:cxnSp>
          <p:nvCxnSpPr>
            <p:cNvPr id="35" name="Straight Connector 34"/>
            <p:cNvCxnSpPr/>
            <p:nvPr/>
          </p:nvCxnSpPr>
          <p:spPr>
            <a:xfrm flipH="1" flipV="1">
              <a:off x="9298771" y="2006845"/>
              <a:ext cx="4210242" cy="991486"/>
            </a:xfrm>
            <a:prstGeom prst="line">
              <a:avLst/>
            </a:prstGeom>
          </p:spPr>
          <p:style>
            <a:lnRef idx="2">
              <a:schemeClr val="dk1"/>
            </a:lnRef>
            <a:fillRef idx="0">
              <a:schemeClr val="dk1"/>
            </a:fillRef>
            <a:effectRef idx="1">
              <a:schemeClr val="dk1"/>
            </a:effectRef>
            <a:fontRef idx="minor">
              <a:schemeClr val="tx1"/>
            </a:fontRef>
          </p:style>
        </p:cxnSp>
      </p:grpSp>
      <p:sp>
        <p:nvSpPr>
          <p:cNvPr id="36" name="TextBox 35"/>
          <p:cNvSpPr txBox="1"/>
          <p:nvPr/>
        </p:nvSpPr>
        <p:spPr>
          <a:xfrm>
            <a:off x="936768" y="5943746"/>
            <a:ext cx="7176965" cy="369332"/>
          </a:xfrm>
          <a:prstGeom prst="rect">
            <a:avLst/>
          </a:prstGeom>
          <a:noFill/>
        </p:spPr>
        <p:txBody>
          <a:bodyPr wrap="none" rtlCol="0">
            <a:spAutoFit/>
          </a:bodyPr>
          <a:lstStyle/>
          <a:p>
            <a:pPr algn="ctr" rtl="1"/>
            <a:r>
              <a:rPr lang="fa-IR" dirty="0">
                <a:latin typeface="Times New Roman" panose="02020603050405020304" pitchFamily="18" charset="0"/>
                <a:ea typeface="Calibri" panose="020F0502020204030204" pitchFamily="34" charset="0"/>
                <a:cs typeface="B Lotus" panose="00000400000000000000" pitchFamily="2" charset="-78"/>
              </a:rPr>
              <a:t>شکل 11 </a:t>
            </a:r>
            <a:r>
              <a:rPr lang="fa-IR" dirty="0">
                <a:latin typeface="Times New Roman" panose="02020603050405020304" pitchFamily="18" charset="0"/>
                <a:cs typeface="B Lotus" panose="00000400000000000000" pitchFamily="2" charset="-78"/>
              </a:rPr>
              <a:t>فلوچارت الگوریتم خوشه بندی باتری ها به روش </a:t>
            </a:r>
            <a:r>
              <a:rPr lang="en-US" dirty="0">
                <a:latin typeface="Times New Roman" panose="02020603050405020304" pitchFamily="18" charset="0"/>
                <a:cs typeface="B Lotus" panose="00000400000000000000" pitchFamily="2" charset="-78"/>
              </a:rPr>
              <a:t>k-means</a:t>
            </a:r>
            <a:r>
              <a:rPr lang="fa-IR" dirty="0">
                <a:latin typeface="Times New Roman" panose="02020603050405020304" pitchFamily="18" charset="0"/>
                <a:cs typeface="B Lotus" panose="00000400000000000000" pitchFamily="2" charset="-78"/>
              </a:rPr>
              <a:t> با نقاط حاصل از </a:t>
            </a:r>
            <a:r>
              <a:rPr lang="en-US" dirty="0">
                <a:latin typeface="Times New Roman" panose="02020603050405020304" pitchFamily="18" charset="0"/>
                <a:cs typeface="B Lotus" panose="00000400000000000000" pitchFamily="2" charset="-78"/>
              </a:rPr>
              <a:t>GA</a:t>
            </a:r>
            <a:r>
              <a:rPr lang="fa-IR" dirty="0">
                <a:solidFill>
                  <a:srgbClr val="61D6FF"/>
                </a:solidFill>
                <a:latin typeface="Times New Roman" panose="02020603050405020304" pitchFamily="18" charset="0"/>
                <a:cs typeface="B Lotus" panose="00000400000000000000" pitchFamily="2" charset="-78"/>
              </a:rPr>
              <a:t> [3]</a:t>
            </a:r>
            <a:r>
              <a:rPr lang="fa-IR" dirty="0">
                <a:latin typeface="Times New Roman" panose="02020603050405020304" pitchFamily="18" charset="0"/>
                <a:cs typeface="B Lotus" panose="00000400000000000000" pitchFamily="2" charset="-78"/>
              </a:rPr>
              <a:t>.</a:t>
            </a:r>
            <a:r>
              <a:rPr lang="fa-IR" dirty="0">
                <a:latin typeface="Times New Roman" panose="02020603050405020304" pitchFamily="18" charset="0"/>
                <a:ea typeface="Calibri" panose="020F0502020204030204" pitchFamily="34" charset="0"/>
                <a:cs typeface="B Lotus" panose="00000400000000000000" pitchFamily="2" charset="-78"/>
              </a:rPr>
              <a:t> </a:t>
            </a:r>
            <a:endParaRPr lang="en-US" dirty="0">
              <a:latin typeface="Times New Roman" panose="02020603050405020304" pitchFamily="18" charset="0"/>
              <a:cs typeface="B Lotus" panose="00000400000000000000" pitchFamily="2" charset="-78"/>
            </a:endParaRPr>
          </a:p>
        </p:txBody>
      </p:sp>
      <p:sp>
        <p:nvSpPr>
          <p:cNvPr id="37" name="Rectangle 36"/>
          <p:cNvSpPr/>
          <p:nvPr/>
        </p:nvSpPr>
        <p:spPr>
          <a:xfrm>
            <a:off x="418672" y="6427113"/>
            <a:ext cx="8725328" cy="430887"/>
          </a:xfrm>
          <a:prstGeom prst="rect">
            <a:avLst/>
          </a:prstGeom>
        </p:spPr>
        <p:txBody>
          <a:bodyPr wrap="square">
            <a:spAutoFit/>
          </a:bodyPr>
          <a:lstStyle/>
          <a:p>
            <a:pPr lvl="0">
              <a:defRPr/>
            </a:pPr>
            <a:r>
              <a:rPr lang="en-US" sz="1100" dirty="0"/>
              <a:t>[3]      S. </a:t>
            </a:r>
            <a:r>
              <a:rPr lang="en-US" sz="1100" dirty="0" err="1"/>
              <a:t>Jinlei</a:t>
            </a:r>
            <a:r>
              <a:rPr lang="en-US" sz="1100" dirty="0"/>
              <a:t>, L. Wei, T. </a:t>
            </a:r>
            <a:r>
              <a:rPr lang="en-US" sz="1100" dirty="0" err="1"/>
              <a:t>Chuanyu</a:t>
            </a:r>
            <a:r>
              <a:rPr lang="en-US" sz="1100" dirty="0"/>
              <a:t>, W. </a:t>
            </a:r>
            <a:r>
              <a:rPr lang="en-US" sz="1100" dirty="0" err="1"/>
              <a:t>Tianru</a:t>
            </a:r>
            <a:r>
              <a:rPr lang="en-US" sz="1100" dirty="0"/>
              <a:t>, J. Tao, and T. Yong, "A novel active equalization method for series-connected battery packs based on clustering analysis with genetic algorithm," </a:t>
            </a:r>
            <a:r>
              <a:rPr lang="en-US" sz="1100" i="1" dirty="0"/>
              <a:t>IEEE Transactions on Power Electronics, </a:t>
            </a:r>
            <a:r>
              <a:rPr lang="en-US" sz="1100" dirty="0"/>
              <a:t>vol. 36, no. 7, pp. 7853-7865, 2021.</a:t>
            </a:r>
          </a:p>
        </p:txBody>
      </p:sp>
      <p:sp>
        <p:nvSpPr>
          <p:cNvPr id="38" name="TextBox 37">
            <a:extLst>
              <a:ext uri="{FF2B5EF4-FFF2-40B4-BE49-F238E27FC236}">
                <a16:creationId xmlns:a16="http://schemas.microsoft.com/office/drawing/2014/main" id="{F43469DC-7F5B-471E-BD74-ED709E621F63}"/>
              </a:ext>
            </a:extLst>
          </p:cNvPr>
          <p:cNvSpPr txBox="1"/>
          <p:nvPr/>
        </p:nvSpPr>
        <p:spPr>
          <a:xfrm>
            <a:off x="-900706" y="941383"/>
            <a:ext cx="7315201" cy="307777"/>
          </a:xfrm>
          <a:prstGeom prst="rect">
            <a:avLst/>
          </a:prstGeom>
          <a:noFill/>
        </p:spPr>
        <p:txBody>
          <a:bodyPr wrap="square" rtlCol="0">
            <a:spAutoFit/>
          </a:bodyPr>
          <a:lstStyle/>
          <a:p>
            <a:pPr algn="r" rtl="1" fontAlgn="base">
              <a:spcBef>
                <a:spcPct val="0"/>
              </a:spcBef>
              <a:spcAft>
                <a:spcPct val="0"/>
              </a:spcAft>
            </a:pPr>
            <a:r>
              <a:rPr lang="fa-IR" sz="1400" dirty="0">
                <a:cs typeface="B Lotus" panose="00000400000000000000" pitchFamily="2" charset="-78"/>
              </a:rPr>
              <a:t>روشی نو برای همسان‌سازی باتری پک با اتصال سری بر مبنای تجزیه و تحلیل خوشه‌بندی همراه با الگوریتم ژنتیک</a:t>
            </a:r>
            <a:endParaRPr lang="en-US" sz="1400" dirty="0">
              <a:cs typeface="B Lotus" panose="00000400000000000000" pitchFamily="2" charset="-78"/>
            </a:endParaRPr>
          </a:p>
        </p:txBody>
      </p:sp>
      <p:pic>
        <p:nvPicPr>
          <p:cNvPr id="39" name="Picture 38" descr="پرونده:Azad University logo.png - ویکی‌پدیا، دانشنامهٔ آزاد">
            <a:extLst>
              <a:ext uri="{FF2B5EF4-FFF2-40B4-BE49-F238E27FC236}">
                <a16:creationId xmlns:a16="http://schemas.microsoft.com/office/drawing/2014/main" id="{1A9FEE44-0F48-48EE-A201-613E74B88238}"/>
              </a:ext>
            </a:extLst>
          </p:cNvPr>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40" name="AutoShape 10">
            <a:extLst>
              <a:ext uri="{FF2B5EF4-FFF2-40B4-BE49-F238E27FC236}">
                <a16:creationId xmlns:a16="http://schemas.microsoft.com/office/drawing/2014/main" id="{F6266893-797F-40B9-B7F1-28B13A3984C3}"/>
              </a:ext>
            </a:extLst>
          </p:cNvPr>
          <p:cNvSpPr>
            <a:spLocks noChangeArrowheads="1"/>
          </p:cNvSpPr>
          <p:nvPr/>
        </p:nvSpPr>
        <p:spPr bwMode="gray">
          <a:xfrm flipH="1">
            <a:off x="6246677" y="59426"/>
            <a:ext cx="2057400"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41" name="AutoShape 3">
            <a:extLst>
              <a:ext uri="{FF2B5EF4-FFF2-40B4-BE49-F238E27FC236}">
                <a16:creationId xmlns:a16="http://schemas.microsoft.com/office/drawing/2014/main" id="{3450B81F-1BA9-4F41-945E-CF31FD6A1BE2}"/>
              </a:ext>
            </a:extLst>
          </p:cNvPr>
          <p:cNvSpPr>
            <a:spLocks noChangeArrowheads="1"/>
          </p:cNvSpPr>
          <p:nvPr/>
        </p:nvSpPr>
        <p:spPr bwMode="gray">
          <a:xfrm flipH="1">
            <a:off x="4188613" y="57140"/>
            <a:ext cx="2056086" cy="651510"/>
          </a:xfrm>
          <a:prstGeom prst="chevron">
            <a:avLst>
              <a:gd name="adj" fmla="val 17009"/>
            </a:avLst>
          </a:prstGeom>
          <a:solidFill>
            <a:srgbClr val="2842AE"/>
          </a:soli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dirty="0">
              <a:ln>
                <a:noFill/>
              </a:ln>
              <a:solidFill>
                <a:srgbClr val="3D81BF"/>
              </a:solidFill>
              <a:effectLst/>
              <a:uLnTx/>
              <a:uFillTx/>
            </a:endParaRPr>
          </a:p>
        </p:txBody>
      </p:sp>
      <p:sp>
        <p:nvSpPr>
          <p:cNvPr id="42" name="AutoShape 3">
            <a:extLst>
              <a:ext uri="{FF2B5EF4-FFF2-40B4-BE49-F238E27FC236}">
                <a16:creationId xmlns:a16="http://schemas.microsoft.com/office/drawing/2014/main" id="{278C3753-7E5F-4A07-84E8-FA915CB0CE87}"/>
              </a:ext>
            </a:extLst>
          </p:cNvPr>
          <p:cNvSpPr>
            <a:spLocks noChangeArrowheads="1"/>
          </p:cNvSpPr>
          <p:nvPr/>
        </p:nvSpPr>
        <p:spPr bwMode="gray">
          <a:xfrm flipH="1">
            <a:off x="2588411" y="57141"/>
            <a:ext cx="1600202"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3" name="AutoShape 3">
            <a:extLst>
              <a:ext uri="{FF2B5EF4-FFF2-40B4-BE49-F238E27FC236}">
                <a16:creationId xmlns:a16="http://schemas.microsoft.com/office/drawing/2014/main" id="{B202AEB4-F766-4F6D-9D49-804AECBBBB79}"/>
              </a:ext>
            </a:extLst>
          </p:cNvPr>
          <p:cNvSpPr>
            <a:spLocks noChangeArrowheads="1"/>
          </p:cNvSpPr>
          <p:nvPr/>
        </p:nvSpPr>
        <p:spPr bwMode="gray">
          <a:xfrm flipH="1">
            <a:off x="161661" y="57140"/>
            <a:ext cx="2426749"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4" name="Rectangle 43">
            <a:extLst>
              <a:ext uri="{FF2B5EF4-FFF2-40B4-BE49-F238E27FC236}">
                <a16:creationId xmlns:a16="http://schemas.microsoft.com/office/drawing/2014/main" id="{89552ECA-1CA1-40F1-A87E-809897E322A0}"/>
              </a:ext>
            </a:extLst>
          </p:cNvPr>
          <p:cNvSpPr/>
          <p:nvPr/>
        </p:nvSpPr>
        <p:spPr>
          <a:xfrm>
            <a:off x="403231" y="91457"/>
            <a:ext cx="2056085"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طراحی و پیاده سازی همسان ساز پیشنهادی</a:t>
            </a:r>
          </a:p>
        </p:txBody>
      </p:sp>
      <p:sp>
        <p:nvSpPr>
          <p:cNvPr id="45" name="Rectangle 44">
            <a:extLst>
              <a:ext uri="{FF2B5EF4-FFF2-40B4-BE49-F238E27FC236}">
                <a16:creationId xmlns:a16="http://schemas.microsoft.com/office/drawing/2014/main" id="{2A9B9FDD-FEF5-46D3-8995-5604A1B4B80E}"/>
              </a:ext>
            </a:extLst>
          </p:cNvPr>
          <p:cNvSpPr/>
          <p:nvPr/>
        </p:nvSpPr>
        <p:spPr>
          <a:xfrm>
            <a:off x="2636749" y="78259"/>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پیشنهادی</a:t>
            </a:r>
          </a:p>
        </p:txBody>
      </p:sp>
      <p:sp>
        <p:nvSpPr>
          <p:cNvPr id="46" name="Rectangle 45">
            <a:extLst>
              <a:ext uri="{FF2B5EF4-FFF2-40B4-BE49-F238E27FC236}">
                <a16:creationId xmlns:a16="http://schemas.microsoft.com/office/drawing/2014/main" id="{4756B784-8B4C-449F-AE9D-2B6BBC518073}"/>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باتری</a:t>
            </a:r>
          </a:p>
        </p:txBody>
      </p:sp>
      <p:sp>
        <p:nvSpPr>
          <p:cNvPr id="47" name="Rectangle 46">
            <a:extLst>
              <a:ext uri="{FF2B5EF4-FFF2-40B4-BE49-F238E27FC236}">
                <a16:creationId xmlns:a16="http://schemas.microsoft.com/office/drawing/2014/main" id="{E9011965-C922-40BF-B928-2A7E03BC5CDA}"/>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a:solidFill>
                  <a:srgbClr val="FFFFFF"/>
                </a:solidFill>
                <a:latin typeface="Times New Roman" panose="02020603050405020304" pitchFamily="18" charset="0"/>
                <a:cs typeface="B Nazanin" pitchFamily="2" charset="-78"/>
              </a:rPr>
              <a:t>باتری ها</a:t>
            </a:r>
            <a:endParaRPr lang="en-US" sz="1500" b="1" kern="0" dirty="0">
              <a:solidFill>
                <a:srgbClr val="FFFFFF"/>
              </a:solidFill>
              <a:latin typeface="Times New Roman" panose="02020603050405020304" pitchFamily="18" charset="0"/>
              <a:cs typeface="B Nazanin" pitchFamily="2" charset="-78"/>
            </a:endParaRPr>
          </a:p>
        </p:txBody>
      </p:sp>
      <p:sp>
        <p:nvSpPr>
          <p:cNvPr id="48" name="Rounded Rectangle 175">
            <a:extLst>
              <a:ext uri="{FF2B5EF4-FFF2-40B4-BE49-F238E27FC236}">
                <a16:creationId xmlns:a16="http://schemas.microsoft.com/office/drawing/2014/main" id="{5ED324C1-9E82-4B7C-8E12-63B5A59FFFC0}"/>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همسان سازی باتری</a:t>
            </a:r>
          </a:p>
        </p:txBody>
      </p:sp>
    </p:spTree>
    <p:extLst>
      <p:ext uri="{BB962C8B-B14F-4D97-AF65-F5344CB8AC3E}">
        <p14:creationId xmlns:p14="http://schemas.microsoft.com/office/powerpoint/2010/main" val="40196387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Rectangle 23"/>
          <p:cNvSpPr/>
          <p:nvPr/>
        </p:nvSpPr>
        <p:spPr>
          <a:xfrm>
            <a:off x="905436" y="6071674"/>
            <a:ext cx="7095564" cy="369332"/>
          </a:xfrm>
          <a:prstGeom prst="rect">
            <a:avLst/>
          </a:prstGeom>
        </p:spPr>
        <p:txBody>
          <a:bodyPr wrap="square">
            <a:spAutoFit/>
          </a:bodyPr>
          <a:lstStyle/>
          <a:p>
            <a:pPr algn="ctr" rtl="1"/>
            <a:r>
              <a:rPr lang="fa-IR" dirty="0">
                <a:latin typeface="Times New Roman" panose="02020603050405020304" pitchFamily="18" charset="0"/>
                <a:ea typeface="Calibri" panose="020F0502020204030204" pitchFamily="34" charset="0"/>
                <a:cs typeface="B Lotus" panose="00000400000000000000" pitchFamily="2" charset="-78"/>
              </a:rPr>
              <a:t>شکل 12 مقادیر تابع تناسب و نتایج دسته‌بندی بهینه شده با ضرایب متفاوت در شبیه سازی </a:t>
            </a:r>
            <a:r>
              <a:rPr lang="fa-IR" dirty="0">
                <a:solidFill>
                  <a:srgbClr val="61D6FF"/>
                </a:solidFill>
                <a:latin typeface="Times New Roman" panose="02020603050405020304" pitchFamily="18" charset="0"/>
                <a:cs typeface="B Lotus" panose="00000400000000000000" pitchFamily="2" charset="-78"/>
              </a:rPr>
              <a:t>[3]</a:t>
            </a:r>
            <a:r>
              <a:rPr lang="fa-IR" dirty="0">
                <a:latin typeface="Times New Roman" panose="02020603050405020304" pitchFamily="18" charset="0"/>
                <a:cs typeface="B Lotus" panose="00000400000000000000" pitchFamily="2" charset="-78"/>
              </a:rPr>
              <a:t>.</a:t>
            </a:r>
            <a:endParaRPr lang="en-US" dirty="0"/>
          </a:p>
        </p:txBody>
      </p:sp>
      <p:grpSp>
        <p:nvGrpSpPr>
          <p:cNvPr id="4" name="Group 3"/>
          <p:cNvGrpSpPr/>
          <p:nvPr/>
        </p:nvGrpSpPr>
        <p:grpSpPr>
          <a:xfrm>
            <a:off x="228600" y="904863"/>
            <a:ext cx="8725328" cy="5303188"/>
            <a:chOff x="304800" y="899720"/>
            <a:chExt cx="8725328" cy="5475760"/>
          </a:xfrm>
        </p:grpSpPr>
        <p:pic>
          <p:nvPicPr>
            <p:cNvPr id="19" name="Picture 18"/>
            <p:cNvPicPr/>
            <p:nvPr/>
          </p:nvPicPr>
          <p:blipFill rotWithShape="1">
            <a:blip r:embed="rId3" cstate="print">
              <a:extLst>
                <a:ext uri="{28A0092B-C50C-407E-A947-70E740481C1C}">
                  <a14:useLocalDpi xmlns:a14="http://schemas.microsoft.com/office/drawing/2010/main" val="0"/>
                </a:ext>
              </a:extLst>
            </a:blip>
            <a:srcRect t="66089"/>
            <a:stretch/>
          </p:blipFill>
          <p:spPr bwMode="auto">
            <a:xfrm>
              <a:off x="304800" y="3750487"/>
              <a:ext cx="8725328" cy="2582759"/>
            </a:xfrm>
            <a:prstGeom prst="rect">
              <a:avLst/>
            </a:prstGeom>
            <a:noFill/>
            <a:ln>
              <a:noFill/>
            </a:ln>
          </p:spPr>
        </p:pic>
        <p:pic>
          <p:nvPicPr>
            <p:cNvPr id="31" name="Picture 30"/>
            <p:cNvPicPr/>
            <p:nvPr/>
          </p:nvPicPr>
          <p:blipFill rotWithShape="1">
            <a:blip r:embed="rId3" cstate="print">
              <a:extLst>
                <a:ext uri="{28A0092B-C50C-407E-A947-70E740481C1C}">
                  <a14:useLocalDpi xmlns:a14="http://schemas.microsoft.com/office/drawing/2010/main" val="0"/>
                </a:ext>
              </a:extLst>
            </a:blip>
            <a:srcRect b="66533"/>
            <a:stretch/>
          </p:blipFill>
          <p:spPr bwMode="auto">
            <a:xfrm>
              <a:off x="418672" y="899720"/>
              <a:ext cx="8611456" cy="2890600"/>
            </a:xfrm>
            <a:prstGeom prst="rect">
              <a:avLst/>
            </a:prstGeom>
            <a:noFill/>
            <a:ln>
              <a:noFill/>
            </a:ln>
          </p:spPr>
        </p:pic>
        <p:pic>
          <p:nvPicPr>
            <p:cNvPr id="21" name="Picture 20"/>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25250" y="3298749"/>
              <a:ext cx="413300" cy="225964"/>
            </a:xfrm>
            <a:prstGeom prst="rect">
              <a:avLst/>
            </a:prstGeom>
          </p:spPr>
        </p:pic>
        <p:pic>
          <p:nvPicPr>
            <p:cNvPr id="26" name="Picture 2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563401" y="6161128"/>
              <a:ext cx="336998" cy="214352"/>
            </a:xfrm>
            <a:prstGeom prst="rect">
              <a:avLst/>
            </a:prstGeom>
          </p:spPr>
        </p:pic>
      </p:grpSp>
      <p:sp>
        <p:nvSpPr>
          <p:cNvPr id="22"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25</a:t>
            </a:fld>
            <a:endParaRPr lang="fa-IR" sz="1800" dirty="0">
              <a:solidFill>
                <a:schemeClr val="tx1"/>
              </a:solidFill>
              <a:cs typeface="B Lotus" panose="00000400000000000000" pitchFamily="2" charset="-78"/>
            </a:endParaRPr>
          </a:p>
        </p:txBody>
      </p:sp>
      <p:sp>
        <p:nvSpPr>
          <p:cNvPr id="39" name="Rectangle 38"/>
          <p:cNvSpPr/>
          <p:nvPr/>
        </p:nvSpPr>
        <p:spPr>
          <a:xfrm>
            <a:off x="418672" y="6427113"/>
            <a:ext cx="8725328" cy="430887"/>
          </a:xfrm>
          <a:prstGeom prst="rect">
            <a:avLst/>
          </a:prstGeom>
        </p:spPr>
        <p:txBody>
          <a:bodyPr wrap="square">
            <a:spAutoFit/>
          </a:bodyPr>
          <a:lstStyle/>
          <a:p>
            <a:pPr lvl="0">
              <a:defRPr/>
            </a:pPr>
            <a:r>
              <a:rPr lang="en-US" sz="1100" dirty="0"/>
              <a:t>[3]      S. </a:t>
            </a:r>
            <a:r>
              <a:rPr lang="en-US" sz="1100" dirty="0" err="1"/>
              <a:t>Jinlei</a:t>
            </a:r>
            <a:r>
              <a:rPr lang="en-US" sz="1100" dirty="0"/>
              <a:t>, L. Wei, T. </a:t>
            </a:r>
            <a:r>
              <a:rPr lang="en-US" sz="1100" dirty="0" err="1"/>
              <a:t>Chuanyu</a:t>
            </a:r>
            <a:r>
              <a:rPr lang="en-US" sz="1100" dirty="0"/>
              <a:t>, W. </a:t>
            </a:r>
            <a:r>
              <a:rPr lang="en-US" sz="1100" dirty="0" err="1"/>
              <a:t>Tianru</a:t>
            </a:r>
            <a:r>
              <a:rPr lang="en-US" sz="1100" dirty="0"/>
              <a:t>, J. Tao, and T. Yong, "A novel active equalization method for series-connected battery packs based on clustering analysis with genetic algorithm," </a:t>
            </a:r>
            <a:r>
              <a:rPr lang="en-US" sz="1100" i="1" dirty="0"/>
              <a:t>IEEE Transactions on Power Electronics, </a:t>
            </a:r>
            <a:r>
              <a:rPr lang="en-US" sz="1100" dirty="0"/>
              <a:t>vol. 36, no. 7, pp. 7853-7865, 2021.</a:t>
            </a:r>
          </a:p>
        </p:txBody>
      </p:sp>
      <p:pic>
        <p:nvPicPr>
          <p:cNvPr id="30" name="Picture 29" descr="پرونده:Azad University logo.png - ویکی‌پدیا، دانشنامهٔ آزاد">
            <a:extLst>
              <a:ext uri="{FF2B5EF4-FFF2-40B4-BE49-F238E27FC236}">
                <a16:creationId xmlns:a16="http://schemas.microsoft.com/office/drawing/2014/main" id="{1A9FEE44-0F48-48EE-A201-613E74B88238}"/>
              </a:ext>
            </a:extLst>
          </p:cNvPr>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32" name="AutoShape 10">
            <a:extLst>
              <a:ext uri="{FF2B5EF4-FFF2-40B4-BE49-F238E27FC236}">
                <a16:creationId xmlns:a16="http://schemas.microsoft.com/office/drawing/2014/main" id="{F6266893-797F-40B9-B7F1-28B13A3984C3}"/>
              </a:ext>
            </a:extLst>
          </p:cNvPr>
          <p:cNvSpPr>
            <a:spLocks noChangeArrowheads="1"/>
          </p:cNvSpPr>
          <p:nvPr/>
        </p:nvSpPr>
        <p:spPr bwMode="gray">
          <a:xfrm flipH="1">
            <a:off x="6246677" y="59426"/>
            <a:ext cx="2057400"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dirty="0">
              <a:solidFill>
                <a:srgbClr val="3D81BF"/>
              </a:solidFill>
            </a:endParaRPr>
          </a:p>
        </p:txBody>
      </p:sp>
      <p:sp>
        <p:nvSpPr>
          <p:cNvPr id="37" name="AutoShape 3">
            <a:extLst>
              <a:ext uri="{FF2B5EF4-FFF2-40B4-BE49-F238E27FC236}">
                <a16:creationId xmlns:a16="http://schemas.microsoft.com/office/drawing/2014/main" id="{3450B81F-1BA9-4F41-945E-CF31FD6A1BE2}"/>
              </a:ext>
            </a:extLst>
          </p:cNvPr>
          <p:cNvSpPr>
            <a:spLocks noChangeArrowheads="1"/>
          </p:cNvSpPr>
          <p:nvPr/>
        </p:nvSpPr>
        <p:spPr bwMode="gray">
          <a:xfrm flipH="1">
            <a:off x="4188613" y="57140"/>
            <a:ext cx="2056086" cy="651510"/>
          </a:xfrm>
          <a:prstGeom prst="chevron">
            <a:avLst>
              <a:gd name="adj" fmla="val 17009"/>
            </a:avLst>
          </a:prstGeom>
          <a:solidFill>
            <a:srgbClr val="2842AE"/>
          </a:soli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dirty="0">
              <a:ln>
                <a:noFill/>
              </a:ln>
              <a:solidFill>
                <a:srgbClr val="3D81BF"/>
              </a:solidFill>
              <a:effectLst/>
              <a:uLnTx/>
              <a:uFillTx/>
            </a:endParaRPr>
          </a:p>
        </p:txBody>
      </p:sp>
      <p:sp>
        <p:nvSpPr>
          <p:cNvPr id="38" name="AutoShape 3">
            <a:extLst>
              <a:ext uri="{FF2B5EF4-FFF2-40B4-BE49-F238E27FC236}">
                <a16:creationId xmlns:a16="http://schemas.microsoft.com/office/drawing/2014/main" id="{278C3753-7E5F-4A07-84E8-FA915CB0CE87}"/>
              </a:ext>
            </a:extLst>
          </p:cNvPr>
          <p:cNvSpPr>
            <a:spLocks noChangeArrowheads="1"/>
          </p:cNvSpPr>
          <p:nvPr/>
        </p:nvSpPr>
        <p:spPr bwMode="gray">
          <a:xfrm flipH="1">
            <a:off x="2588411" y="57141"/>
            <a:ext cx="1600202"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0" name="AutoShape 3">
            <a:extLst>
              <a:ext uri="{FF2B5EF4-FFF2-40B4-BE49-F238E27FC236}">
                <a16:creationId xmlns:a16="http://schemas.microsoft.com/office/drawing/2014/main" id="{B202AEB4-F766-4F6D-9D49-804AECBBBB79}"/>
              </a:ext>
            </a:extLst>
          </p:cNvPr>
          <p:cNvSpPr>
            <a:spLocks noChangeArrowheads="1"/>
          </p:cNvSpPr>
          <p:nvPr/>
        </p:nvSpPr>
        <p:spPr bwMode="gray">
          <a:xfrm flipH="1">
            <a:off x="161661" y="57140"/>
            <a:ext cx="2426749"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1" name="Rectangle 40">
            <a:extLst>
              <a:ext uri="{FF2B5EF4-FFF2-40B4-BE49-F238E27FC236}">
                <a16:creationId xmlns:a16="http://schemas.microsoft.com/office/drawing/2014/main" id="{89552ECA-1CA1-40F1-A87E-809897E322A0}"/>
              </a:ext>
            </a:extLst>
          </p:cNvPr>
          <p:cNvSpPr/>
          <p:nvPr/>
        </p:nvSpPr>
        <p:spPr>
          <a:xfrm>
            <a:off x="403231" y="91457"/>
            <a:ext cx="2056085"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طراحی و پیاده سازی همسان ساز پیشنهادی</a:t>
            </a:r>
          </a:p>
        </p:txBody>
      </p:sp>
      <p:sp>
        <p:nvSpPr>
          <p:cNvPr id="42" name="Rectangle 41">
            <a:extLst>
              <a:ext uri="{FF2B5EF4-FFF2-40B4-BE49-F238E27FC236}">
                <a16:creationId xmlns:a16="http://schemas.microsoft.com/office/drawing/2014/main" id="{2A9B9FDD-FEF5-46D3-8995-5604A1B4B80E}"/>
              </a:ext>
            </a:extLst>
          </p:cNvPr>
          <p:cNvSpPr/>
          <p:nvPr/>
        </p:nvSpPr>
        <p:spPr>
          <a:xfrm>
            <a:off x="2636749" y="78259"/>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پیشنهادی</a:t>
            </a:r>
          </a:p>
        </p:txBody>
      </p:sp>
      <p:sp>
        <p:nvSpPr>
          <p:cNvPr id="43" name="Rectangle 42">
            <a:extLst>
              <a:ext uri="{FF2B5EF4-FFF2-40B4-BE49-F238E27FC236}">
                <a16:creationId xmlns:a16="http://schemas.microsoft.com/office/drawing/2014/main" id="{4756B784-8B4C-449F-AE9D-2B6BBC518073}"/>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همسان سازی باتری</a:t>
            </a:r>
          </a:p>
        </p:txBody>
      </p:sp>
      <p:sp>
        <p:nvSpPr>
          <p:cNvPr id="44" name="Rectangle 43">
            <a:extLst>
              <a:ext uri="{FF2B5EF4-FFF2-40B4-BE49-F238E27FC236}">
                <a16:creationId xmlns:a16="http://schemas.microsoft.com/office/drawing/2014/main" id="{E9011965-C922-40BF-B928-2A7E03BC5CDA}"/>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a:solidFill>
                  <a:srgbClr val="FFFFFF"/>
                </a:solidFill>
                <a:latin typeface="Times New Roman" panose="02020603050405020304" pitchFamily="18" charset="0"/>
                <a:cs typeface="B Nazanin" pitchFamily="2" charset="-78"/>
              </a:rPr>
              <a:t>باتری ها</a:t>
            </a:r>
            <a:endParaRPr lang="en-US" sz="1500" b="1" kern="0" dirty="0">
              <a:solidFill>
                <a:srgbClr val="FFFFFF"/>
              </a:solidFill>
              <a:latin typeface="Times New Roman" panose="02020603050405020304" pitchFamily="18" charset="0"/>
              <a:cs typeface="B Nazanin" pitchFamily="2" charset="-78"/>
            </a:endParaRPr>
          </a:p>
        </p:txBody>
      </p:sp>
    </p:spTree>
    <p:extLst>
      <p:ext uri="{BB962C8B-B14F-4D97-AF65-F5344CB8AC3E}">
        <p14:creationId xmlns:p14="http://schemas.microsoft.com/office/powerpoint/2010/main" val="396584559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1402C14E-057E-4F2D-854C-AF69C4E6CBD7}"/>
              </a:ext>
            </a:extLst>
          </p:cNvPr>
          <p:cNvSpPr/>
          <p:nvPr/>
        </p:nvSpPr>
        <p:spPr>
          <a:xfrm>
            <a:off x="-12231" y="6006516"/>
            <a:ext cx="4475473" cy="600164"/>
          </a:xfrm>
          <a:prstGeom prst="rect">
            <a:avLst/>
          </a:prstGeom>
        </p:spPr>
        <p:txBody>
          <a:bodyPr wrap="square">
            <a:spAutoFit/>
          </a:bodyPr>
          <a:lstStyle/>
          <a:p>
            <a:pPr algn="r" rtl="1"/>
            <a:r>
              <a:rPr lang="fa-IR" sz="1100" dirty="0">
                <a:latin typeface="Times New Roman" panose="02020603050405020304" pitchFamily="18" charset="0"/>
                <a:ea typeface="Calibri" panose="020F0502020204030204" pitchFamily="34" charset="0"/>
                <a:cs typeface="B Lotus" panose="00000400000000000000" pitchFamily="2" charset="-78"/>
              </a:rPr>
              <a:t>شکل 19 وضعیت باتری در شرایط مختلف تعادل (الف) وضعیت باتری در حالت تعادل در ایستا، (ب) وضعیت باتری در حالت تعادل در شارژ، (ج) وضعیت باتری در حالت تعادل در دشارژ در شبیه سازی</a:t>
            </a:r>
            <a:r>
              <a:rPr lang="fa-IR" sz="1100" dirty="0">
                <a:solidFill>
                  <a:srgbClr val="61D6FF"/>
                </a:solidFill>
                <a:latin typeface="Times New Roman" panose="02020603050405020304" pitchFamily="18" charset="0"/>
                <a:ea typeface="Calibri" panose="020F0502020204030204" pitchFamily="34" charset="0"/>
                <a:cs typeface="B Lotus" panose="00000400000000000000" pitchFamily="2" charset="-78"/>
              </a:rPr>
              <a:t> [4]</a:t>
            </a:r>
            <a:r>
              <a:rPr lang="fa-IR" sz="1100" dirty="0">
                <a:latin typeface="Times New Roman" panose="02020603050405020304" pitchFamily="18" charset="0"/>
                <a:ea typeface="Calibri" panose="020F0502020204030204" pitchFamily="34" charset="0"/>
                <a:cs typeface="B Lotus" panose="00000400000000000000" pitchFamily="2" charset="-78"/>
              </a:rPr>
              <a:t>. </a:t>
            </a:r>
            <a:endParaRPr lang="en-US" sz="1100" dirty="0"/>
          </a:p>
        </p:txBody>
      </p:sp>
      <p:pic>
        <p:nvPicPr>
          <p:cNvPr id="19" name="Picture 18" descr="پرونده:Azad University logo.png - ویکی‌پدیا، دانشنامهٔ آزاد">
            <a:extLst>
              <a:ext uri="{FF2B5EF4-FFF2-40B4-BE49-F238E27FC236}">
                <a16:creationId xmlns:a16="http://schemas.microsoft.com/office/drawing/2014/main" id="{B260B773-F2C5-485B-BA12-93452E166218}"/>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0" name="TextBox 19">
            <a:extLst>
              <a:ext uri="{FF2B5EF4-FFF2-40B4-BE49-F238E27FC236}">
                <a16:creationId xmlns:a16="http://schemas.microsoft.com/office/drawing/2014/main" id="{90C43403-B77E-474E-A638-C5BD6540DB40}"/>
              </a:ext>
            </a:extLst>
          </p:cNvPr>
          <p:cNvSpPr txBox="1"/>
          <p:nvPr/>
        </p:nvSpPr>
        <p:spPr>
          <a:xfrm>
            <a:off x="2648411" y="686668"/>
            <a:ext cx="65" cy="276999"/>
          </a:xfrm>
          <a:prstGeom prst="rect">
            <a:avLst/>
          </a:prstGeom>
          <a:noFill/>
        </p:spPr>
        <p:txBody>
          <a:bodyPr wrap="none" lIns="0" tIns="0" rIns="0" bIns="0" rtlCol="0">
            <a:spAutoFit/>
          </a:bodyPr>
          <a:lstStyle/>
          <a:p>
            <a:endParaRPr lang="en-US" dirty="0"/>
          </a:p>
        </p:txBody>
      </p:sp>
      <p:sp>
        <p:nvSpPr>
          <p:cNvPr id="21" name="Slide Number Placeholder 4">
            <a:extLst>
              <a:ext uri="{FF2B5EF4-FFF2-40B4-BE49-F238E27FC236}">
                <a16:creationId xmlns:a16="http://schemas.microsoft.com/office/drawing/2014/main" id="{27EA69B3-891D-46E8-8004-444EAE0D2017}"/>
              </a:ext>
            </a:extLst>
          </p:cNvPr>
          <p:cNvSpPr>
            <a:spLocks noGrp="1"/>
          </p:cNvSpPr>
          <p:nvPr>
            <p:ph type="sldNum" sz="quarter" idx="12"/>
          </p:nvPr>
        </p:nvSpPr>
        <p:spPr>
          <a:xfrm>
            <a:off x="7620000" y="18288"/>
            <a:ext cx="1066800" cy="329184"/>
          </a:xfrm>
        </p:spPr>
        <p:txBody>
          <a:bodyPr/>
          <a:lstStyle/>
          <a:p>
            <a:fld id="{7FC2E40A-4446-4E2B-B9AD-16F559E28E02}" type="slidenum">
              <a:rPr lang="en-US" smtClean="0"/>
              <a:t>26</a:t>
            </a:fld>
            <a:endParaRPr lang="en-US"/>
          </a:p>
        </p:txBody>
      </p:sp>
      <p:sp>
        <p:nvSpPr>
          <p:cNvPr id="22"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3"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4" name="Rectangle 23"/>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5" name="Rectangle 24"/>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27" name="Picture 26" descr="پرونده:Azad University logo.png - ویکی‌پدیا، دانشنامهٔ آزاد">
            <a:extLst>
              <a:ext uri="{FF2B5EF4-FFF2-40B4-BE49-F238E27FC236}">
                <a16:creationId xmlns:a16="http://schemas.microsoft.com/office/drawing/2014/main" id="{FA988D60-670C-406B-B8FB-D5A0053424E9}"/>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8" name="AutoShape 10">
            <a:extLst>
              <a:ext uri="{FF2B5EF4-FFF2-40B4-BE49-F238E27FC236}">
                <a16:creationId xmlns:a16="http://schemas.microsoft.com/office/drawing/2014/main"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9" name="Rectangle 28">
            <a:extLst>
              <a:ext uri="{FF2B5EF4-FFF2-40B4-BE49-F238E27FC236}">
                <a16:creationId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31" name="AutoShape 3">
            <a:extLst>
              <a:ext uri="{FF2B5EF4-FFF2-40B4-BE49-F238E27FC236}">
                <a16:creationId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2" name="Rectangle 31">
            <a:extLst>
              <a:ext uri="{FF2B5EF4-FFF2-40B4-BE49-F238E27FC236}">
                <a16:creationId xmlns:a16="http://schemas.microsoft.com/office/drawing/2014/main"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grpSp>
        <p:nvGrpSpPr>
          <p:cNvPr id="7" name="Group 6"/>
          <p:cNvGrpSpPr/>
          <p:nvPr/>
        </p:nvGrpSpPr>
        <p:grpSpPr>
          <a:xfrm>
            <a:off x="503855" y="751889"/>
            <a:ext cx="3711832" cy="5316953"/>
            <a:chOff x="631568" y="909186"/>
            <a:chExt cx="3711832" cy="5316953"/>
          </a:xfrm>
        </p:grpSpPr>
        <p:pic>
          <p:nvPicPr>
            <p:cNvPr id="18" name="Picture 17"/>
            <p:cNvPicPr/>
            <p:nvPr/>
          </p:nvPicPr>
          <p:blipFill>
            <a:blip r:embed="rId4" cstate="print">
              <a:extLst>
                <a:ext uri="{28A0092B-C50C-407E-A947-70E740481C1C}">
                  <a14:useLocalDpi xmlns:a14="http://schemas.microsoft.com/office/drawing/2010/main" val="0"/>
                </a:ext>
              </a:extLst>
            </a:blip>
            <a:stretch>
              <a:fillRect/>
            </a:stretch>
          </p:blipFill>
          <p:spPr>
            <a:xfrm>
              <a:off x="631568" y="909186"/>
              <a:ext cx="3711832" cy="5316953"/>
            </a:xfrm>
            <a:prstGeom prst="rect">
              <a:avLst/>
            </a:prstGeom>
          </p:spPr>
        </p:pic>
        <p:grpSp>
          <p:nvGrpSpPr>
            <p:cNvPr id="5" name="Group 4"/>
            <p:cNvGrpSpPr/>
            <p:nvPr/>
          </p:nvGrpSpPr>
          <p:grpSpPr>
            <a:xfrm>
              <a:off x="2393380" y="2545157"/>
              <a:ext cx="288925" cy="3661932"/>
              <a:chOff x="2393380" y="2545157"/>
              <a:chExt cx="288925" cy="3661932"/>
            </a:xfrm>
          </p:grpSpPr>
          <p:pic>
            <p:nvPicPr>
              <p:cNvPr id="40" name="Picture 39"/>
              <p:cNvPicPr/>
              <p:nvPr/>
            </p:nvPicPr>
            <p:blipFill>
              <a:blip r:embed="rId5">
                <a:extLst>
                  <a:ext uri="{28A0092B-C50C-407E-A947-70E740481C1C}">
                    <a14:useLocalDpi xmlns:a14="http://schemas.microsoft.com/office/drawing/2010/main" val="0"/>
                  </a:ext>
                </a:extLst>
              </a:blip>
              <a:stretch>
                <a:fillRect/>
              </a:stretch>
            </p:blipFill>
            <p:spPr>
              <a:xfrm>
                <a:off x="2393380" y="2545157"/>
                <a:ext cx="288925" cy="173355"/>
              </a:xfrm>
              <a:prstGeom prst="rect">
                <a:avLst/>
              </a:prstGeom>
            </p:spPr>
          </p:pic>
          <p:pic>
            <p:nvPicPr>
              <p:cNvPr id="41" name="Picture 40"/>
              <p:cNvPicPr/>
              <p:nvPr/>
            </p:nvPicPr>
            <p:blipFill>
              <a:blip r:embed="rId6">
                <a:extLst>
                  <a:ext uri="{28A0092B-C50C-407E-A947-70E740481C1C}">
                    <a14:useLocalDpi xmlns:a14="http://schemas.microsoft.com/office/drawing/2010/main" val="0"/>
                  </a:ext>
                </a:extLst>
              </a:blip>
              <a:stretch>
                <a:fillRect/>
              </a:stretch>
            </p:blipFill>
            <p:spPr>
              <a:xfrm>
                <a:off x="2421320" y="4297491"/>
                <a:ext cx="233045" cy="162560"/>
              </a:xfrm>
              <a:prstGeom prst="rect">
                <a:avLst/>
              </a:prstGeom>
            </p:spPr>
          </p:pic>
          <p:pic>
            <p:nvPicPr>
              <p:cNvPr id="42" name="Picture 41"/>
              <p:cNvPicPr/>
              <p:nvPr/>
            </p:nvPicPr>
            <p:blipFill>
              <a:blip r:embed="rId7">
                <a:extLst>
                  <a:ext uri="{28A0092B-C50C-407E-A947-70E740481C1C}">
                    <a14:useLocalDpi xmlns:a14="http://schemas.microsoft.com/office/drawing/2010/main" val="0"/>
                  </a:ext>
                </a:extLst>
              </a:blip>
              <a:stretch>
                <a:fillRect/>
              </a:stretch>
            </p:blipFill>
            <p:spPr>
              <a:xfrm>
                <a:off x="2414335" y="6022304"/>
                <a:ext cx="247015" cy="184785"/>
              </a:xfrm>
              <a:prstGeom prst="rect">
                <a:avLst/>
              </a:prstGeom>
            </p:spPr>
          </p:pic>
        </p:grpSp>
      </p:grpSp>
      <p:grpSp>
        <p:nvGrpSpPr>
          <p:cNvPr id="8" name="Group 7"/>
          <p:cNvGrpSpPr/>
          <p:nvPr/>
        </p:nvGrpSpPr>
        <p:grpSpPr>
          <a:xfrm>
            <a:off x="4482051" y="751889"/>
            <a:ext cx="4229436" cy="5316953"/>
            <a:chOff x="4609764" y="909186"/>
            <a:chExt cx="4267536" cy="5309333"/>
          </a:xfrm>
        </p:grpSpPr>
        <p:grpSp>
          <p:nvGrpSpPr>
            <p:cNvPr id="2" name="Group 1"/>
            <p:cNvGrpSpPr/>
            <p:nvPr/>
          </p:nvGrpSpPr>
          <p:grpSpPr>
            <a:xfrm>
              <a:off x="4609764" y="909186"/>
              <a:ext cx="4267536" cy="5186814"/>
              <a:chOff x="4525250" y="748577"/>
              <a:chExt cx="4417060" cy="6042328"/>
            </a:xfrm>
          </p:grpSpPr>
          <p:pic>
            <p:nvPicPr>
              <p:cNvPr id="36" name="Picture 35"/>
              <p:cNvPicPr/>
              <p:nvPr/>
            </p:nvPicPr>
            <p:blipFill>
              <a:blip r:embed="rId8">
                <a:extLst>
                  <a:ext uri="{28A0092B-C50C-407E-A947-70E740481C1C}">
                    <a14:useLocalDpi xmlns:a14="http://schemas.microsoft.com/office/drawing/2010/main" val="0"/>
                  </a:ext>
                </a:extLst>
              </a:blip>
              <a:stretch>
                <a:fillRect/>
              </a:stretch>
            </p:blipFill>
            <p:spPr>
              <a:xfrm>
                <a:off x="4534775" y="748577"/>
                <a:ext cx="4407535" cy="1954530"/>
              </a:xfrm>
              <a:prstGeom prst="rect">
                <a:avLst/>
              </a:prstGeom>
            </p:spPr>
          </p:pic>
          <p:pic>
            <p:nvPicPr>
              <p:cNvPr id="38" name="Picture 37"/>
              <p:cNvPicPr/>
              <p:nvPr/>
            </p:nvPicPr>
            <p:blipFill>
              <a:blip r:embed="rId9">
                <a:extLst>
                  <a:ext uri="{28A0092B-C50C-407E-A947-70E740481C1C}">
                    <a14:useLocalDpi xmlns:a14="http://schemas.microsoft.com/office/drawing/2010/main" val="0"/>
                  </a:ext>
                </a:extLst>
              </a:blip>
              <a:stretch>
                <a:fillRect/>
              </a:stretch>
            </p:blipFill>
            <p:spPr>
              <a:xfrm>
                <a:off x="4525250" y="2703107"/>
                <a:ext cx="4417060" cy="2091055"/>
              </a:xfrm>
              <a:prstGeom prst="rect">
                <a:avLst/>
              </a:prstGeom>
            </p:spPr>
          </p:pic>
          <p:pic>
            <p:nvPicPr>
              <p:cNvPr id="39" name="Picture 38"/>
              <p:cNvPicPr/>
              <p:nvPr/>
            </p:nvPicPr>
            <p:blipFill>
              <a:blip r:embed="rId10">
                <a:extLst>
                  <a:ext uri="{28A0092B-C50C-407E-A947-70E740481C1C}">
                    <a14:useLocalDpi xmlns:a14="http://schemas.microsoft.com/office/drawing/2010/main" val="0"/>
                  </a:ext>
                </a:extLst>
              </a:blip>
              <a:stretch>
                <a:fillRect/>
              </a:stretch>
            </p:blipFill>
            <p:spPr>
              <a:xfrm>
                <a:off x="4534775" y="4795100"/>
                <a:ext cx="4407535" cy="1995805"/>
              </a:xfrm>
              <a:prstGeom prst="rect">
                <a:avLst/>
              </a:prstGeom>
            </p:spPr>
          </p:pic>
        </p:grpSp>
        <p:pic>
          <p:nvPicPr>
            <p:cNvPr id="43" name="Picture 42"/>
            <p:cNvPicPr/>
            <p:nvPr/>
          </p:nvPicPr>
          <p:blipFill>
            <a:blip r:embed="rId5">
              <a:extLst>
                <a:ext uri="{28A0092B-C50C-407E-A947-70E740481C1C}">
                  <a14:useLocalDpi xmlns:a14="http://schemas.microsoft.com/office/drawing/2010/main" val="0"/>
                </a:ext>
              </a:extLst>
            </a:blip>
            <a:stretch>
              <a:fillRect/>
            </a:stretch>
          </p:blipFill>
          <p:spPr>
            <a:xfrm>
              <a:off x="6746428" y="2556587"/>
              <a:ext cx="288925" cy="173355"/>
            </a:xfrm>
            <a:prstGeom prst="rect">
              <a:avLst/>
            </a:prstGeom>
          </p:spPr>
        </p:pic>
        <p:pic>
          <p:nvPicPr>
            <p:cNvPr id="44" name="Picture 43"/>
            <p:cNvPicPr/>
            <p:nvPr/>
          </p:nvPicPr>
          <p:blipFill>
            <a:blip r:embed="rId6">
              <a:extLst>
                <a:ext uri="{28A0092B-C50C-407E-A947-70E740481C1C}">
                  <a14:useLocalDpi xmlns:a14="http://schemas.microsoft.com/office/drawing/2010/main" val="0"/>
                </a:ext>
              </a:extLst>
            </a:blip>
            <a:stretch>
              <a:fillRect/>
            </a:stretch>
          </p:blipFill>
          <p:spPr>
            <a:xfrm>
              <a:off x="6774368" y="4308921"/>
              <a:ext cx="233045" cy="162560"/>
            </a:xfrm>
            <a:prstGeom prst="rect">
              <a:avLst/>
            </a:prstGeom>
          </p:spPr>
        </p:pic>
        <p:pic>
          <p:nvPicPr>
            <p:cNvPr id="45" name="Picture 44"/>
            <p:cNvPicPr/>
            <p:nvPr/>
          </p:nvPicPr>
          <p:blipFill>
            <a:blip r:embed="rId7">
              <a:extLst>
                <a:ext uri="{28A0092B-C50C-407E-A947-70E740481C1C}">
                  <a14:useLocalDpi xmlns:a14="http://schemas.microsoft.com/office/drawing/2010/main" val="0"/>
                </a:ext>
              </a:extLst>
            </a:blip>
            <a:stretch>
              <a:fillRect/>
            </a:stretch>
          </p:blipFill>
          <p:spPr>
            <a:xfrm>
              <a:off x="6767383" y="6033734"/>
              <a:ext cx="247015" cy="184785"/>
            </a:xfrm>
            <a:prstGeom prst="rect">
              <a:avLst/>
            </a:prstGeom>
          </p:spPr>
        </p:pic>
      </p:grpSp>
      <p:sp>
        <p:nvSpPr>
          <p:cNvPr id="47" name="Rectangle 46">
            <a:extLst>
              <a:ext uri="{FF2B5EF4-FFF2-40B4-BE49-F238E27FC236}">
                <a16:creationId xmlns:a16="http://schemas.microsoft.com/office/drawing/2014/main" id="{1402C14E-057E-4F2D-854C-AF69C4E6CBD7}"/>
              </a:ext>
            </a:extLst>
          </p:cNvPr>
          <p:cNvSpPr/>
          <p:nvPr/>
        </p:nvSpPr>
        <p:spPr>
          <a:xfrm>
            <a:off x="4548919" y="6003057"/>
            <a:ext cx="4618750" cy="600164"/>
          </a:xfrm>
          <a:prstGeom prst="rect">
            <a:avLst/>
          </a:prstGeom>
        </p:spPr>
        <p:txBody>
          <a:bodyPr wrap="square">
            <a:spAutoFit/>
          </a:bodyPr>
          <a:lstStyle/>
          <a:p>
            <a:pPr algn="r" rtl="1"/>
            <a:r>
              <a:rPr lang="fa-IR" sz="1100" dirty="0">
                <a:latin typeface="Times New Roman" panose="02020603050405020304" pitchFamily="18" charset="0"/>
                <a:ea typeface="Calibri" panose="020F0502020204030204" pitchFamily="34" charset="0"/>
                <a:cs typeface="B Lotus" panose="00000400000000000000" pitchFamily="2" charset="-78"/>
              </a:rPr>
              <a:t>شکل 18 وضعیت باتری در شرایط مختلف تعادل (الف) وضعیت باتری در حالت تعادل در ایستا، (ب) وضعیت باتری در حالت تعادل در شارژ، (ج) وضعیت باتری در حالت تعادل در دشارژ در پیاده سازی عملی</a:t>
            </a:r>
            <a:r>
              <a:rPr lang="fa-IR" sz="1100" dirty="0">
                <a:solidFill>
                  <a:srgbClr val="61D6FF"/>
                </a:solidFill>
                <a:latin typeface="Times New Roman" panose="02020603050405020304" pitchFamily="18" charset="0"/>
                <a:ea typeface="Calibri" panose="020F0502020204030204" pitchFamily="34" charset="0"/>
                <a:cs typeface="B Lotus" panose="00000400000000000000" pitchFamily="2" charset="-78"/>
              </a:rPr>
              <a:t> [4]</a:t>
            </a:r>
            <a:r>
              <a:rPr lang="fa-IR" sz="1100" dirty="0">
                <a:latin typeface="Times New Roman" panose="02020603050405020304" pitchFamily="18" charset="0"/>
                <a:ea typeface="Calibri" panose="020F0502020204030204" pitchFamily="34" charset="0"/>
                <a:cs typeface="B Lotus" panose="00000400000000000000" pitchFamily="2" charset="-78"/>
              </a:rPr>
              <a:t>. </a:t>
            </a:r>
            <a:endParaRPr lang="en-US" sz="1100" dirty="0"/>
          </a:p>
        </p:txBody>
      </p:sp>
      <p:sp>
        <p:nvSpPr>
          <p:cNvPr id="30" name="Slide Number Placeholder 3">
            <a:extLst>
              <a:ext uri="{FF2B5EF4-FFF2-40B4-BE49-F238E27FC236}">
                <a16:creationId xmlns:a16="http://schemas.microsoft.com/office/drawing/2014/main" id="{FEFB061F-8AAB-4535-B272-1BA4D5A77191}"/>
              </a:ext>
            </a:extLst>
          </p:cNvPr>
          <p:cNvSpPr txBox="1">
            <a:spLocks/>
          </p:cNvSpPr>
          <p:nvPr/>
        </p:nvSpPr>
        <p:spPr>
          <a:xfrm>
            <a:off x="0" y="5573992"/>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26</a:t>
            </a:fld>
            <a:endParaRPr lang="fa-IR" sz="1800" dirty="0">
              <a:solidFill>
                <a:schemeClr val="tx1"/>
              </a:solidFill>
              <a:cs typeface="B Lotus" panose="00000400000000000000" pitchFamily="2" charset="-78"/>
            </a:endParaRPr>
          </a:p>
        </p:txBody>
      </p:sp>
      <p:sp>
        <p:nvSpPr>
          <p:cNvPr id="33" name="Rectangle 32"/>
          <p:cNvSpPr/>
          <p:nvPr/>
        </p:nvSpPr>
        <p:spPr>
          <a:xfrm>
            <a:off x="418672" y="6499576"/>
            <a:ext cx="8725328" cy="369332"/>
          </a:xfrm>
          <a:prstGeom prst="rect">
            <a:avLst/>
          </a:prstGeom>
        </p:spPr>
        <p:txBody>
          <a:bodyPr wrap="square">
            <a:spAutoFit/>
          </a:bodyPr>
          <a:lstStyle/>
          <a:p>
            <a:r>
              <a:rPr lang="en-US" sz="900" dirty="0"/>
              <a:t>[4]         </a:t>
            </a:r>
            <a:r>
              <a:rPr lang="en-US" sz="900" dirty="0" err="1"/>
              <a:t>Difrancesco</a:t>
            </a:r>
            <a:r>
              <a:rPr lang="en-US" sz="900" dirty="0"/>
              <a:t>, Paul-Mark &amp; </a:t>
            </a:r>
            <a:r>
              <a:rPr lang="en-US" sz="900" dirty="0" err="1"/>
              <a:t>Bonneau</a:t>
            </a:r>
            <a:r>
              <a:rPr lang="en-US" sz="900" dirty="0"/>
              <a:t>, David &amp; Hutchinson, D.. (2020). The Implications of M3C2 Projection Diameter on 3D Semi-Automated </a:t>
            </a:r>
            <a:r>
              <a:rPr lang="en-US" sz="900" dirty="0" err="1"/>
              <a:t>Rockfall</a:t>
            </a:r>
            <a:r>
              <a:rPr lang="en-US" sz="900" dirty="0"/>
              <a:t> Extraction from Sequential Terrestrial Laser Scanning Point Clouds. Remote Sensing. 12. 1885. 10.3390/rs12111885. </a:t>
            </a:r>
            <a:endParaRPr lang="en-US" sz="900" i="1" dirty="0"/>
          </a:p>
        </p:txBody>
      </p:sp>
    </p:spTree>
    <p:extLst>
      <p:ext uri="{BB962C8B-B14F-4D97-AF65-F5344CB8AC3E}">
        <p14:creationId xmlns:p14="http://schemas.microsoft.com/office/powerpoint/2010/main" val="153768049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TextBox 25">
            <a:extLst>
              <a:ext uri="{FF2B5EF4-FFF2-40B4-BE49-F238E27FC236}">
                <a16:creationId xmlns:a16="http://schemas.microsoft.com/office/drawing/2014/main" id="{90C43403-B77E-474E-A638-C5BD6540DB40}"/>
              </a:ext>
            </a:extLst>
          </p:cNvPr>
          <p:cNvSpPr txBox="1"/>
          <p:nvPr/>
        </p:nvSpPr>
        <p:spPr>
          <a:xfrm>
            <a:off x="-635497" y="2998200"/>
            <a:ext cx="65" cy="276999"/>
          </a:xfrm>
          <a:prstGeom prst="rect">
            <a:avLst/>
          </a:prstGeom>
          <a:noFill/>
        </p:spPr>
        <p:txBody>
          <a:bodyPr wrap="none" lIns="0" tIns="0" rIns="0" bIns="0" rtlCol="0">
            <a:spAutoFit/>
          </a:bodyPr>
          <a:lstStyle/>
          <a:p>
            <a:endParaRPr lang="en-US" dirty="0"/>
          </a:p>
        </p:txBody>
      </p:sp>
      <p:pic>
        <p:nvPicPr>
          <p:cNvPr id="5" name="Picture 4"/>
          <p:cNvPicPr>
            <a:picLocks noChangeAspect="1"/>
          </p:cNvPicPr>
          <p:nvPr/>
        </p:nvPicPr>
        <p:blipFill>
          <a:blip r:embed="rId3"/>
          <a:stretch>
            <a:fillRect/>
          </a:stretch>
        </p:blipFill>
        <p:spPr>
          <a:xfrm>
            <a:off x="148662" y="921845"/>
            <a:ext cx="1234508" cy="1234508"/>
          </a:xfrm>
          <a:prstGeom prst="rect">
            <a:avLst/>
          </a:prstGeom>
        </p:spPr>
      </p:pic>
      <p:sp>
        <p:nvSpPr>
          <p:cNvPr id="45" name="AutoShape 2">
            <a:extLst>
              <a:ext uri="{FF2B5EF4-FFF2-40B4-BE49-F238E27FC236}">
                <a16:creationId xmlns:a16="http://schemas.microsoft.com/office/drawing/2014/main" id="{497A908A-E454-4B9F-A07D-96505D4C7818}"/>
              </a:ext>
            </a:extLst>
          </p:cNvPr>
          <p:cNvSpPr>
            <a:spLocks noChangeAspect="1" noChangeArrowheads="1"/>
          </p:cNvSpPr>
          <p:nvPr/>
        </p:nvSpPr>
        <p:spPr bwMode="ltGray">
          <a:xfrm rot="16200000" flipH="1">
            <a:off x="6766228" y="1901826"/>
            <a:ext cx="4824413" cy="4770438"/>
          </a:xfrm>
          <a:custGeom>
            <a:avLst/>
            <a:gdLst>
              <a:gd name="G0" fmla="+- 10478 0 0"/>
              <a:gd name="G1" fmla="+- -11739500 0 0"/>
              <a:gd name="G2" fmla="+- 0 0 -11739500"/>
              <a:gd name="T0" fmla="*/ 0 256 1"/>
              <a:gd name="T1" fmla="*/ 180 256 1"/>
              <a:gd name="G3" fmla="+- -11739500 T0 T1"/>
              <a:gd name="T2" fmla="*/ 0 256 1"/>
              <a:gd name="T3" fmla="*/ 90 256 1"/>
              <a:gd name="G4" fmla="+- -11739500 T2 T3"/>
              <a:gd name="G5" fmla="*/ G4 2 1"/>
              <a:gd name="T4" fmla="*/ 90 256 1"/>
              <a:gd name="T5" fmla="*/ 0 256 1"/>
              <a:gd name="G6" fmla="+- -11739500 T4 T5"/>
              <a:gd name="G7" fmla="*/ G6 2 1"/>
              <a:gd name="G8" fmla="abs -11739500"/>
              <a:gd name="T6" fmla="*/ 0 256 1"/>
              <a:gd name="T7" fmla="*/ 90 256 1"/>
              <a:gd name="G9" fmla="+- G8 T6 T7"/>
              <a:gd name="G10" fmla="?: G9 G7 G5"/>
              <a:gd name="T8" fmla="*/ 0 256 1"/>
              <a:gd name="T9" fmla="*/ 360 256 1"/>
              <a:gd name="G11" fmla="+- G10 T8 T9"/>
              <a:gd name="G12" fmla="?: G10 G11 G10"/>
              <a:gd name="T10" fmla="*/ 0 256 1"/>
              <a:gd name="T11" fmla="*/ 360 256 1"/>
              <a:gd name="G13" fmla="+- G12 T10 T11"/>
              <a:gd name="G14" fmla="?: G12 G13 G12"/>
              <a:gd name="G15" fmla="+- 0 0 G14"/>
              <a:gd name="G16" fmla="+- 10800 0 0"/>
              <a:gd name="G17" fmla="+- 10800 0 10478"/>
              <a:gd name="G18" fmla="*/ 10478 1 2"/>
              <a:gd name="G19" fmla="+- G18 5400 0"/>
              <a:gd name="G20" fmla="cos G19 -11739500"/>
              <a:gd name="G21" fmla="sin G19 -11739500"/>
              <a:gd name="G22" fmla="+- G20 10800 0"/>
              <a:gd name="G23" fmla="+- G21 10800 0"/>
              <a:gd name="G24" fmla="+- 10800 0 G20"/>
              <a:gd name="G25" fmla="+- 10478 10800 0"/>
              <a:gd name="G26" fmla="?: G9 G17 G25"/>
              <a:gd name="G27" fmla="?: G9 0 21600"/>
              <a:gd name="G28" fmla="cos 10800 -11739500"/>
              <a:gd name="G29" fmla="sin 10800 -11739500"/>
              <a:gd name="G30" fmla="sin 10478 -11739500"/>
              <a:gd name="G31" fmla="+- G28 10800 0"/>
              <a:gd name="G32" fmla="+- G29 10800 0"/>
              <a:gd name="G33" fmla="+- G30 10800 0"/>
              <a:gd name="G34" fmla="?: G4 0 G31"/>
              <a:gd name="G35" fmla="?: -11739500 G34 0"/>
              <a:gd name="G36" fmla="?: G6 G35 G31"/>
              <a:gd name="G37" fmla="+- 21600 0 G36"/>
              <a:gd name="G38" fmla="?: G4 0 G33"/>
              <a:gd name="G39" fmla="?: -11739500 G38 G32"/>
              <a:gd name="G40" fmla="?: G6 G39 0"/>
              <a:gd name="G41" fmla="?: G4 G32 21600"/>
              <a:gd name="G42" fmla="?: G6 G41 G33"/>
              <a:gd name="T12" fmla="*/ 10800 w 21600"/>
              <a:gd name="T13" fmla="*/ 0 h 21600"/>
              <a:gd name="T14" fmla="*/ 162 w 21600"/>
              <a:gd name="T15" fmla="*/ 10638 h 21600"/>
              <a:gd name="T16" fmla="*/ 10800 w 21600"/>
              <a:gd name="T17" fmla="*/ 322 h 21600"/>
              <a:gd name="T18" fmla="*/ 21438 w 21600"/>
              <a:gd name="T19" fmla="*/ 10638 h 21600"/>
              <a:gd name="T20" fmla="*/ G36 w 21600"/>
              <a:gd name="T21" fmla="*/ G40 h 21600"/>
              <a:gd name="T22" fmla="*/ G37 w 21600"/>
              <a:gd name="T23" fmla="*/ G42 h 21600"/>
            </a:gdLst>
            <a:ahLst/>
            <a:cxnLst>
              <a:cxn ang="0">
                <a:pos x="T12" y="T13"/>
              </a:cxn>
              <a:cxn ang="0">
                <a:pos x="T14" y="T15"/>
              </a:cxn>
              <a:cxn ang="0">
                <a:pos x="T16" y="T17"/>
              </a:cxn>
              <a:cxn ang="0">
                <a:pos x="T18" y="T19"/>
              </a:cxn>
            </a:cxnLst>
            <a:rect l="T20" t="T21" r="T22" b="T23"/>
            <a:pathLst>
              <a:path w="21600" h="21600">
                <a:moveTo>
                  <a:pt x="323" y="10641"/>
                </a:moveTo>
                <a:cubicBezTo>
                  <a:pt x="410" y="4916"/>
                  <a:pt x="5075" y="321"/>
                  <a:pt x="10800" y="322"/>
                </a:cubicBezTo>
                <a:cubicBezTo>
                  <a:pt x="16524" y="322"/>
                  <a:pt x="21189" y="4916"/>
                  <a:pt x="21276" y="10641"/>
                </a:cubicBezTo>
                <a:lnTo>
                  <a:pt x="21598" y="10636"/>
                </a:lnTo>
                <a:cubicBezTo>
                  <a:pt x="21509" y="4736"/>
                  <a:pt x="16700" y="-1"/>
                  <a:pt x="10799" y="0"/>
                </a:cubicBezTo>
                <a:cubicBezTo>
                  <a:pt x="4899" y="0"/>
                  <a:pt x="90" y="4736"/>
                  <a:pt x="1" y="10636"/>
                </a:cubicBezTo>
                <a:close/>
              </a:path>
            </a:pathLst>
          </a:custGeom>
          <a:gradFill rotWithShape="0">
            <a:gsLst>
              <a:gs pos="0">
                <a:srgbClr val="B0BAD8">
                  <a:gamma/>
                  <a:tint val="45490"/>
                  <a:invGamma/>
                </a:srgbClr>
              </a:gs>
              <a:gs pos="100000">
                <a:srgbClr val="B0BAD8"/>
              </a:gs>
            </a:gsLst>
            <a:lin ang="0" scaled="1"/>
          </a:gradFill>
          <a:ln w="9525" algn="ctr">
            <a:noFill/>
            <a:miter lim="800000"/>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6" name="AutoShape 3">
            <a:extLst>
              <a:ext uri="{FF2B5EF4-FFF2-40B4-BE49-F238E27FC236}">
                <a16:creationId xmlns:a16="http://schemas.microsoft.com/office/drawing/2014/main" id="{481E592A-A902-40E8-8D57-EEB2C886C06E}"/>
              </a:ext>
            </a:extLst>
          </p:cNvPr>
          <p:cNvSpPr>
            <a:spLocks noChangeAspect="1" noChangeArrowheads="1"/>
          </p:cNvSpPr>
          <p:nvPr/>
        </p:nvSpPr>
        <p:spPr bwMode="ltGray">
          <a:xfrm rot="16200000">
            <a:off x="7127876" y="2337594"/>
            <a:ext cx="4032250" cy="3929063"/>
          </a:xfrm>
          <a:custGeom>
            <a:avLst/>
            <a:gdLst>
              <a:gd name="G0" fmla="+- 56 0 0"/>
              <a:gd name="G1" fmla="+- 11796480 0 0"/>
              <a:gd name="G2" fmla="+- 0 0 11796480"/>
              <a:gd name="T0" fmla="*/ 0 256 1"/>
              <a:gd name="T1" fmla="*/ 180 256 1"/>
              <a:gd name="G3" fmla="+- 11796480 T0 T1"/>
              <a:gd name="T2" fmla="*/ 0 256 1"/>
              <a:gd name="T3" fmla="*/ 90 256 1"/>
              <a:gd name="G4" fmla="+- 11796480 T2 T3"/>
              <a:gd name="G5" fmla="*/ G4 2 1"/>
              <a:gd name="T4" fmla="*/ 90 256 1"/>
              <a:gd name="T5" fmla="*/ 0 256 1"/>
              <a:gd name="G6" fmla="+- 11796480 T4 T5"/>
              <a:gd name="G7" fmla="*/ G6 2 1"/>
              <a:gd name="G8" fmla="abs 11796480"/>
              <a:gd name="T6" fmla="*/ 0 256 1"/>
              <a:gd name="T7" fmla="*/ 90 256 1"/>
              <a:gd name="G9" fmla="+- G8 T6 T7"/>
              <a:gd name="G10" fmla="?: G9 G7 G5"/>
              <a:gd name="T8" fmla="*/ 0 256 1"/>
              <a:gd name="T9" fmla="*/ 360 256 1"/>
              <a:gd name="G11" fmla="+- G10 T8 T9"/>
              <a:gd name="G12" fmla="?: G10 G11 G10"/>
              <a:gd name="T10" fmla="*/ 0 256 1"/>
              <a:gd name="T11" fmla="*/ 360 256 1"/>
              <a:gd name="G13" fmla="+- G12 T10 T11"/>
              <a:gd name="G14" fmla="?: G12 G13 G12"/>
              <a:gd name="G15" fmla="+- 0 0 G14"/>
              <a:gd name="G16" fmla="+- 10800 0 0"/>
              <a:gd name="G17" fmla="+- 10800 0 56"/>
              <a:gd name="G18" fmla="*/ 56 1 2"/>
              <a:gd name="G19" fmla="+- G18 5400 0"/>
              <a:gd name="G20" fmla="cos G19 11796480"/>
              <a:gd name="G21" fmla="sin G19 11796480"/>
              <a:gd name="G22" fmla="+- G20 10800 0"/>
              <a:gd name="G23" fmla="+- G21 10800 0"/>
              <a:gd name="G24" fmla="+- 10800 0 G20"/>
              <a:gd name="G25" fmla="+- 56 10800 0"/>
              <a:gd name="G26" fmla="?: G9 G17 G25"/>
              <a:gd name="G27" fmla="?: G9 0 21600"/>
              <a:gd name="G28" fmla="cos 10800 11796480"/>
              <a:gd name="G29" fmla="sin 10800 11796480"/>
              <a:gd name="G30" fmla="sin 56 11796480"/>
              <a:gd name="G31" fmla="+- G28 10800 0"/>
              <a:gd name="G32" fmla="+- G29 10800 0"/>
              <a:gd name="G33" fmla="+- G30 10800 0"/>
              <a:gd name="G34" fmla="?: G4 0 G31"/>
              <a:gd name="G35" fmla="?: 11796480 G34 0"/>
              <a:gd name="G36" fmla="?: G6 G35 G31"/>
              <a:gd name="G37" fmla="+- 21600 0 G36"/>
              <a:gd name="G38" fmla="?: G4 0 G33"/>
              <a:gd name="G39" fmla="?: 11796480 G38 G32"/>
              <a:gd name="G40" fmla="?: G6 G39 0"/>
              <a:gd name="G41" fmla="?: G4 G32 21600"/>
              <a:gd name="G42" fmla="?: G6 G41 G33"/>
              <a:gd name="T12" fmla="*/ 10800 w 21600"/>
              <a:gd name="T13" fmla="*/ 0 h 21600"/>
              <a:gd name="T14" fmla="*/ 5372 w 21600"/>
              <a:gd name="T15" fmla="*/ 10800 h 21600"/>
              <a:gd name="T16" fmla="*/ 10800 w 21600"/>
              <a:gd name="T17" fmla="*/ 10744 h 21600"/>
              <a:gd name="T18" fmla="*/ 16228 w 21600"/>
              <a:gd name="T19" fmla="*/ 10800 h 21600"/>
              <a:gd name="T20" fmla="*/ G36 w 21600"/>
              <a:gd name="T21" fmla="*/ G40 h 21600"/>
              <a:gd name="T22" fmla="*/ G37 w 21600"/>
              <a:gd name="T23" fmla="*/ G42 h 21600"/>
            </a:gdLst>
            <a:ahLst/>
            <a:cxnLst>
              <a:cxn ang="0">
                <a:pos x="T12" y="T13"/>
              </a:cxn>
              <a:cxn ang="0">
                <a:pos x="T14" y="T15"/>
              </a:cxn>
              <a:cxn ang="0">
                <a:pos x="T16" y="T17"/>
              </a:cxn>
              <a:cxn ang="0">
                <a:pos x="T18" y="T19"/>
              </a:cxn>
            </a:cxnLst>
            <a:rect l="T20" t="T21" r="T22" b="T23"/>
            <a:pathLst>
              <a:path w="21600" h="21600">
                <a:moveTo>
                  <a:pt x="10744" y="10800"/>
                </a:moveTo>
                <a:cubicBezTo>
                  <a:pt x="10744" y="10769"/>
                  <a:pt x="10769" y="10744"/>
                  <a:pt x="10800" y="10744"/>
                </a:cubicBezTo>
                <a:cubicBezTo>
                  <a:pt x="10830" y="10743"/>
                  <a:pt x="10855" y="10769"/>
                  <a:pt x="10856" y="10799"/>
                </a:cubicBezTo>
                <a:lnTo>
                  <a:pt x="21600" y="10800"/>
                </a:lnTo>
                <a:cubicBezTo>
                  <a:pt x="21600" y="4835"/>
                  <a:pt x="16764" y="0"/>
                  <a:pt x="10800" y="0"/>
                </a:cubicBezTo>
                <a:cubicBezTo>
                  <a:pt x="4835" y="0"/>
                  <a:pt x="0" y="4835"/>
                  <a:pt x="0" y="10800"/>
                </a:cubicBezTo>
                <a:close/>
              </a:path>
            </a:pathLst>
          </a:custGeom>
          <a:gradFill rotWithShape="0">
            <a:gsLst>
              <a:gs pos="0">
                <a:srgbClr val="B8CCFE">
                  <a:gamma/>
                  <a:tint val="39216"/>
                  <a:invGamma/>
                </a:srgbClr>
              </a:gs>
              <a:gs pos="100000">
                <a:srgbClr val="B8CCFE"/>
              </a:gs>
            </a:gsLst>
            <a:lin ang="0" scaled="1"/>
          </a:gradFill>
          <a:ln w="0" algn="ctr">
            <a:noFill/>
            <a:miter lim="800000"/>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8" name="AutoShape 8">
            <a:extLst>
              <a:ext uri="{FF2B5EF4-FFF2-40B4-BE49-F238E27FC236}">
                <a16:creationId xmlns:a16="http://schemas.microsoft.com/office/drawing/2014/main" id="{FF901E6E-4D39-4565-9B46-60C2C5B1D5F6}"/>
              </a:ext>
            </a:extLst>
          </p:cNvPr>
          <p:cNvSpPr>
            <a:spLocks noChangeAspect="1" noChangeArrowheads="1"/>
          </p:cNvSpPr>
          <p:nvPr/>
        </p:nvSpPr>
        <p:spPr bwMode="gray">
          <a:xfrm>
            <a:off x="835796" y="2534512"/>
            <a:ext cx="6309820"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dirty="0">
                <a:cs typeface="B Lotus" panose="00000400000000000000" pitchFamily="2" charset="-78"/>
              </a:rPr>
              <a:t>الگوریتم بهبودیافته و تسریع‌کننده فرآیند همسان‌سازی متناسب خودروهای تجاری کِشنده</a:t>
            </a:r>
            <a:endParaRPr lang="en-US" b="1" dirty="0">
              <a:solidFill>
                <a:srgbClr val="000000"/>
              </a:solidFill>
              <a:latin typeface="Times New Roman" panose="02020603050405020304" pitchFamily="18" charset="0"/>
              <a:cs typeface="B Lotus" panose="00000400000000000000" pitchFamily="2" charset="-78"/>
            </a:endParaRPr>
          </a:p>
        </p:txBody>
      </p:sp>
      <p:grpSp>
        <p:nvGrpSpPr>
          <p:cNvPr id="49" name="Group 23">
            <a:extLst>
              <a:ext uri="{FF2B5EF4-FFF2-40B4-BE49-F238E27FC236}">
                <a16:creationId xmlns:a16="http://schemas.microsoft.com/office/drawing/2014/main" id="{978D1582-1549-4D37-9C95-34020E281F7D}"/>
              </a:ext>
            </a:extLst>
          </p:cNvPr>
          <p:cNvGrpSpPr>
            <a:grpSpLocks noChangeAspect="1"/>
          </p:cNvGrpSpPr>
          <p:nvPr/>
        </p:nvGrpSpPr>
        <p:grpSpPr bwMode="auto">
          <a:xfrm>
            <a:off x="7102750" y="2610712"/>
            <a:ext cx="381000" cy="381000"/>
            <a:chOff x="2078" y="1680"/>
            <a:chExt cx="1615" cy="1615"/>
          </a:xfrm>
        </p:grpSpPr>
        <p:sp>
          <p:nvSpPr>
            <p:cNvPr id="50" name="Oval 24">
              <a:extLst>
                <a:ext uri="{FF2B5EF4-FFF2-40B4-BE49-F238E27FC236}">
                  <a16:creationId xmlns:a16="http://schemas.microsoft.com/office/drawing/2014/main" id="{394744AB-69AD-4039-A10B-0D8E0439243B}"/>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51" name="Oval 25">
              <a:extLst>
                <a:ext uri="{FF2B5EF4-FFF2-40B4-BE49-F238E27FC236}">
                  <a16:creationId xmlns:a16="http://schemas.microsoft.com/office/drawing/2014/main" id="{154704C5-3C92-4C99-8D43-D388A6C5B289}"/>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52" name="Oval 26">
              <a:extLst>
                <a:ext uri="{FF2B5EF4-FFF2-40B4-BE49-F238E27FC236}">
                  <a16:creationId xmlns:a16="http://schemas.microsoft.com/office/drawing/2014/main" id="{04F66D2C-385D-4CBC-8E8F-3E3A912DFC98}"/>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53" name="Oval 27">
              <a:extLst>
                <a:ext uri="{FF2B5EF4-FFF2-40B4-BE49-F238E27FC236}">
                  <a16:creationId xmlns:a16="http://schemas.microsoft.com/office/drawing/2014/main" id="{EA27390D-90C7-4FEF-9F37-D35FD2EA7723}"/>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54" name="Oval 28">
              <a:extLst>
                <a:ext uri="{FF2B5EF4-FFF2-40B4-BE49-F238E27FC236}">
                  <a16:creationId xmlns:a16="http://schemas.microsoft.com/office/drawing/2014/main" id="{5C9AFE92-58F0-4BF1-8021-7EEAC92E3206}"/>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55" name="Oval 29">
              <a:extLst>
                <a:ext uri="{FF2B5EF4-FFF2-40B4-BE49-F238E27FC236}">
                  <a16:creationId xmlns:a16="http://schemas.microsoft.com/office/drawing/2014/main" id="{1B81B5B2-AD7F-472D-BBE8-64F0040E5D5F}"/>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56" name="TextBox 55">
            <a:extLst>
              <a:ext uri="{FF2B5EF4-FFF2-40B4-BE49-F238E27FC236}">
                <a16:creationId xmlns:a16="http://schemas.microsoft.com/office/drawing/2014/main" id="{90C43403-B77E-474E-A638-C5BD6540DB40}"/>
              </a:ext>
            </a:extLst>
          </p:cNvPr>
          <p:cNvSpPr txBox="1"/>
          <p:nvPr/>
        </p:nvSpPr>
        <p:spPr>
          <a:xfrm>
            <a:off x="2992949" y="3228549"/>
            <a:ext cx="65" cy="276999"/>
          </a:xfrm>
          <a:prstGeom prst="rect">
            <a:avLst/>
          </a:prstGeom>
          <a:noFill/>
        </p:spPr>
        <p:txBody>
          <a:bodyPr wrap="none" lIns="0" tIns="0" rIns="0" bIns="0" rtlCol="0">
            <a:spAutoFit/>
          </a:bodyPr>
          <a:lstStyle/>
          <a:p>
            <a:endParaRPr lang="en-US" dirty="0"/>
          </a:p>
        </p:txBody>
      </p:sp>
      <p:sp>
        <p:nvSpPr>
          <p:cNvPr id="57" name="AutoShape 8">
            <a:extLst>
              <a:ext uri="{FF2B5EF4-FFF2-40B4-BE49-F238E27FC236}">
                <a16:creationId xmlns:a16="http://schemas.microsoft.com/office/drawing/2014/main" id="{B5862EDC-452E-4DF3-BF8D-680DE0577504}"/>
              </a:ext>
            </a:extLst>
          </p:cNvPr>
          <p:cNvSpPr>
            <a:spLocks noChangeAspect="1" noChangeArrowheads="1"/>
          </p:cNvSpPr>
          <p:nvPr/>
        </p:nvSpPr>
        <p:spPr bwMode="gray">
          <a:xfrm>
            <a:off x="148662" y="3953150"/>
            <a:ext cx="6575687" cy="595352"/>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dirty="0">
                <a:cs typeface="B Lotus" panose="00000400000000000000" pitchFamily="2" charset="-78"/>
              </a:rPr>
              <a:t>روشی نو برای همسان‌سازی باتری پک با اتصال سری بر مبنای تجزیه و تحلیل </a:t>
            </a:r>
            <a:r>
              <a:rPr lang="fa-IR" dirty="0" err="1">
                <a:cs typeface="B Lotus" panose="00000400000000000000" pitchFamily="2" charset="-78"/>
              </a:rPr>
              <a:t>خوشه‌بندی</a:t>
            </a:r>
            <a:endParaRPr lang="fa-IR" dirty="0">
              <a:cs typeface="B Lotus" panose="00000400000000000000" pitchFamily="2" charset="-78"/>
            </a:endParaRPr>
          </a:p>
          <a:p>
            <a:pPr algn="r" rtl="1" fontAlgn="base">
              <a:spcBef>
                <a:spcPct val="0"/>
              </a:spcBef>
              <a:spcAft>
                <a:spcPct val="0"/>
              </a:spcAft>
            </a:pPr>
            <a:r>
              <a:rPr lang="fa-IR" dirty="0">
                <a:cs typeface="B Lotus" panose="00000400000000000000" pitchFamily="2" charset="-78"/>
              </a:rPr>
              <a:t> همراه با الگوریتم ژنتیک</a:t>
            </a:r>
            <a:endParaRPr lang="en-US" dirty="0">
              <a:cs typeface="B Lotus" panose="00000400000000000000" pitchFamily="2" charset="-78"/>
            </a:endParaRPr>
          </a:p>
        </p:txBody>
      </p:sp>
      <p:sp>
        <p:nvSpPr>
          <p:cNvPr id="58" name="AutoShape 8">
            <a:extLst>
              <a:ext uri="{FF2B5EF4-FFF2-40B4-BE49-F238E27FC236}">
                <a16:creationId xmlns:a16="http://schemas.microsoft.com/office/drawing/2014/main" id="{3B3A499C-E5A4-4F32-9CCC-AD714CA7AEF7}"/>
              </a:ext>
            </a:extLst>
          </p:cNvPr>
          <p:cNvSpPr>
            <a:spLocks noChangeAspect="1" noChangeArrowheads="1"/>
          </p:cNvSpPr>
          <p:nvPr/>
        </p:nvSpPr>
        <p:spPr bwMode="gray">
          <a:xfrm>
            <a:off x="777499" y="5459140"/>
            <a:ext cx="6383614" cy="654499"/>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dirty="0">
                <a:cs typeface="B Lotus" panose="00000400000000000000" pitchFamily="2" charset="-78"/>
              </a:rPr>
              <a:t>روشی بهینه و سریع برای همسان‌سازی فعال پک باتری مستهلک با استفاده از مبدل ولتاژ</a:t>
            </a:r>
            <a:br>
              <a:rPr lang="en-US" dirty="0">
                <a:cs typeface="B Lotus" panose="00000400000000000000" pitchFamily="2" charset="-78"/>
              </a:rPr>
            </a:br>
            <a:r>
              <a:rPr lang="fa-IR" dirty="0">
                <a:cs typeface="B Lotus" panose="00000400000000000000" pitchFamily="2" charset="-78"/>
              </a:rPr>
              <a:t> دوطرفه با دامنه ولتاژ کاری وسیع و الگوریتم خوشه‌بندی </a:t>
            </a:r>
            <a:r>
              <a:rPr lang="en-US" i="1" dirty="0">
                <a:latin typeface="Times New Roman" panose="02020603050405020304" pitchFamily="18" charset="0"/>
                <a:cs typeface="Times New Roman" panose="02020603050405020304" pitchFamily="18" charset="0"/>
              </a:rPr>
              <a:t>DBSCAN</a:t>
            </a:r>
            <a:endParaRPr lang="en-US" dirty="0">
              <a:latin typeface="Times New Roman" panose="02020603050405020304" pitchFamily="18" charset="0"/>
              <a:cs typeface="Times New Roman" panose="02020603050405020304" pitchFamily="18" charset="0"/>
            </a:endParaRPr>
          </a:p>
        </p:txBody>
      </p:sp>
      <p:grpSp>
        <p:nvGrpSpPr>
          <p:cNvPr id="59" name="Group 23">
            <a:extLst>
              <a:ext uri="{FF2B5EF4-FFF2-40B4-BE49-F238E27FC236}">
                <a16:creationId xmlns:a16="http://schemas.microsoft.com/office/drawing/2014/main" id="{480CFC9E-AE3C-48F6-BC4D-4934E415B67E}"/>
              </a:ext>
            </a:extLst>
          </p:cNvPr>
          <p:cNvGrpSpPr>
            <a:grpSpLocks noChangeAspect="1"/>
          </p:cNvGrpSpPr>
          <p:nvPr/>
        </p:nvGrpSpPr>
        <p:grpSpPr bwMode="auto">
          <a:xfrm>
            <a:off x="6629139" y="4057157"/>
            <a:ext cx="381000" cy="381000"/>
            <a:chOff x="2078" y="1680"/>
            <a:chExt cx="1615" cy="1615"/>
          </a:xfrm>
        </p:grpSpPr>
        <p:sp>
          <p:nvSpPr>
            <p:cNvPr id="60" name="Oval 24">
              <a:extLst>
                <a:ext uri="{FF2B5EF4-FFF2-40B4-BE49-F238E27FC236}">
                  <a16:creationId xmlns:a16="http://schemas.microsoft.com/office/drawing/2014/main" id="{CACFC30A-9877-4806-9B4C-587ACE150345}"/>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61" name="Oval 25">
              <a:extLst>
                <a:ext uri="{FF2B5EF4-FFF2-40B4-BE49-F238E27FC236}">
                  <a16:creationId xmlns:a16="http://schemas.microsoft.com/office/drawing/2014/main" id="{640C1602-143A-456B-BA22-7664A3DEFFCF}"/>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62" name="Oval 26">
              <a:extLst>
                <a:ext uri="{FF2B5EF4-FFF2-40B4-BE49-F238E27FC236}">
                  <a16:creationId xmlns:a16="http://schemas.microsoft.com/office/drawing/2014/main" id="{53792F8F-0D9C-4345-A703-F034640FA7A7}"/>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63" name="Oval 27">
              <a:extLst>
                <a:ext uri="{FF2B5EF4-FFF2-40B4-BE49-F238E27FC236}">
                  <a16:creationId xmlns:a16="http://schemas.microsoft.com/office/drawing/2014/main" id="{B29790E8-4F4B-4579-8A6B-FE3F9B0CAEF2}"/>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64" name="Oval 28">
              <a:extLst>
                <a:ext uri="{FF2B5EF4-FFF2-40B4-BE49-F238E27FC236}">
                  <a16:creationId xmlns:a16="http://schemas.microsoft.com/office/drawing/2014/main" id="{358C33BB-071D-4F24-839E-CC9C393EF0D8}"/>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65" name="Oval 29">
              <a:extLst>
                <a:ext uri="{FF2B5EF4-FFF2-40B4-BE49-F238E27FC236}">
                  <a16:creationId xmlns:a16="http://schemas.microsoft.com/office/drawing/2014/main" id="{4E06C84A-1EFC-44EA-B29A-11ED722DE85A}"/>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grpSp>
        <p:nvGrpSpPr>
          <p:cNvPr id="66" name="Group 23">
            <a:extLst>
              <a:ext uri="{FF2B5EF4-FFF2-40B4-BE49-F238E27FC236}">
                <a16:creationId xmlns:a16="http://schemas.microsoft.com/office/drawing/2014/main" id="{DBD88F74-281E-49A6-BC26-B30CBBAE64C9}"/>
              </a:ext>
            </a:extLst>
          </p:cNvPr>
          <p:cNvGrpSpPr>
            <a:grpSpLocks noChangeAspect="1"/>
          </p:cNvGrpSpPr>
          <p:nvPr/>
        </p:nvGrpSpPr>
        <p:grpSpPr bwMode="auto">
          <a:xfrm>
            <a:off x="7066156" y="5621597"/>
            <a:ext cx="381000" cy="381000"/>
            <a:chOff x="2078" y="1680"/>
            <a:chExt cx="1615" cy="1615"/>
          </a:xfrm>
        </p:grpSpPr>
        <p:sp>
          <p:nvSpPr>
            <p:cNvPr id="67" name="Oval 24">
              <a:extLst>
                <a:ext uri="{FF2B5EF4-FFF2-40B4-BE49-F238E27FC236}">
                  <a16:creationId xmlns:a16="http://schemas.microsoft.com/office/drawing/2014/main" id="{8B6A68AB-47EE-4BEB-9563-FC726BE4E43A}"/>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68" name="Oval 25">
              <a:extLst>
                <a:ext uri="{FF2B5EF4-FFF2-40B4-BE49-F238E27FC236}">
                  <a16:creationId xmlns:a16="http://schemas.microsoft.com/office/drawing/2014/main" id="{004826CD-E5CF-47B8-BD5C-D81E5D353CD7}"/>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69" name="Oval 26">
              <a:extLst>
                <a:ext uri="{FF2B5EF4-FFF2-40B4-BE49-F238E27FC236}">
                  <a16:creationId xmlns:a16="http://schemas.microsoft.com/office/drawing/2014/main" id="{3B71C91A-95B1-48A6-8F6E-2BCE30BA5067}"/>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70" name="Oval 27">
              <a:extLst>
                <a:ext uri="{FF2B5EF4-FFF2-40B4-BE49-F238E27FC236}">
                  <a16:creationId xmlns:a16="http://schemas.microsoft.com/office/drawing/2014/main" id="{4B68C4BF-098A-4123-BB53-98CECA7F4A81}"/>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71" name="Oval 28">
              <a:extLst>
                <a:ext uri="{FF2B5EF4-FFF2-40B4-BE49-F238E27FC236}">
                  <a16:creationId xmlns:a16="http://schemas.microsoft.com/office/drawing/2014/main" id="{3C5FE447-2DEF-4C03-AA66-D8D7E4B6E8E3}"/>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72" name="Oval 29">
              <a:extLst>
                <a:ext uri="{FF2B5EF4-FFF2-40B4-BE49-F238E27FC236}">
                  <a16:creationId xmlns:a16="http://schemas.microsoft.com/office/drawing/2014/main" id="{A8ADD6E4-DB30-4BEC-98B9-1D2EAA799DA1}"/>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42" name="Rounded Rectangle 175">
            <a:extLst>
              <a:ext uri="{FF2B5EF4-FFF2-40B4-BE49-F238E27FC236}">
                <a16:creationId xmlns:a16="http://schemas.microsoft.com/office/drawing/2014/main" id="{AACCE7D9-540A-47B9-8964-41031B797FDD}"/>
              </a:ext>
            </a:extLst>
          </p:cNvPr>
          <p:cNvSpPr/>
          <p:nvPr/>
        </p:nvSpPr>
        <p:spPr bwMode="auto">
          <a:xfrm>
            <a:off x="7124531" y="917675"/>
            <a:ext cx="1486069" cy="4985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مقالات اخیر</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78"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79"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80" name="Rectangle 79"/>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81" name="Rectangle 80"/>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82" name="Picture 81" descr="پرونده:Azad University logo.png - ویکی‌پدیا، دانشنامهٔ آزاد">
            <a:extLst>
              <a:ext uri="{FF2B5EF4-FFF2-40B4-BE49-F238E27FC236}">
                <a16:creationId xmlns:a16="http://schemas.microsoft.com/office/drawing/2014/main"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83" name="AutoShape 10">
            <a:extLst>
              <a:ext uri="{FF2B5EF4-FFF2-40B4-BE49-F238E27FC236}">
                <a16:creationId xmlns:a16="http://schemas.microsoft.com/office/drawing/2014/main"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84" name="Rectangle 83">
            <a:extLst>
              <a:ext uri="{FF2B5EF4-FFF2-40B4-BE49-F238E27FC236}">
                <a16:creationId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85" name="AutoShape 3">
            <a:extLst>
              <a:ext uri="{FF2B5EF4-FFF2-40B4-BE49-F238E27FC236}">
                <a16:creationId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86" name="Rectangle 85">
            <a:extLst>
              <a:ext uri="{FF2B5EF4-FFF2-40B4-BE49-F238E27FC236}">
                <a16:creationId xmlns:a16="http://schemas.microsoft.com/office/drawing/2014/main"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3"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27</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200971538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D25F6269-095B-45A9-87C4-41FB340F4A57}"/>
              </a:ext>
            </a:extLst>
          </p:cNvPr>
          <p:cNvPicPr/>
          <p:nvPr/>
        </p:nvPicPr>
        <p:blipFill>
          <a:blip r:embed="rId3" cstate="print">
            <a:extLst>
              <a:ext uri="{28A0092B-C50C-407E-A947-70E740481C1C}">
                <a14:useLocalDpi xmlns:a14="http://schemas.microsoft.com/office/drawing/2010/main" val="0"/>
              </a:ext>
            </a:extLst>
          </a:blip>
          <a:stretch>
            <a:fillRect/>
          </a:stretch>
        </p:blipFill>
        <p:spPr>
          <a:xfrm>
            <a:off x="304800" y="1619600"/>
            <a:ext cx="8534401" cy="4545820"/>
          </a:xfrm>
          <a:prstGeom prst="rect">
            <a:avLst/>
          </a:prstGeom>
        </p:spPr>
      </p:pic>
      <p:sp>
        <p:nvSpPr>
          <p:cNvPr id="3" name="Rectangle 2">
            <a:extLst>
              <a:ext uri="{FF2B5EF4-FFF2-40B4-BE49-F238E27FC236}">
                <a16:creationId xmlns:a16="http://schemas.microsoft.com/office/drawing/2014/main" id="{E1064F08-C24D-4F6A-BE26-383C44EF2475}"/>
              </a:ext>
            </a:extLst>
          </p:cNvPr>
          <p:cNvSpPr/>
          <p:nvPr/>
        </p:nvSpPr>
        <p:spPr>
          <a:xfrm>
            <a:off x="1667553" y="6052213"/>
            <a:ext cx="4419800" cy="369332"/>
          </a:xfrm>
          <a:prstGeom prst="rect">
            <a:avLst/>
          </a:prstGeom>
        </p:spPr>
        <p:txBody>
          <a:bodyPr wrap="none">
            <a:spAutoFit/>
          </a:bodyPr>
          <a:lstStyle/>
          <a:p>
            <a:pPr algn="r" rtl="1"/>
            <a:r>
              <a:rPr lang="fa-IR" dirty="0">
                <a:latin typeface="Times New Roman" panose="02020603050405020304" pitchFamily="18" charset="0"/>
                <a:ea typeface="Calibri" panose="020F0502020204030204" pitchFamily="34" charset="0"/>
                <a:cs typeface="B Lotus" panose="00000400000000000000" pitchFamily="2" charset="-78"/>
              </a:rPr>
              <a:t>شکل 15 ساختار توپولوژی ارائه شده در طرح پیشنهادی </a:t>
            </a:r>
            <a:r>
              <a:rPr lang="fa-IR" dirty="0">
                <a:solidFill>
                  <a:srgbClr val="61D6FF"/>
                </a:solidFill>
                <a:latin typeface="Times New Roman" panose="02020603050405020304" pitchFamily="18" charset="0"/>
                <a:ea typeface="Calibri" panose="020F0502020204030204" pitchFamily="34" charset="0"/>
                <a:cs typeface="B Lotus" panose="00000400000000000000" pitchFamily="2" charset="-78"/>
              </a:rPr>
              <a:t>[4]</a:t>
            </a:r>
            <a:r>
              <a:rPr lang="fa-IR" dirty="0">
                <a:latin typeface="Times New Roman" panose="02020603050405020304" pitchFamily="18" charset="0"/>
                <a:ea typeface="Calibri" panose="020F0502020204030204" pitchFamily="34" charset="0"/>
                <a:cs typeface="B Lotus" panose="00000400000000000000" pitchFamily="2" charset="-78"/>
              </a:rPr>
              <a:t>.</a:t>
            </a:r>
            <a:endParaRPr lang="en-US" dirty="0"/>
          </a:p>
        </p:txBody>
      </p:sp>
      <p:pic>
        <p:nvPicPr>
          <p:cNvPr id="19" name="Picture 18" descr="پرونده:Azad University logo.png - ویکی‌پدیا، دانشنامهٔ آزاد">
            <a:extLst>
              <a:ext uri="{FF2B5EF4-FFF2-40B4-BE49-F238E27FC236}">
                <a16:creationId xmlns:a16="http://schemas.microsoft.com/office/drawing/2014/main" id="{B260B773-F2C5-485B-BA12-93452E166218}"/>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0" name="TextBox 19">
            <a:extLst>
              <a:ext uri="{FF2B5EF4-FFF2-40B4-BE49-F238E27FC236}">
                <a16:creationId xmlns:a16="http://schemas.microsoft.com/office/drawing/2014/main" id="{90C43403-B77E-474E-A638-C5BD6540DB40}"/>
              </a:ext>
            </a:extLst>
          </p:cNvPr>
          <p:cNvSpPr txBox="1"/>
          <p:nvPr/>
        </p:nvSpPr>
        <p:spPr>
          <a:xfrm>
            <a:off x="2648411" y="686668"/>
            <a:ext cx="65" cy="276999"/>
          </a:xfrm>
          <a:prstGeom prst="rect">
            <a:avLst/>
          </a:prstGeom>
          <a:noFill/>
        </p:spPr>
        <p:txBody>
          <a:bodyPr wrap="none" lIns="0" tIns="0" rIns="0" bIns="0" rtlCol="0">
            <a:spAutoFit/>
          </a:bodyPr>
          <a:lstStyle/>
          <a:p>
            <a:endParaRPr lang="en-US" dirty="0"/>
          </a:p>
        </p:txBody>
      </p:sp>
      <p:sp>
        <p:nvSpPr>
          <p:cNvPr id="21" name="Slide Number Placeholder 4">
            <a:extLst>
              <a:ext uri="{FF2B5EF4-FFF2-40B4-BE49-F238E27FC236}">
                <a16:creationId xmlns:a16="http://schemas.microsoft.com/office/drawing/2014/main" id="{27EA69B3-891D-46E8-8004-444EAE0D2017}"/>
              </a:ext>
            </a:extLst>
          </p:cNvPr>
          <p:cNvSpPr>
            <a:spLocks noGrp="1"/>
          </p:cNvSpPr>
          <p:nvPr>
            <p:ph type="sldNum" sz="quarter" idx="12"/>
          </p:nvPr>
        </p:nvSpPr>
        <p:spPr>
          <a:xfrm>
            <a:off x="7620000" y="18288"/>
            <a:ext cx="1066800" cy="329184"/>
          </a:xfrm>
        </p:spPr>
        <p:txBody>
          <a:bodyPr/>
          <a:lstStyle/>
          <a:p>
            <a:fld id="{7FC2E40A-4446-4E2B-B9AD-16F559E28E02}" type="slidenum">
              <a:rPr lang="en-US" smtClean="0"/>
              <a:t>28</a:t>
            </a:fld>
            <a:endParaRPr lang="en-US"/>
          </a:p>
        </p:txBody>
      </p:sp>
      <p:sp>
        <p:nvSpPr>
          <p:cNvPr id="22"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3"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4" name="Rectangle 23"/>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5" name="Rectangle 24"/>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27" name="Picture 26" descr="پرونده:Azad University logo.png - ویکی‌پدیا، دانشنامهٔ آزاد">
            <a:extLst>
              <a:ext uri="{FF2B5EF4-FFF2-40B4-BE49-F238E27FC236}">
                <a16:creationId xmlns:a16="http://schemas.microsoft.com/office/drawing/2014/main"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8" name="AutoShape 10">
            <a:extLst>
              <a:ext uri="{FF2B5EF4-FFF2-40B4-BE49-F238E27FC236}">
                <a16:creationId xmlns:a16="http://schemas.microsoft.com/office/drawing/2014/main"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9" name="Rectangle 28">
            <a:extLst>
              <a:ext uri="{FF2B5EF4-FFF2-40B4-BE49-F238E27FC236}">
                <a16:creationId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31" name="AutoShape 3">
            <a:extLst>
              <a:ext uri="{FF2B5EF4-FFF2-40B4-BE49-F238E27FC236}">
                <a16:creationId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2" name="Rectangle 31">
            <a:extLst>
              <a:ext uri="{FF2B5EF4-FFF2-40B4-BE49-F238E27FC236}">
                <a16:creationId xmlns:a16="http://schemas.microsoft.com/office/drawing/2014/main"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3" name="Rounded Rectangle 175">
            <a:extLst>
              <a:ext uri="{FF2B5EF4-FFF2-40B4-BE49-F238E27FC236}">
                <a16:creationId xmlns:a16="http://schemas.microsoft.com/office/drawing/2014/main" id="{AACCE7D9-540A-47B9-8964-41031B797FDD}"/>
              </a:ext>
            </a:extLst>
          </p:cNvPr>
          <p:cNvSpPr/>
          <p:nvPr/>
        </p:nvSpPr>
        <p:spPr bwMode="auto">
          <a:xfrm>
            <a:off x="7124531" y="917675"/>
            <a:ext cx="1486069" cy="4985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مقالات اخیر</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2" name="Rectangle 1"/>
          <p:cNvSpPr/>
          <p:nvPr/>
        </p:nvSpPr>
        <p:spPr>
          <a:xfrm>
            <a:off x="148663" y="916237"/>
            <a:ext cx="6861738" cy="523220"/>
          </a:xfrm>
          <a:prstGeom prst="rect">
            <a:avLst/>
          </a:prstGeom>
        </p:spPr>
        <p:txBody>
          <a:bodyPr wrap="square">
            <a:spAutoFit/>
          </a:bodyPr>
          <a:lstStyle/>
          <a:p>
            <a:pPr algn="r" rtl="1" fontAlgn="base">
              <a:spcBef>
                <a:spcPct val="0"/>
              </a:spcBef>
              <a:spcAft>
                <a:spcPct val="0"/>
              </a:spcAft>
            </a:pPr>
            <a:r>
              <a:rPr lang="fa-IR" sz="1400" dirty="0">
                <a:cs typeface="B Lotus" panose="00000400000000000000" pitchFamily="2" charset="-78"/>
              </a:rPr>
              <a:t>روشی بهینه و سریع برای همسان‌سازی فعال پک باتری مستهلک با استفاده از مبدل ولتاژ</a:t>
            </a:r>
            <a:r>
              <a:rPr lang="en-US" sz="1400" dirty="0">
                <a:cs typeface="B Lotus" panose="00000400000000000000" pitchFamily="2" charset="-78"/>
              </a:rPr>
              <a:t> </a:t>
            </a:r>
            <a:r>
              <a:rPr lang="fa-IR" sz="1400" dirty="0">
                <a:cs typeface="B Lotus" panose="00000400000000000000" pitchFamily="2" charset="-78"/>
              </a:rPr>
              <a:t>دوطرفه با دامنه ولتاژ کاری وسیع و الگوریتم خوشه‌بندی </a:t>
            </a:r>
            <a:r>
              <a:rPr lang="en-US" sz="1400" i="1" dirty="0">
                <a:latin typeface="Times New Roman" panose="02020603050405020304" pitchFamily="18" charset="0"/>
                <a:cs typeface="Times New Roman" panose="02020603050405020304" pitchFamily="18" charset="0"/>
              </a:rPr>
              <a:t>DBSCAN</a:t>
            </a:r>
            <a:endParaRPr lang="en-US" sz="1400" dirty="0">
              <a:latin typeface="Times New Roman" panose="02020603050405020304" pitchFamily="18" charset="0"/>
              <a:cs typeface="Times New Roman" panose="02020603050405020304" pitchFamily="18" charset="0"/>
            </a:endParaRPr>
          </a:p>
        </p:txBody>
      </p:sp>
      <p:sp>
        <p:nvSpPr>
          <p:cNvPr id="26"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28</a:t>
            </a:fld>
            <a:endParaRPr lang="fa-IR" sz="1800" dirty="0">
              <a:solidFill>
                <a:schemeClr val="tx1"/>
              </a:solidFill>
              <a:cs typeface="B Lotus" panose="00000400000000000000" pitchFamily="2" charset="-78"/>
            </a:endParaRPr>
          </a:p>
        </p:txBody>
      </p:sp>
      <p:sp>
        <p:nvSpPr>
          <p:cNvPr id="30" name="Rectangle 29"/>
          <p:cNvSpPr/>
          <p:nvPr/>
        </p:nvSpPr>
        <p:spPr>
          <a:xfrm>
            <a:off x="418672" y="6427113"/>
            <a:ext cx="8725328" cy="430887"/>
          </a:xfrm>
          <a:prstGeom prst="rect">
            <a:avLst/>
          </a:prstGeom>
        </p:spPr>
        <p:txBody>
          <a:bodyPr wrap="square">
            <a:spAutoFit/>
          </a:bodyPr>
          <a:lstStyle/>
          <a:p>
            <a:r>
              <a:rPr lang="en-US" sz="1100" dirty="0"/>
              <a:t>[4]         </a:t>
            </a:r>
            <a:r>
              <a:rPr lang="en-US" sz="1100" dirty="0" err="1"/>
              <a:t>Difrancesco</a:t>
            </a:r>
            <a:r>
              <a:rPr lang="en-US" sz="1100" dirty="0"/>
              <a:t>, Paul-Mark &amp; </a:t>
            </a:r>
            <a:r>
              <a:rPr lang="en-US" sz="1100" dirty="0" err="1"/>
              <a:t>Bonneau</a:t>
            </a:r>
            <a:r>
              <a:rPr lang="en-US" sz="1100" dirty="0"/>
              <a:t>, David &amp; Hutchinson, D.. (2020). The Implications of M3C2 Projection Diameter on 3D Semi-Automated </a:t>
            </a:r>
            <a:r>
              <a:rPr lang="en-US" sz="1100" dirty="0" err="1"/>
              <a:t>Rockfall</a:t>
            </a:r>
            <a:r>
              <a:rPr lang="en-US" sz="1100" dirty="0"/>
              <a:t> Extraction from Sequential Terrestrial Laser Scanning Point Clouds. Remote Sensing. 12. 1885. 10.3390/rs12111885. </a:t>
            </a:r>
            <a:endParaRPr lang="en-US" sz="1100" i="1" dirty="0"/>
          </a:p>
        </p:txBody>
      </p:sp>
    </p:spTree>
    <p:extLst>
      <p:ext uri="{BB962C8B-B14F-4D97-AF65-F5344CB8AC3E}">
        <p14:creationId xmlns:p14="http://schemas.microsoft.com/office/powerpoint/2010/main" val="414286669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BC95E25-1BC4-4BA6-800E-CB747C68872A}"/>
              </a:ext>
            </a:extLst>
          </p:cNvPr>
          <p:cNvSpPr/>
          <p:nvPr/>
        </p:nvSpPr>
        <p:spPr>
          <a:xfrm>
            <a:off x="2055148" y="5955820"/>
            <a:ext cx="4140877" cy="369332"/>
          </a:xfrm>
          <a:prstGeom prst="rect">
            <a:avLst/>
          </a:prstGeom>
        </p:spPr>
        <p:txBody>
          <a:bodyPr wrap="none">
            <a:spAutoFit/>
          </a:bodyPr>
          <a:lstStyle/>
          <a:p>
            <a:pPr algn="ctr" rtl="1"/>
            <a:r>
              <a:rPr lang="fa-IR" dirty="0">
                <a:latin typeface="Times New Roman" panose="02020603050405020304" pitchFamily="18" charset="0"/>
                <a:ea typeface="Calibri" panose="020F0502020204030204" pitchFamily="34" charset="0"/>
                <a:cs typeface="B Lotus" panose="00000400000000000000" pitchFamily="2" charset="-78"/>
              </a:rPr>
              <a:t>شکل 16 نمایی از فرآیند انتقال شارژ سلول به سلول </a:t>
            </a:r>
            <a:r>
              <a:rPr lang="fa-IR" dirty="0">
                <a:solidFill>
                  <a:srgbClr val="61D6FF"/>
                </a:solidFill>
                <a:latin typeface="Times New Roman" panose="02020603050405020304" pitchFamily="18" charset="0"/>
                <a:ea typeface="Calibri" panose="020F0502020204030204" pitchFamily="34" charset="0"/>
                <a:cs typeface="B Lotus" panose="00000400000000000000" pitchFamily="2" charset="-78"/>
              </a:rPr>
              <a:t>[4]</a:t>
            </a:r>
            <a:r>
              <a:rPr lang="fa-IR" dirty="0">
                <a:latin typeface="Times New Roman" panose="02020603050405020304" pitchFamily="18" charset="0"/>
                <a:ea typeface="Calibri" panose="020F0502020204030204" pitchFamily="34" charset="0"/>
                <a:cs typeface="B Lotus" panose="00000400000000000000" pitchFamily="2" charset="-78"/>
              </a:rPr>
              <a:t>.</a:t>
            </a:r>
            <a:endParaRPr lang="en-US" dirty="0"/>
          </a:p>
        </p:txBody>
      </p:sp>
      <p:pic>
        <p:nvPicPr>
          <p:cNvPr id="18" name="Picture 17">
            <a:extLst>
              <a:ext uri="{FF2B5EF4-FFF2-40B4-BE49-F238E27FC236}">
                <a16:creationId xmlns:a16="http://schemas.microsoft.com/office/drawing/2014/main" id="{D6F540C4-43BB-4171-AD37-C1F0B4C57C3E}"/>
              </a:ext>
            </a:extLst>
          </p:cNvPr>
          <p:cNvPicPr/>
          <p:nvPr/>
        </p:nvPicPr>
        <p:blipFill>
          <a:blip r:embed="rId3" cstate="print">
            <a:extLst>
              <a:ext uri="{28A0092B-C50C-407E-A947-70E740481C1C}">
                <a14:useLocalDpi xmlns:a14="http://schemas.microsoft.com/office/drawing/2010/main" val="0"/>
              </a:ext>
            </a:extLst>
          </a:blip>
          <a:stretch>
            <a:fillRect/>
          </a:stretch>
        </p:blipFill>
        <p:spPr>
          <a:xfrm>
            <a:off x="418774" y="1568376"/>
            <a:ext cx="7910548" cy="4387444"/>
          </a:xfrm>
          <a:prstGeom prst="rect">
            <a:avLst/>
          </a:prstGeom>
        </p:spPr>
      </p:pic>
      <p:pic>
        <p:nvPicPr>
          <p:cNvPr id="19" name="Picture 18" descr="پرونده:Azad University logo.png - ویکی‌پدیا، دانشنامهٔ آزاد">
            <a:extLst>
              <a:ext uri="{FF2B5EF4-FFF2-40B4-BE49-F238E27FC236}">
                <a16:creationId xmlns:a16="http://schemas.microsoft.com/office/drawing/2014/main" id="{B260B773-F2C5-485B-BA12-93452E166218}"/>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0" name="TextBox 19">
            <a:extLst>
              <a:ext uri="{FF2B5EF4-FFF2-40B4-BE49-F238E27FC236}">
                <a16:creationId xmlns:a16="http://schemas.microsoft.com/office/drawing/2014/main" id="{90C43403-B77E-474E-A638-C5BD6540DB40}"/>
              </a:ext>
            </a:extLst>
          </p:cNvPr>
          <p:cNvSpPr txBox="1"/>
          <p:nvPr/>
        </p:nvSpPr>
        <p:spPr>
          <a:xfrm>
            <a:off x="2648411" y="686668"/>
            <a:ext cx="65" cy="276999"/>
          </a:xfrm>
          <a:prstGeom prst="rect">
            <a:avLst/>
          </a:prstGeom>
          <a:noFill/>
        </p:spPr>
        <p:txBody>
          <a:bodyPr wrap="none" lIns="0" tIns="0" rIns="0" bIns="0" rtlCol="0">
            <a:spAutoFit/>
          </a:bodyPr>
          <a:lstStyle/>
          <a:p>
            <a:endParaRPr lang="en-US" dirty="0"/>
          </a:p>
        </p:txBody>
      </p:sp>
      <p:sp>
        <p:nvSpPr>
          <p:cNvPr id="21" name="Slide Number Placeholder 4">
            <a:extLst>
              <a:ext uri="{FF2B5EF4-FFF2-40B4-BE49-F238E27FC236}">
                <a16:creationId xmlns:a16="http://schemas.microsoft.com/office/drawing/2014/main" id="{27EA69B3-891D-46E8-8004-444EAE0D2017}"/>
              </a:ext>
            </a:extLst>
          </p:cNvPr>
          <p:cNvSpPr>
            <a:spLocks noGrp="1"/>
          </p:cNvSpPr>
          <p:nvPr>
            <p:ph type="sldNum" sz="quarter" idx="12"/>
          </p:nvPr>
        </p:nvSpPr>
        <p:spPr>
          <a:xfrm>
            <a:off x="7620000" y="18288"/>
            <a:ext cx="1066800" cy="329184"/>
          </a:xfrm>
        </p:spPr>
        <p:txBody>
          <a:bodyPr/>
          <a:lstStyle/>
          <a:p>
            <a:fld id="{7FC2E40A-4446-4E2B-B9AD-16F559E28E02}" type="slidenum">
              <a:rPr lang="en-US" smtClean="0"/>
              <a:t>29</a:t>
            </a:fld>
            <a:endParaRPr lang="en-US"/>
          </a:p>
        </p:txBody>
      </p:sp>
      <p:sp>
        <p:nvSpPr>
          <p:cNvPr id="22"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3"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4" name="Rectangle 23"/>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5" name="Rectangle 24"/>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27" name="Picture 26" descr="پرونده:Azad University logo.png - ویکی‌پدیا، دانشنامهٔ آزاد">
            <a:extLst>
              <a:ext uri="{FF2B5EF4-FFF2-40B4-BE49-F238E27FC236}">
                <a16:creationId xmlns:a16="http://schemas.microsoft.com/office/drawing/2014/main"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8" name="AutoShape 10">
            <a:extLst>
              <a:ext uri="{FF2B5EF4-FFF2-40B4-BE49-F238E27FC236}">
                <a16:creationId xmlns:a16="http://schemas.microsoft.com/office/drawing/2014/main"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9" name="Rectangle 28">
            <a:extLst>
              <a:ext uri="{FF2B5EF4-FFF2-40B4-BE49-F238E27FC236}">
                <a16:creationId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31" name="AutoShape 3">
            <a:extLst>
              <a:ext uri="{FF2B5EF4-FFF2-40B4-BE49-F238E27FC236}">
                <a16:creationId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2" name="Rectangle 31">
            <a:extLst>
              <a:ext uri="{FF2B5EF4-FFF2-40B4-BE49-F238E27FC236}">
                <a16:creationId xmlns:a16="http://schemas.microsoft.com/office/drawing/2014/main"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3" name="Rounded Rectangle 175">
            <a:extLst>
              <a:ext uri="{FF2B5EF4-FFF2-40B4-BE49-F238E27FC236}">
                <a16:creationId xmlns:a16="http://schemas.microsoft.com/office/drawing/2014/main" id="{AACCE7D9-540A-47B9-8964-41031B797FDD}"/>
              </a:ext>
            </a:extLst>
          </p:cNvPr>
          <p:cNvSpPr/>
          <p:nvPr/>
        </p:nvSpPr>
        <p:spPr bwMode="auto">
          <a:xfrm>
            <a:off x="7124531" y="917675"/>
            <a:ext cx="1486069" cy="4985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مقالات اخیر</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34" name="Rectangle 33"/>
          <p:cNvSpPr/>
          <p:nvPr/>
        </p:nvSpPr>
        <p:spPr>
          <a:xfrm>
            <a:off x="148663" y="916237"/>
            <a:ext cx="6861738" cy="523220"/>
          </a:xfrm>
          <a:prstGeom prst="rect">
            <a:avLst/>
          </a:prstGeom>
        </p:spPr>
        <p:txBody>
          <a:bodyPr wrap="square">
            <a:spAutoFit/>
          </a:bodyPr>
          <a:lstStyle/>
          <a:p>
            <a:pPr algn="r" rtl="1" fontAlgn="base">
              <a:spcBef>
                <a:spcPct val="0"/>
              </a:spcBef>
              <a:spcAft>
                <a:spcPct val="0"/>
              </a:spcAft>
            </a:pPr>
            <a:r>
              <a:rPr lang="fa-IR" sz="1400" dirty="0">
                <a:cs typeface="B Lotus" panose="00000400000000000000" pitchFamily="2" charset="-78"/>
              </a:rPr>
              <a:t>روشی بهینه و سریع برای همسان‌سازی فعال پک باتری مستهلک با استفاده از مبدل ولتاژ</a:t>
            </a:r>
            <a:r>
              <a:rPr lang="en-US" sz="1400" dirty="0">
                <a:cs typeface="B Lotus" panose="00000400000000000000" pitchFamily="2" charset="-78"/>
              </a:rPr>
              <a:t> </a:t>
            </a:r>
            <a:r>
              <a:rPr lang="fa-IR" sz="1400" dirty="0">
                <a:cs typeface="B Lotus" panose="00000400000000000000" pitchFamily="2" charset="-78"/>
              </a:rPr>
              <a:t>دوطرفه با دامنه ولتاژ کاری وسیع و الگوریتم خوشه‌بندی </a:t>
            </a:r>
            <a:r>
              <a:rPr lang="en-US" sz="1400" i="1" dirty="0">
                <a:latin typeface="Times New Roman" panose="02020603050405020304" pitchFamily="18" charset="0"/>
                <a:cs typeface="Times New Roman" panose="02020603050405020304" pitchFamily="18" charset="0"/>
              </a:rPr>
              <a:t>DBSCAN</a:t>
            </a:r>
            <a:endParaRPr lang="en-US" sz="1400" dirty="0">
              <a:latin typeface="Times New Roman" panose="02020603050405020304" pitchFamily="18" charset="0"/>
              <a:cs typeface="Times New Roman" panose="02020603050405020304" pitchFamily="18" charset="0"/>
            </a:endParaRPr>
          </a:p>
        </p:txBody>
      </p:sp>
      <p:sp>
        <p:nvSpPr>
          <p:cNvPr id="26"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29</a:t>
            </a:fld>
            <a:endParaRPr lang="fa-IR" sz="1800" dirty="0">
              <a:solidFill>
                <a:schemeClr val="tx1"/>
              </a:solidFill>
              <a:cs typeface="B Lotus" panose="00000400000000000000" pitchFamily="2" charset="-78"/>
            </a:endParaRPr>
          </a:p>
        </p:txBody>
      </p:sp>
      <p:sp>
        <p:nvSpPr>
          <p:cNvPr id="30" name="Rectangle 29"/>
          <p:cNvSpPr/>
          <p:nvPr/>
        </p:nvSpPr>
        <p:spPr>
          <a:xfrm>
            <a:off x="418672" y="6427113"/>
            <a:ext cx="8725328" cy="430887"/>
          </a:xfrm>
          <a:prstGeom prst="rect">
            <a:avLst/>
          </a:prstGeom>
        </p:spPr>
        <p:txBody>
          <a:bodyPr wrap="square">
            <a:spAutoFit/>
          </a:bodyPr>
          <a:lstStyle/>
          <a:p>
            <a:r>
              <a:rPr lang="en-US" sz="1100" dirty="0"/>
              <a:t>[4]         </a:t>
            </a:r>
            <a:r>
              <a:rPr lang="en-US" sz="1100" dirty="0" err="1"/>
              <a:t>Difrancesco</a:t>
            </a:r>
            <a:r>
              <a:rPr lang="en-US" sz="1100" dirty="0"/>
              <a:t>, Paul-Mark &amp; </a:t>
            </a:r>
            <a:r>
              <a:rPr lang="en-US" sz="1100" dirty="0" err="1"/>
              <a:t>Bonneau</a:t>
            </a:r>
            <a:r>
              <a:rPr lang="en-US" sz="1100" dirty="0"/>
              <a:t>, David &amp; Hutchinson, D.. (2020). The Implications of M3C2 Projection Diameter on 3D Semi-Automated </a:t>
            </a:r>
            <a:r>
              <a:rPr lang="en-US" sz="1100" dirty="0" err="1"/>
              <a:t>Rockfall</a:t>
            </a:r>
            <a:r>
              <a:rPr lang="en-US" sz="1100" dirty="0"/>
              <a:t> Extraction from Sequential Terrestrial Laser Scanning Point Clouds. Remote Sensing. 12. 1885. 10.3390/rs12111885. </a:t>
            </a:r>
            <a:endParaRPr lang="en-US" sz="1100" i="1" dirty="0"/>
          </a:p>
        </p:txBody>
      </p:sp>
    </p:spTree>
    <p:extLst>
      <p:ext uri="{BB962C8B-B14F-4D97-AF65-F5344CB8AC3E}">
        <p14:creationId xmlns:p14="http://schemas.microsoft.com/office/powerpoint/2010/main" val="36299116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BC95E25-1BC4-4BA6-800E-CB747C68872A}"/>
              </a:ext>
            </a:extLst>
          </p:cNvPr>
          <p:cNvSpPr/>
          <p:nvPr/>
        </p:nvSpPr>
        <p:spPr>
          <a:xfrm>
            <a:off x="1969628" y="5875485"/>
            <a:ext cx="4047903" cy="369332"/>
          </a:xfrm>
          <a:prstGeom prst="rect">
            <a:avLst/>
          </a:prstGeom>
        </p:spPr>
        <p:txBody>
          <a:bodyPr wrap="none">
            <a:spAutoFit/>
          </a:bodyPr>
          <a:lstStyle/>
          <a:p>
            <a:pPr algn="ctr" rtl="1"/>
            <a:r>
              <a:rPr lang="fa-IR" dirty="0">
                <a:latin typeface="Times New Roman" panose="02020603050405020304" pitchFamily="18" charset="0"/>
                <a:ea typeface="Calibri" panose="020F0502020204030204" pitchFamily="34" charset="0"/>
                <a:cs typeface="B Lotus" panose="00000400000000000000" pitchFamily="2" charset="-78"/>
              </a:rPr>
              <a:t>شکل 17 نمایی از فرآیند انتقال شارژ گروه به گروه </a:t>
            </a:r>
            <a:r>
              <a:rPr lang="fa-IR" dirty="0">
                <a:solidFill>
                  <a:srgbClr val="61D6FF"/>
                </a:solidFill>
                <a:latin typeface="Times New Roman" panose="02020603050405020304" pitchFamily="18" charset="0"/>
                <a:ea typeface="Calibri" panose="020F0502020204030204" pitchFamily="34" charset="0"/>
                <a:cs typeface="B Lotus" panose="00000400000000000000" pitchFamily="2" charset="-78"/>
              </a:rPr>
              <a:t>[4]</a:t>
            </a:r>
            <a:r>
              <a:rPr lang="fa-IR" dirty="0">
                <a:latin typeface="Times New Roman" panose="02020603050405020304" pitchFamily="18" charset="0"/>
                <a:ea typeface="Calibri" panose="020F0502020204030204" pitchFamily="34" charset="0"/>
                <a:cs typeface="B Lotus" panose="00000400000000000000" pitchFamily="2" charset="-78"/>
              </a:rPr>
              <a:t>.</a:t>
            </a:r>
            <a:endParaRPr lang="en-US" dirty="0"/>
          </a:p>
        </p:txBody>
      </p:sp>
      <p:pic>
        <p:nvPicPr>
          <p:cNvPr id="18" name="Picture 17">
            <a:extLst>
              <a:ext uri="{FF2B5EF4-FFF2-40B4-BE49-F238E27FC236}">
                <a16:creationId xmlns:a16="http://schemas.microsoft.com/office/drawing/2014/main" id="{D6F540C4-43BB-4171-AD37-C1F0B4C57C3E}"/>
              </a:ext>
            </a:extLst>
          </p:cNvPr>
          <p:cNvPicPr/>
          <p:nvPr/>
        </p:nvPicPr>
        <p:blipFill>
          <a:blip r:embed="rId3">
            <a:extLst>
              <a:ext uri="{28A0092B-C50C-407E-A947-70E740481C1C}">
                <a14:useLocalDpi xmlns:a14="http://schemas.microsoft.com/office/drawing/2010/main" val="0"/>
              </a:ext>
            </a:extLst>
          </a:blip>
          <a:stretch>
            <a:fillRect/>
          </a:stretch>
        </p:blipFill>
        <p:spPr>
          <a:xfrm>
            <a:off x="390925" y="1533870"/>
            <a:ext cx="7991075" cy="4375877"/>
          </a:xfrm>
          <a:prstGeom prst="rect">
            <a:avLst/>
          </a:prstGeom>
        </p:spPr>
      </p:pic>
      <p:pic>
        <p:nvPicPr>
          <p:cNvPr id="19" name="Picture 18" descr="پرونده:Azad University logo.png - ویکی‌پدیا، دانشنامهٔ آزاد">
            <a:extLst>
              <a:ext uri="{FF2B5EF4-FFF2-40B4-BE49-F238E27FC236}">
                <a16:creationId xmlns:a16="http://schemas.microsoft.com/office/drawing/2014/main" id="{B260B773-F2C5-485B-BA12-93452E166218}"/>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0" name="TextBox 19">
            <a:extLst>
              <a:ext uri="{FF2B5EF4-FFF2-40B4-BE49-F238E27FC236}">
                <a16:creationId xmlns:a16="http://schemas.microsoft.com/office/drawing/2014/main" id="{90C43403-B77E-474E-A638-C5BD6540DB40}"/>
              </a:ext>
            </a:extLst>
          </p:cNvPr>
          <p:cNvSpPr txBox="1"/>
          <p:nvPr/>
        </p:nvSpPr>
        <p:spPr>
          <a:xfrm>
            <a:off x="2648411" y="686668"/>
            <a:ext cx="65" cy="276999"/>
          </a:xfrm>
          <a:prstGeom prst="rect">
            <a:avLst/>
          </a:prstGeom>
          <a:noFill/>
        </p:spPr>
        <p:txBody>
          <a:bodyPr wrap="none" lIns="0" tIns="0" rIns="0" bIns="0" rtlCol="0">
            <a:spAutoFit/>
          </a:bodyPr>
          <a:lstStyle/>
          <a:p>
            <a:endParaRPr lang="en-US" dirty="0"/>
          </a:p>
        </p:txBody>
      </p:sp>
      <p:sp>
        <p:nvSpPr>
          <p:cNvPr id="21" name="Slide Number Placeholder 4">
            <a:extLst>
              <a:ext uri="{FF2B5EF4-FFF2-40B4-BE49-F238E27FC236}">
                <a16:creationId xmlns:a16="http://schemas.microsoft.com/office/drawing/2014/main" id="{27EA69B3-891D-46E8-8004-444EAE0D2017}"/>
              </a:ext>
            </a:extLst>
          </p:cNvPr>
          <p:cNvSpPr>
            <a:spLocks noGrp="1"/>
          </p:cNvSpPr>
          <p:nvPr>
            <p:ph type="sldNum" sz="quarter" idx="12"/>
          </p:nvPr>
        </p:nvSpPr>
        <p:spPr>
          <a:xfrm>
            <a:off x="7620000" y="18288"/>
            <a:ext cx="1066800" cy="329184"/>
          </a:xfrm>
        </p:spPr>
        <p:txBody>
          <a:bodyPr/>
          <a:lstStyle/>
          <a:p>
            <a:fld id="{7FC2E40A-4446-4E2B-B9AD-16F559E28E02}" type="slidenum">
              <a:rPr lang="en-US" smtClean="0"/>
              <a:t>30</a:t>
            </a:fld>
            <a:endParaRPr lang="en-US"/>
          </a:p>
        </p:txBody>
      </p:sp>
      <p:sp>
        <p:nvSpPr>
          <p:cNvPr id="22"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3"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4" name="Rectangle 23"/>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5" name="Rectangle 24"/>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27" name="Picture 26" descr="پرونده:Azad University logo.png - ویکی‌پدیا، دانشنامهٔ آزاد">
            <a:extLst>
              <a:ext uri="{FF2B5EF4-FFF2-40B4-BE49-F238E27FC236}">
                <a16:creationId xmlns:a16="http://schemas.microsoft.com/office/drawing/2014/main"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8" name="AutoShape 10">
            <a:extLst>
              <a:ext uri="{FF2B5EF4-FFF2-40B4-BE49-F238E27FC236}">
                <a16:creationId xmlns:a16="http://schemas.microsoft.com/office/drawing/2014/main"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9" name="Rectangle 28">
            <a:extLst>
              <a:ext uri="{FF2B5EF4-FFF2-40B4-BE49-F238E27FC236}">
                <a16:creationId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31" name="AutoShape 3">
            <a:extLst>
              <a:ext uri="{FF2B5EF4-FFF2-40B4-BE49-F238E27FC236}">
                <a16:creationId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2" name="Rectangle 31">
            <a:extLst>
              <a:ext uri="{FF2B5EF4-FFF2-40B4-BE49-F238E27FC236}">
                <a16:creationId xmlns:a16="http://schemas.microsoft.com/office/drawing/2014/main"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3" name="Rounded Rectangle 175">
            <a:extLst>
              <a:ext uri="{FF2B5EF4-FFF2-40B4-BE49-F238E27FC236}">
                <a16:creationId xmlns:a16="http://schemas.microsoft.com/office/drawing/2014/main" id="{AACCE7D9-540A-47B9-8964-41031B797FDD}"/>
              </a:ext>
            </a:extLst>
          </p:cNvPr>
          <p:cNvSpPr/>
          <p:nvPr/>
        </p:nvSpPr>
        <p:spPr bwMode="auto">
          <a:xfrm>
            <a:off x="7124531" y="917675"/>
            <a:ext cx="1486069" cy="4985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مقالات اخیر</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34" name="Rectangle 33"/>
          <p:cNvSpPr/>
          <p:nvPr/>
        </p:nvSpPr>
        <p:spPr>
          <a:xfrm>
            <a:off x="148663" y="916237"/>
            <a:ext cx="6861738" cy="523220"/>
          </a:xfrm>
          <a:prstGeom prst="rect">
            <a:avLst/>
          </a:prstGeom>
        </p:spPr>
        <p:txBody>
          <a:bodyPr wrap="square">
            <a:spAutoFit/>
          </a:bodyPr>
          <a:lstStyle/>
          <a:p>
            <a:pPr algn="r" rtl="1" fontAlgn="base">
              <a:spcBef>
                <a:spcPct val="0"/>
              </a:spcBef>
              <a:spcAft>
                <a:spcPct val="0"/>
              </a:spcAft>
            </a:pPr>
            <a:r>
              <a:rPr lang="fa-IR" sz="1400" dirty="0">
                <a:cs typeface="B Lotus" panose="00000400000000000000" pitchFamily="2" charset="-78"/>
              </a:rPr>
              <a:t>روشی بهینه و سریع برای همسان‌سازی فعال پک باتری مستهلک با استفاده از مبدل ولتاژ</a:t>
            </a:r>
            <a:r>
              <a:rPr lang="en-US" sz="1400" dirty="0">
                <a:cs typeface="B Lotus" panose="00000400000000000000" pitchFamily="2" charset="-78"/>
              </a:rPr>
              <a:t> </a:t>
            </a:r>
            <a:r>
              <a:rPr lang="fa-IR" sz="1400" dirty="0">
                <a:cs typeface="B Lotus" panose="00000400000000000000" pitchFamily="2" charset="-78"/>
              </a:rPr>
              <a:t>دوطرفه با دامنه ولتاژ کاری وسیع و الگوریتم خوشه‌بندی </a:t>
            </a:r>
            <a:r>
              <a:rPr lang="en-US" sz="1400" i="1" dirty="0">
                <a:latin typeface="Times New Roman" panose="02020603050405020304" pitchFamily="18" charset="0"/>
                <a:cs typeface="Times New Roman" panose="02020603050405020304" pitchFamily="18" charset="0"/>
              </a:rPr>
              <a:t>DBSCAN</a:t>
            </a:r>
            <a:endParaRPr lang="en-US" sz="1400" dirty="0">
              <a:latin typeface="Times New Roman" panose="02020603050405020304" pitchFamily="18" charset="0"/>
              <a:cs typeface="Times New Roman" panose="02020603050405020304" pitchFamily="18" charset="0"/>
            </a:endParaRPr>
          </a:p>
        </p:txBody>
      </p:sp>
      <p:sp>
        <p:nvSpPr>
          <p:cNvPr id="26"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30</a:t>
            </a:fld>
            <a:endParaRPr lang="fa-IR" sz="1800" dirty="0">
              <a:solidFill>
                <a:schemeClr val="tx1"/>
              </a:solidFill>
              <a:cs typeface="B Lotus" panose="00000400000000000000" pitchFamily="2" charset="-78"/>
            </a:endParaRPr>
          </a:p>
        </p:txBody>
      </p:sp>
      <p:sp>
        <p:nvSpPr>
          <p:cNvPr id="30" name="Rectangle 29"/>
          <p:cNvSpPr/>
          <p:nvPr/>
        </p:nvSpPr>
        <p:spPr>
          <a:xfrm>
            <a:off x="418672" y="6427113"/>
            <a:ext cx="8725328" cy="430887"/>
          </a:xfrm>
          <a:prstGeom prst="rect">
            <a:avLst/>
          </a:prstGeom>
        </p:spPr>
        <p:txBody>
          <a:bodyPr wrap="square">
            <a:spAutoFit/>
          </a:bodyPr>
          <a:lstStyle/>
          <a:p>
            <a:r>
              <a:rPr lang="en-US" sz="1100" dirty="0"/>
              <a:t>[4]         </a:t>
            </a:r>
            <a:r>
              <a:rPr lang="en-US" sz="1100" dirty="0" err="1"/>
              <a:t>Difrancesco</a:t>
            </a:r>
            <a:r>
              <a:rPr lang="en-US" sz="1100" dirty="0"/>
              <a:t>, Paul-Mark &amp; </a:t>
            </a:r>
            <a:r>
              <a:rPr lang="en-US" sz="1100" dirty="0" err="1"/>
              <a:t>Bonneau</a:t>
            </a:r>
            <a:r>
              <a:rPr lang="en-US" sz="1100" dirty="0"/>
              <a:t>, David &amp; Hutchinson, D.. (2020). The Implications of M3C2 Projection Diameter on 3D Semi-Automated </a:t>
            </a:r>
            <a:r>
              <a:rPr lang="en-US" sz="1100" dirty="0" err="1"/>
              <a:t>Rockfall</a:t>
            </a:r>
            <a:r>
              <a:rPr lang="en-US" sz="1100" dirty="0"/>
              <a:t> Extraction from Sequential Terrestrial Laser Scanning Point Clouds. Remote Sensing. 12. 1885. 10.3390/rs12111885. </a:t>
            </a:r>
            <a:endParaRPr lang="en-US" sz="1100" i="1" dirty="0"/>
          </a:p>
        </p:txBody>
      </p:sp>
    </p:spTree>
    <p:extLst>
      <p:ext uri="{BB962C8B-B14F-4D97-AF65-F5344CB8AC3E}">
        <p14:creationId xmlns:p14="http://schemas.microsoft.com/office/powerpoint/2010/main" val="292262745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Rectangle 23"/>
          <p:cNvSpPr/>
          <p:nvPr/>
        </p:nvSpPr>
        <p:spPr>
          <a:xfrm>
            <a:off x="863258" y="5564865"/>
            <a:ext cx="7323980" cy="369332"/>
          </a:xfrm>
          <a:prstGeom prst="rect">
            <a:avLst/>
          </a:prstGeom>
        </p:spPr>
        <p:txBody>
          <a:bodyPr wrap="square">
            <a:spAutoFit/>
          </a:bodyPr>
          <a:lstStyle/>
          <a:p>
            <a:pPr algn="ctr" rtl="1"/>
            <a:r>
              <a:rPr lang="fa-IR" dirty="0">
                <a:latin typeface="Times New Roman" panose="02020603050405020304" pitchFamily="18" charset="0"/>
                <a:ea typeface="Calibri" panose="020F0502020204030204" pitchFamily="34" charset="0"/>
                <a:cs typeface="B Lotus" panose="00000400000000000000" pitchFamily="2" charset="-78"/>
              </a:rPr>
              <a:t>ارزیابی نتایج پیاده سازی عملی روش های ذکر شده در به همراه زمان محاسباتی و همسان سازی </a:t>
            </a:r>
            <a:r>
              <a:rPr lang="fa-IR" dirty="0">
                <a:solidFill>
                  <a:srgbClr val="61D6FF"/>
                </a:solidFill>
                <a:latin typeface="Times New Roman" panose="02020603050405020304" pitchFamily="18" charset="0"/>
                <a:cs typeface="B Lotus" panose="00000400000000000000" pitchFamily="2" charset="-78"/>
              </a:rPr>
              <a:t>[3]</a:t>
            </a:r>
            <a:r>
              <a:rPr lang="fa-IR" dirty="0">
                <a:latin typeface="Times New Roman" panose="02020603050405020304" pitchFamily="18" charset="0"/>
                <a:cs typeface="B Lotus" panose="00000400000000000000" pitchFamily="2" charset="-78"/>
              </a:rPr>
              <a:t>.</a:t>
            </a:r>
            <a:endParaRPr lang="en-US" dirty="0"/>
          </a:p>
        </p:txBody>
      </p:sp>
      <p:sp>
        <p:nvSpPr>
          <p:cNvPr id="23"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5"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7" name="Rectangle 26"/>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8" name="Rectangle 27"/>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29" name="Picture 28" descr="پرونده:Azad University logo.png - ویکی‌پدیا، دانشنامهٔ آزاد">
            <a:extLst>
              <a:ext uri="{FF2B5EF4-FFF2-40B4-BE49-F238E27FC236}">
                <a16:creationId xmlns:a16="http://schemas.microsoft.com/office/drawing/2014/main" id="{FA988D60-670C-406B-B8FB-D5A0053424E9}"/>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33" name="AutoShape 10">
            <a:extLst>
              <a:ext uri="{FF2B5EF4-FFF2-40B4-BE49-F238E27FC236}">
                <a16:creationId xmlns:a16="http://schemas.microsoft.com/office/drawing/2014/main"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4" name="Rectangle 33">
            <a:extLst>
              <a:ext uri="{FF2B5EF4-FFF2-40B4-BE49-F238E27FC236}">
                <a16:creationId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35" name="AutoShape 3">
            <a:extLst>
              <a:ext uri="{FF2B5EF4-FFF2-40B4-BE49-F238E27FC236}">
                <a16:creationId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6" name="Rectangle 35">
            <a:extLst>
              <a:ext uri="{FF2B5EF4-FFF2-40B4-BE49-F238E27FC236}">
                <a16:creationId xmlns:a16="http://schemas.microsoft.com/office/drawing/2014/main"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2"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31</a:t>
            </a:fld>
            <a:endParaRPr lang="fa-IR" sz="1800" dirty="0">
              <a:solidFill>
                <a:schemeClr val="tx1"/>
              </a:solidFill>
              <a:cs typeface="B Lotus" panose="00000400000000000000" pitchFamily="2" charset="-78"/>
            </a:endParaRPr>
          </a:p>
        </p:txBody>
      </p:sp>
      <p:graphicFrame>
        <p:nvGraphicFramePr>
          <p:cNvPr id="20" name="Table 19"/>
          <p:cNvGraphicFramePr>
            <a:graphicFrameLocks noGrp="1"/>
          </p:cNvGraphicFramePr>
          <p:nvPr>
            <p:extLst>
              <p:ext uri="{D42A27DB-BD31-4B8C-83A1-F6EECF244321}">
                <p14:modId xmlns:p14="http://schemas.microsoft.com/office/powerpoint/2010/main" val="1247129214"/>
              </p:ext>
            </p:extLst>
          </p:nvPr>
        </p:nvGraphicFramePr>
        <p:xfrm>
          <a:off x="543584" y="2516206"/>
          <a:ext cx="7963329" cy="2873493"/>
        </p:xfrm>
        <a:graphic>
          <a:graphicData uri="http://schemas.openxmlformats.org/drawingml/2006/table">
            <a:tbl>
              <a:tblPr rtl="1" firstRow="1" firstCol="1" bandRow="1"/>
              <a:tblGrid>
                <a:gridCol w="2629692">
                  <a:extLst>
                    <a:ext uri="{9D8B030D-6E8A-4147-A177-3AD203B41FA5}">
                      <a16:colId xmlns:a16="http://schemas.microsoft.com/office/drawing/2014/main" val="20001"/>
                    </a:ext>
                  </a:extLst>
                </a:gridCol>
                <a:gridCol w="1355663">
                  <a:extLst>
                    <a:ext uri="{9D8B030D-6E8A-4147-A177-3AD203B41FA5}">
                      <a16:colId xmlns:a16="http://schemas.microsoft.com/office/drawing/2014/main" val="20002"/>
                    </a:ext>
                  </a:extLst>
                </a:gridCol>
                <a:gridCol w="1220095">
                  <a:extLst>
                    <a:ext uri="{9D8B030D-6E8A-4147-A177-3AD203B41FA5}">
                      <a16:colId xmlns:a16="http://schemas.microsoft.com/office/drawing/2014/main" val="20003"/>
                    </a:ext>
                  </a:extLst>
                </a:gridCol>
                <a:gridCol w="1525120">
                  <a:extLst>
                    <a:ext uri="{9D8B030D-6E8A-4147-A177-3AD203B41FA5}">
                      <a16:colId xmlns:a16="http://schemas.microsoft.com/office/drawing/2014/main" val="20004"/>
                    </a:ext>
                  </a:extLst>
                </a:gridCol>
                <a:gridCol w="1232759">
                  <a:extLst>
                    <a:ext uri="{9D8B030D-6E8A-4147-A177-3AD203B41FA5}">
                      <a16:colId xmlns:a16="http://schemas.microsoft.com/office/drawing/2014/main" val="20005"/>
                    </a:ext>
                  </a:extLst>
                </a:gridCol>
              </a:tblGrid>
              <a:tr h="1245850">
                <a:tc>
                  <a:txBody>
                    <a:bodyPr/>
                    <a:lstStyle/>
                    <a:p>
                      <a:pPr marL="0" marR="0" indent="18288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                                     پارامتر</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p>
                      <a:pPr marL="0" marR="0" indent="18288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 </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p>
                      <a:pPr marL="0" marR="0" indent="182880" algn="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روش</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ap="flat" cmpd="sng" algn="ctr">
                      <a:solidFill>
                        <a:schemeClr val="tx1"/>
                      </a:solidFill>
                      <a:prstDash val="solid"/>
                      <a:round/>
                      <a:headEnd type="none" w="med" len="med"/>
                      <a:tailEnd type="none" w="med" len="med"/>
                    </a:lnTlToBr>
                    <a:solidFill>
                      <a:schemeClr val="accent6">
                        <a:lumMod val="60000"/>
                        <a:lumOff val="40000"/>
                      </a:schemeClr>
                    </a:solidFill>
                  </a:tcPr>
                </a:tc>
                <a:tc>
                  <a:txBody>
                    <a:bodyPr/>
                    <a:lstStyle/>
                    <a:p>
                      <a:pPr marL="0" marR="0" indent="18288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زمان محاسباتی (</a:t>
                      </a:r>
                      <a:r>
                        <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s</a:t>
                      </a: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indent="18288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زمان همسان‌سازی (</a:t>
                      </a:r>
                      <a:r>
                        <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s</a:t>
                      </a: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indent="18288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ظرفیت قابل استفاده (</a:t>
                      </a:r>
                      <a:r>
                        <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Ah</a:t>
                      </a: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indent="18288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نسبت ظرفیت کل به ظرفیت قابل استفاده (%)</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extLst>
                  <a:ext uri="{0D108BD9-81ED-4DB2-BD59-A6C34878D82A}">
                    <a16:rowId xmlns:a16="http://schemas.microsoft.com/office/drawing/2014/main" val="10000"/>
                  </a:ext>
                </a:extLst>
              </a:tr>
              <a:tr h="502359">
                <a:tc>
                  <a:txBody>
                    <a:bodyPr/>
                    <a:lstStyle/>
                    <a:p>
                      <a:pPr marL="0" marR="0" indent="18288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همسان‌سازی با آستانه ثابت (اتلافی)</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BD867C"/>
                    </a:solidFill>
                  </a:tcPr>
                </a:tc>
                <a:tc>
                  <a:txBody>
                    <a:bodyPr/>
                    <a:lstStyle/>
                    <a:p>
                      <a:pPr marL="0" marR="0" indent="18288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0.010</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indent="18288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2366</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indent="18288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1/858</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indent="18288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84/49</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r h="562642">
                <a:tc>
                  <a:txBody>
                    <a:bodyPr/>
                    <a:lstStyle/>
                    <a:p>
                      <a:pPr marL="0" marR="0" indent="18288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خوشه‌بندی </a:t>
                      </a:r>
                      <a:r>
                        <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K-means</a:t>
                      </a: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 بدون </a:t>
                      </a:r>
                      <a:r>
                        <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GA</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BD867C"/>
                    </a:solidFill>
                  </a:tcPr>
                </a:tc>
                <a:tc>
                  <a:txBody>
                    <a:bodyPr/>
                    <a:lstStyle/>
                    <a:p>
                      <a:pPr marL="0" marR="0" indent="18288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0/037</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indent="18288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1641</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indent="18288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1/9079</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indent="18288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86/72</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r h="562642">
                <a:tc>
                  <a:txBody>
                    <a:bodyPr/>
                    <a:lstStyle/>
                    <a:p>
                      <a:pPr marL="0" marR="0" indent="18288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خوشه‌بندی </a:t>
                      </a:r>
                      <a:r>
                        <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K-means</a:t>
                      </a: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 همراه با </a:t>
                      </a:r>
                      <a:r>
                        <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GA</a:t>
                      </a: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 (4:6)</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BD867C"/>
                    </a:solidFill>
                  </a:tcPr>
                </a:tc>
                <a:tc>
                  <a:txBody>
                    <a:bodyPr/>
                    <a:lstStyle/>
                    <a:p>
                      <a:pPr marL="0" marR="0" indent="18288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6/656</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indent="18288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1325</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indent="18288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1/9101</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indent="18288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86/82</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30" name="Rounded Rectangle 175">
            <a:extLst>
              <a:ext uri="{FF2B5EF4-FFF2-40B4-BE49-F238E27FC236}">
                <a16:creationId xmlns:a16="http://schemas.microsoft.com/office/drawing/2014/main" id="{AACCE7D9-540A-47B9-8964-41031B797FDD}"/>
              </a:ext>
            </a:extLst>
          </p:cNvPr>
          <p:cNvSpPr/>
          <p:nvPr/>
        </p:nvSpPr>
        <p:spPr bwMode="auto">
          <a:xfrm>
            <a:off x="7124531" y="917675"/>
            <a:ext cx="1486069" cy="4985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مقالات اخیر</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32" name="TextBox 31">
            <a:extLst>
              <a:ext uri="{FF2B5EF4-FFF2-40B4-BE49-F238E27FC236}">
                <a16:creationId xmlns:a16="http://schemas.microsoft.com/office/drawing/2014/main" id="{F43469DC-7F5B-471E-BD74-ED709E621F63}"/>
              </a:ext>
            </a:extLst>
          </p:cNvPr>
          <p:cNvSpPr txBox="1"/>
          <p:nvPr/>
        </p:nvSpPr>
        <p:spPr>
          <a:xfrm>
            <a:off x="-438805" y="941739"/>
            <a:ext cx="7315201" cy="307777"/>
          </a:xfrm>
          <a:prstGeom prst="rect">
            <a:avLst/>
          </a:prstGeom>
          <a:noFill/>
        </p:spPr>
        <p:txBody>
          <a:bodyPr wrap="square" rtlCol="0">
            <a:spAutoFit/>
          </a:bodyPr>
          <a:lstStyle/>
          <a:p>
            <a:pPr algn="ctr" rtl="1" fontAlgn="base">
              <a:spcBef>
                <a:spcPct val="0"/>
              </a:spcBef>
              <a:spcAft>
                <a:spcPct val="0"/>
              </a:spcAft>
            </a:pPr>
            <a:r>
              <a:rPr lang="fa-IR" sz="1400" dirty="0">
                <a:cs typeface="B Lotus" panose="00000400000000000000" pitchFamily="2" charset="-78"/>
              </a:rPr>
              <a:t>روشی نو برای همسان‌سازی باتری پک با اتصال سری بر مبنای تجزیه و تحلیل خوشه‌بندی همراه با الگوریتم ژنتیک</a:t>
            </a:r>
            <a:endParaRPr lang="en-US" sz="1400" dirty="0">
              <a:cs typeface="B Lotus" panose="00000400000000000000" pitchFamily="2" charset="-78"/>
            </a:endParaRPr>
          </a:p>
        </p:txBody>
      </p:sp>
      <p:sp>
        <p:nvSpPr>
          <p:cNvPr id="40" name="Rectangle 39"/>
          <p:cNvSpPr/>
          <p:nvPr/>
        </p:nvSpPr>
        <p:spPr>
          <a:xfrm>
            <a:off x="418672" y="6427113"/>
            <a:ext cx="8725328" cy="430887"/>
          </a:xfrm>
          <a:prstGeom prst="rect">
            <a:avLst/>
          </a:prstGeom>
        </p:spPr>
        <p:txBody>
          <a:bodyPr wrap="square">
            <a:spAutoFit/>
          </a:bodyPr>
          <a:lstStyle/>
          <a:p>
            <a:pPr lvl="0">
              <a:defRPr/>
            </a:pPr>
            <a:r>
              <a:rPr lang="en-US" sz="1100" dirty="0"/>
              <a:t>[3]      S. </a:t>
            </a:r>
            <a:r>
              <a:rPr lang="en-US" sz="1100" dirty="0" err="1"/>
              <a:t>Jinlei</a:t>
            </a:r>
            <a:r>
              <a:rPr lang="en-US" sz="1100" dirty="0"/>
              <a:t>, L. Wei, T. </a:t>
            </a:r>
            <a:r>
              <a:rPr lang="en-US" sz="1100" dirty="0" err="1"/>
              <a:t>Chuanyu</a:t>
            </a:r>
            <a:r>
              <a:rPr lang="en-US" sz="1100" dirty="0"/>
              <a:t>, W. </a:t>
            </a:r>
            <a:r>
              <a:rPr lang="en-US" sz="1100" dirty="0" err="1"/>
              <a:t>Tianru</a:t>
            </a:r>
            <a:r>
              <a:rPr lang="en-US" sz="1100" dirty="0"/>
              <a:t>, J. Tao, and T. Yong, "A novel active equalization method for series-connected battery packs based on clustering analysis with genetic algorithm," </a:t>
            </a:r>
            <a:r>
              <a:rPr lang="en-US" sz="1100" i="1" dirty="0"/>
              <a:t>IEEE Transactions on Power Electronics, </a:t>
            </a:r>
            <a:r>
              <a:rPr lang="en-US" sz="1100" dirty="0"/>
              <a:t>vol. 36, no. 7, pp. 7853-7865, 2021.</a:t>
            </a:r>
          </a:p>
        </p:txBody>
      </p:sp>
    </p:spTree>
    <p:extLst>
      <p:ext uri="{BB962C8B-B14F-4D97-AF65-F5344CB8AC3E}">
        <p14:creationId xmlns:p14="http://schemas.microsoft.com/office/powerpoint/2010/main" val="390441679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5"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26"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429" name="Rectangle 428"/>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30" name="Rectangle 429"/>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18" name="AutoShape 8">
            <a:extLst>
              <a:ext uri="{FF2B5EF4-FFF2-40B4-BE49-F238E27FC236}">
                <a16:creationId xmlns:a16="http://schemas.microsoft.com/office/drawing/2014/main" id="{FF901E6E-4D39-4565-9B46-60C2C5B1D5F6}"/>
              </a:ext>
            </a:extLst>
          </p:cNvPr>
          <p:cNvSpPr>
            <a:spLocks noChangeAspect="1" noChangeArrowheads="1"/>
          </p:cNvSpPr>
          <p:nvPr/>
        </p:nvSpPr>
        <p:spPr bwMode="gray">
          <a:xfrm>
            <a:off x="2393380" y="1903199"/>
            <a:ext cx="6307815" cy="427593"/>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dirty="0">
                <a:cs typeface="B Lotus" panose="00000400000000000000" pitchFamily="2" charset="-78"/>
              </a:rPr>
              <a:t>الگوریتم بهبودیافته و تسریع‌کننده فرآیند همسان‌سازی متناسب خودروهای تجاری کِشنده</a:t>
            </a:r>
            <a:endParaRPr lang="en-US" b="1" dirty="0">
              <a:solidFill>
                <a:srgbClr val="000000"/>
              </a:solidFill>
              <a:latin typeface="Times New Roman" panose="02020603050405020304" pitchFamily="18" charset="0"/>
              <a:cs typeface="B Lotus" panose="00000400000000000000" pitchFamily="2" charset="-78"/>
            </a:endParaRPr>
          </a:p>
        </p:txBody>
      </p:sp>
      <p:sp>
        <p:nvSpPr>
          <p:cNvPr id="19" name="TextBox 18"/>
          <p:cNvSpPr txBox="1"/>
          <p:nvPr/>
        </p:nvSpPr>
        <p:spPr>
          <a:xfrm>
            <a:off x="209088" y="5329937"/>
            <a:ext cx="2392001" cy="307777"/>
          </a:xfrm>
          <a:prstGeom prst="rect">
            <a:avLst/>
          </a:prstGeom>
          <a:noFill/>
        </p:spPr>
        <p:txBody>
          <a:bodyPr wrap="none" rtlCol="0">
            <a:spAutoFit/>
          </a:bodyPr>
          <a:lstStyle/>
          <a:p>
            <a:pPr algn="ctr" rtl="1"/>
            <a:r>
              <a:rPr lang="fa-IR" sz="1400" dirty="0">
                <a:latin typeface="Times New Roman" panose="02020603050405020304" pitchFamily="18" charset="0"/>
                <a:cs typeface="B Lotus" panose="00000400000000000000" pitchFamily="2" charset="-78"/>
              </a:rPr>
              <a:t>توپولوژی سلول به سلول مستقیم ماژولار</a:t>
            </a:r>
          </a:p>
        </p:txBody>
      </p:sp>
      <p:sp>
        <p:nvSpPr>
          <p:cNvPr id="21" name="TextBox 20"/>
          <p:cNvSpPr txBox="1"/>
          <p:nvPr/>
        </p:nvSpPr>
        <p:spPr>
          <a:xfrm>
            <a:off x="2747801" y="3474876"/>
            <a:ext cx="461986" cy="707886"/>
          </a:xfrm>
          <a:prstGeom prst="rect">
            <a:avLst/>
          </a:prstGeom>
          <a:noFill/>
        </p:spPr>
        <p:txBody>
          <a:bodyPr wrap="none" rtlCol="0">
            <a:spAutoFit/>
          </a:bodyPr>
          <a:lstStyle/>
          <a:p>
            <a:pPr algn="ctr" rtl="1"/>
            <a:r>
              <a:rPr lang="fa-IR" sz="4000" dirty="0">
                <a:latin typeface="Times New Roman" panose="02020603050405020304" pitchFamily="18" charset="0"/>
                <a:cs typeface="B Nasim" panose="00000700000000000000" pitchFamily="2" charset="-78"/>
              </a:rPr>
              <a:t>+</a:t>
            </a:r>
          </a:p>
        </p:txBody>
      </p:sp>
      <p:sp>
        <p:nvSpPr>
          <p:cNvPr id="26" name="TextBox 25"/>
          <p:cNvSpPr txBox="1"/>
          <p:nvPr/>
        </p:nvSpPr>
        <p:spPr>
          <a:xfrm>
            <a:off x="3734542" y="5114494"/>
            <a:ext cx="2272812" cy="523220"/>
          </a:xfrm>
          <a:prstGeom prst="rect">
            <a:avLst/>
          </a:prstGeom>
          <a:noFill/>
        </p:spPr>
        <p:txBody>
          <a:bodyPr wrap="square" rtlCol="0">
            <a:spAutoFit/>
          </a:bodyPr>
          <a:lstStyle/>
          <a:p>
            <a:pPr algn="ctr" rtl="1"/>
            <a:r>
              <a:rPr lang="fa-IR" sz="1400" dirty="0">
                <a:latin typeface="Times New Roman" panose="02020603050405020304" pitchFamily="18" charset="0"/>
                <a:cs typeface="B Lotus" panose="00000400000000000000" pitchFamily="2" charset="-78"/>
              </a:rPr>
              <a:t>الگوریتم منظم سازی و جفت کردن کمترین به بیشترین</a:t>
            </a:r>
            <a:endParaRPr lang="en-US" sz="1400" dirty="0">
              <a:latin typeface="Times New Roman" panose="02020603050405020304" pitchFamily="18" charset="0"/>
              <a:cs typeface="B Lotus" panose="00000400000000000000" pitchFamily="2" charset="-78"/>
            </a:endParaRPr>
          </a:p>
        </p:txBody>
      </p:sp>
      <p:pic>
        <p:nvPicPr>
          <p:cNvPr id="29" name="Picture 28"/>
          <p:cNvPicPr>
            <a:picLocks noChangeAspect="1"/>
          </p:cNvPicPr>
          <p:nvPr/>
        </p:nvPicPr>
        <p:blipFill>
          <a:blip r:embed="rId3"/>
          <a:stretch>
            <a:fillRect/>
          </a:stretch>
        </p:blipFill>
        <p:spPr>
          <a:xfrm>
            <a:off x="7376051" y="3578659"/>
            <a:ext cx="247650" cy="250160"/>
          </a:xfrm>
          <a:prstGeom prst="rect">
            <a:avLst/>
          </a:prstGeom>
        </p:spPr>
      </p:pic>
      <p:pic>
        <p:nvPicPr>
          <p:cNvPr id="32" name="Picture 31"/>
          <p:cNvPicPr>
            <a:picLocks noChangeAspect="1"/>
          </p:cNvPicPr>
          <p:nvPr/>
        </p:nvPicPr>
        <p:blipFill>
          <a:blip r:embed="rId4"/>
          <a:stretch>
            <a:fillRect/>
          </a:stretch>
        </p:blipFill>
        <p:spPr>
          <a:xfrm>
            <a:off x="7821371" y="3449489"/>
            <a:ext cx="610743" cy="586411"/>
          </a:xfrm>
          <a:prstGeom prst="rect">
            <a:avLst/>
          </a:prstGeom>
        </p:spPr>
      </p:pic>
      <p:pic>
        <p:nvPicPr>
          <p:cNvPr id="33" name="Picture 32"/>
          <p:cNvPicPr>
            <a:picLocks noChangeAspect="1"/>
          </p:cNvPicPr>
          <p:nvPr/>
        </p:nvPicPr>
        <p:blipFill>
          <a:blip r:embed="rId5"/>
          <a:stretch>
            <a:fillRect/>
          </a:stretch>
        </p:blipFill>
        <p:spPr>
          <a:xfrm>
            <a:off x="7821371" y="4167098"/>
            <a:ext cx="611904" cy="481300"/>
          </a:xfrm>
          <a:prstGeom prst="rect">
            <a:avLst/>
          </a:prstGeom>
        </p:spPr>
      </p:pic>
      <p:sp>
        <p:nvSpPr>
          <p:cNvPr id="35" name="TextBox 34"/>
          <p:cNvSpPr txBox="1"/>
          <p:nvPr/>
        </p:nvSpPr>
        <p:spPr>
          <a:xfrm>
            <a:off x="6399068" y="3452989"/>
            <a:ext cx="461986" cy="707886"/>
          </a:xfrm>
          <a:prstGeom prst="rect">
            <a:avLst/>
          </a:prstGeom>
          <a:noFill/>
        </p:spPr>
        <p:txBody>
          <a:bodyPr wrap="none" rtlCol="0">
            <a:spAutoFit/>
          </a:bodyPr>
          <a:lstStyle/>
          <a:p>
            <a:pPr algn="ctr" rtl="1"/>
            <a:r>
              <a:rPr lang="fa-IR" sz="4000" dirty="0">
                <a:latin typeface="Times New Roman" panose="02020603050405020304" pitchFamily="18" charset="0"/>
                <a:cs typeface="B Nasim" panose="00000700000000000000" pitchFamily="2" charset="-78"/>
              </a:rPr>
              <a:t>+</a:t>
            </a:r>
          </a:p>
        </p:txBody>
      </p:sp>
      <p:sp>
        <p:nvSpPr>
          <p:cNvPr id="36" name="TextBox 35"/>
          <p:cNvSpPr txBox="1"/>
          <p:nvPr/>
        </p:nvSpPr>
        <p:spPr>
          <a:xfrm>
            <a:off x="6836311" y="5329937"/>
            <a:ext cx="2272812" cy="307777"/>
          </a:xfrm>
          <a:prstGeom prst="rect">
            <a:avLst/>
          </a:prstGeom>
          <a:noFill/>
        </p:spPr>
        <p:txBody>
          <a:bodyPr wrap="square" rtlCol="0">
            <a:spAutoFit/>
          </a:bodyPr>
          <a:lstStyle/>
          <a:p>
            <a:pPr algn="ctr" rtl="1"/>
            <a:r>
              <a:rPr lang="fa-IR" sz="1400" dirty="0">
                <a:latin typeface="Times New Roman" panose="02020603050405020304" pitchFamily="18" charset="0"/>
                <a:cs typeface="B Lotus" panose="00000400000000000000" pitchFamily="2" charset="-78"/>
              </a:rPr>
              <a:t>شبیه سازی</a:t>
            </a:r>
            <a:endParaRPr lang="en-US" sz="1400" dirty="0">
              <a:latin typeface="Times New Roman" panose="02020603050405020304" pitchFamily="18" charset="0"/>
              <a:cs typeface="B Lotus" panose="00000400000000000000" pitchFamily="2" charset="-78"/>
            </a:endParaRPr>
          </a:p>
        </p:txBody>
      </p:sp>
      <p:pic>
        <p:nvPicPr>
          <p:cNvPr id="3" name="Picture 2"/>
          <p:cNvPicPr>
            <a:picLocks noChangeAspect="1"/>
          </p:cNvPicPr>
          <p:nvPr/>
        </p:nvPicPr>
        <p:blipFill>
          <a:blip r:embed="rId6"/>
          <a:stretch>
            <a:fillRect/>
          </a:stretch>
        </p:blipFill>
        <p:spPr>
          <a:xfrm>
            <a:off x="4002578" y="3156364"/>
            <a:ext cx="1603699" cy="1603699"/>
          </a:xfrm>
          <a:prstGeom prst="rect">
            <a:avLst/>
          </a:prstGeom>
        </p:spPr>
      </p:pic>
      <p:pic>
        <p:nvPicPr>
          <p:cNvPr id="37" name="Picture 36"/>
          <p:cNvPicPr>
            <a:picLocks noChangeAspect="1"/>
          </p:cNvPicPr>
          <p:nvPr/>
        </p:nvPicPr>
        <p:blipFill>
          <a:blip r:embed="rId7"/>
          <a:stretch>
            <a:fillRect/>
          </a:stretch>
        </p:blipFill>
        <p:spPr>
          <a:xfrm>
            <a:off x="7376051" y="4279658"/>
            <a:ext cx="247650" cy="263198"/>
          </a:xfrm>
          <a:prstGeom prst="rect">
            <a:avLst/>
          </a:prstGeom>
        </p:spPr>
      </p:pic>
      <p:grpSp>
        <p:nvGrpSpPr>
          <p:cNvPr id="5" name="Group 4"/>
          <p:cNvGrpSpPr/>
          <p:nvPr/>
        </p:nvGrpSpPr>
        <p:grpSpPr>
          <a:xfrm>
            <a:off x="868231" y="2889680"/>
            <a:ext cx="651217" cy="2137065"/>
            <a:chOff x="990600" y="2205591"/>
            <a:chExt cx="651217" cy="2137065"/>
          </a:xfrm>
        </p:grpSpPr>
        <p:pic>
          <p:nvPicPr>
            <p:cNvPr id="20" name="Picture 19"/>
            <p:cNvPicPr/>
            <p:nvPr/>
          </p:nvPicPr>
          <p:blipFill>
            <a:blip r:embed="rId8" cstate="print">
              <a:extLst>
                <a:ext uri="{28A0092B-C50C-407E-A947-70E740481C1C}">
                  <a14:useLocalDpi xmlns:a14="http://schemas.microsoft.com/office/drawing/2010/main" val="0"/>
                </a:ext>
              </a:extLst>
            </a:blip>
            <a:stretch>
              <a:fillRect/>
            </a:stretch>
          </p:blipFill>
          <p:spPr bwMode="auto">
            <a:xfrm>
              <a:off x="990600" y="2205591"/>
              <a:ext cx="651217" cy="586472"/>
            </a:xfrm>
            <a:prstGeom prst="rect">
              <a:avLst/>
            </a:prstGeom>
            <a:noFill/>
            <a:ln>
              <a:noFill/>
            </a:ln>
          </p:spPr>
        </p:pic>
        <p:pic>
          <p:nvPicPr>
            <p:cNvPr id="39" name="Picture 38"/>
            <p:cNvPicPr/>
            <p:nvPr/>
          </p:nvPicPr>
          <p:blipFill>
            <a:blip r:embed="rId8" cstate="print">
              <a:extLst>
                <a:ext uri="{28A0092B-C50C-407E-A947-70E740481C1C}">
                  <a14:useLocalDpi xmlns:a14="http://schemas.microsoft.com/office/drawing/2010/main" val="0"/>
                </a:ext>
              </a:extLst>
            </a:blip>
            <a:stretch>
              <a:fillRect/>
            </a:stretch>
          </p:blipFill>
          <p:spPr bwMode="auto">
            <a:xfrm>
              <a:off x="990600" y="2840649"/>
              <a:ext cx="651217" cy="586472"/>
            </a:xfrm>
            <a:prstGeom prst="rect">
              <a:avLst/>
            </a:prstGeom>
            <a:noFill/>
            <a:ln>
              <a:noFill/>
            </a:ln>
          </p:spPr>
        </p:pic>
        <p:pic>
          <p:nvPicPr>
            <p:cNvPr id="40" name="Picture 39"/>
            <p:cNvPicPr/>
            <p:nvPr/>
          </p:nvPicPr>
          <p:blipFill>
            <a:blip r:embed="rId8" cstate="print">
              <a:extLst>
                <a:ext uri="{28A0092B-C50C-407E-A947-70E740481C1C}">
                  <a14:useLocalDpi xmlns:a14="http://schemas.microsoft.com/office/drawing/2010/main" val="0"/>
                </a:ext>
              </a:extLst>
            </a:blip>
            <a:stretch>
              <a:fillRect/>
            </a:stretch>
          </p:blipFill>
          <p:spPr bwMode="auto">
            <a:xfrm>
              <a:off x="990600" y="3756184"/>
              <a:ext cx="651217" cy="586472"/>
            </a:xfrm>
            <a:prstGeom prst="rect">
              <a:avLst/>
            </a:prstGeom>
            <a:noFill/>
            <a:ln>
              <a:noFill/>
            </a:ln>
          </p:spPr>
        </p:pic>
        <p:pic>
          <p:nvPicPr>
            <p:cNvPr id="4" name="Picture 3"/>
            <p:cNvPicPr>
              <a:picLocks noChangeAspect="1"/>
            </p:cNvPicPr>
            <p:nvPr/>
          </p:nvPicPr>
          <p:blipFill>
            <a:blip r:embed="rId9"/>
            <a:stretch>
              <a:fillRect/>
            </a:stretch>
          </p:blipFill>
          <p:spPr>
            <a:xfrm>
              <a:off x="1192449" y="3439425"/>
              <a:ext cx="247517" cy="324923"/>
            </a:xfrm>
            <a:prstGeom prst="rect">
              <a:avLst/>
            </a:prstGeom>
          </p:spPr>
        </p:pic>
      </p:grpSp>
      <p:grpSp>
        <p:nvGrpSpPr>
          <p:cNvPr id="41" name="Group 23">
            <a:extLst>
              <a:ext uri="{FF2B5EF4-FFF2-40B4-BE49-F238E27FC236}">
                <a16:creationId xmlns:a16="http://schemas.microsoft.com/office/drawing/2014/main" id="{978D1582-1549-4D37-9C95-34020E281F7D}"/>
              </a:ext>
            </a:extLst>
          </p:cNvPr>
          <p:cNvGrpSpPr>
            <a:grpSpLocks noChangeAspect="1"/>
          </p:cNvGrpSpPr>
          <p:nvPr/>
        </p:nvGrpSpPr>
        <p:grpSpPr bwMode="auto">
          <a:xfrm>
            <a:off x="8510695" y="1922462"/>
            <a:ext cx="381000" cy="381000"/>
            <a:chOff x="2078" y="1680"/>
            <a:chExt cx="1615" cy="1615"/>
          </a:xfrm>
        </p:grpSpPr>
        <p:sp>
          <p:nvSpPr>
            <p:cNvPr id="42" name="Oval 24">
              <a:extLst>
                <a:ext uri="{FF2B5EF4-FFF2-40B4-BE49-F238E27FC236}">
                  <a16:creationId xmlns:a16="http://schemas.microsoft.com/office/drawing/2014/main" id="{394744AB-69AD-4039-A10B-0D8E0439243B}"/>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3" name="Oval 25">
              <a:extLst>
                <a:ext uri="{FF2B5EF4-FFF2-40B4-BE49-F238E27FC236}">
                  <a16:creationId xmlns:a16="http://schemas.microsoft.com/office/drawing/2014/main" id="{154704C5-3C92-4C99-8D43-D388A6C5B289}"/>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4" name="Oval 26">
              <a:extLst>
                <a:ext uri="{FF2B5EF4-FFF2-40B4-BE49-F238E27FC236}">
                  <a16:creationId xmlns:a16="http://schemas.microsoft.com/office/drawing/2014/main" id="{04F66D2C-385D-4CBC-8E8F-3E3A912DFC98}"/>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5" name="Oval 27">
              <a:extLst>
                <a:ext uri="{FF2B5EF4-FFF2-40B4-BE49-F238E27FC236}">
                  <a16:creationId xmlns:a16="http://schemas.microsoft.com/office/drawing/2014/main" id="{EA27390D-90C7-4FEF-9F37-D35FD2EA7723}"/>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6" name="Oval 28">
              <a:extLst>
                <a:ext uri="{FF2B5EF4-FFF2-40B4-BE49-F238E27FC236}">
                  <a16:creationId xmlns:a16="http://schemas.microsoft.com/office/drawing/2014/main" id="{5C9AFE92-58F0-4BF1-8021-7EEAC92E3206}"/>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7" name="Oval 29">
              <a:extLst>
                <a:ext uri="{FF2B5EF4-FFF2-40B4-BE49-F238E27FC236}">
                  <a16:creationId xmlns:a16="http://schemas.microsoft.com/office/drawing/2014/main" id="{1B81B5B2-AD7F-472D-BBE8-64F0040E5D5F}"/>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pic>
        <p:nvPicPr>
          <p:cNvPr id="38" name="Picture 37" descr="پرونده:Azad University logo.png - ویکی‌پدیا، دانشنامهٔ آزاد">
            <a:extLst>
              <a:ext uri="{FF2B5EF4-FFF2-40B4-BE49-F238E27FC236}">
                <a16:creationId xmlns:a16="http://schemas.microsoft.com/office/drawing/2014/main" id="{FA988D60-670C-406B-B8FB-D5A0053424E9}"/>
              </a:ext>
            </a:extLst>
          </p:cNvPr>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48" name="AutoShape 10">
            <a:extLst>
              <a:ext uri="{FF2B5EF4-FFF2-40B4-BE49-F238E27FC236}">
                <a16:creationId xmlns:a16="http://schemas.microsoft.com/office/drawing/2014/main"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51" name="Rectangle 50">
            <a:extLst>
              <a:ext uri="{FF2B5EF4-FFF2-40B4-BE49-F238E27FC236}">
                <a16:creationId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53" name="AutoShape 3">
            <a:extLst>
              <a:ext uri="{FF2B5EF4-FFF2-40B4-BE49-F238E27FC236}">
                <a16:creationId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55" name="Rectangle 54">
            <a:extLst>
              <a:ext uri="{FF2B5EF4-FFF2-40B4-BE49-F238E27FC236}">
                <a16:creationId xmlns:a16="http://schemas.microsoft.com/office/drawing/2014/main"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56" name="Rounded Rectangle 175">
            <a:extLst>
              <a:ext uri="{FF2B5EF4-FFF2-40B4-BE49-F238E27FC236}">
                <a16:creationId xmlns:a16="http://schemas.microsoft.com/office/drawing/2014/main" id="{AACCE7D9-540A-47B9-8964-41031B797FDD}"/>
              </a:ext>
            </a:extLst>
          </p:cNvPr>
          <p:cNvSpPr/>
          <p:nvPr/>
        </p:nvSpPr>
        <p:spPr bwMode="auto">
          <a:xfrm>
            <a:off x="7124531" y="917675"/>
            <a:ext cx="1486069" cy="4985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مقالات اخیر</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49"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32</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248194588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a:blip r:embed="rId3"/>
          <a:stretch>
            <a:fillRect/>
          </a:stretch>
        </p:blipFill>
        <p:spPr>
          <a:xfrm>
            <a:off x="524804" y="1526708"/>
            <a:ext cx="8000892" cy="4293217"/>
          </a:xfrm>
          <a:prstGeom prst="rect">
            <a:avLst/>
          </a:prstGeom>
        </p:spPr>
      </p:pic>
      <p:sp>
        <p:nvSpPr>
          <p:cNvPr id="4" name="TextBox 3"/>
          <p:cNvSpPr txBox="1"/>
          <p:nvPr/>
        </p:nvSpPr>
        <p:spPr>
          <a:xfrm>
            <a:off x="777257" y="5882077"/>
            <a:ext cx="6756979" cy="369332"/>
          </a:xfrm>
          <a:prstGeom prst="rect">
            <a:avLst/>
          </a:prstGeom>
          <a:noFill/>
        </p:spPr>
        <p:txBody>
          <a:bodyPr wrap="none" rtlCol="0">
            <a:spAutoFit/>
          </a:bodyPr>
          <a:lstStyle/>
          <a:p>
            <a:pPr algn="r" rtl="1"/>
            <a:r>
              <a:rPr lang="fa-IR" dirty="0">
                <a:latin typeface="Times New Roman" panose="02020603050405020304" pitchFamily="18" charset="0"/>
                <a:ea typeface="Calibri" panose="020F0502020204030204" pitchFamily="34" charset="0"/>
                <a:cs typeface="B Lotus" panose="00000400000000000000" pitchFamily="2" charset="-78"/>
              </a:rPr>
              <a:t>شکل 8 </a:t>
            </a:r>
            <a:r>
              <a:rPr lang="fa-IR" dirty="0">
                <a:latin typeface="Times New Roman" panose="02020603050405020304" pitchFamily="18" charset="0"/>
                <a:cs typeface="B Lotus" panose="00000400000000000000" pitchFamily="2" charset="-78"/>
              </a:rPr>
              <a:t>پیکربندی سیستم همسان سازی پیشنهادی در پک باتری خودرو و در سطح ماژول </a:t>
            </a:r>
            <a:r>
              <a:rPr lang="fa-IR" dirty="0">
                <a:solidFill>
                  <a:srgbClr val="61D6FF"/>
                </a:solidFill>
                <a:latin typeface="Times New Roman" panose="02020603050405020304" pitchFamily="18" charset="0"/>
                <a:cs typeface="B Lotus" panose="00000400000000000000" pitchFamily="2" charset="-78"/>
              </a:rPr>
              <a:t>[2]</a:t>
            </a:r>
            <a:r>
              <a:rPr lang="fa-IR" dirty="0">
                <a:latin typeface="Times New Roman" panose="02020603050405020304" pitchFamily="18" charset="0"/>
                <a:cs typeface="B Lotus" panose="00000400000000000000" pitchFamily="2" charset="-78"/>
              </a:rPr>
              <a:t>.</a:t>
            </a:r>
            <a:endParaRPr lang="en-US" dirty="0">
              <a:latin typeface="Times New Roman" panose="02020603050405020304" pitchFamily="18" charset="0"/>
              <a:cs typeface="B Lotus" panose="00000400000000000000" pitchFamily="2" charset="-78"/>
            </a:endParaRPr>
          </a:p>
        </p:txBody>
      </p:sp>
      <p:sp>
        <p:nvSpPr>
          <p:cNvPr id="19" name="Rounded Rectangle 175">
            <a:extLst>
              <a:ext uri="{FF2B5EF4-FFF2-40B4-BE49-F238E27FC236}">
                <a16:creationId xmlns:a16="http://schemas.microsoft.com/office/drawing/2014/main" id="{AACCE7D9-540A-47B9-8964-41031B797FDD}"/>
              </a:ext>
            </a:extLst>
          </p:cNvPr>
          <p:cNvSpPr/>
          <p:nvPr/>
        </p:nvSpPr>
        <p:spPr bwMode="auto">
          <a:xfrm>
            <a:off x="7124531" y="917675"/>
            <a:ext cx="1486069" cy="4985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مقالات اخیر</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20"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1"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2" name="Rectangle 21"/>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3" name="Rectangle 22"/>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24" name="Picture 23" descr="پرونده:Azad University logo.png - ویکی‌پدیا، دانشنامهٔ آزاد">
            <a:extLst>
              <a:ext uri="{FF2B5EF4-FFF2-40B4-BE49-F238E27FC236}">
                <a16:creationId xmlns:a16="http://schemas.microsoft.com/office/drawing/2014/main"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5" name="AutoShape 10">
            <a:extLst>
              <a:ext uri="{FF2B5EF4-FFF2-40B4-BE49-F238E27FC236}">
                <a16:creationId xmlns:a16="http://schemas.microsoft.com/office/drawing/2014/main"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6" name="Rectangle 25">
            <a:extLst>
              <a:ext uri="{FF2B5EF4-FFF2-40B4-BE49-F238E27FC236}">
                <a16:creationId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27" name="AutoShape 3">
            <a:extLst>
              <a:ext uri="{FF2B5EF4-FFF2-40B4-BE49-F238E27FC236}">
                <a16:creationId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8" name="Rectangle 27">
            <a:extLst>
              <a:ext uri="{FF2B5EF4-FFF2-40B4-BE49-F238E27FC236}">
                <a16:creationId xmlns:a16="http://schemas.microsoft.com/office/drawing/2014/main"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9" name="TextBox 28">
            <a:extLst>
              <a:ext uri="{FF2B5EF4-FFF2-40B4-BE49-F238E27FC236}">
                <a16:creationId xmlns:a16="http://schemas.microsoft.com/office/drawing/2014/main" id="{F43469DC-7F5B-471E-BD74-ED709E621F63}"/>
              </a:ext>
            </a:extLst>
          </p:cNvPr>
          <p:cNvSpPr txBox="1"/>
          <p:nvPr/>
        </p:nvSpPr>
        <p:spPr>
          <a:xfrm>
            <a:off x="121352" y="816890"/>
            <a:ext cx="6364243" cy="369332"/>
          </a:xfrm>
          <a:prstGeom prst="rect">
            <a:avLst/>
          </a:prstGeom>
          <a:noFill/>
        </p:spPr>
        <p:txBody>
          <a:bodyPr wrap="none" rtlCol="0">
            <a:spAutoFit/>
          </a:bodyPr>
          <a:lstStyle/>
          <a:p>
            <a:pPr algn="r" rtl="1" fontAlgn="base">
              <a:spcBef>
                <a:spcPct val="0"/>
              </a:spcBef>
              <a:spcAft>
                <a:spcPct val="0"/>
              </a:spcAft>
            </a:pPr>
            <a:r>
              <a:rPr lang="fa-IR" dirty="0">
                <a:cs typeface="B Lotus" panose="00000400000000000000" pitchFamily="2" charset="-78"/>
              </a:rPr>
              <a:t>الگوریتم بهبودیافته و تسریع‌کننده فرآیند همسان‌سازی متناسب خودروهای تجاری کِشنده</a:t>
            </a:r>
            <a:endParaRPr lang="en-US" b="1" dirty="0">
              <a:solidFill>
                <a:srgbClr val="000000"/>
              </a:solidFill>
              <a:latin typeface="Times New Roman" panose="02020603050405020304" pitchFamily="18" charset="0"/>
              <a:cs typeface="B Lotus" panose="00000400000000000000" pitchFamily="2" charset="-78"/>
            </a:endParaRPr>
          </a:p>
        </p:txBody>
      </p:sp>
      <p:sp>
        <p:nvSpPr>
          <p:cNvPr id="16"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33</a:t>
            </a:fld>
            <a:endParaRPr lang="fa-IR" sz="1800" dirty="0">
              <a:solidFill>
                <a:schemeClr val="tx1"/>
              </a:solidFill>
              <a:cs typeface="B Lotus" panose="00000400000000000000" pitchFamily="2" charset="-78"/>
            </a:endParaRPr>
          </a:p>
        </p:txBody>
      </p:sp>
      <p:sp>
        <p:nvSpPr>
          <p:cNvPr id="17" name="Rectangle 16"/>
          <p:cNvSpPr/>
          <p:nvPr/>
        </p:nvSpPr>
        <p:spPr>
          <a:xfrm>
            <a:off x="418672" y="6427113"/>
            <a:ext cx="8725328" cy="430887"/>
          </a:xfrm>
          <a:prstGeom prst="rect">
            <a:avLst/>
          </a:prstGeom>
        </p:spPr>
        <p:txBody>
          <a:bodyPr wrap="square">
            <a:spAutoFit/>
          </a:bodyPr>
          <a:lstStyle/>
          <a:p>
            <a:pPr algn="ctr"/>
            <a:r>
              <a:rPr lang="en-US" sz="1100" dirty="0"/>
              <a:t>[2]	B. </a:t>
            </a:r>
            <a:r>
              <a:rPr lang="en-US" sz="1100" dirty="0" err="1"/>
              <a:t>Erdoğan</a:t>
            </a:r>
            <a:r>
              <a:rPr lang="en-US" sz="1100" dirty="0"/>
              <a:t>, M. M. </a:t>
            </a:r>
            <a:r>
              <a:rPr lang="en-US" sz="1100" dirty="0" err="1"/>
              <a:t>Savrun</a:t>
            </a:r>
            <a:r>
              <a:rPr lang="en-US" sz="1100" dirty="0"/>
              <a:t>, T. </a:t>
            </a:r>
            <a:r>
              <a:rPr lang="en-US" sz="1100" dirty="0" err="1"/>
              <a:t>Köroğlu</a:t>
            </a:r>
            <a:r>
              <a:rPr lang="en-US" sz="1100" dirty="0"/>
              <a:t>, M. U. </a:t>
            </a:r>
            <a:r>
              <a:rPr lang="en-US" sz="1100" dirty="0" err="1"/>
              <a:t>Cuma</a:t>
            </a:r>
            <a:r>
              <a:rPr lang="en-US" sz="1100" dirty="0"/>
              <a:t>, and M. </a:t>
            </a:r>
            <a:r>
              <a:rPr lang="en-US" sz="1100" dirty="0" err="1"/>
              <a:t>Tümay</a:t>
            </a:r>
            <a:r>
              <a:rPr lang="en-US" sz="1100" dirty="0"/>
              <a:t>, "An improved and fast balancing algorithm for electric heavy commercial vehicles," </a:t>
            </a:r>
            <a:r>
              <a:rPr lang="en-US" sz="1100" i="1" dirty="0"/>
              <a:t>Journal of Energy Storage, </a:t>
            </a:r>
            <a:r>
              <a:rPr lang="nl-NL" sz="1100" dirty="0"/>
              <a:t>vol. 38, p. 102522, 2021.</a:t>
            </a:r>
          </a:p>
        </p:txBody>
      </p:sp>
    </p:spTree>
    <p:extLst>
      <p:ext uri="{BB962C8B-B14F-4D97-AF65-F5344CB8AC3E}">
        <p14:creationId xmlns:p14="http://schemas.microsoft.com/office/powerpoint/2010/main" val="308986491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2725018" y="5950109"/>
            <a:ext cx="3340979" cy="369332"/>
          </a:xfrm>
          <a:prstGeom prst="rect">
            <a:avLst/>
          </a:prstGeom>
          <a:noFill/>
        </p:spPr>
        <p:txBody>
          <a:bodyPr wrap="none" rtlCol="0">
            <a:spAutoFit/>
          </a:bodyPr>
          <a:lstStyle/>
          <a:p>
            <a:pPr algn="ctr" rtl="1"/>
            <a:r>
              <a:rPr lang="fa-IR" dirty="0">
                <a:latin typeface="Times New Roman" panose="02020603050405020304" pitchFamily="18" charset="0"/>
                <a:ea typeface="Calibri" panose="020F0502020204030204" pitchFamily="34" charset="0"/>
                <a:cs typeface="B Lotus" panose="00000400000000000000" pitchFamily="2" charset="-78"/>
              </a:rPr>
              <a:t>شکل 9 </a:t>
            </a:r>
            <a:r>
              <a:rPr lang="fa-IR" dirty="0">
                <a:latin typeface="Times New Roman" panose="02020603050405020304" pitchFamily="18" charset="0"/>
                <a:cs typeface="B Lotus" panose="00000400000000000000" pitchFamily="2" charset="-78"/>
              </a:rPr>
              <a:t>مدل شبیه سازی شده یک ماژول </a:t>
            </a:r>
            <a:r>
              <a:rPr lang="fa-IR" dirty="0">
                <a:solidFill>
                  <a:srgbClr val="61D6FF"/>
                </a:solidFill>
                <a:latin typeface="Times New Roman" panose="02020603050405020304" pitchFamily="18" charset="0"/>
                <a:cs typeface="B Lotus" panose="00000400000000000000" pitchFamily="2" charset="-78"/>
              </a:rPr>
              <a:t>[2]</a:t>
            </a:r>
            <a:r>
              <a:rPr lang="fa-IR" dirty="0">
                <a:latin typeface="Times New Roman" panose="02020603050405020304" pitchFamily="18" charset="0"/>
                <a:cs typeface="B Lotus" panose="00000400000000000000" pitchFamily="2" charset="-78"/>
              </a:rPr>
              <a:t>.</a:t>
            </a:r>
            <a:endParaRPr lang="en-US" dirty="0">
              <a:latin typeface="Times New Roman" panose="02020603050405020304" pitchFamily="18" charset="0"/>
              <a:cs typeface="B Lotus" panose="00000400000000000000" pitchFamily="2" charset="-78"/>
            </a:endParaRPr>
          </a:p>
        </p:txBody>
      </p:sp>
      <p:pic>
        <p:nvPicPr>
          <p:cNvPr id="19" name="Picture 18"/>
          <p:cNvPicPr/>
          <p:nvPr/>
        </p:nvPicPr>
        <p:blipFill>
          <a:blip r:embed="rId3">
            <a:extLst>
              <a:ext uri="{28A0092B-C50C-407E-A947-70E740481C1C}">
                <a14:useLocalDpi xmlns:a14="http://schemas.microsoft.com/office/drawing/2010/main" val="0"/>
              </a:ext>
            </a:extLst>
          </a:blip>
          <a:stretch>
            <a:fillRect/>
          </a:stretch>
        </p:blipFill>
        <p:spPr>
          <a:xfrm>
            <a:off x="356907" y="1371058"/>
            <a:ext cx="8077200" cy="4579051"/>
          </a:xfrm>
          <a:prstGeom prst="rect">
            <a:avLst/>
          </a:prstGeom>
        </p:spPr>
      </p:pic>
      <p:sp>
        <p:nvSpPr>
          <p:cNvPr id="20" name="Rounded Rectangle 175">
            <a:extLst>
              <a:ext uri="{FF2B5EF4-FFF2-40B4-BE49-F238E27FC236}">
                <a16:creationId xmlns:a16="http://schemas.microsoft.com/office/drawing/2014/main" id="{AACCE7D9-540A-47B9-8964-41031B797FDD}"/>
              </a:ext>
            </a:extLst>
          </p:cNvPr>
          <p:cNvSpPr/>
          <p:nvPr/>
        </p:nvSpPr>
        <p:spPr bwMode="auto">
          <a:xfrm>
            <a:off x="7383708" y="827369"/>
            <a:ext cx="1486069" cy="4985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مقالات اخیر</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21"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2"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3" name="Rectangle 22"/>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4" name="Rectangle 23"/>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25" name="Picture 24" descr="پرونده:Azad University logo.png - ویکی‌پدیا، دانشنامهٔ آزاد">
            <a:extLst>
              <a:ext uri="{FF2B5EF4-FFF2-40B4-BE49-F238E27FC236}">
                <a16:creationId xmlns:a16="http://schemas.microsoft.com/office/drawing/2014/main"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6" name="AutoShape 10">
            <a:extLst>
              <a:ext uri="{FF2B5EF4-FFF2-40B4-BE49-F238E27FC236}">
                <a16:creationId xmlns:a16="http://schemas.microsoft.com/office/drawing/2014/main"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7" name="Rectangle 26">
            <a:extLst>
              <a:ext uri="{FF2B5EF4-FFF2-40B4-BE49-F238E27FC236}">
                <a16:creationId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28" name="AutoShape 3">
            <a:extLst>
              <a:ext uri="{FF2B5EF4-FFF2-40B4-BE49-F238E27FC236}">
                <a16:creationId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9" name="Rectangle 28">
            <a:extLst>
              <a:ext uri="{FF2B5EF4-FFF2-40B4-BE49-F238E27FC236}">
                <a16:creationId xmlns:a16="http://schemas.microsoft.com/office/drawing/2014/main"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2" name="TextBox 31">
            <a:extLst>
              <a:ext uri="{FF2B5EF4-FFF2-40B4-BE49-F238E27FC236}">
                <a16:creationId xmlns:a16="http://schemas.microsoft.com/office/drawing/2014/main" id="{F43469DC-7F5B-471E-BD74-ED709E621F63}"/>
              </a:ext>
            </a:extLst>
          </p:cNvPr>
          <p:cNvSpPr txBox="1"/>
          <p:nvPr/>
        </p:nvSpPr>
        <p:spPr>
          <a:xfrm>
            <a:off x="36674" y="899622"/>
            <a:ext cx="6364243" cy="369332"/>
          </a:xfrm>
          <a:prstGeom prst="rect">
            <a:avLst/>
          </a:prstGeom>
          <a:noFill/>
        </p:spPr>
        <p:txBody>
          <a:bodyPr wrap="none" rtlCol="0">
            <a:spAutoFit/>
          </a:bodyPr>
          <a:lstStyle/>
          <a:p>
            <a:pPr algn="r" rtl="1" fontAlgn="base">
              <a:spcBef>
                <a:spcPct val="0"/>
              </a:spcBef>
              <a:spcAft>
                <a:spcPct val="0"/>
              </a:spcAft>
            </a:pPr>
            <a:r>
              <a:rPr lang="fa-IR" dirty="0">
                <a:cs typeface="B Lotus" panose="00000400000000000000" pitchFamily="2" charset="-78"/>
              </a:rPr>
              <a:t>الگوریتم بهبودیافته و تسریع‌کننده فرآیند همسان‌سازی متناسب خودروهای تجاری کِشنده</a:t>
            </a:r>
            <a:endParaRPr lang="en-US" b="1" dirty="0">
              <a:solidFill>
                <a:srgbClr val="000000"/>
              </a:solidFill>
              <a:latin typeface="Times New Roman" panose="02020603050405020304" pitchFamily="18" charset="0"/>
              <a:cs typeface="B Lotus" panose="00000400000000000000" pitchFamily="2" charset="-78"/>
            </a:endParaRPr>
          </a:p>
        </p:txBody>
      </p:sp>
      <p:sp>
        <p:nvSpPr>
          <p:cNvPr id="16"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34</a:t>
            </a:fld>
            <a:endParaRPr lang="fa-IR" sz="1800" dirty="0">
              <a:solidFill>
                <a:schemeClr val="tx1"/>
              </a:solidFill>
              <a:cs typeface="B Lotus" panose="00000400000000000000" pitchFamily="2" charset="-78"/>
            </a:endParaRPr>
          </a:p>
        </p:txBody>
      </p:sp>
      <p:sp>
        <p:nvSpPr>
          <p:cNvPr id="18" name="Rectangle 17"/>
          <p:cNvSpPr/>
          <p:nvPr/>
        </p:nvSpPr>
        <p:spPr>
          <a:xfrm>
            <a:off x="418672" y="6427113"/>
            <a:ext cx="8725328" cy="430887"/>
          </a:xfrm>
          <a:prstGeom prst="rect">
            <a:avLst/>
          </a:prstGeom>
        </p:spPr>
        <p:txBody>
          <a:bodyPr wrap="square">
            <a:spAutoFit/>
          </a:bodyPr>
          <a:lstStyle/>
          <a:p>
            <a:pPr algn="ctr"/>
            <a:r>
              <a:rPr lang="en-US" sz="1100" dirty="0"/>
              <a:t>[2]	B. </a:t>
            </a:r>
            <a:r>
              <a:rPr lang="en-US" sz="1100" dirty="0" err="1"/>
              <a:t>Erdoğan</a:t>
            </a:r>
            <a:r>
              <a:rPr lang="en-US" sz="1100" dirty="0"/>
              <a:t>, M. M. </a:t>
            </a:r>
            <a:r>
              <a:rPr lang="en-US" sz="1100" dirty="0" err="1"/>
              <a:t>Savrun</a:t>
            </a:r>
            <a:r>
              <a:rPr lang="en-US" sz="1100" dirty="0"/>
              <a:t>, T. </a:t>
            </a:r>
            <a:r>
              <a:rPr lang="en-US" sz="1100" dirty="0" err="1"/>
              <a:t>Köroğlu</a:t>
            </a:r>
            <a:r>
              <a:rPr lang="en-US" sz="1100" dirty="0"/>
              <a:t>, M. U. </a:t>
            </a:r>
            <a:r>
              <a:rPr lang="en-US" sz="1100" dirty="0" err="1"/>
              <a:t>Cuma</a:t>
            </a:r>
            <a:r>
              <a:rPr lang="en-US" sz="1100" dirty="0"/>
              <a:t>, and M. </a:t>
            </a:r>
            <a:r>
              <a:rPr lang="en-US" sz="1100" dirty="0" err="1"/>
              <a:t>Tümay</a:t>
            </a:r>
            <a:r>
              <a:rPr lang="en-US" sz="1100" dirty="0"/>
              <a:t>, "An improved and fast balancing algorithm for electric heavy commercial vehicles," </a:t>
            </a:r>
            <a:r>
              <a:rPr lang="en-US" sz="1100" i="1" dirty="0"/>
              <a:t>Journal of Energy Storage, </a:t>
            </a:r>
            <a:r>
              <a:rPr lang="nl-NL" sz="1100" dirty="0"/>
              <a:t>vol. 38, p. 102522, 2021.</a:t>
            </a:r>
          </a:p>
        </p:txBody>
      </p:sp>
    </p:spTree>
    <p:extLst>
      <p:ext uri="{BB962C8B-B14F-4D97-AF65-F5344CB8AC3E}">
        <p14:creationId xmlns:p14="http://schemas.microsoft.com/office/powerpoint/2010/main" val="151210711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3103917" y="6065484"/>
            <a:ext cx="3506089" cy="369332"/>
          </a:xfrm>
          <a:prstGeom prst="rect">
            <a:avLst/>
          </a:prstGeom>
          <a:noFill/>
        </p:spPr>
        <p:txBody>
          <a:bodyPr wrap="none" rtlCol="0">
            <a:spAutoFit/>
          </a:bodyPr>
          <a:lstStyle/>
          <a:p>
            <a:pPr algn="ctr"/>
            <a:r>
              <a:rPr lang="fa-IR" dirty="0">
                <a:latin typeface="Times New Roman" panose="02020603050405020304" pitchFamily="18" charset="0"/>
                <a:ea typeface="Calibri" panose="020F0502020204030204" pitchFamily="34" charset="0"/>
                <a:cs typeface="B Lotus" panose="00000400000000000000" pitchFamily="2" charset="-78"/>
              </a:rPr>
              <a:t>شکل 10 فلوچارت الگوریتم همسان‌سازی </a:t>
            </a:r>
            <a:r>
              <a:rPr lang="fa-IR" dirty="0">
                <a:solidFill>
                  <a:srgbClr val="61D6FF"/>
                </a:solidFill>
                <a:latin typeface="Times New Roman" panose="02020603050405020304" pitchFamily="18" charset="0"/>
                <a:cs typeface="B Lotus" panose="00000400000000000000" pitchFamily="2" charset="-78"/>
              </a:rPr>
              <a:t>[2]</a:t>
            </a:r>
            <a:r>
              <a:rPr lang="fa-IR" dirty="0">
                <a:latin typeface="Times New Roman" panose="02020603050405020304" pitchFamily="18" charset="0"/>
                <a:cs typeface="B Lotus" panose="00000400000000000000" pitchFamily="2" charset="-78"/>
              </a:rPr>
              <a:t>.</a:t>
            </a:r>
            <a:r>
              <a:rPr lang="fa-IR" dirty="0">
                <a:latin typeface="Times New Roman" panose="02020603050405020304" pitchFamily="18" charset="0"/>
                <a:ea typeface="Calibri" panose="020F0502020204030204" pitchFamily="34" charset="0"/>
                <a:cs typeface="B Lotus" panose="00000400000000000000" pitchFamily="2" charset="-78"/>
              </a:rPr>
              <a:t> </a:t>
            </a:r>
            <a:endParaRPr lang="en-US" dirty="0">
              <a:latin typeface="Times New Roman" panose="02020603050405020304" pitchFamily="18" charset="0"/>
              <a:cs typeface="B Lotus" panose="00000400000000000000" pitchFamily="2" charset="-78"/>
            </a:endParaRPr>
          </a:p>
        </p:txBody>
      </p:sp>
      <p:pic>
        <p:nvPicPr>
          <p:cNvPr id="20" name="Picture 19"/>
          <p:cNvPicPr/>
          <p:nvPr/>
        </p:nvPicPr>
        <p:blipFill>
          <a:blip r:embed="rId3">
            <a:extLst>
              <a:ext uri="{28A0092B-C50C-407E-A947-70E740481C1C}">
                <a14:useLocalDpi xmlns:a14="http://schemas.microsoft.com/office/drawing/2010/main" val="0"/>
              </a:ext>
            </a:extLst>
          </a:blip>
          <a:stretch>
            <a:fillRect/>
          </a:stretch>
        </p:blipFill>
        <p:spPr>
          <a:xfrm>
            <a:off x="855949" y="1125617"/>
            <a:ext cx="7338601" cy="4907500"/>
          </a:xfrm>
          <a:prstGeom prst="rect">
            <a:avLst/>
          </a:prstGeom>
        </p:spPr>
      </p:pic>
      <p:sp>
        <p:nvSpPr>
          <p:cNvPr id="19" name="Rounded Rectangle 175">
            <a:extLst>
              <a:ext uri="{FF2B5EF4-FFF2-40B4-BE49-F238E27FC236}">
                <a16:creationId xmlns:a16="http://schemas.microsoft.com/office/drawing/2014/main" id="{AACCE7D9-540A-47B9-8964-41031B797FDD}"/>
              </a:ext>
            </a:extLst>
          </p:cNvPr>
          <p:cNvSpPr/>
          <p:nvPr/>
        </p:nvSpPr>
        <p:spPr bwMode="auto">
          <a:xfrm>
            <a:off x="7124531" y="917675"/>
            <a:ext cx="1486069" cy="4985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مقالات اخیر</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21"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2"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3" name="Rectangle 22"/>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4" name="Rectangle 23"/>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25" name="Picture 24" descr="پرونده:Azad University logo.png - ویکی‌پدیا، دانشنامهٔ آزاد">
            <a:extLst>
              <a:ext uri="{FF2B5EF4-FFF2-40B4-BE49-F238E27FC236}">
                <a16:creationId xmlns:a16="http://schemas.microsoft.com/office/drawing/2014/main"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6" name="AutoShape 10">
            <a:extLst>
              <a:ext uri="{FF2B5EF4-FFF2-40B4-BE49-F238E27FC236}">
                <a16:creationId xmlns:a16="http://schemas.microsoft.com/office/drawing/2014/main"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7" name="Rectangle 26">
            <a:extLst>
              <a:ext uri="{FF2B5EF4-FFF2-40B4-BE49-F238E27FC236}">
                <a16:creationId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28" name="AutoShape 3">
            <a:extLst>
              <a:ext uri="{FF2B5EF4-FFF2-40B4-BE49-F238E27FC236}">
                <a16:creationId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9" name="Rectangle 28">
            <a:extLst>
              <a:ext uri="{FF2B5EF4-FFF2-40B4-BE49-F238E27FC236}">
                <a16:creationId xmlns:a16="http://schemas.microsoft.com/office/drawing/2014/main"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2" name="TextBox 31">
            <a:extLst>
              <a:ext uri="{FF2B5EF4-FFF2-40B4-BE49-F238E27FC236}">
                <a16:creationId xmlns:a16="http://schemas.microsoft.com/office/drawing/2014/main" id="{F43469DC-7F5B-471E-BD74-ED709E621F63}"/>
              </a:ext>
            </a:extLst>
          </p:cNvPr>
          <p:cNvSpPr txBox="1"/>
          <p:nvPr/>
        </p:nvSpPr>
        <p:spPr>
          <a:xfrm>
            <a:off x="64476" y="812338"/>
            <a:ext cx="6364243" cy="369332"/>
          </a:xfrm>
          <a:prstGeom prst="rect">
            <a:avLst/>
          </a:prstGeom>
          <a:noFill/>
        </p:spPr>
        <p:txBody>
          <a:bodyPr wrap="none" rtlCol="0">
            <a:spAutoFit/>
          </a:bodyPr>
          <a:lstStyle/>
          <a:p>
            <a:pPr algn="r" rtl="1" fontAlgn="base">
              <a:spcBef>
                <a:spcPct val="0"/>
              </a:spcBef>
              <a:spcAft>
                <a:spcPct val="0"/>
              </a:spcAft>
            </a:pPr>
            <a:r>
              <a:rPr lang="fa-IR" dirty="0">
                <a:cs typeface="B Lotus" panose="00000400000000000000" pitchFamily="2" charset="-78"/>
              </a:rPr>
              <a:t>الگوریتم بهبودیافته و تسریع‌کننده فرآیند همسان‌سازی متناسب خودروهای تجاری کِشنده</a:t>
            </a:r>
            <a:endParaRPr lang="en-US" b="1" dirty="0">
              <a:solidFill>
                <a:srgbClr val="000000"/>
              </a:solidFill>
              <a:latin typeface="Times New Roman" panose="02020603050405020304" pitchFamily="18" charset="0"/>
              <a:cs typeface="B Lotus" panose="00000400000000000000" pitchFamily="2" charset="-78"/>
            </a:endParaRPr>
          </a:p>
        </p:txBody>
      </p:sp>
      <p:sp>
        <p:nvSpPr>
          <p:cNvPr id="16"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35</a:t>
            </a:fld>
            <a:endParaRPr lang="fa-IR" sz="1800" dirty="0">
              <a:solidFill>
                <a:schemeClr val="tx1"/>
              </a:solidFill>
              <a:cs typeface="B Lotus" panose="00000400000000000000" pitchFamily="2" charset="-78"/>
            </a:endParaRPr>
          </a:p>
        </p:txBody>
      </p:sp>
      <p:sp>
        <p:nvSpPr>
          <p:cNvPr id="17" name="Rectangle 16"/>
          <p:cNvSpPr/>
          <p:nvPr/>
        </p:nvSpPr>
        <p:spPr>
          <a:xfrm>
            <a:off x="418672" y="6427113"/>
            <a:ext cx="8725328" cy="430887"/>
          </a:xfrm>
          <a:prstGeom prst="rect">
            <a:avLst/>
          </a:prstGeom>
        </p:spPr>
        <p:txBody>
          <a:bodyPr wrap="square">
            <a:spAutoFit/>
          </a:bodyPr>
          <a:lstStyle/>
          <a:p>
            <a:pPr algn="ctr"/>
            <a:r>
              <a:rPr lang="en-US" sz="1100" dirty="0"/>
              <a:t>[2]	B. </a:t>
            </a:r>
            <a:r>
              <a:rPr lang="en-US" sz="1100" dirty="0" err="1"/>
              <a:t>Erdoğan</a:t>
            </a:r>
            <a:r>
              <a:rPr lang="en-US" sz="1100" dirty="0"/>
              <a:t>, M. M. </a:t>
            </a:r>
            <a:r>
              <a:rPr lang="en-US" sz="1100" dirty="0" err="1"/>
              <a:t>Savrun</a:t>
            </a:r>
            <a:r>
              <a:rPr lang="en-US" sz="1100" dirty="0"/>
              <a:t>, T. </a:t>
            </a:r>
            <a:r>
              <a:rPr lang="en-US" sz="1100" dirty="0" err="1"/>
              <a:t>Köroğlu</a:t>
            </a:r>
            <a:r>
              <a:rPr lang="en-US" sz="1100" dirty="0"/>
              <a:t>, M. U. </a:t>
            </a:r>
            <a:r>
              <a:rPr lang="en-US" sz="1100" dirty="0" err="1"/>
              <a:t>Cuma</a:t>
            </a:r>
            <a:r>
              <a:rPr lang="en-US" sz="1100" dirty="0"/>
              <a:t>, and M. </a:t>
            </a:r>
            <a:r>
              <a:rPr lang="en-US" sz="1100" dirty="0" err="1"/>
              <a:t>Tümay</a:t>
            </a:r>
            <a:r>
              <a:rPr lang="en-US" sz="1100" dirty="0"/>
              <a:t>, "An improved and fast balancing algorithm for electric heavy commercial vehicles," </a:t>
            </a:r>
            <a:r>
              <a:rPr lang="en-US" sz="1100" i="1" dirty="0"/>
              <a:t>Journal of Energy Storage, </a:t>
            </a:r>
            <a:r>
              <a:rPr lang="nl-NL" sz="1100" dirty="0"/>
              <a:t>vol. 38, p. 102522, 2021.</a:t>
            </a:r>
          </a:p>
        </p:txBody>
      </p:sp>
    </p:spTree>
    <p:extLst>
      <p:ext uri="{BB962C8B-B14F-4D97-AF65-F5344CB8AC3E}">
        <p14:creationId xmlns:p14="http://schemas.microsoft.com/office/powerpoint/2010/main" val="130079219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Rounded Rectangle 175">
            <a:extLst>
              <a:ext uri="{FF2B5EF4-FFF2-40B4-BE49-F238E27FC236}">
                <a16:creationId xmlns:a16="http://schemas.microsoft.com/office/drawing/2014/main" id="{AACCE7D9-540A-47B9-8964-41031B797FDD}"/>
              </a:ext>
            </a:extLst>
          </p:cNvPr>
          <p:cNvSpPr/>
          <p:nvPr/>
        </p:nvSpPr>
        <p:spPr bwMode="auto">
          <a:xfrm>
            <a:off x="6858000" y="971946"/>
            <a:ext cx="23890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fontAlgn="base">
              <a:spcBef>
                <a:spcPct val="0"/>
              </a:spcBef>
              <a:spcAft>
                <a:spcPct val="0"/>
              </a:spcAft>
              <a:defRPr/>
            </a:pPr>
            <a:r>
              <a:rPr lang="fa-IR" sz="2200" b="1" kern="0" dirty="0">
                <a:solidFill>
                  <a:srgbClr val="FFFFFF"/>
                </a:solidFill>
                <a:latin typeface="Times New Roman" panose="02020603050405020304" pitchFamily="18" charset="0"/>
                <a:cs typeface="B Nazanin" pitchFamily="2" charset="-78"/>
              </a:rPr>
              <a:t>سیستم مدیریت باتری</a:t>
            </a:r>
          </a:p>
        </p:txBody>
      </p:sp>
      <p:pic>
        <p:nvPicPr>
          <p:cNvPr id="18" name="Picture 17"/>
          <p:cNvPicPr/>
          <p:nvPr/>
        </p:nvPicPr>
        <p:blipFill>
          <a:blip r:embed="rId3">
            <a:extLst>
              <a:ext uri="{28A0092B-C50C-407E-A947-70E740481C1C}">
                <a14:useLocalDpi xmlns:a14="http://schemas.microsoft.com/office/drawing/2010/main" val="0"/>
              </a:ext>
            </a:extLst>
          </a:blip>
          <a:stretch>
            <a:fillRect/>
          </a:stretch>
        </p:blipFill>
        <p:spPr>
          <a:xfrm>
            <a:off x="838200" y="1680852"/>
            <a:ext cx="7586768" cy="4246254"/>
          </a:xfrm>
          <a:prstGeom prst="rect">
            <a:avLst/>
          </a:prstGeom>
        </p:spPr>
      </p:pic>
      <p:graphicFrame>
        <p:nvGraphicFramePr>
          <p:cNvPr id="6" name="Table 5">
            <a:extLst>
              <a:ext uri="{FF2B5EF4-FFF2-40B4-BE49-F238E27FC236}">
                <a16:creationId xmlns:a16="http://schemas.microsoft.com/office/drawing/2014/main" id="{834D9C4B-67EB-4E28-830F-6F5F8E2ADB87}"/>
              </a:ext>
            </a:extLst>
          </p:cNvPr>
          <p:cNvGraphicFramePr>
            <a:graphicFrameLocks noGrp="1"/>
          </p:cNvGraphicFramePr>
          <p:nvPr>
            <p:extLst>
              <p:ext uri="{D42A27DB-BD31-4B8C-83A1-F6EECF244321}">
                <p14:modId xmlns:p14="http://schemas.microsoft.com/office/powerpoint/2010/main" val="832894626"/>
              </p:ext>
            </p:extLst>
          </p:nvPr>
        </p:nvGraphicFramePr>
        <p:xfrm>
          <a:off x="1219988" y="6189772"/>
          <a:ext cx="5937250" cy="274320"/>
        </p:xfrm>
        <a:graphic>
          <a:graphicData uri="http://schemas.openxmlformats.org/drawingml/2006/table">
            <a:tbl>
              <a:tblPr rtl="1" firstRow="1" firstCol="1" bandRow="1"/>
              <a:tblGrid>
                <a:gridCol w="5937250">
                  <a:extLst>
                    <a:ext uri="{9D8B030D-6E8A-4147-A177-3AD203B41FA5}">
                      <a16:colId xmlns:a16="http://schemas.microsoft.com/office/drawing/2014/main" val="2809807785"/>
                    </a:ext>
                  </a:extLst>
                </a:gridCol>
              </a:tblGrid>
              <a:tr h="0">
                <a:tc>
                  <a:txBody>
                    <a:bodyPr/>
                    <a:lstStyle/>
                    <a:p>
                      <a:pPr marL="0" marR="0" algn="ctr" rtl="1">
                        <a:spcBef>
                          <a:spcPts val="600"/>
                        </a:spcBef>
                        <a:spcAft>
                          <a:spcPts val="600"/>
                        </a:spcAft>
                      </a:pPr>
                      <a:r>
                        <a:rPr lang="fa-IR" sz="1800" i="0" dirty="0">
                          <a:effectLst/>
                          <a:latin typeface="Times New Roman" panose="02020603050405020304" pitchFamily="18" charset="0"/>
                          <a:ea typeface="Calibri" panose="020F0502020204030204" pitchFamily="34" charset="0"/>
                          <a:cs typeface="B Lotus" panose="00000400000000000000" pitchFamily="2" charset="-78"/>
                        </a:rPr>
                        <a:t> شکل</a:t>
                      </a:r>
                      <a:r>
                        <a:rPr lang="fa-IR" sz="1800" i="0" baseline="0" dirty="0">
                          <a:effectLst/>
                          <a:latin typeface="Times New Roman" panose="02020603050405020304" pitchFamily="18" charset="0"/>
                          <a:ea typeface="Calibri" panose="020F0502020204030204" pitchFamily="34" charset="0"/>
                          <a:cs typeface="B Lotus" panose="00000400000000000000" pitchFamily="2" charset="-78"/>
                        </a:rPr>
                        <a:t> 2 </a:t>
                      </a:r>
                      <a:r>
                        <a:rPr lang="fa-IR" sz="1800" i="0" dirty="0">
                          <a:effectLst/>
                          <a:latin typeface="Times New Roman" panose="02020603050405020304" pitchFamily="18" charset="0"/>
                          <a:ea typeface="Calibri" panose="020F0502020204030204" pitchFamily="34" charset="0"/>
                          <a:cs typeface="B Lotus" panose="00000400000000000000" pitchFamily="2" charset="-78"/>
                        </a:rPr>
                        <a:t>نمایی </a:t>
                      </a:r>
                      <a:r>
                        <a:rPr lang="fa-IR" sz="1800" i="0" dirty="0">
                          <a:solidFill>
                            <a:srgbClr val="000000"/>
                          </a:solidFill>
                          <a:effectLst/>
                          <a:latin typeface="Times New Roman" panose="02020603050405020304" pitchFamily="18" charset="0"/>
                          <a:ea typeface="Calibri" panose="020F0502020204030204" pitchFamily="34" charset="0"/>
                          <a:cs typeface="B Lotus" panose="00000400000000000000" pitchFamily="2" charset="-78"/>
                        </a:rPr>
                        <a:t>کلی</a:t>
                      </a:r>
                      <a:r>
                        <a:rPr lang="fa-IR" sz="1800" i="0" dirty="0">
                          <a:effectLst/>
                          <a:latin typeface="Times New Roman" panose="02020603050405020304" pitchFamily="18" charset="0"/>
                          <a:ea typeface="Calibri" panose="020F0502020204030204" pitchFamily="34" charset="0"/>
                          <a:cs typeface="B Lotus" panose="00000400000000000000" pitchFamily="2" charset="-78"/>
                        </a:rPr>
                        <a:t> از یک سیستم مدیریت باتری</a:t>
                      </a:r>
                      <a:r>
                        <a:rPr lang="fa-IR" sz="1800" b="0" i="0" u="none" baseline="0" dirty="0">
                          <a:solidFill>
                            <a:srgbClr val="B9EDFF"/>
                          </a:solidFill>
                          <a:effectLst/>
                          <a:latin typeface="Times New Roman" panose="02020603050405020304" pitchFamily="18" charset="0"/>
                          <a:ea typeface="Calibri" panose="020F0502020204030204" pitchFamily="34" charset="0"/>
                          <a:cs typeface="B Lotus" panose="00000400000000000000" pitchFamily="2" charset="-78"/>
                        </a:rPr>
                        <a:t>[1]</a:t>
                      </a:r>
                      <a:r>
                        <a:rPr lang="fa-IR" sz="1800" i="0" dirty="0">
                          <a:effectLst/>
                          <a:latin typeface="Times New Roman" panose="02020603050405020304" pitchFamily="18" charset="0"/>
                          <a:ea typeface="Calibri" panose="020F0502020204030204" pitchFamily="34" charset="0"/>
                          <a:cs typeface="B Lotus" panose="00000400000000000000" pitchFamily="2" charset="-78"/>
                        </a:rPr>
                        <a:t>.</a:t>
                      </a:r>
                      <a:endParaRPr lang="en-US" sz="16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a:noFill/>
                    </a:lnL>
                    <a:lnR>
                      <a:noFill/>
                    </a:lnR>
                    <a:lnT>
                      <a:noFill/>
                    </a:lnT>
                    <a:lnB>
                      <a:noFill/>
                    </a:lnB>
                  </a:tcPr>
                </a:tc>
                <a:extLst>
                  <a:ext uri="{0D108BD9-81ED-4DB2-BD59-A6C34878D82A}">
                    <a16:rowId xmlns:a16="http://schemas.microsoft.com/office/drawing/2014/main" val="3545091448"/>
                  </a:ext>
                </a:extLst>
              </a:tr>
            </a:tbl>
          </a:graphicData>
        </a:graphic>
      </p:graphicFrame>
      <p:sp>
        <p:nvSpPr>
          <p:cNvPr id="19" name="AutoShape 12" descr="5 Things That Affect Your Charging Speed | EVgo">
            <a:extLst>
              <a:ext uri="{FF2B5EF4-FFF2-40B4-BE49-F238E27FC236}">
                <a16:creationId xmlns:a16="http://schemas.microsoft.com/office/drawing/2014/main" id="{9FC30CD2-AA30-4A93-A17A-37F04B64613B}"/>
              </a:ext>
            </a:extLst>
          </p:cNvPr>
          <p:cNvSpPr>
            <a:spLocks noChangeAspect="1" noChangeArrowheads="1"/>
          </p:cNvSpPr>
          <p:nvPr/>
        </p:nvSpPr>
        <p:spPr bwMode="auto">
          <a:xfrm>
            <a:off x="63500" y="-13652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0" name="AutoShape 2" descr="What is the Depth of Discharge (DoD) Estimation of a Lithium Ion Battery?">
            <a:extLst>
              <a:ext uri="{FF2B5EF4-FFF2-40B4-BE49-F238E27FC236}">
                <a16:creationId xmlns:a16="http://schemas.microsoft.com/office/drawing/2014/main" id="{DCC75CF4-D017-47DB-A4EA-EF5A00FE0AA3}"/>
              </a:ext>
            </a:extLst>
          </p:cNvPr>
          <p:cNvSpPr>
            <a:spLocks noChangeAspect="1" noChangeArrowheads="1"/>
          </p:cNvSpPr>
          <p:nvPr/>
        </p:nvSpPr>
        <p:spPr bwMode="auto">
          <a:xfrm>
            <a:off x="215900" y="1587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1" name="AutoShape 10">
            <a:extLst>
              <a:ext uri="{FF2B5EF4-FFF2-40B4-BE49-F238E27FC236}">
                <a16:creationId xmlns:a16="http://schemas.microsoft.com/office/drawing/2014/main" id="{877B21A1-48F2-45D3-A3C9-699CED3D286E}"/>
              </a:ext>
            </a:extLst>
          </p:cNvPr>
          <p:cNvSpPr>
            <a:spLocks noChangeArrowheads="1"/>
          </p:cNvSpPr>
          <p:nvPr/>
        </p:nvSpPr>
        <p:spPr bwMode="gray">
          <a:xfrm flipH="1">
            <a:off x="6244699" y="57140"/>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2" name="AutoShape 3">
            <a:extLst>
              <a:ext uri="{FF2B5EF4-FFF2-40B4-BE49-F238E27FC236}">
                <a16:creationId xmlns:a16="http://schemas.microsoft.com/office/drawing/2014/main" id="{B6220E46-BF40-46E0-B229-3EF4520FD5C6}"/>
              </a:ext>
            </a:extLst>
          </p:cNvPr>
          <p:cNvSpPr>
            <a:spLocks noChangeArrowheads="1"/>
          </p:cNvSpPr>
          <p:nvPr/>
        </p:nvSpPr>
        <p:spPr bwMode="gray">
          <a:xfrm flipH="1">
            <a:off x="4188613" y="57140"/>
            <a:ext cx="2056086"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3" name="AutoShape 3">
            <a:extLst>
              <a:ext uri="{FF2B5EF4-FFF2-40B4-BE49-F238E27FC236}">
                <a16:creationId xmlns:a16="http://schemas.microsoft.com/office/drawing/2014/main" id="{D99647C8-E5C1-49E3-8C3B-4552D824EA8C}"/>
              </a:ext>
            </a:extLst>
          </p:cNvPr>
          <p:cNvSpPr>
            <a:spLocks noChangeArrowheads="1"/>
          </p:cNvSpPr>
          <p:nvPr/>
        </p:nvSpPr>
        <p:spPr bwMode="gray">
          <a:xfrm flipH="1">
            <a:off x="2132529" y="57140"/>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4" name="AutoShape 3">
            <a:extLst>
              <a:ext uri="{FF2B5EF4-FFF2-40B4-BE49-F238E27FC236}">
                <a16:creationId xmlns:a16="http://schemas.microsoft.com/office/drawing/2014/main" id="{EFC9E916-0EF8-4213-85C7-2E628E5884E9}"/>
              </a:ext>
            </a:extLst>
          </p:cNvPr>
          <p:cNvSpPr>
            <a:spLocks noChangeArrowheads="1"/>
          </p:cNvSpPr>
          <p:nvPr/>
        </p:nvSpPr>
        <p:spPr bwMode="gray">
          <a:xfrm flipH="1">
            <a:off x="161662" y="57140"/>
            <a:ext cx="1970868"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5" name="Rectangle 24">
            <a:extLst>
              <a:ext uri="{FF2B5EF4-FFF2-40B4-BE49-F238E27FC236}">
                <a16:creationId xmlns:a16="http://schemas.microsoft.com/office/drawing/2014/main" id="{B6584EB5-4B22-4F76-A5E1-6A1187A9B490}"/>
              </a:ext>
            </a:extLst>
          </p:cNvPr>
          <p:cNvSpPr/>
          <p:nvPr/>
        </p:nvSpPr>
        <p:spPr>
          <a:xfrm>
            <a:off x="431672" y="189466"/>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6" name="Rectangle 25">
            <a:extLst>
              <a:ext uri="{FF2B5EF4-FFF2-40B4-BE49-F238E27FC236}">
                <a16:creationId xmlns:a16="http://schemas.microsoft.com/office/drawing/2014/main" id="{A38D9D75-FD64-4480-9D82-733A3B3C3331}"/>
              </a:ext>
            </a:extLst>
          </p:cNvPr>
          <p:cNvSpPr/>
          <p:nvPr/>
        </p:nvSpPr>
        <p:spPr>
          <a:xfrm>
            <a:off x="2355191" y="66356"/>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7" name="Rectangle 26">
            <a:extLst>
              <a:ext uri="{FF2B5EF4-FFF2-40B4-BE49-F238E27FC236}">
                <a16:creationId xmlns:a16="http://schemas.microsoft.com/office/drawing/2014/main" id="{F02EBD0C-AFA0-474F-BE64-0EA60EC68E39}"/>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8" name="Rectangle 27">
            <a:extLst>
              <a:ext uri="{FF2B5EF4-FFF2-40B4-BE49-F238E27FC236}">
                <a16:creationId xmlns:a16="http://schemas.microsoft.com/office/drawing/2014/main" id="{DDDEB1DB-0ACC-4D22-95D2-8BAAFDDC801E}"/>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a:solidFill>
                  <a:srgbClr val="FFFFFF"/>
                </a:solidFill>
                <a:latin typeface="Times New Roman" panose="02020603050405020304" pitchFamily="18" charset="0"/>
                <a:cs typeface="B Nazanin" pitchFamily="2" charset="-78"/>
              </a:rPr>
              <a:t>باتری ها</a:t>
            </a:r>
            <a:endParaRPr lang="en-US" sz="1500" b="1" kern="0" dirty="0">
              <a:solidFill>
                <a:srgbClr val="FFFFFF"/>
              </a:solidFill>
              <a:latin typeface="Times New Roman" panose="02020603050405020304" pitchFamily="18" charset="0"/>
              <a:cs typeface="B Nazanin" pitchFamily="2" charset="-78"/>
            </a:endParaRPr>
          </a:p>
        </p:txBody>
      </p:sp>
      <p:pic>
        <p:nvPicPr>
          <p:cNvPr id="29" name="Picture 28" descr="پرونده:Azad University logo.png - ویکی‌پدیا، دانشنامهٔ آزاد">
            <a:extLst>
              <a:ext uri="{FF2B5EF4-FFF2-40B4-BE49-F238E27FC236}">
                <a16:creationId xmlns:a16="http://schemas.microsoft.com/office/drawing/2014/main" id="{C0B2DF2F-55E8-4FDB-99B0-0D64E013D73A}"/>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30"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36</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238317848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AutoShape 2">
            <a:extLst>
              <a:ext uri="{FF2B5EF4-FFF2-40B4-BE49-F238E27FC236}">
                <a16:creationId xmlns:a16="http://schemas.microsoft.com/office/drawing/2014/main" id="{497A908A-E454-4B9F-A07D-96505D4C7818}"/>
              </a:ext>
            </a:extLst>
          </p:cNvPr>
          <p:cNvSpPr>
            <a:spLocks noChangeAspect="1" noChangeArrowheads="1"/>
          </p:cNvSpPr>
          <p:nvPr/>
        </p:nvSpPr>
        <p:spPr bwMode="ltGray">
          <a:xfrm rot="16200000" flipH="1">
            <a:off x="6766228" y="1783192"/>
            <a:ext cx="4824413" cy="4770438"/>
          </a:xfrm>
          <a:custGeom>
            <a:avLst/>
            <a:gdLst>
              <a:gd name="G0" fmla="+- 10478 0 0"/>
              <a:gd name="G1" fmla="+- -11739500 0 0"/>
              <a:gd name="G2" fmla="+- 0 0 -11739500"/>
              <a:gd name="T0" fmla="*/ 0 256 1"/>
              <a:gd name="T1" fmla="*/ 180 256 1"/>
              <a:gd name="G3" fmla="+- -11739500 T0 T1"/>
              <a:gd name="T2" fmla="*/ 0 256 1"/>
              <a:gd name="T3" fmla="*/ 90 256 1"/>
              <a:gd name="G4" fmla="+- -11739500 T2 T3"/>
              <a:gd name="G5" fmla="*/ G4 2 1"/>
              <a:gd name="T4" fmla="*/ 90 256 1"/>
              <a:gd name="T5" fmla="*/ 0 256 1"/>
              <a:gd name="G6" fmla="+- -11739500 T4 T5"/>
              <a:gd name="G7" fmla="*/ G6 2 1"/>
              <a:gd name="G8" fmla="abs -11739500"/>
              <a:gd name="T6" fmla="*/ 0 256 1"/>
              <a:gd name="T7" fmla="*/ 90 256 1"/>
              <a:gd name="G9" fmla="+- G8 T6 T7"/>
              <a:gd name="G10" fmla="?: G9 G7 G5"/>
              <a:gd name="T8" fmla="*/ 0 256 1"/>
              <a:gd name="T9" fmla="*/ 360 256 1"/>
              <a:gd name="G11" fmla="+- G10 T8 T9"/>
              <a:gd name="G12" fmla="?: G10 G11 G10"/>
              <a:gd name="T10" fmla="*/ 0 256 1"/>
              <a:gd name="T11" fmla="*/ 360 256 1"/>
              <a:gd name="G13" fmla="+- G12 T10 T11"/>
              <a:gd name="G14" fmla="?: G12 G13 G12"/>
              <a:gd name="G15" fmla="+- 0 0 G14"/>
              <a:gd name="G16" fmla="+- 10800 0 0"/>
              <a:gd name="G17" fmla="+- 10800 0 10478"/>
              <a:gd name="G18" fmla="*/ 10478 1 2"/>
              <a:gd name="G19" fmla="+- G18 5400 0"/>
              <a:gd name="G20" fmla="cos G19 -11739500"/>
              <a:gd name="G21" fmla="sin G19 -11739500"/>
              <a:gd name="G22" fmla="+- G20 10800 0"/>
              <a:gd name="G23" fmla="+- G21 10800 0"/>
              <a:gd name="G24" fmla="+- 10800 0 G20"/>
              <a:gd name="G25" fmla="+- 10478 10800 0"/>
              <a:gd name="G26" fmla="?: G9 G17 G25"/>
              <a:gd name="G27" fmla="?: G9 0 21600"/>
              <a:gd name="G28" fmla="cos 10800 -11739500"/>
              <a:gd name="G29" fmla="sin 10800 -11739500"/>
              <a:gd name="G30" fmla="sin 10478 -11739500"/>
              <a:gd name="G31" fmla="+- G28 10800 0"/>
              <a:gd name="G32" fmla="+- G29 10800 0"/>
              <a:gd name="G33" fmla="+- G30 10800 0"/>
              <a:gd name="G34" fmla="?: G4 0 G31"/>
              <a:gd name="G35" fmla="?: -11739500 G34 0"/>
              <a:gd name="G36" fmla="?: G6 G35 G31"/>
              <a:gd name="G37" fmla="+- 21600 0 G36"/>
              <a:gd name="G38" fmla="?: G4 0 G33"/>
              <a:gd name="G39" fmla="?: -11739500 G38 G32"/>
              <a:gd name="G40" fmla="?: G6 G39 0"/>
              <a:gd name="G41" fmla="?: G4 G32 21600"/>
              <a:gd name="G42" fmla="?: G6 G41 G33"/>
              <a:gd name="T12" fmla="*/ 10800 w 21600"/>
              <a:gd name="T13" fmla="*/ 0 h 21600"/>
              <a:gd name="T14" fmla="*/ 162 w 21600"/>
              <a:gd name="T15" fmla="*/ 10638 h 21600"/>
              <a:gd name="T16" fmla="*/ 10800 w 21600"/>
              <a:gd name="T17" fmla="*/ 322 h 21600"/>
              <a:gd name="T18" fmla="*/ 21438 w 21600"/>
              <a:gd name="T19" fmla="*/ 10638 h 21600"/>
              <a:gd name="T20" fmla="*/ G36 w 21600"/>
              <a:gd name="T21" fmla="*/ G40 h 21600"/>
              <a:gd name="T22" fmla="*/ G37 w 21600"/>
              <a:gd name="T23" fmla="*/ G42 h 21600"/>
            </a:gdLst>
            <a:ahLst/>
            <a:cxnLst>
              <a:cxn ang="0">
                <a:pos x="T12" y="T13"/>
              </a:cxn>
              <a:cxn ang="0">
                <a:pos x="T14" y="T15"/>
              </a:cxn>
              <a:cxn ang="0">
                <a:pos x="T16" y="T17"/>
              </a:cxn>
              <a:cxn ang="0">
                <a:pos x="T18" y="T19"/>
              </a:cxn>
            </a:cxnLst>
            <a:rect l="T20" t="T21" r="T22" b="T23"/>
            <a:pathLst>
              <a:path w="21600" h="21600">
                <a:moveTo>
                  <a:pt x="323" y="10641"/>
                </a:moveTo>
                <a:cubicBezTo>
                  <a:pt x="410" y="4916"/>
                  <a:pt x="5075" y="321"/>
                  <a:pt x="10800" y="322"/>
                </a:cubicBezTo>
                <a:cubicBezTo>
                  <a:pt x="16524" y="322"/>
                  <a:pt x="21189" y="4916"/>
                  <a:pt x="21276" y="10641"/>
                </a:cubicBezTo>
                <a:lnTo>
                  <a:pt x="21598" y="10636"/>
                </a:lnTo>
                <a:cubicBezTo>
                  <a:pt x="21509" y="4736"/>
                  <a:pt x="16700" y="-1"/>
                  <a:pt x="10799" y="0"/>
                </a:cubicBezTo>
                <a:cubicBezTo>
                  <a:pt x="4899" y="0"/>
                  <a:pt x="90" y="4736"/>
                  <a:pt x="1" y="10636"/>
                </a:cubicBezTo>
                <a:close/>
              </a:path>
            </a:pathLst>
          </a:custGeom>
          <a:gradFill rotWithShape="0">
            <a:gsLst>
              <a:gs pos="0">
                <a:srgbClr val="B0BAD8">
                  <a:gamma/>
                  <a:tint val="45490"/>
                  <a:invGamma/>
                </a:srgbClr>
              </a:gs>
              <a:gs pos="100000">
                <a:srgbClr val="B0BAD8"/>
              </a:gs>
            </a:gsLst>
            <a:lin ang="0" scaled="1"/>
          </a:gradFill>
          <a:ln w="9525" algn="ctr">
            <a:noFill/>
            <a:miter lim="800000"/>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6" name="AutoShape 3">
            <a:extLst>
              <a:ext uri="{FF2B5EF4-FFF2-40B4-BE49-F238E27FC236}">
                <a16:creationId xmlns:a16="http://schemas.microsoft.com/office/drawing/2014/main" id="{481E592A-A902-40E8-8D57-EEB2C886C06E}"/>
              </a:ext>
            </a:extLst>
          </p:cNvPr>
          <p:cNvSpPr>
            <a:spLocks noChangeAspect="1" noChangeArrowheads="1"/>
          </p:cNvSpPr>
          <p:nvPr/>
        </p:nvSpPr>
        <p:spPr bwMode="ltGray">
          <a:xfrm rot="16200000">
            <a:off x="7127876" y="2218960"/>
            <a:ext cx="4032250" cy="3929063"/>
          </a:xfrm>
          <a:custGeom>
            <a:avLst/>
            <a:gdLst>
              <a:gd name="G0" fmla="+- 56 0 0"/>
              <a:gd name="G1" fmla="+- 11796480 0 0"/>
              <a:gd name="G2" fmla="+- 0 0 11796480"/>
              <a:gd name="T0" fmla="*/ 0 256 1"/>
              <a:gd name="T1" fmla="*/ 180 256 1"/>
              <a:gd name="G3" fmla="+- 11796480 T0 T1"/>
              <a:gd name="T2" fmla="*/ 0 256 1"/>
              <a:gd name="T3" fmla="*/ 90 256 1"/>
              <a:gd name="G4" fmla="+- 11796480 T2 T3"/>
              <a:gd name="G5" fmla="*/ G4 2 1"/>
              <a:gd name="T4" fmla="*/ 90 256 1"/>
              <a:gd name="T5" fmla="*/ 0 256 1"/>
              <a:gd name="G6" fmla="+- 11796480 T4 T5"/>
              <a:gd name="G7" fmla="*/ G6 2 1"/>
              <a:gd name="G8" fmla="abs 11796480"/>
              <a:gd name="T6" fmla="*/ 0 256 1"/>
              <a:gd name="T7" fmla="*/ 90 256 1"/>
              <a:gd name="G9" fmla="+- G8 T6 T7"/>
              <a:gd name="G10" fmla="?: G9 G7 G5"/>
              <a:gd name="T8" fmla="*/ 0 256 1"/>
              <a:gd name="T9" fmla="*/ 360 256 1"/>
              <a:gd name="G11" fmla="+- G10 T8 T9"/>
              <a:gd name="G12" fmla="?: G10 G11 G10"/>
              <a:gd name="T10" fmla="*/ 0 256 1"/>
              <a:gd name="T11" fmla="*/ 360 256 1"/>
              <a:gd name="G13" fmla="+- G12 T10 T11"/>
              <a:gd name="G14" fmla="?: G12 G13 G12"/>
              <a:gd name="G15" fmla="+- 0 0 G14"/>
              <a:gd name="G16" fmla="+- 10800 0 0"/>
              <a:gd name="G17" fmla="+- 10800 0 56"/>
              <a:gd name="G18" fmla="*/ 56 1 2"/>
              <a:gd name="G19" fmla="+- G18 5400 0"/>
              <a:gd name="G20" fmla="cos G19 11796480"/>
              <a:gd name="G21" fmla="sin G19 11796480"/>
              <a:gd name="G22" fmla="+- G20 10800 0"/>
              <a:gd name="G23" fmla="+- G21 10800 0"/>
              <a:gd name="G24" fmla="+- 10800 0 G20"/>
              <a:gd name="G25" fmla="+- 56 10800 0"/>
              <a:gd name="G26" fmla="?: G9 G17 G25"/>
              <a:gd name="G27" fmla="?: G9 0 21600"/>
              <a:gd name="G28" fmla="cos 10800 11796480"/>
              <a:gd name="G29" fmla="sin 10800 11796480"/>
              <a:gd name="G30" fmla="sin 56 11796480"/>
              <a:gd name="G31" fmla="+- G28 10800 0"/>
              <a:gd name="G32" fmla="+- G29 10800 0"/>
              <a:gd name="G33" fmla="+- G30 10800 0"/>
              <a:gd name="G34" fmla="?: G4 0 G31"/>
              <a:gd name="G35" fmla="?: 11796480 G34 0"/>
              <a:gd name="G36" fmla="?: G6 G35 G31"/>
              <a:gd name="G37" fmla="+- 21600 0 G36"/>
              <a:gd name="G38" fmla="?: G4 0 G33"/>
              <a:gd name="G39" fmla="?: 11796480 G38 G32"/>
              <a:gd name="G40" fmla="?: G6 G39 0"/>
              <a:gd name="G41" fmla="?: G4 G32 21600"/>
              <a:gd name="G42" fmla="?: G6 G41 G33"/>
              <a:gd name="T12" fmla="*/ 10800 w 21600"/>
              <a:gd name="T13" fmla="*/ 0 h 21600"/>
              <a:gd name="T14" fmla="*/ 5372 w 21600"/>
              <a:gd name="T15" fmla="*/ 10800 h 21600"/>
              <a:gd name="T16" fmla="*/ 10800 w 21600"/>
              <a:gd name="T17" fmla="*/ 10744 h 21600"/>
              <a:gd name="T18" fmla="*/ 16228 w 21600"/>
              <a:gd name="T19" fmla="*/ 10800 h 21600"/>
              <a:gd name="T20" fmla="*/ G36 w 21600"/>
              <a:gd name="T21" fmla="*/ G40 h 21600"/>
              <a:gd name="T22" fmla="*/ G37 w 21600"/>
              <a:gd name="T23" fmla="*/ G42 h 21600"/>
            </a:gdLst>
            <a:ahLst/>
            <a:cxnLst>
              <a:cxn ang="0">
                <a:pos x="T12" y="T13"/>
              </a:cxn>
              <a:cxn ang="0">
                <a:pos x="T14" y="T15"/>
              </a:cxn>
              <a:cxn ang="0">
                <a:pos x="T16" y="T17"/>
              </a:cxn>
              <a:cxn ang="0">
                <a:pos x="T18" y="T19"/>
              </a:cxn>
            </a:cxnLst>
            <a:rect l="T20" t="T21" r="T22" b="T23"/>
            <a:pathLst>
              <a:path w="21600" h="21600">
                <a:moveTo>
                  <a:pt x="10744" y="10800"/>
                </a:moveTo>
                <a:cubicBezTo>
                  <a:pt x="10744" y="10769"/>
                  <a:pt x="10769" y="10744"/>
                  <a:pt x="10800" y="10744"/>
                </a:cubicBezTo>
                <a:cubicBezTo>
                  <a:pt x="10830" y="10743"/>
                  <a:pt x="10855" y="10769"/>
                  <a:pt x="10856" y="10799"/>
                </a:cubicBezTo>
                <a:lnTo>
                  <a:pt x="21600" y="10800"/>
                </a:lnTo>
                <a:cubicBezTo>
                  <a:pt x="21600" y="4835"/>
                  <a:pt x="16764" y="0"/>
                  <a:pt x="10800" y="0"/>
                </a:cubicBezTo>
                <a:cubicBezTo>
                  <a:pt x="4835" y="0"/>
                  <a:pt x="0" y="4835"/>
                  <a:pt x="0" y="10800"/>
                </a:cubicBezTo>
                <a:close/>
              </a:path>
            </a:pathLst>
          </a:custGeom>
          <a:gradFill rotWithShape="0">
            <a:gsLst>
              <a:gs pos="0">
                <a:srgbClr val="B8CCFE">
                  <a:gamma/>
                  <a:tint val="39216"/>
                  <a:invGamma/>
                </a:srgbClr>
              </a:gs>
              <a:gs pos="100000">
                <a:srgbClr val="B8CCFE"/>
              </a:gs>
            </a:gsLst>
            <a:lin ang="0" scaled="1"/>
          </a:gradFill>
          <a:ln w="0" algn="ctr">
            <a:noFill/>
            <a:miter lim="800000"/>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pic>
        <p:nvPicPr>
          <p:cNvPr id="30" name="Picture 29" descr="پرونده:Azad University logo.png - ویکی‌پدیا، دانشنامهٔ آزاد">
            <a:extLst>
              <a:ext uri="{FF2B5EF4-FFF2-40B4-BE49-F238E27FC236}">
                <a16:creationId xmlns:a16="http://schemas.microsoft.com/office/drawing/2014/main" id="{B260B773-F2C5-485B-BA12-93452E166218}"/>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31" name="Rounded Rectangle 175">
            <a:extLst>
              <a:ext uri="{FF2B5EF4-FFF2-40B4-BE49-F238E27FC236}">
                <a16:creationId xmlns:a16="http://schemas.microsoft.com/office/drawing/2014/main" id="{AACCE7D9-540A-47B9-8964-41031B797FDD}"/>
              </a:ext>
            </a:extLst>
          </p:cNvPr>
          <p:cNvSpPr/>
          <p:nvPr/>
        </p:nvSpPr>
        <p:spPr bwMode="auto">
          <a:xfrm>
            <a:off x="4953000" y="1227144"/>
            <a:ext cx="3429000" cy="533400"/>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147" name="TextBox 146">
            <a:extLst>
              <a:ext uri="{FF2B5EF4-FFF2-40B4-BE49-F238E27FC236}">
                <a16:creationId xmlns:a16="http://schemas.microsoft.com/office/drawing/2014/main" id="{F43469DC-7F5B-471E-BD74-ED709E621F63}"/>
              </a:ext>
            </a:extLst>
          </p:cNvPr>
          <p:cNvSpPr txBox="1"/>
          <p:nvPr/>
        </p:nvSpPr>
        <p:spPr>
          <a:xfrm>
            <a:off x="5344567" y="2092656"/>
            <a:ext cx="2186817" cy="369332"/>
          </a:xfrm>
          <a:prstGeom prst="rect">
            <a:avLst/>
          </a:prstGeom>
          <a:noFill/>
        </p:spPr>
        <p:txBody>
          <a:bodyPr wrap="none" rtlCol="0">
            <a:spAutoFit/>
          </a:bodyPr>
          <a:lstStyle/>
          <a:p>
            <a:pPr algn="r" rtl="1"/>
            <a:r>
              <a:rPr lang="fa-IR" b="1" dirty="0">
                <a:cs typeface="B Nazanin" panose="00000400000000000000" pitchFamily="2" charset="-78"/>
              </a:rPr>
              <a:t>متغیر های همسان سازی</a:t>
            </a:r>
          </a:p>
        </p:txBody>
      </p:sp>
      <p:sp>
        <p:nvSpPr>
          <p:cNvPr id="148" name="AutoShape 8">
            <a:extLst>
              <a:ext uri="{FF2B5EF4-FFF2-40B4-BE49-F238E27FC236}">
                <a16:creationId xmlns:a16="http://schemas.microsoft.com/office/drawing/2014/main" id="{FF901E6E-4D39-4565-9B46-60C2C5B1D5F6}"/>
              </a:ext>
            </a:extLst>
          </p:cNvPr>
          <p:cNvSpPr>
            <a:spLocks noChangeAspect="1" noChangeArrowheads="1"/>
          </p:cNvSpPr>
          <p:nvPr/>
        </p:nvSpPr>
        <p:spPr bwMode="gray">
          <a:xfrm>
            <a:off x="3142755" y="2716256"/>
            <a:ext cx="392906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cs typeface="B Nazanin" panose="00000400000000000000" pitchFamily="2" charset="-78"/>
              </a:rPr>
              <a:t>مبتنی بر ولتاژ</a:t>
            </a:r>
            <a:endParaRPr lang="en-US" b="1" dirty="0">
              <a:solidFill>
                <a:srgbClr val="000000"/>
              </a:solidFill>
              <a:latin typeface="Times New Roman" panose="02020603050405020304" pitchFamily="18" charset="0"/>
              <a:cs typeface="B Nazanin" pitchFamily="2" charset="-78"/>
            </a:endParaRPr>
          </a:p>
        </p:txBody>
      </p:sp>
      <p:grpSp>
        <p:nvGrpSpPr>
          <p:cNvPr id="149" name="Group 23">
            <a:extLst>
              <a:ext uri="{FF2B5EF4-FFF2-40B4-BE49-F238E27FC236}">
                <a16:creationId xmlns:a16="http://schemas.microsoft.com/office/drawing/2014/main" id="{978D1582-1549-4D37-9C95-34020E281F7D}"/>
              </a:ext>
            </a:extLst>
          </p:cNvPr>
          <p:cNvGrpSpPr>
            <a:grpSpLocks noChangeAspect="1"/>
          </p:cNvGrpSpPr>
          <p:nvPr/>
        </p:nvGrpSpPr>
        <p:grpSpPr bwMode="auto">
          <a:xfrm>
            <a:off x="7028955" y="2792456"/>
            <a:ext cx="381000" cy="381000"/>
            <a:chOff x="2078" y="1680"/>
            <a:chExt cx="1615" cy="1615"/>
          </a:xfrm>
        </p:grpSpPr>
        <p:sp>
          <p:nvSpPr>
            <p:cNvPr id="150" name="Oval 24">
              <a:extLst>
                <a:ext uri="{FF2B5EF4-FFF2-40B4-BE49-F238E27FC236}">
                  <a16:creationId xmlns:a16="http://schemas.microsoft.com/office/drawing/2014/main" id="{394744AB-69AD-4039-A10B-0D8E0439243B}"/>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51" name="Oval 25">
              <a:extLst>
                <a:ext uri="{FF2B5EF4-FFF2-40B4-BE49-F238E27FC236}">
                  <a16:creationId xmlns:a16="http://schemas.microsoft.com/office/drawing/2014/main" id="{154704C5-3C92-4C99-8D43-D388A6C5B289}"/>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52" name="Oval 26">
              <a:extLst>
                <a:ext uri="{FF2B5EF4-FFF2-40B4-BE49-F238E27FC236}">
                  <a16:creationId xmlns:a16="http://schemas.microsoft.com/office/drawing/2014/main" id="{04F66D2C-385D-4CBC-8E8F-3E3A912DFC98}"/>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53" name="Oval 27">
              <a:extLst>
                <a:ext uri="{FF2B5EF4-FFF2-40B4-BE49-F238E27FC236}">
                  <a16:creationId xmlns:a16="http://schemas.microsoft.com/office/drawing/2014/main" id="{EA27390D-90C7-4FEF-9F37-D35FD2EA7723}"/>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54" name="Oval 28">
              <a:extLst>
                <a:ext uri="{FF2B5EF4-FFF2-40B4-BE49-F238E27FC236}">
                  <a16:creationId xmlns:a16="http://schemas.microsoft.com/office/drawing/2014/main" id="{5C9AFE92-58F0-4BF1-8021-7EEAC92E3206}"/>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55" name="Oval 29">
              <a:extLst>
                <a:ext uri="{FF2B5EF4-FFF2-40B4-BE49-F238E27FC236}">
                  <a16:creationId xmlns:a16="http://schemas.microsoft.com/office/drawing/2014/main" id="{1B81B5B2-AD7F-472D-BBE8-64F0040E5D5F}"/>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156" name="TextBox 155">
            <a:extLst>
              <a:ext uri="{FF2B5EF4-FFF2-40B4-BE49-F238E27FC236}">
                <a16:creationId xmlns:a16="http://schemas.microsoft.com/office/drawing/2014/main" id="{90C43403-B77E-474E-A638-C5BD6540DB40}"/>
              </a:ext>
            </a:extLst>
          </p:cNvPr>
          <p:cNvSpPr txBox="1"/>
          <p:nvPr/>
        </p:nvSpPr>
        <p:spPr>
          <a:xfrm>
            <a:off x="2992949" y="3109915"/>
            <a:ext cx="65" cy="276999"/>
          </a:xfrm>
          <a:prstGeom prst="rect">
            <a:avLst/>
          </a:prstGeom>
          <a:noFill/>
        </p:spPr>
        <p:txBody>
          <a:bodyPr wrap="none" lIns="0" tIns="0" rIns="0" bIns="0" rtlCol="0">
            <a:spAutoFit/>
          </a:bodyPr>
          <a:lstStyle/>
          <a:p>
            <a:endParaRPr lang="en-US" dirty="0"/>
          </a:p>
        </p:txBody>
      </p:sp>
      <p:sp>
        <p:nvSpPr>
          <p:cNvPr id="157" name="AutoShape 8">
            <a:extLst>
              <a:ext uri="{FF2B5EF4-FFF2-40B4-BE49-F238E27FC236}">
                <a16:creationId xmlns:a16="http://schemas.microsoft.com/office/drawing/2014/main" id="{B5862EDC-452E-4DF3-BF8D-680DE0577504}"/>
              </a:ext>
            </a:extLst>
          </p:cNvPr>
          <p:cNvSpPr>
            <a:spLocks noChangeAspect="1" noChangeArrowheads="1"/>
          </p:cNvSpPr>
          <p:nvPr/>
        </p:nvSpPr>
        <p:spPr bwMode="gray">
          <a:xfrm>
            <a:off x="2819444" y="4041816"/>
            <a:ext cx="392906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solidFill>
                  <a:srgbClr val="000000"/>
                </a:solidFill>
                <a:latin typeface="Times New Roman" panose="02020603050405020304" pitchFamily="18" charset="0"/>
                <a:cs typeface="B Nazanin" pitchFamily="2" charset="-78"/>
              </a:rPr>
              <a:t>مبتنی بر وضعیت </a:t>
            </a:r>
            <a:r>
              <a:rPr lang="fa-IR" b="1" dirty="0" err="1">
                <a:solidFill>
                  <a:srgbClr val="000000"/>
                </a:solidFill>
                <a:latin typeface="Times New Roman" panose="02020603050405020304" pitchFamily="18" charset="0"/>
                <a:cs typeface="B Nazanin" pitchFamily="2" charset="-78"/>
              </a:rPr>
              <a:t>شارژ</a:t>
            </a:r>
            <a:r>
              <a:rPr lang="fa-IR" b="1" dirty="0">
                <a:solidFill>
                  <a:srgbClr val="000000"/>
                </a:solidFill>
                <a:latin typeface="Times New Roman" panose="02020603050405020304" pitchFamily="18" charset="0"/>
                <a:cs typeface="B Nazanin" pitchFamily="2" charset="-78"/>
              </a:rPr>
              <a:t> (</a:t>
            </a:r>
            <a:r>
              <a:rPr lang="en-US" b="1" dirty="0">
                <a:solidFill>
                  <a:srgbClr val="000000"/>
                </a:solidFill>
                <a:latin typeface="Times New Roman" panose="02020603050405020304" pitchFamily="18" charset="0"/>
                <a:cs typeface="B Nazanin" pitchFamily="2" charset="-78"/>
              </a:rPr>
              <a:t>SOC</a:t>
            </a:r>
            <a:r>
              <a:rPr lang="fa-IR" b="1" dirty="0">
                <a:solidFill>
                  <a:srgbClr val="000000"/>
                </a:solidFill>
                <a:latin typeface="Times New Roman" panose="02020603050405020304" pitchFamily="18" charset="0"/>
                <a:cs typeface="B Nazanin" pitchFamily="2" charset="-78"/>
              </a:rPr>
              <a:t>)</a:t>
            </a:r>
            <a:endParaRPr lang="en-US" b="1" dirty="0">
              <a:solidFill>
                <a:srgbClr val="000000"/>
              </a:solidFill>
              <a:latin typeface="Times New Roman" panose="02020603050405020304" pitchFamily="18" charset="0"/>
              <a:cs typeface="B Nazanin" pitchFamily="2" charset="-78"/>
            </a:endParaRPr>
          </a:p>
        </p:txBody>
      </p:sp>
      <p:sp>
        <p:nvSpPr>
          <p:cNvPr id="158" name="AutoShape 8">
            <a:extLst>
              <a:ext uri="{FF2B5EF4-FFF2-40B4-BE49-F238E27FC236}">
                <a16:creationId xmlns:a16="http://schemas.microsoft.com/office/drawing/2014/main" id="{3B3A499C-E5A4-4F32-9CCC-AD714CA7AEF7}"/>
              </a:ext>
            </a:extLst>
          </p:cNvPr>
          <p:cNvSpPr>
            <a:spLocks noChangeAspect="1" noChangeArrowheads="1"/>
          </p:cNvSpPr>
          <p:nvPr/>
        </p:nvSpPr>
        <p:spPr bwMode="gray">
          <a:xfrm>
            <a:off x="3216550" y="5367376"/>
            <a:ext cx="392906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solidFill>
                  <a:srgbClr val="000000"/>
                </a:solidFill>
                <a:latin typeface="Times New Roman" panose="02020603050405020304" pitchFamily="18" charset="0"/>
                <a:cs typeface="B Nazanin" pitchFamily="2" charset="-78"/>
              </a:rPr>
              <a:t>مبتنی بر ظرفیت باقی مانده </a:t>
            </a:r>
            <a:endParaRPr lang="en-US" b="1" dirty="0">
              <a:solidFill>
                <a:srgbClr val="000000"/>
              </a:solidFill>
              <a:latin typeface="Times New Roman" panose="02020603050405020304" pitchFamily="18" charset="0"/>
              <a:cs typeface="B Nazanin" pitchFamily="2" charset="-78"/>
            </a:endParaRPr>
          </a:p>
        </p:txBody>
      </p:sp>
      <p:grpSp>
        <p:nvGrpSpPr>
          <p:cNvPr id="168" name="Group 23">
            <a:extLst>
              <a:ext uri="{FF2B5EF4-FFF2-40B4-BE49-F238E27FC236}">
                <a16:creationId xmlns:a16="http://schemas.microsoft.com/office/drawing/2014/main" id="{480CFC9E-AE3C-48F6-BC4D-4934E415B67E}"/>
              </a:ext>
            </a:extLst>
          </p:cNvPr>
          <p:cNvGrpSpPr>
            <a:grpSpLocks noChangeAspect="1"/>
          </p:cNvGrpSpPr>
          <p:nvPr/>
        </p:nvGrpSpPr>
        <p:grpSpPr bwMode="auto">
          <a:xfrm>
            <a:off x="6644181" y="4105317"/>
            <a:ext cx="381000" cy="381000"/>
            <a:chOff x="2078" y="1680"/>
            <a:chExt cx="1615" cy="1615"/>
          </a:xfrm>
        </p:grpSpPr>
        <p:sp>
          <p:nvSpPr>
            <p:cNvPr id="169" name="Oval 24">
              <a:extLst>
                <a:ext uri="{FF2B5EF4-FFF2-40B4-BE49-F238E27FC236}">
                  <a16:creationId xmlns:a16="http://schemas.microsoft.com/office/drawing/2014/main" id="{CACFC30A-9877-4806-9B4C-587ACE150345}"/>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0" name="Oval 25">
              <a:extLst>
                <a:ext uri="{FF2B5EF4-FFF2-40B4-BE49-F238E27FC236}">
                  <a16:creationId xmlns:a16="http://schemas.microsoft.com/office/drawing/2014/main" id="{640C1602-143A-456B-BA22-7664A3DEFFCF}"/>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1" name="Oval 26">
              <a:extLst>
                <a:ext uri="{FF2B5EF4-FFF2-40B4-BE49-F238E27FC236}">
                  <a16:creationId xmlns:a16="http://schemas.microsoft.com/office/drawing/2014/main" id="{53792F8F-0D9C-4345-A703-F034640FA7A7}"/>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2" name="Oval 27">
              <a:extLst>
                <a:ext uri="{FF2B5EF4-FFF2-40B4-BE49-F238E27FC236}">
                  <a16:creationId xmlns:a16="http://schemas.microsoft.com/office/drawing/2014/main" id="{B29790E8-4F4B-4579-8A6B-FE3F9B0CAEF2}"/>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3" name="Oval 28">
              <a:extLst>
                <a:ext uri="{FF2B5EF4-FFF2-40B4-BE49-F238E27FC236}">
                  <a16:creationId xmlns:a16="http://schemas.microsoft.com/office/drawing/2014/main" id="{358C33BB-071D-4F24-839E-CC9C393EF0D8}"/>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4" name="Oval 29">
              <a:extLst>
                <a:ext uri="{FF2B5EF4-FFF2-40B4-BE49-F238E27FC236}">
                  <a16:creationId xmlns:a16="http://schemas.microsoft.com/office/drawing/2014/main" id="{4E06C84A-1EFC-44EA-B29A-11ED722DE85A}"/>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grpSp>
        <p:nvGrpSpPr>
          <p:cNvPr id="175" name="Group 23">
            <a:extLst>
              <a:ext uri="{FF2B5EF4-FFF2-40B4-BE49-F238E27FC236}">
                <a16:creationId xmlns:a16="http://schemas.microsoft.com/office/drawing/2014/main" id="{DBD88F74-281E-49A6-BC26-B30CBBAE64C9}"/>
              </a:ext>
            </a:extLst>
          </p:cNvPr>
          <p:cNvGrpSpPr>
            <a:grpSpLocks noChangeAspect="1"/>
          </p:cNvGrpSpPr>
          <p:nvPr/>
        </p:nvGrpSpPr>
        <p:grpSpPr bwMode="auto">
          <a:xfrm>
            <a:off x="7050659" y="5431096"/>
            <a:ext cx="381000" cy="381000"/>
            <a:chOff x="2078" y="1680"/>
            <a:chExt cx="1615" cy="1615"/>
          </a:xfrm>
        </p:grpSpPr>
        <p:sp>
          <p:nvSpPr>
            <p:cNvPr id="176" name="Oval 24">
              <a:extLst>
                <a:ext uri="{FF2B5EF4-FFF2-40B4-BE49-F238E27FC236}">
                  <a16:creationId xmlns:a16="http://schemas.microsoft.com/office/drawing/2014/main" id="{8B6A68AB-47EE-4BEB-9563-FC726BE4E43A}"/>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7" name="Oval 25">
              <a:extLst>
                <a:ext uri="{FF2B5EF4-FFF2-40B4-BE49-F238E27FC236}">
                  <a16:creationId xmlns:a16="http://schemas.microsoft.com/office/drawing/2014/main" id="{004826CD-E5CF-47B8-BD5C-D81E5D353CD7}"/>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8" name="Oval 26">
              <a:extLst>
                <a:ext uri="{FF2B5EF4-FFF2-40B4-BE49-F238E27FC236}">
                  <a16:creationId xmlns:a16="http://schemas.microsoft.com/office/drawing/2014/main" id="{3B71C91A-95B1-48A6-8F6E-2BCE30BA5067}"/>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9" name="Oval 27">
              <a:extLst>
                <a:ext uri="{FF2B5EF4-FFF2-40B4-BE49-F238E27FC236}">
                  <a16:creationId xmlns:a16="http://schemas.microsoft.com/office/drawing/2014/main" id="{4B68C4BF-098A-4123-BB53-98CECA7F4A81}"/>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80" name="Oval 28">
              <a:extLst>
                <a:ext uri="{FF2B5EF4-FFF2-40B4-BE49-F238E27FC236}">
                  <a16:creationId xmlns:a16="http://schemas.microsoft.com/office/drawing/2014/main" id="{3C5FE447-2DEF-4C03-AA66-D8D7E4B6E8E3}"/>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81" name="Oval 29">
              <a:extLst>
                <a:ext uri="{FF2B5EF4-FFF2-40B4-BE49-F238E27FC236}">
                  <a16:creationId xmlns:a16="http://schemas.microsoft.com/office/drawing/2014/main" id="{A8ADD6E4-DB30-4BEC-98B9-1D2EAA799DA1}"/>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pic>
        <p:nvPicPr>
          <p:cNvPr id="44" name="Picture 43">
            <a:extLst>
              <a:ext uri="{FF2B5EF4-FFF2-40B4-BE49-F238E27FC236}">
                <a16:creationId xmlns:a16="http://schemas.microsoft.com/office/drawing/2014/main" id="{E448CBB6-205F-4A19-B760-D7DB914CD91E}"/>
              </a:ext>
            </a:extLst>
          </p:cNvPr>
          <p:cNvPicPr>
            <a:picLocks noChangeAspect="1"/>
          </p:cNvPicPr>
          <p:nvPr/>
        </p:nvPicPr>
        <p:blipFill>
          <a:blip r:embed="rId4"/>
          <a:stretch>
            <a:fillRect/>
          </a:stretch>
        </p:blipFill>
        <p:spPr>
          <a:xfrm>
            <a:off x="370588" y="932649"/>
            <a:ext cx="1676480" cy="1122389"/>
          </a:xfrm>
          <a:prstGeom prst="rect">
            <a:avLst/>
          </a:prstGeom>
        </p:spPr>
      </p:pic>
      <p:sp>
        <p:nvSpPr>
          <p:cNvPr id="4" name="Slide Number Placeholder 3">
            <a:extLst>
              <a:ext uri="{FF2B5EF4-FFF2-40B4-BE49-F238E27FC236}">
                <a16:creationId xmlns:a16="http://schemas.microsoft.com/office/drawing/2014/main" id="{2362C952-6708-4F88-B2DA-95AF1E3F0EFF}"/>
              </a:ext>
            </a:extLst>
          </p:cNvPr>
          <p:cNvSpPr>
            <a:spLocks noGrp="1"/>
          </p:cNvSpPr>
          <p:nvPr>
            <p:ph type="sldNum" sz="quarter" idx="12"/>
          </p:nvPr>
        </p:nvSpPr>
        <p:spPr/>
        <p:txBody>
          <a:bodyPr/>
          <a:lstStyle/>
          <a:p>
            <a:fld id="{7FC2E40A-4446-4E2B-B9AD-16F559E28E02}" type="slidenum">
              <a:rPr lang="en-US" smtClean="0"/>
              <a:t>37</a:t>
            </a:fld>
            <a:endParaRPr lang="en-US"/>
          </a:p>
        </p:txBody>
      </p:sp>
      <p:sp>
        <p:nvSpPr>
          <p:cNvPr id="42" name="AutoShape 10">
            <a:extLst>
              <a:ext uri="{FF2B5EF4-FFF2-40B4-BE49-F238E27FC236}">
                <a16:creationId xmlns:a16="http://schemas.microsoft.com/office/drawing/2014/main" id="{96E6A76C-5024-445C-8373-4A127C8598B1}"/>
              </a:ext>
            </a:extLst>
          </p:cNvPr>
          <p:cNvSpPr>
            <a:spLocks noChangeArrowheads="1"/>
          </p:cNvSpPr>
          <p:nvPr/>
        </p:nvSpPr>
        <p:spPr bwMode="gray">
          <a:xfrm flipH="1">
            <a:off x="6244699" y="57140"/>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43" name="AutoShape 3">
            <a:extLst>
              <a:ext uri="{FF2B5EF4-FFF2-40B4-BE49-F238E27FC236}">
                <a16:creationId xmlns:a16="http://schemas.microsoft.com/office/drawing/2014/main" id="{C71EB997-3681-42CE-8D12-DC0BC893643A}"/>
              </a:ext>
            </a:extLst>
          </p:cNvPr>
          <p:cNvSpPr>
            <a:spLocks noChangeArrowheads="1"/>
          </p:cNvSpPr>
          <p:nvPr/>
        </p:nvSpPr>
        <p:spPr bwMode="gray">
          <a:xfrm flipH="1">
            <a:off x="161662" y="57140"/>
            <a:ext cx="1970868"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7" name="Rectangle 46">
            <a:extLst>
              <a:ext uri="{FF2B5EF4-FFF2-40B4-BE49-F238E27FC236}">
                <a16:creationId xmlns:a16="http://schemas.microsoft.com/office/drawing/2014/main" id="{C48087A2-0F0F-40A0-A837-05942D40B928}"/>
              </a:ext>
            </a:extLst>
          </p:cNvPr>
          <p:cNvSpPr/>
          <p:nvPr/>
        </p:nvSpPr>
        <p:spPr>
          <a:xfrm>
            <a:off x="431672" y="189466"/>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8" name="Rectangle 47">
            <a:extLst>
              <a:ext uri="{FF2B5EF4-FFF2-40B4-BE49-F238E27FC236}">
                <a16:creationId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49" name="AutoShape 10">
            <a:extLst>
              <a:ext uri="{FF2B5EF4-FFF2-40B4-BE49-F238E27FC236}">
                <a16:creationId xmlns:a16="http://schemas.microsoft.com/office/drawing/2014/main" id="{50B159E1-0AA0-4C32-86C7-52F5C5E0D242}"/>
              </a:ext>
            </a:extLst>
          </p:cNvPr>
          <p:cNvSpPr>
            <a:spLocks noChangeArrowheads="1"/>
          </p:cNvSpPr>
          <p:nvPr/>
        </p:nvSpPr>
        <p:spPr bwMode="gray">
          <a:xfrm flipH="1">
            <a:off x="2105458" y="54854"/>
            <a:ext cx="2137301" cy="651510"/>
          </a:xfrm>
          <a:prstGeom prst="chevron">
            <a:avLst>
              <a:gd name="adj" fmla="val 17842"/>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50" name="AutoShape 3">
            <a:extLst>
              <a:ext uri="{FF2B5EF4-FFF2-40B4-BE49-F238E27FC236}">
                <a16:creationId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51" name="Rectangle 50">
            <a:extLst>
              <a:ext uri="{FF2B5EF4-FFF2-40B4-BE49-F238E27FC236}">
                <a16:creationId xmlns:a16="http://schemas.microsoft.com/office/drawing/2014/main" id="{4DE55AA0-934E-4757-A2D4-1C4E49036DCD}"/>
              </a:ext>
            </a:extLst>
          </p:cNvPr>
          <p:cNvSpPr/>
          <p:nvPr/>
        </p:nvSpPr>
        <p:spPr>
          <a:xfrm>
            <a:off x="2402046" y="6407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52" name="Rectangle 51">
            <a:extLst>
              <a:ext uri="{FF2B5EF4-FFF2-40B4-BE49-F238E27FC236}">
                <a16:creationId xmlns:a16="http://schemas.microsoft.com/office/drawing/2014/main" id="{AC165A2D-60D3-440C-A112-7B419F7E72B2}"/>
              </a:ext>
            </a:extLst>
          </p:cNvPr>
          <p:cNvSpPr/>
          <p:nvPr/>
        </p:nvSpPr>
        <p:spPr>
          <a:xfrm>
            <a:off x="4529582"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53"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37</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325286519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extBox 23">
            <a:extLst>
              <a:ext uri="{FF2B5EF4-FFF2-40B4-BE49-F238E27FC236}">
                <a16:creationId xmlns:a16="http://schemas.microsoft.com/office/drawing/2014/main" id="{F43469DC-7F5B-471E-BD74-ED709E621F63}"/>
              </a:ext>
            </a:extLst>
          </p:cNvPr>
          <p:cNvSpPr txBox="1"/>
          <p:nvPr/>
        </p:nvSpPr>
        <p:spPr>
          <a:xfrm>
            <a:off x="6667382" y="2357681"/>
            <a:ext cx="2186817" cy="369332"/>
          </a:xfrm>
          <a:prstGeom prst="rect">
            <a:avLst/>
          </a:prstGeom>
          <a:noFill/>
        </p:spPr>
        <p:txBody>
          <a:bodyPr wrap="none" rtlCol="0">
            <a:spAutoFit/>
          </a:bodyPr>
          <a:lstStyle/>
          <a:p>
            <a:pPr algn="r" rtl="1"/>
            <a:r>
              <a:rPr lang="fa-IR" b="1" dirty="0">
                <a:cs typeface="B Nazanin" panose="00000400000000000000" pitchFamily="2" charset="-78"/>
              </a:rPr>
              <a:t>متغیر های همسان سازی</a:t>
            </a:r>
          </a:p>
        </p:txBody>
      </p:sp>
      <p:sp>
        <p:nvSpPr>
          <p:cNvPr id="35" name="Rounded Rectangle 175">
            <a:extLst>
              <a:ext uri="{FF2B5EF4-FFF2-40B4-BE49-F238E27FC236}">
                <a16:creationId xmlns:a16="http://schemas.microsoft.com/office/drawing/2014/main" id="{D8E27344-2AB1-4A61-B14B-D9C7962F785E}"/>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2000" b="1" dirty="0">
              <a:solidFill>
                <a:srgbClr val="FFFFFF"/>
              </a:solidFill>
              <a:latin typeface="Times New Roman" panose="02020603050405020304" pitchFamily="18" charset="0"/>
              <a:cs typeface="B Nazanin" panose="00000400000000000000" pitchFamily="2" charset="-78"/>
            </a:endParaRPr>
          </a:p>
        </p:txBody>
      </p:sp>
      <p:pic>
        <p:nvPicPr>
          <p:cNvPr id="36" name="Picture 35" descr="پرونده:Azad University logo.png - ویکی‌پدیا، دانشنامهٔ آزاد">
            <a:extLst>
              <a:ext uri="{FF2B5EF4-FFF2-40B4-BE49-F238E27FC236}">
                <a16:creationId xmlns:a16="http://schemas.microsoft.com/office/drawing/2014/main" id="{FA988D60-670C-406B-B8FB-D5A0053424E9}"/>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37" name="AutoShape 10">
            <a:extLst>
              <a:ext uri="{FF2B5EF4-FFF2-40B4-BE49-F238E27FC236}">
                <a16:creationId xmlns:a16="http://schemas.microsoft.com/office/drawing/2014/main" id="{96E6A76C-5024-445C-8373-4A127C8598B1}"/>
              </a:ext>
            </a:extLst>
          </p:cNvPr>
          <p:cNvSpPr>
            <a:spLocks noChangeArrowheads="1"/>
          </p:cNvSpPr>
          <p:nvPr/>
        </p:nvSpPr>
        <p:spPr bwMode="gray">
          <a:xfrm flipH="1">
            <a:off x="6244699" y="57140"/>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8" name="AutoShape 3">
            <a:extLst>
              <a:ext uri="{FF2B5EF4-FFF2-40B4-BE49-F238E27FC236}">
                <a16:creationId xmlns:a16="http://schemas.microsoft.com/office/drawing/2014/main" id="{C71EB997-3681-42CE-8D12-DC0BC893643A}"/>
              </a:ext>
            </a:extLst>
          </p:cNvPr>
          <p:cNvSpPr>
            <a:spLocks noChangeArrowheads="1"/>
          </p:cNvSpPr>
          <p:nvPr/>
        </p:nvSpPr>
        <p:spPr bwMode="gray">
          <a:xfrm flipH="1">
            <a:off x="161662" y="57140"/>
            <a:ext cx="1970868"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9" name="Rectangle 38">
            <a:extLst>
              <a:ext uri="{FF2B5EF4-FFF2-40B4-BE49-F238E27FC236}">
                <a16:creationId xmlns:a16="http://schemas.microsoft.com/office/drawing/2014/main" id="{C48087A2-0F0F-40A0-A837-05942D40B928}"/>
              </a:ext>
            </a:extLst>
          </p:cNvPr>
          <p:cNvSpPr/>
          <p:nvPr/>
        </p:nvSpPr>
        <p:spPr>
          <a:xfrm>
            <a:off x="431672" y="189466"/>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0" name="Rectangle 39">
            <a:extLst>
              <a:ext uri="{FF2B5EF4-FFF2-40B4-BE49-F238E27FC236}">
                <a16:creationId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47" name="AutoShape 10">
            <a:extLst>
              <a:ext uri="{FF2B5EF4-FFF2-40B4-BE49-F238E27FC236}">
                <a16:creationId xmlns:a16="http://schemas.microsoft.com/office/drawing/2014/main" id="{50B159E1-0AA0-4C32-86C7-52F5C5E0D242}"/>
              </a:ext>
            </a:extLst>
          </p:cNvPr>
          <p:cNvSpPr>
            <a:spLocks noChangeArrowheads="1"/>
          </p:cNvSpPr>
          <p:nvPr/>
        </p:nvSpPr>
        <p:spPr bwMode="gray">
          <a:xfrm flipH="1">
            <a:off x="2105458" y="54854"/>
            <a:ext cx="2137301" cy="651510"/>
          </a:xfrm>
          <a:prstGeom prst="chevron">
            <a:avLst>
              <a:gd name="adj" fmla="val 17842"/>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8" name="AutoShape 3">
            <a:extLst>
              <a:ext uri="{FF2B5EF4-FFF2-40B4-BE49-F238E27FC236}">
                <a16:creationId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9" name="Rectangle 48">
            <a:extLst>
              <a:ext uri="{FF2B5EF4-FFF2-40B4-BE49-F238E27FC236}">
                <a16:creationId xmlns:a16="http://schemas.microsoft.com/office/drawing/2014/main" id="{4DE55AA0-934E-4757-A2D4-1C4E49036DCD}"/>
              </a:ext>
            </a:extLst>
          </p:cNvPr>
          <p:cNvSpPr/>
          <p:nvPr/>
        </p:nvSpPr>
        <p:spPr>
          <a:xfrm>
            <a:off x="2402046" y="6407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50" name="Rectangle 49">
            <a:extLst>
              <a:ext uri="{FF2B5EF4-FFF2-40B4-BE49-F238E27FC236}">
                <a16:creationId xmlns:a16="http://schemas.microsoft.com/office/drawing/2014/main" id="{AC165A2D-60D3-440C-A112-7B419F7E72B2}"/>
              </a:ext>
            </a:extLst>
          </p:cNvPr>
          <p:cNvSpPr/>
          <p:nvPr/>
        </p:nvSpPr>
        <p:spPr>
          <a:xfrm>
            <a:off x="4529582"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8" name="Rectangle 7"/>
          <p:cNvSpPr/>
          <p:nvPr/>
        </p:nvSpPr>
        <p:spPr>
          <a:xfrm>
            <a:off x="1381438" y="6397883"/>
            <a:ext cx="5857561" cy="369332"/>
          </a:xfrm>
          <a:prstGeom prst="rect">
            <a:avLst/>
          </a:prstGeom>
        </p:spPr>
        <p:txBody>
          <a:bodyPr wrap="square">
            <a:spAutoFit/>
          </a:bodyPr>
          <a:lstStyle/>
          <a:p>
            <a:pPr algn="ctr" rtl="1"/>
            <a:r>
              <a:rPr lang="fa-IR" dirty="0">
                <a:latin typeface="Times New Roman" panose="02020603050405020304" pitchFamily="18" charset="0"/>
                <a:ea typeface="Calibri" panose="020F0502020204030204" pitchFamily="34" charset="0"/>
                <a:cs typeface="B Lotus" panose="00000400000000000000" pitchFamily="2" charset="-78"/>
              </a:rPr>
              <a:t> شکل 5 همسان سازی مبتنی بر ولتاژ(الف)، </a:t>
            </a:r>
            <a:r>
              <a:rPr lang="en-US" dirty="0">
                <a:latin typeface="Times New Roman" panose="02020603050405020304" pitchFamily="18" charset="0"/>
                <a:ea typeface="Calibri" panose="020F0502020204030204" pitchFamily="34" charset="0"/>
                <a:cs typeface="B Lotus" panose="00000400000000000000" pitchFamily="2" charset="-78"/>
              </a:rPr>
              <a:t>SOC</a:t>
            </a:r>
            <a:r>
              <a:rPr lang="fa-IR" dirty="0">
                <a:latin typeface="Times New Roman" panose="02020603050405020304" pitchFamily="18" charset="0"/>
                <a:cs typeface="B Lotus" panose="00000400000000000000" pitchFamily="2" charset="-78"/>
              </a:rPr>
              <a:t> </a:t>
            </a:r>
            <a:r>
              <a:rPr lang="fa-IR" dirty="0">
                <a:latin typeface="Times New Roman" panose="02020603050405020304" pitchFamily="18" charset="0"/>
                <a:ea typeface="Calibri" panose="020F0502020204030204" pitchFamily="34" charset="0"/>
                <a:cs typeface="B Lotus" panose="00000400000000000000" pitchFamily="2" charset="-78"/>
              </a:rPr>
              <a:t>(ب) و ظرفیت باقی مانده</a:t>
            </a:r>
            <a:r>
              <a:rPr lang="fa-IR" dirty="0">
                <a:latin typeface="Times New Roman" panose="02020603050405020304" pitchFamily="18" charset="0"/>
                <a:cs typeface="B Lotus" panose="00000400000000000000" pitchFamily="2" charset="-78"/>
              </a:rPr>
              <a:t> </a:t>
            </a:r>
            <a:r>
              <a:rPr lang="fa-IR" dirty="0">
                <a:latin typeface="Times New Roman" panose="02020603050405020304" pitchFamily="18" charset="0"/>
                <a:ea typeface="Calibri" panose="020F0502020204030204" pitchFamily="34" charset="0"/>
                <a:cs typeface="B Lotus" panose="00000400000000000000" pitchFamily="2" charset="-78"/>
              </a:rPr>
              <a:t>(ج)</a:t>
            </a:r>
            <a:endParaRPr lang="en-US" dirty="0"/>
          </a:p>
        </p:txBody>
      </p:sp>
      <p:sp>
        <p:nvSpPr>
          <p:cNvPr id="23"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38</a:t>
            </a:fld>
            <a:endParaRPr lang="fa-IR" sz="1800" dirty="0">
              <a:solidFill>
                <a:schemeClr val="tx1"/>
              </a:solidFill>
              <a:cs typeface="B Lotus" panose="00000400000000000000" pitchFamily="2" charset="-78"/>
            </a:endParaRPr>
          </a:p>
        </p:txBody>
      </p:sp>
      <p:grpSp>
        <p:nvGrpSpPr>
          <p:cNvPr id="2" name="Group 1"/>
          <p:cNvGrpSpPr/>
          <p:nvPr/>
        </p:nvGrpSpPr>
        <p:grpSpPr>
          <a:xfrm>
            <a:off x="196008" y="986340"/>
            <a:ext cx="7752756" cy="5465819"/>
            <a:chOff x="196008" y="986340"/>
            <a:chExt cx="7752756" cy="5465819"/>
          </a:xfrm>
        </p:grpSpPr>
        <p:pic>
          <p:nvPicPr>
            <p:cNvPr id="25" name="Picture 2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96008" y="1850482"/>
              <a:ext cx="416468" cy="249895"/>
            </a:xfrm>
            <a:prstGeom prst="rect">
              <a:avLst/>
            </a:prstGeom>
          </p:spPr>
        </p:pic>
        <p:pic>
          <p:nvPicPr>
            <p:cNvPr id="26" name="Picture 2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36282" y="3570351"/>
              <a:ext cx="335920" cy="192226"/>
            </a:xfrm>
            <a:prstGeom prst="rect">
              <a:avLst/>
            </a:prstGeom>
          </p:spPr>
        </p:pic>
        <p:pic>
          <p:nvPicPr>
            <p:cNvPr id="27" name="Picture 26"/>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91844" y="5232551"/>
              <a:ext cx="304800" cy="203212"/>
            </a:xfrm>
            <a:prstGeom prst="rect">
              <a:avLst/>
            </a:prstGeom>
          </p:spPr>
        </p:pic>
        <p:pic>
          <p:nvPicPr>
            <p:cNvPr id="4" name="Picture 3"/>
            <p:cNvPicPr>
              <a:picLocks noChangeAspect="1"/>
            </p:cNvPicPr>
            <p:nvPr/>
          </p:nvPicPr>
          <p:blipFill>
            <a:blip r:embed="rId7"/>
            <a:stretch>
              <a:fillRect/>
            </a:stretch>
          </p:blipFill>
          <p:spPr>
            <a:xfrm>
              <a:off x="644106" y="986340"/>
              <a:ext cx="4126993" cy="1541063"/>
            </a:xfrm>
            <a:prstGeom prst="rect">
              <a:avLst/>
            </a:prstGeom>
          </p:spPr>
        </p:pic>
        <p:pic>
          <p:nvPicPr>
            <p:cNvPr id="5" name="Picture 4"/>
            <p:cNvPicPr>
              <a:picLocks noChangeAspect="1"/>
            </p:cNvPicPr>
            <p:nvPr/>
          </p:nvPicPr>
          <p:blipFill>
            <a:blip r:embed="rId8"/>
            <a:stretch>
              <a:fillRect/>
            </a:stretch>
          </p:blipFill>
          <p:spPr>
            <a:xfrm>
              <a:off x="2482350" y="2671490"/>
              <a:ext cx="3466674" cy="1572772"/>
            </a:xfrm>
            <a:prstGeom prst="rect">
              <a:avLst/>
            </a:prstGeom>
          </p:spPr>
        </p:pic>
        <p:pic>
          <p:nvPicPr>
            <p:cNvPr id="9" name="Picture 8"/>
            <p:cNvPicPr>
              <a:picLocks noChangeAspect="1"/>
            </p:cNvPicPr>
            <p:nvPr/>
          </p:nvPicPr>
          <p:blipFill>
            <a:blip r:embed="rId9"/>
            <a:stretch>
              <a:fillRect/>
            </a:stretch>
          </p:blipFill>
          <p:spPr>
            <a:xfrm>
              <a:off x="4482090" y="4308622"/>
              <a:ext cx="3466674" cy="2143537"/>
            </a:xfrm>
            <a:prstGeom prst="rect">
              <a:avLst/>
            </a:prstGeom>
          </p:spPr>
        </p:pic>
      </p:grpSp>
    </p:spTree>
    <p:extLst>
      <p:ext uri="{BB962C8B-B14F-4D97-AF65-F5344CB8AC3E}">
        <p14:creationId xmlns:p14="http://schemas.microsoft.com/office/powerpoint/2010/main" val="38846917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AutoShape 8">
            <a:extLst>
              <a:ext uri="{FF2B5EF4-FFF2-40B4-BE49-F238E27FC236}">
                <a16:creationId xmlns:a16="http://schemas.microsoft.com/office/drawing/2014/main" id="{CF9E5B87-43A1-4646-AE69-F01C6BAFAD06}"/>
              </a:ext>
            </a:extLst>
          </p:cNvPr>
          <p:cNvSpPr>
            <a:spLocks noChangeAspect="1" noChangeArrowheads="1"/>
          </p:cNvSpPr>
          <p:nvPr/>
        </p:nvSpPr>
        <p:spPr bwMode="gray">
          <a:xfrm>
            <a:off x="6634824" y="1905000"/>
            <a:ext cx="215106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sz="1200" b="1" dirty="0">
                <a:solidFill>
                  <a:srgbClr val="000000"/>
                </a:solidFill>
                <a:latin typeface="Times New Roman" panose="02020603050405020304" pitchFamily="18" charset="0"/>
                <a:cs typeface="B Nazanin" pitchFamily="2" charset="-78"/>
              </a:rPr>
              <a:t>مبتنی بر مدل (تخمین فیلتر کامن)</a:t>
            </a:r>
            <a:endParaRPr lang="en-US" sz="1200" b="1" dirty="0">
              <a:solidFill>
                <a:srgbClr val="000000"/>
              </a:solidFill>
              <a:latin typeface="Times New Roman" panose="02020603050405020304" pitchFamily="18" charset="0"/>
              <a:cs typeface="B Nazanin" pitchFamily="2" charset="-78"/>
            </a:endParaRPr>
          </a:p>
        </p:txBody>
      </p:sp>
      <p:grpSp>
        <p:nvGrpSpPr>
          <p:cNvPr id="38" name="Group 23">
            <a:extLst>
              <a:ext uri="{FF2B5EF4-FFF2-40B4-BE49-F238E27FC236}">
                <a16:creationId xmlns:a16="http://schemas.microsoft.com/office/drawing/2014/main" id="{A77ECBC8-8907-49C6-B868-8715395CD4AB}"/>
              </a:ext>
            </a:extLst>
          </p:cNvPr>
          <p:cNvGrpSpPr>
            <a:grpSpLocks noChangeAspect="1"/>
          </p:cNvGrpSpPr>
          <p:nvPr/>
        </p:nvGrpSpPr>
        <p:grpSpPr bwMode="auto">
          <a:xfrm>
            <a:off x="8743025" y="1981200"/>
            <a:ext cx="381000" cy="381000"/>
            <a:chOff x="2078" y="1680"/>
            <a:chExt cx="1615" cy="1615"/>
          </a:xfrm>
        </p:grpSpPr>
        <p:sp>
          <p:nvSpPr>
            <p:cNvPr id="39" name="Oval 24">
              <a:extLst>
                <a:ext uri="{FF2B5EF4-FFF2-40B4-BE49-F238E27FC236}">
                  <a16:creationId xmlns:a16="http://schemas.microsoft.com/office/drawing/2014/main" id="{1501B9F0-1BD0-4587-A5DA-8504002448CD}"/>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0" name="Oval 25">
              <a:extLst>
                <a:ext uri="{FF2B5EF4-FFF2-40B4-BE49-F238E27FC236}">
                  <a16:creationId xmlns:a16="http://schemas.microsoft.com/office/drawing/2014/main" id="{909C959D-95E6-47AB-BA03-A36E5558C646}"/>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1" name="Oval 26">
              <a:extLst>
                <a:ext uri="{FF2B5EF4-FFF2-40B4-BE49-F238E27FC236}">
                  <a16:creationId xmlns:a16="http://schemas.microsoft.com/office/drawing/2014/main" id="{DBE4DAAC-D3AA-4C03-8635-E677788322CA}"/>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2" name="Oval 27">
              <a:extLst>
                <a:ext uri="{FF2B5EF4-FFF2-40B4-BE49-F238E27FC236}">
                  <a16:creationId xmlns:a16="http://schemas.microsoft.com/office/drawing/2014/main" id="{503A22F7-588D-4C3B-990F-521D103C8785}"/>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3" name="Oval 28">
              <a:extLst>
                <a:ext uri="{FF2B5EF4-FFF2-40B4-BE49-F238E27FC236}">
                  <a16:creationId xmlns:a16="http://schemas.microsoft.com/office/drawing/2014/main" id="{DB14B947-3B24-4D3C-8BA6-1CDE3B23E877}"/>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4" name="Oval 29">
              <a:extLst>
                <a:ext uri="{FF2B5EF4-FFF2-40B4-BE49-F238E27FC236}">
                  <a16:creationId xmlns:a16="http://schemas.microsoft.com/office/drawing/2014/main" id="{EC52A3D0-6BC6-4E5D-88F2-AA4F423555B2}"/>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52" name="TextBox 51">
            <a:extLst>
              <a:ext uri="{FF2B5EF4-FFF2-40B4-BE49-F238E27FC236}">
                <a16:creationId xmlns:a16="http://schemas.microsoft.com/office/drawing/2014/main" id="{0D7C9433-5674-4BC9-A282-6D982E5B3065}"/>
              </a:ext>
            </a:extLst>
          </p:cNvPr>
          <p:cNvSpPr txBox="1"/>
          <p:nvPr/>
        </p:nvSpPr>
        <p:spPr>
          <a:xfrm>
            <a:off x="4857361" y="3127386"/>
            <a:ext cx="65" cy="276999"/>
          </a:xfrm>
          <a:prstGeom prst="rect">
            <a:avLst/>
          </a:prstGeom>
          <a:noFill/>
        </p:spPr>
        <p:txBody>
          <a:bodyPr wrap="none" lIns="0" tIns="0" rIns="0" bIns="0" rtlCol="0">
            <a:spAutoFit/>
          </a:bodyPr>
          <a:lstStyle/>
          <a:p>
            <a:endParaRPr lang="en-US" dirty="0"/>
          </a:p>
        </p:txBody>
      </p:sp>
      <p:pic>
        <p:nvPicPr>
          <p:cNvPr id="29" name="Picture 28"/>
          <p:cNvPicPr/>
          <p:nvPr/>
        </p:nvPicPr>
        <p:blipFill>
          <a:blip r:embed="rId3">
            <a:extLst>
              <a:ext uri="{28A0092B-C50C-407E-A947-70E740481C1C}">
                <a14:useLocalDpi xmlns:a14="http://schemas.microsoft.com/office/drawing/2010/main" val="0"/>
              </a:ext>
            </a:extLst>
          </a:blip>
          <a:stretch>
            <a:fillRect/>
          </a:stretch>
        </p:blipFill>
        <p:spPr bwMode="auto">
          <a:xfrm>
            <a:off x="253084" y="1369303"/>
            <a:ext cx="6246873" cy="4879985"/>
          </a:xfrm>
          <a:prstGeom prst="rect">
            <a:avLst/>
          </a:prstGeom>
          <a:noFill/>
          <a:ln>
            <a:noFill/>
          </a:ln>
        </p:spPr>
      </p:pic>
      <p:sp>
        <p:nvSpPr>
          <p:cNvPr id="30" name="Rounded Rectangle 175">
            <a:extLst>
              <a:ext uri="{FF2B5EF4-FFF2-40B4-BE49-F238E27FC236}">
                <a16:creationId xmlns:a16="http://schemas.microsoft.com/office/drawing/2014/main" id="{D8E27344-2AB1-4A61-B14B-D9C7962F785E}"/>
              </a:ext>
            </a:extLst>
          </p:cNvPr>
          <p:cNvSpPr/>
          <p:nvPr/>
        </p:nvSpPr>
        <p:spPr bwMode="auto">
          <a:xfrm>
            <a:off x="6858000" y="971946"/>
            <a:ext cx="23890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fontAlgn="base">
              <a:spcBef>
                <a:spcPct val="0"/>
              </a:spcBef>
              <a:spcAft>
                <a:spcPct val="0"/>
              </a:spcAft>
              <a:defRPr/>
            </a:pPr>
            <a:r>
              <a:rPr lang="fa-IR" sz="2200" b="1" kern="0" dirty="0">
                <a:solidFill>
                  <a:srgbClr val="FFFFFF"/>
                </a:solidFill>
                <a:latin typeface="Times New Roman" panose="02020603050405020304" pitchFamily="18" charset="0"/>
                <a:cs typeface="B Nazanin" pitchFamily="2" charset="-78"/>
              </a:rPr>
              <a:t>سیستم مدیریت باتری</a:t>
            </a:r>
          </a:p>
        </p:txBody>
      </p:sp>
      <p:sp>
        <p:nvSpPr>
          <p:cNvPr id="33" name="AutoShape 10">
            <a:extLst>
              <a:ext uri="{FF2B5EF4-FFF2-40B4-BE49-F238E27FC236}">
                <a16:creationId xmlns:a16="http://schemas.microsoft.com/office/drawing/2014/main" id="{96E6A76C-5024-445C-8373-4A127C8598B1}"/>
              </a:ext>
            </a:extLst>
          </p:cNvPr>
          <p:cNvSpPr>
            <a:spLocks noChangeArrowheads="1"/>
          </p:cNvSpPr>
          <p:nvPr/>
        </p:nvSpPr>
        <p:spPr bwMode="gray">
          <a:xfrm flipH="1">
            <a:off x="6244699" y="57140"/>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4" name="AutoShape 3">
            <a:extLst>
              <a:ext uri="{FF2B5EF4-FFF2-40B4-BE49-F238E27FC236}">
                <a16:creationId xmlns:a16="http://schemas.microsoft.com/office/drawing/2014/main" id="{5897B420-8EC3-4623-B9CD-873BD50E14B7}"/>
              </a:ext>
            </a:extLst>
          </p:cNvPr>
          <p:cNvSpPr>
            <a:spLocks noChangeArrowheads="1"/>
          </p:cNvSpPr>
          <p:nvPr/>
        </p:nvSpPr>
        <p:spPr bwMode="gray">
          <a:xfrm flipH="1">
            <a:off x="4188613" y="57140"/>
            <a:ext cx="2056086"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5" name="AutoShape 3">
            <a:extLst>
              <a:ext uri="{FF2B5EF4-FFF2-40B4-BE49-F238E27FC236}">
                <a16:creationId xmlns:a16="http://schemas.microsoft.com/office/drawing/2014/main" id="{29058428-9548-4415-A786-99DB42D1499B}"/>
              </a:ext>
            </a:extLst>
          </p:cNvPr>
          <p:cNvSpPr>
            <a:spLocks noChangeArrowheads="1"/>
          </p:cNvSpPr>
          <p:nvPr/>
        </p:nvSpPr>
        <p:spPr bwMode="gray">
          <a:xfrm flipH="1">
            <a:off x="2132529" y="57140"/>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6" name="AutoShape 3">
            <a:extLst>
              <a:ext uri="{FF2B5EF4-FFF2-40B4-BE49-F238E27FC236}">
                <a16:creationId xmlns:a16="http://schemas.microsoft.com/office/drawing/2014/main" id="{C71EB997-3681-42CE-8D12-DC0BC893643A}"/>
              </a:ext>
            </a:extLst>
          </p:cNvPr>
          <p:cNvSpPr>
            <a:spLocks noChangeArrowheads="1"/>
          </p:cNvSpPr>
          <p:nvPr/>
        </p:nvSpPr>
        <p:spPr bwMode="gray">
          <a:xfrm flipH="1">
            <a:off x="161662" y="57140"/>
            <a:ext cx="1970868"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7" name="Rectangle 36">
            <a:extLst>
              <a:ext uri="{FF2B5EF4-FFF2-40B4-BE49-F238E27FC236}">
                <a16:creationId xmlns:a16="http://schemas.microsoft.com/office/drawing/2014/main" id="{C48087A2-0F0F-40A0-A837-05942D40B928}"/>
              </a:ext>
            </a:extLst>
          </p:cNvPr>
          <p:cNvSpPr/>
          <p:nvPr/>
        </p:nvSpPr>
        <p:spPr>
          <a:xfrm>
            <a:off x="431672" y="189466"/>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5" name="Rectangle 44">
            <a:extLst>
              <a:ext uri="{FF2B5EF4-FFF2-40B4-BE49-F238E27FC236}">
                <a16:creationId xmlns:a16="http://schemas.microsoft.com/office/drawing/2014/main" id="{029B7FF5-A50E-4253-B09E-E39EEA90B68F}"/>
              </a:ext>
            </a:extLst>
          </p:cNvPr>
          <p:cNvSpPr/>
          <p:nvPr/>
        </p:nvSpPr>
        <p:spPr>
          <a:xfrm>
            <a:off x="2355191" y="66356"/>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6" name="Rectangle 45">
            <a:extLst>
              <a:ext uri="{FF2B5EF4-FFF2-40B4-BE49-F238E27FC236}">
                <a16:creationId xmlns:a16="http://schemas.microsoft.com/office/drawing/2014/main" id="{F2576E55-27E7-4A07-95C2-3356380EB505}"/>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7" name="Rectangle 46">
            <a:extLst>
              <a:ext uri="{FF2B5EF4-FFF2-40B4-BE49-F238E27FC236}">
                <a16:creationId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pic>
        <p:nvPicPr>
          <p:cNvPr id="48" name="Picture 47" descr="پرونده:Azad University logo.png - ویکی‌پدیا، دانشنامهٔ آزاد">
            <a:extLst>
              <a:ext uri="{FF2B5EF4-FFF2-40B4-BE49-F238E27FC236}">
                <a16:creationId xmlns:a16="http://schemas.microsoft.com/office/drawing/2014/main"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49" name="TextBox 48">
            <a:extLst>
              <a:ext uri="{FF2B5EF4-FFF2-40B4-BE49-F238E27FC236}">
                <a16:creationId xmlns:a16="http://schemas.microsoft.com/office/drawing/2014/main" id="{790F494B-120B-467C-BEB7-DD550B770790}"/>
              </a:ext>
            </a:extLst>
          </p:cNvPr>
          <p:cNvSpPr txBox="1"/>
          <p:nvPr/>
        </p:nvSpPr>
        <p:spPr>
          <a:xfrm>
            <a:off x="320146" y="934180"/>
            <a:ext cx="3717685" cy="369332"/>
          </a:xfrm>
          <a:prstGeom prst="rect">
            <a:avLst/>
          </a:prstGeom>
          <a:noFill/>
        </p:spPr>
        <p:txBody>
          <a:bodyPr wrap="none" rtlCol="0">
            <a:spAutoFit/>
          </a:bodyPr>
          <a:lstStyle/>
          <a:p>
            <a:pPr algn="r" rtl="1" fontAlgn="base">
              <a:spcBef>
                <a:spcPct val="0"/>
              </a:spcBef>
              <a:spcAft>
                <a:spcPct val="0"/>
              </a:spcAft>
            </a:pPr>
            <a:r>
              <a:rPr lang="fa-IR" b="1" dirty="0">
                <a:cs typeface="B Nazanin" panose="00000400000000000000" pitchFamily="2" charset="-78"/>
              </a:rPr>
              <a:t>روش های تخمین وضعیت شارژ باتری (</a:t>
            </a:r>
            <a:r>
              <a:rPr lang="en-US" b="1" i="1" dirty="0">
                <a:latin typeface="Times New Roman" panose="02020603050405020304" pitchFamily="18" charset="0"/>
                <a:cs typeface="Times New Roman" panose="02020603050405020304" pitchFamily="18" charset="0"/>
              </a:rPr>
              <a:t>SOC</a:t>
            </a:r>
            <a:r>
              <a:rPr lang="fa-IR" b="1" dirty="0">
                <a:cs typeface="B Nazanin" panose="00000400000000000000" pitchFamily="2" charset="-78"/>
              </a:rPr>
              <a:t>)</a:t>
            </a:r>
            <a:endParaRPr lang="en-US" b="1" dirty="0">
              <a:solidFill>
                <a:srgbClr val="000000"/>
              </a:solidFill>
              <a:latin typeface="Times New Roman" panose="02020603050405020304" pitchFamily="18" charset="0"/>
              <a:cs typeface="B Nazanin" pitchFamily="2" charset="-78"/>
            </a:endParaRPr>
          </a:p>
        </p:txBody>
      </p:sp>
      <p:sp>
        <p:nvSpPr>
          <p:cNvPr id="50" name="Rectangle 49"/>
          <p:cNvSpPr/>
          <p:nvPr/>
        </p:nvSpPr>
        <p:spPr>
          <a:xfrm>
            <a:off x="520700" y="6297324"/>
            <a:ext cx="5417476" cy="369332"/>
          </a:xfrm>
          <a:prstGeom prst="rect">
            <a:avLst/>
          </a:prstGeom>
        </p:spPr>
        <p:txBody>
          <a:bodyPr wrap="square">
            <a:spAutoFit/>
          </a:bodyPr>
          <a:lstStyle/>
          <a:p>
            <a:pPr algn="ctr" rtl="1"/>
            <a:r>
              <a:rPr lang="fa-IR" dirty="0">
                <a:latin typeface="Times New Roman" panose="02020603050405020304" pitchFamily="18" charset="0"/>
                <a:ea typeface="Calibri" panose="020F0502020204030204" pitchFamily="34" charset="0"/>
                <a:cs typeface="B Lotus" panose="00000400000000000000" pitchFamily="2" charset="-78"/>
              </a:rPr>
              <a:t>نمونه ساده شده از تخمین</a:t>
            </a:r>
            <a:r>
              <a:rPr lang="en-US" dirty="0">
                <a:latin typeface="Times New Roman" panose="02020603050405020304" pitchFamily="18" charset="0"/>
                <a:ea typeface="Calibri" panose="020F0502020204030204" pitchFamily="34" charset="0"/>
                <a:cs typeface="B Lotus" panose="00000400000000000000" pitchFamily="2" charset="-78"/>
              </a:rPr>
              <a:t>SOC </a:t>
            </a:r>
            <a:r>
              <a:rPr lang="fa-IR" dirty="0">
                <a:latin typeface="Times New Roman" panose="02020603050405020304" pitchFamily="18" charset="0"/>
                <a:ea typeface="Calibri" panose="020F0502020204030204" pitchFamily="34" charset="0"/>
                <a:cs typeface="B Lotus" panose="00000400000000000000" pitchFamily="2" charset="-78"/>
              </a:rPr>
              <a:t> توسط فیلتر کالمن </a:t>
            </a:r>
            <a:r>
              <a:rPr lang="fa-IR" dirty="0">
                <a:solidFill>
                  <a:srgbClr val="61D6FF"/>
                </a:solidFill>
                <a:latin typeface="Times New Roman" panose="02020603050405020304" pitchFamily="18" charset="0"/>
                <a:ea typeface="Calibri" panose="020F0502020204030204" pitchFamily="34" charset="0"/>
                <a:cs typeface="B Lotus" panose="00000400000000000000" pitchFamily="2" charset="-78"/>
              </a:rPr>
              <a:t>[1]</a:t>
            </a:r>
            <a:r>
              <a:rPr lang="fa-IR" dirty="0">
                <a:latin typeface="Times New Roman" panose="02020603050405020304" pitchFamily="18" charset="0"/>
                <a:ea typeface="Calibri" panose="020F0502020204030204" pitchFamily="34" charset="0"/>
                <a:cs typeface="B Lotus" panose="00000400000000000000" pitchFamily="2" charset="-78"/>
              </a:rPr>
              <a:t>.</a:t>
            </a:r>
            <a:endParaRPr lang="en-US" dirty="0"/>
          </a:p>
        </p:txBody>
      </p:sp>
      <p:sp>
        <p:nvSpPr>
          <p:cNvPr id="25"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39</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21775024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AutoShape 2">
            <a:extLst>
              <a:ext uri="{FF2B5EF4-FFF2-40B4-BE49-F238E27FC236}">
                <a16:creationId xmlns:a16="http://schemas.microsoft.com/office/drawing/2014/main" id="{497A908A-E454-4B9F-A07D-96505D4C7818}"/>
              </a:ext>
            </a:extLst>
          </p:cNvPr>
          <p:cNvSpPr>
            <a:spLocks noChangeAspect="1" noChangeArrowheads="1"/>
          </p:cNvSpPr>
          <p:nvPr/>
        </p:nvSpPr>
        <p:spPr bwMode="ltGray">
          <a:xfrm rot="16200000" flipH="1">
            <a:off x="7699972" y="2644054"/>
            <a:ext cx="2915072" cy="2882458"/>
          </a:xfrm>
          <a:custGeom>
            <a:avLst/>
            <a:gdLst>
              <a:gd name="G0" fmla="+- 10478 0 0"/>
              <a:gd name="G1" fmla="+- -11739500 0 0"/>
              <a:gd name="G2" fmla="+- 0 0 -11739500"/>
              <a:gd name="T0" fmla="*/ 0 256 1"/>
              <a:gd name="T1" fmla="*/ 180 256 1"/>
              <a:gd name="G3" fmla="+- -11739500 T0 T1"/>
              <a:gd name="T2" fmla="*/ 0 256 1"/>
              <a:gd name="T3" fmla="*/ 90 256 1"/>
              <a:gd name="G4" fmla="+- -11739500 T2 T3"/>
              <a:gd name="G5" fmla="*/ G4 2 1"/>
              <a:gd name="T4" fmla="*/ 90 256 1"/>
              <a:gd name="T5" fmla="*/ 0 256 1"/>
              <a:gd name="G6" fmla="+- -11739500 T4 T5"/>
              <a:gd name="G7" fmla="*/ G6 2 1"/>
              <a:gd name="G8" fmla="abs -11739500"/>
              <a:gd name="T6" fmla="*/ 0 256 1"/>
              <a:gd name="T7" fmla="*/ 90 256 1"/>
              <a:gd name="G9" fmla="+- G8 T6 T7"/>
              <a:gd name="G10" fmla="?: G9 G7 G5"/>
              <a:gd name="T8" fmla="*/ 0 256 1"/>
              <a:gd name="T9" fmla="*/ 360 256 1"/>
              <a:gd name="G11" fmla="+- G10 T8 T9"/>
              <a:gd name="G12" fmla="?: G10 G11 G10"/>
              <a:gd name="T10" fmla="*/ 0 256 1"/>
              <a:gd name="T11" fmla="*/ 360 256 1"/>
              <a:gd name="G13" fmla="+- G12 T10 T11"/>
              <a:gd name="G14" fmla="?: G12 G13 G12"/>
              <a:gd name="G15" fmla="+- 0 0 G14"/>
              <a:gd name="G16" fmla="+- 10800 0 0"/>
              <a:gd name="G17" fmla="+- 10800 0 10478"/>
              <a:gd name="G18" fmla="*/ 10478 1 2"/>
              <a:gd name="G19" fmla="+- G18 5400 0"/>
              <a:gd name="G20" fmla="cos G19 -11739500"/>
              <a:gd name="G21" fmla="sin G19 -11739500"/>
              <a:gd name="G22" fmla="+- G20 10800 0"/>
              <a:gd name="G23" fmla="+- G21 10800 0"/>
              <a:gd name="G24" fmla="+- 10800 0 G20"/>
              <a:gd name="G25" fmla="+- 10478 10800 0"/>
              <a:gd name="G26" fmla="?: G9 G17 G25"/>
              <a:gd name="G27" fmla="?: G9 0 21600"/>
              <a:gd name="G28" fmla="cos 10800 -11739500"/>
              <a:gd name="G29" fmla="sin 10800 -11739500"/>
              <a:gd name="G30" fmla="sin 10478 -11739500"/>
              <a:gd name="G31" fmla="+- G28 10800 0"/>
              <a:gd name="G32" fmla="+- G29 10800 0"/>
              <a:gd name="G33" fmla="+- G30 10800 0"/>
              <a:gd name="G34" fmla="?: G4 0 G31"/>
              <a:gd name="G35" fmla="?: -11739500 G34 0"/>
              <a:gd name="G36" fmla="?: G6 G35 G31"/>
              <a:gd name="G37" fmla="+- 21600 0 G36"/>
              <a:gd name="G38" fmla="?: G4 0 G33"/>
              <a:gd name="G39" fmla="?: -11739500 G38 G32"/>
              <a:gd name="G40" fmla="?: G6 G39 0"/>
              <a:gd name="G41" fmla="?: G4 G32 21600"/>
              <a:gd name="G42" fmla="?: G6 G41 G33"/>
              <a:gd name="T12" fmla="*/ 10800 w 21600"/>
              <a:gd name="T13" fmla="*/ 0 h 21600"/>
              <a:gd name="T14" fmla="*/ 162 w 21600"/>
              <a:gd name="T15" fmla="*/ 10638 h 21600"/>
              <a:gd name="T16" fmla="*/ 10800 w 21600"/>
              <a:gd name="T17" fmla="*/ 322 h 21600"/>
              <a:gd name="T18" fmla="*/ 21438 w 21600"/>
              <a:gd name="T19" fmla="*/ 10638 h 21600"/>
              <a:gd name="T20" fmla="*/ G36 w 21600"/>
              <a:gd name="T21" fmla="*/ G40 h 21600"/>
              <a:gd name="T22" fmla="*/ G37 w 21600"/>
              <a:gd name="T23" fmla="*/ G42 h 21600"/>
            </a:gdLst>
            <a:ahLst/>
            <a:cxnLst>
              <a:cxn ang="0">
                <a:pos x="T12" y="T13"/>
              </a:cxn>
              <a:cxn ang="0">
                <a:pos x="T14" y="T15"/>
              </a:cxn>
              <a:cxn ang="0">
                <a:pos x="T16" y="T17"/>
              </a:cxn>
              <a:cxn ang="0">
                <a:pos x="T18" y="T19"/>
              </a:cxn>
            </a:cxnLst>
            <a:rect l="T20" t="T21" r="T22" b="T23"/>
            <a:pathLst>
              <a:path w="21600" h="21600">
                <a:moveTo>
                  <a:pt x="323" y="10641"/>
                </a:moveTo>
                <a:cubicBezTo>
                  <a:pt x="410" y="4916"/>
                  <a:pt x="5075" y="321"/>
                  <a:pt x="10800" y="322"/>
                </a:cubicBezTo>
                <a:cubicBezTo>
                  <a:pt x="16524" y="322"/>
                  <a:pt x="21189" y="4916"/>
                  <a:pt x="21276" y="10641"/>
                </a:cubicBezTo>
                <a:lnTo>
                  <a:pt x="21598" y="10636"/>
                </a:lnTo>
                <a:cubicBezTo>
                  <a:pt x="21509" y="4736"/>
                  <a:pt x="16700" y="-1"/>
                  <a:pt x="10799" y="0"/>
                </a:cubicBezTo>
                <a:cubicBezTo>
                  <a:pt x="4899" y="0"/>
                  <a:pt x="90" y="4736"/>
                  <a:pt x="1" y="10636"/>
                </a:cubicBezTo>
                <a:close/>
              </a:path>
            </a:pathLst>
          </a:custGeom>
          <a:gradFill rotWithShape="0">
            <a:gsLst>
              <a:gs pos="0">
                <a:srgbClr val="B0BAD8">
                  <a:gamma/>
                  <a:tint val="45490"/>
                  <a:invGamma/>
                </a:srgbClr>
              </a:gs>
              <a:gs pos="100000">
                <a:srgbClr val="B0BAD8"/>
              </a:gs>
            </a:gsLst>
            <a:lin ang="0" scaled="1"/>
          </a:gradFill>
          <a:ln w="9525" algn="ctr">
            <a:noFill/>
            <a:miter lim="800000"/>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147" name="TextBox 146">
            <a:extLst>
              <a:ext uri="{FF2B5EF4-FFF2-40B4-BE49-F238E27FC236}">
                <a16:creationId xmlns:a16="http://schemas.microsoft.com/office/drawing/2014/main" id="{F43469DC-7F5B-471E-BD74-ED709E621F63}"/>
              </a:ext>
            </a:extLst>
          </p:cNvPr>
          <p:cNvSpPr txBox="1"/>
          <p:nvPr/>
        </p:nvSpPr>
        <p:spPr>
          <a:xfrm>
            <a:off x="6543464" y="2128566"/>
            <a:ext cx="1794081" cy="369332"/>
          </a:xfrm>
          <a:prstGeom prst="rect">
            <a:avLst/>
          </a:prstGeom>
          <a:noFill/>
        </p:spPr>
        <p:txBody>
          <a:bodyPr wrap="none" rtlCol="0">
            <a:spAutoFit/>
          </a:bodyPr>
          <a:lstStyle/>
          <a:p>
            <a:pPr algn="r" rtl="1"/>
            <a:r>
              <a:rPr lang="fa-IR" b="1" dirty="0">
                <a:cs typeface="B Nazanin" panose="00000400000000000000" pitchFamily="2" charset="-78"/>
              </a:rPr>
              <a:t>اهداف همسان سازی</a:t>
            </a:r>
          </a:p>
        </p:txBody>
      </p:sp>
      <p:sp>
        <p:nvSpPr>
          <p:cNvPr id="157" name="AutoShape 8">
            <a:extLst>
              <a:ext uri="{FF2B5EF4-FFF2-40B4-BE49-F238E27FC236}">
                <a16:creationId xmlns:a16="http://schemas.microsoft.com/office/drawing/2014/main" id="{B5862EDC-452E-4DF3-BF8D-680DE0577504}"/>
              </a:ext>
            </a:extLst>
          </p:cNvPr>
          <p:cNvSpPr>
            <a:spLocks noChangeAspect="1" noChangeArrowheads="1"/>
          </p:cNvSpPr>
          <p:nvPr/>
        </p:nvSpPr>
        <p:spPr bwMode="gray">
          <a:xfrm>
            <a:off x="4268152" y="2670060"/>
            <a:ext cx="392906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solidFill>
                  <a:srgbClr val="000000"/>
                </a:solidFill>
                <a:latin typeface="Times New Roman" panose="02020603050405020304" pitchFamily="18" charset="0"/>
                <a:cs typeface="B Nazanin" pitchFamily="2" charset="-78"/>
              </a:rPr>
              <a:t>حداقل رساندن زمان همسان سازی</a:t>
            </a:r>
            <a:endParaRPr lang="en-US" b="1" dirty="0">
              <a:solidFill>
                <a:srgbClr val="000000"/>
              </a:solidFill>
              <a:latin typeface="Times New Roman" panose="02020603050405020304" pitchFamily="18" charset="0"/>
              <a:cs typeface="B Nazanin" pitchFamily="2" charset="-78"/>
            </a:endParaRPr>
          </a:p>
        </p:txBody>
      </p:sp>
      <p:sp>
        <p:nvSpPr>
          <p:cNvPr id="158" name="AutoShape 8">
            <a:extLst>
              <a:ext uri="{FF2B5EF4-FFF2-40B4-BE49-F238E27FC236}">
                <a16:creationId xmlns:a16="http://schemas.microsoft.com/office/drawing/2014/main" id="{3B3A499C-E5A4-4F32-9CCC-AD714CA7AEF7}"/>
              </a:ext>
            </a:extLst>
          </p:cNvPr>
          <p:cNvSpPr>
            <a:spLocks noChangeAspect="1" noChangeArrowheads="1"/>
          </p:cNvSpPr>
          <p:nvPr/>
        </p:nvSpPr>
        <p:spPr bwMode="gray">
          <a:xfrm>
            <a:off x="4216868" y="4877401"/>
            <a:ext cx="392906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solidFill>
                  <a:srgbClr val="000000"/>
                </a:solidFill>
                <a:latin typeface="Times New Roman" panose="02020603050405020304" pitchFamily="18" charset="0"/>
                <a:cs typeface="B Nazanin" pitchFamily="2" charset="-78"/>
              </a:rPr>
              <a:t>حداقل رساندن انرژی همسان سازی</a:t>
            </a:r>
            <a:endParaRPr lang="en-US" b="1" dirty="0">
              <a:solidFill>
                <a:srgbClr val="000000"/>
              </a:solidFill>
              <a:latin typeface="Times New Roman" panose="02020603050405020304" pitchFamily="18" charset="0"/>
              <a:cs typeface="B Nazanin" pitchFamily="2" charset="-78"/>
            </a:endParaRPr>
          </a:p>
        </p:txBody>
      </p:sp>
      <p:grpSp>
        <p:nvGrpSpPr>
          <p:cNvPr id="168" name="Group 23">
            <a:extLst>
              <a:ext uri="{FF2B5EF4-FFF2-40B4-BE49-F238E27FC236}">
                <a16:creationId xmlns:a16="http://schemas.microsoft.com/office/drawing/2014/main" id="{480CFC9E-AE3C-48F6-BC4D-4934E415B67E}"/>
              </a:ext>
            </a:extLst>
          </p:cNvPr>
          <p:cNvGrpSpPr>
            <a:grpSpLocks noChangeAspect="1"/>
          </p:cNvGrpSpPr>
          <p:nvPr/>
        </p:nvGrpSpPr>
        <p:grpSpPr bwMode="auto">
          <a:xfrm>
            <a:off x="7998416" y="2738896"/>
            <a:ext cx="381000" cy="381000"/>
            <a:chOff x="2078" y="1680"/>
            <a:chExt cx="1615" cy="1615"/>
          </a:xfrm>
        </p:grpSpPr>
        <p:sp>
          <p:nvSpPr>
            <p:cNvPr id="169" name="Oval 24">
              <a:extLst>
                <a:ext uri="{FF2B5EF4-FFF2-40B4-BE49-F238E27FC236}">
                  <a16:creationId xmlns:a16="http://schemas.microsoft.com/office/drawing/2014/main" id="{CACFC30A-9877-4806-9B4C-587ACE150345}"/>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0" name="Oval 25">
              <a:extLst>
                <a:ext uri="{FF2B5EF4-FFF2-40B4-BE49-F238E27FC236}">
                  <a16:creationId xmlns:a16="http://schemas.microsoft.com/office/drawing/2014/main" id="{640C1602-143A-456B-BA22-7664A3DEFFCF}"/>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1" name="Oval 26">
              <a:extLst>
                <a:ext uri="{FF2B5EF4-FFF2-40B4-BE49-F238E27FC236}">
                  <a16:creationId xmlns:a16="http://schemas.microsoft.com/office/drawing/2014/main" id="{53792F8F-0D9C-4345-A703-F034640FA7A7}"/>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2" name="Oval 27">
              <a:extLst>
                <a:ext uri="{FF2B5EF4-FFF2-40B4-BE49-F238E27FC236}">
                  <a16:creationId xmlns:a16="http://schemas.microsoft.com/office/drawing/2014/main" id="{B29790E8-4F4B-4579-8A6B-FE3F9B0CAEF2}"/>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3" name="Oval 28">
              <a:extLst>
                <a:ext uri="{FF2B5EF4-FFF2-40B4-BE49-F238E27FC236}">
                  <a16:creationId xmlns:a16="http://schemas.microsoft.com/office/drawing/2014/main" id="{358C33BB-071D-4F24-839E-CC9C393EF0D8}"/>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4" name="Oval 29">
              <a:extLst>
                <a:ext uri="{FF2B5EF4-FFF2-40B4-BE49-F238E27FC236}">
                  <a16:creationId xmlns:a16="http://schemas.microsoft.com/office/drawing/2014/main" id="{4E06C84A-1EFC-44EA-B29A-11ED722DE85A}"/>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grpSp>
        <p:nvGrpSpPr>
          <p:cNvPr id="175" name="Group 23">
            <a:extLst>
              <a:ext uri="{FF2B5EF4-FFF2-40B4-BE49-F238E27FC236}">
                <a16:creationId xmlns:a16="http://schemas.microsoft.com/office/drawing/2014/main" id="{DBD88F74-281E-49A6-BC26-B30CBBAE64C9}"/>
              </a:ext>
            </a:extLst>
          </p:cNvPr>
          <p:cNvGrpSpPr>
            <a:grpSpLocks noChangeAspect="1"/>
          </p:cNvGrpSpPr>
          <p:nvPr/>
        </p:nvGrpSpPr>
        <p:grpSpPr bwMode="auto">
          <a:xfrm>
            <a:off x="7955551" y="4941255"/>
            <a:ext cx="381000" cy="381000"/>
            <a:chOff x="2078" y="1680"/>
            <a:chExt cx="1615" cy="1615"/>
          </a:xfrm>
        </p:grpSpPr>
        <p:sp>
          <p:nvSpPr>
            <p:cNvPr id="176" name="Oval 24">
              <a:extLst>
                <a:ext uri="{FF2B5EF4-FFF2-40B4-BE49-F238E27FC236}">
                  <a16:creationId xmlns:a16="http://schemas.microsoft.com/office/drawing/2014/main" id="{8B6A68AB-47EE-4BEB-9563-FC726BE4E43A}"/>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7" name="Oval 25">
              <a:extLst>
                <a:ext uri="{FF2B5EF4-FFF2-40B4-BE49-F238E27FC236}">
                  <a16:creationId xmlns:a16="http://schemas.microsoft.com/office/drawing/2014/main" id="{004826CD-E5CF-47B8-BD5C-D81E5D353CD7}"/>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8" name="Oval 26">
              <a:extLst>
                <a:ext uri="{FF2B5EF4-FFF2-40B4-BE49-F238E27FC236}">
                  <a16:creationId xmlns:a16="http://schemas.microsoft.com/office/drawing/2014/main" id="{3B71C91A-95B1-48A6-8F6E-2BCE30BA5067}"/>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9" name="Oval 27">
              <a:extLst>
                <a:ext uri="{FF2B5EF4-FFF2-40B4-BE49-F238E27FC236}">
                  <a16:creationId xmlns:a16="http://schemas.microsoft.com/office/drawing/2014/main" id="{4B68C4BF-098A-4123-BB53-98CECA7F4A81}"/>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80" name="Oval 28">
              <a:extLst>
                <a:ext uri="{FF2B5EF4-FFF2-40B4-BE49-F238E27FC236}">
                  <a16:creationId xmlns:a16="http://schemas.microsoft.com/office/drawing/2014/main" id="{3C5FE447-2DEF-4C03-AA66-D8D7E4B6E8E3}"/>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81" name="Oval 29">
              <a:extLst>
                <a:ext uri="{FF2B5EF4-FFF2-40B4-BE49-F238E27FC236}">
                  <a16:creationId xmlns:a16="http://schemas.microsoft.com/office/drawing/2014/main" id="{A8ADD6E4-DB30-4BEC-98B9-1D2EAA799DA1}"/>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40" name="AutoShape 3">
            <a:extLst>
              <a:ext uri="{FF2B5EF4-FFF2-40B4-BE49-F238E27FC236}">
                <a16:creationId xmlns:a16="http://schemas.microsoft.com/office/drawing/2014/main" id="{481E592A-A902-40E8-8D57-EEB2C886C06E}"/>
              </a:ext>
            </a:extLst>
          </p:cNvPr>
          <p:cNvSpPr>
            <a:spLocks noChangeAspect="1" noChangeArrowheads="1"/>
          </p:cNvSpPr>
          <p:nvPr/>
        </p:nvSpPr>
        <p:spPr bwMode="ltGray">
          <a:xfrm rot="16200000">
            <a:off x="7925789" y="2889558"/>
            <a:ext cx="2436423" cy="2374074"/>
          </a:xfrm>
          <a:custGeom>
            <a:avLst/>
            <a:gdLst>
              <a:gd name="G0" fmla="+- 56 0 0"/>
              <a:gd name="G1" fmla="+- 11796480 0 0"/>
              <a:gd name="G2" fmla="+- 0 0 11796480"/>
              <a:gd name="T0" fmla="*/ 0 256 1"/>
              <a:gd name="T1" fmla="*/ 180 256 1"/>
              <a:gd name="G3" fmla="+- 11796480 T0 T1"/>
              <a:gd name="T2" fmla="*/ 0 256 1"/>
              <a:gd name="T3" fmla="*/ 90 256 1"/>
              <a:gd name="G4" fmla="+- 11796480 T2 T3"/>
              <a:gd name="G5" fmla="*/ G4 2 1"/>
              <a:gd name="T4" fmla="*/ 90 256 1"/>
              <a:gd name="T5" fmla="*/ 0 256 1"/>
              <a:gd name="G6" fmla="+- 11796480 T4 T5"/>
              <a:gd name="G7" fmla="*/ G6 2 1"/>
              <a:gd name="G8" fmla="abs 11796480"/>
              <a:gd name="T6" fmla="*/ 0 256 1"/>
              <a:gd name="T7" fmla="*/ 90 256 1"/>
              <a:gd name="G9" fmla="+- G8 T6 T7"/>
              <a:gd name="G10" fmla="?: G9 G7 G5"/>
              <a:gd name="T8" fmla="*/ 0 256 1"/>
              <a:gd name="T9" fmla="*/ 360 256 1"/>
              <a:gd name="G11" fmla="+- G10 T8 T9"/>
              <a:gd name="G12" fmla="?: G10 G11 G10"/>
              <a:gd name="T10" fmla="*/ 0 256 1"/>
              <a:gd name="T11" fmla="*/ 360 256 1"/>
              <a:gd name="G13" fmla="+- G12 T10 T11"/>
              <a:gd name="G14" fmla="?: G12 G13 G12"/>
              <a:gd name="G15" fmla="+- 0 0 G14"/>
              <a:gd name="G16" fmla="+- 10800 0 0"/>
              <a:gd name="G17" fmla="+- 10800 0 56"/>
              <a:gd name="G18" fmla="*/ 56 1 2"/>
              <a:gd name="G19" fmla="+- G18 5400 0"/>
              <a:gd name="G20" fmla="cos G19 11796480"/>
              <a:gd name="G21" fmla="sin G19 11796480"/>
              <a:gd name="G22" fmla="+- G20 10800 0"/>
              <a:gd name="G23" fmla="+- G21 10800 0"/>
              <a:gd name="G24" fmla="+- 10800 0 G20"/>
              <a:gd name="G25" fmla="+- 56 10800 0"/>
              <a:gd name="G26" fmla="?: G9 G17 G25"/>
              <a:gd name="G27" fmla="?: G9 0 21600"/>
              <a:gd name="G28" fmla="cos 10800 11796480"/>
              <a:gd name="G29" fmla="sin 10800 11796480"/>
              <a:gd name="G30" fmla="sin 56 11796480"/>
              <a:gd name="G31" fmla="+- G28 10800 0"/>
              <a:gd name="G32" fmla="+- G29 10800 0"/>
              <a:gd name="G33" fmla="+- G30 10800 0"/>
              <a:gd name="G34" fmla="?: G4 0 G31"/>
              <a:gd name="G35" fmla="?: 11796480 G34 0"/>
              <a:gd name="G36" fmla="?: G6 G35 G31"/>
              <a:gd name="G37" fmla="+- 21600 0 G36"/>
              <a:gd name="G38" fmla="?: G4 0 G33"/>
              <a:gd name="G39" fmla="?: 11796480 G38 G32"/>
              <a:gd name="G40" fmla="?: G6 G39 0"/>
              <a:gd name="G41" fmla="?: G4 G32 21600"/>
              <a:gd name="G42" fmla="?: G6 G41 G33"/>
              <a:gd name="T12" fmla="*/ 10800 w 21600"/>
              <a:gd name="T13" fmla="*/ 0 h 21600"/>
              <a:gd name="T14" fmla="*/ 5372 w 21600"/>
              <a:gd name="T15" fmla="*/ 10800 h 21600"/>
              <a:gd name="T16" fmla="*/ 10800 w 21600"/>
              <a:gd name="T17" fmla="*/ 10744 h 21600"/>
              <a:gd name="T18" fmla="*/ 16228 w 21600"/>
              <a:gd name="T19" fmla="*/ 10800 h 21600"/>
              <a:gd name="T20" fmla="*/ G36 w 21600"/>
              <a:gd name="T21" fmla="*/ G40 h 21600"/>
              <a:gd name="T22" fmla="*/ G37 w 21600"/>
              <a:gd name="T23" fmla="*/ G42 h 21600"/>
            </a:gdLst>
            <a:ahLst/>
            <a:cxnLst>
              <a:cxn ang="0">
                <a:pos x="T12" y="T13"/>
              </a:cxn>
              <a:cxn ang="0">
                <a:pos x="T14" y="T15"/>
              </a:cxn>
              <a:cxn ang="0">
                <a:pos x="T16" y="T17"/>
              </a:cxn>
              <a:cxn ang="0">
                <a:pos x="T18" y="T19"/>
              </a:cxn>
            </a:cxnLst>
            <a:rect l="T20" t="T21" r="T22" b="T23"/>
            <a:pathLst>
              <a:path w="21600" h="21600">
                <a:moveTo>
                  <a:pt x="10744" y="10800"/>
                </a:moveTo>
                <a:cubicBezTo>
                  <a:pt x="10744" y="10769"/>
                  <a:pt x="10769" y="10744"/>
                  <a:pt x="10800" y="10744"/>
                </a:cubicBezTo>
                <a:cubicBezTo>
                  <a:pt x="10830" y="10743"/>
                  <a:pt x="10855" y="10769"/>
                  <a:pt x="10856" y="10799"/>
                </a:cubicBezTo>
                <a:lnTo>
                  <a:pt x="21600" y="10800"/>
                </a:lnTo>
                <a:cubicBezTo>
                  <a:pt x="21600" y="4835"/>
                  <a:pt x="16764" y="0"/>
                  <a:pt x="10800" y="0"/>
                </a:cubicBezTo>
                <a:cubicBezTo>
                  <a:pt x="4835" y="0"/>
                  <a:pt x="0" y="4835"/>
                  <a:pt x="0" y="10800"/>
                </a:cubicBezTo>
                <a:close/>
              </a:path>
            </a:pathLst>
          </a:custGeom>
          <a:gradFill rotWithShape="0">
            <a:gsLst>
              <a:gs pos="0">
                <a:srgbClr val="B8CCFE">
                  <a:gamma/>
                  <a:tint val="39216"/>
                  <a:invGamma/>
                </a:srgbClr>
              </a:gs>
              <a:gs pos="100000">
                <a:srgbClr val="B8CCFE"/>
              </a:gs>
            </a:gsLst>
            <a:lin ang="0" scaled="1"/>
          </a:gradFill>
          <a:ln w="0" algn="ctr">
            <a:noFill/>
            <a:miter lim="800000"/>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50" name="TextBox 49">
            <a:extLst>
              <a:ext uri="{FF2B5EF4-FFF2-40B4-BE49-F238E27FC236}">
                <a16:creationId xmlns:a16="http://schemas.microsoft.com/office/drawing/2014/main" id="{90C43403-B77E-474E-A638-C5BD6540DB40}"/>
              </a:ext>
            </a:extLst>
          </p:cNvPr>
          <p:cNvSpPr txBox="1"/>
          <p:nvPr/>
        </p:nvSpPr>
        <p:spPr>
          <a:xfrm>
            <a:off x="7595700" y="4944624"/>
            <a:ext cx="65" cy="276999"/>
          </a:xfrm>
          <a:prstGeom prst="rect">
            <a:avLst/>
          </a:prstGeom>
          <a:noFill/>
        </p:spPr>
        <p:txBody>
          <a:bodyPr wrap="none" lIns="0" tIns="0" rIns="0" bIns="0" rtlCol="0">
            <a:spAutoFit/>
          </a:bodyPr>
          <a:lstStyle/>
          <a:p>
            <a:endParaRPr lang="en-US" dirty="0"/>
          </a:p>
        </p:txBody>
      </p:sp>
      <p:pic>
        <p:nvPicPr>
          <p:cNvPr id="70" name="Picture 69">
            <a:extLst>
              <a:ext uri="{FF2B5EF4-FFF2-40B4-BE49-F238E27FC236}">
                <a16:creationId xmlns:a16="http://schemas.microsoft.com/office/drawing/2014/main" id="{C17EC267-B607-46C8-9DBF-B26628F2B82B}"/>
              </a:ext>
            </a:extLst>
          </p:cNvPr>
          <p:cNvPicPr>
            <a:picLocks noChangeAspect="1"/>
          </p:cNvPicPr>
          <p:nvPr/>
        </p:nvPicPr>
        <p:blipFill>
          <a:blip r:embed="rId3"/>
          <a:stretch>
            <a:fillRect/>
          </a:stretch>
        </p:blipFill>
        <p:spPr>
          <a:xfrm>
            <a:off x="740300" y="2068626"/>
            <a:ext cx="2252663" cy="1579514"/>
          </a:xfrm>
          <a:prstGeom prst="rect">
            <a:avLst/>
          </a:prstGeom>
        </p:spPr>
      </p:pic>
      <p:sp>
        <p:nvSpPr>
          <p:cNvPr id="71" name="Arrow: Left 8">
            <a:extLst>
              <a:ext uri="{FF2B5EF4-FFF2-40B4-BE49-F238E27FC236}">
                <a16:creationId xmlns:a16="http://schemas.microsoft.com/office/drawing/2014/main" id="{885AF64E-0448-429C-BCDF-56907CBFD9B5}"/>
              </a:ext>
            </a:extLst>
          </p:cNvPr>
          <p:cNvSpPr/>
          <p:nvPr/>
        </p:nvSpPr>
        <p:spPr>
          <a:xfrm>
            <a:off x="2541922" y="3762440"/>
            <a:ext cx="304800" cy="76200"/>
          </a:xfrm>
          <a:prstGeom prst="leftArrow">
            <a:avLst/>
          </a:prstGeom>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2" name="Straight Connector 71">
            <a:extLst>
              <a:ext uri="{FF2B5EF4-FFF2-40B4-BE49-F238E27FC236}">
                <a16:creationId xmlns:a16="http://schemas.microsoft.com/office/drawing/2014/main" id="{CA0BFFC7-B227-45A5-925E-FECEF55C79E2}"/>
              </a:ext>
            </a:extLst>
          </p:cNvPr>
          <p:cNvCxnSpPr>
            <a:cxnSpLocks/>
          </p:cNvCxnSpPr>
          <p:nvPr/>
        </p:nvCxnSpPr>
        <p:spPr>
          <a:xfrm flipH="1">
            <a:off x="2532956" y="2066264"/>
            <a:ext cx="8966" cy="1779789"/>
          </a:xfrm>
          <a:prstGeom prst="line">
            <a:avLst/>
          </a:prstGeom>
          <a:ln>
            <a:solidFill>
              <a:srgbClr val="C00000"/>
            </a:solidFill>
          </a:ln>
        </p:spPr>
        <p:style>
          <a:lnRef idx="1">
            <a:schemeClr val="accent1"/>
          </a:lnRef>
          <a:fillRef idx="0">
            <a:schemeClr val="accent1"/>
          </a:fillRef>
          <a:effectRef idx="0">
            <a:schemeClr val="accent1"/>
          </a:effectRef>
          <a:fontRef idx="minor">
            <a:schemeClr val="tx1"/>
          </a:fontRef>
        </p:style>
      </p:cxnSp>
      <p:pic>
        <p:nvPicPr>
          <p:cNvPr id="77" name="Picture 4" descr="Climate Innovation - Maximizing Part Load Efficiency">
            <a:extLst>
              <a:ext uri="{FF2B5EF4-FFF2-40B4-BE49-F238E27FC236}">
                <a16:creationId xmlns:a16="http://schemas.microsoft.com/office/drawing/2014/main" id="{263AA18B-D7D5-414A-9317-002C6489395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0538" y="4093418"/>
            <a:ext cx="1895272" cy="1895272"/>
          </a:xfrm>
          <a:prstGeom prst="rect">
            <a:avLst/>
          </a:prstGeom>
          <a:noFill/>
          <a:extLst>
            <a:ext uri="{909E8E84-426E-40DD-AFC4-6F175D3DCCD1}">
              <a14:hiddenFill xmlns:a14="http://schemas.microsoft.com/office/drawing/2010/main">
                <a:solidFill>
                  <a:srgbClr val="FFFFFF"/>
                </a:solidFill>
              </a14:hiddenFill>
            </a:ext>
          </a:extLst>
        </p:spPr>
      </p:pic>
      <p:sp>
        <p:nvSpPr>
          <p:cNvPr id="60" name="Rounded Rectangle 175">
            <a:extLst>
              <a:ext uri="{FF2B5EF4-FFF2-40B4-BE49-F238E27FC236}">
                <a16:creationId xmlns:a16="http://schemas.microsoft.com/office/drawing/2014/main" id="{D8E27344-2AB1-4A61-B14B-D9C7962F785E}"/>
              </a:ext>
            </a:extLst>
          </p:cNvPr>
          <p:cNvSpPr/>
          <p:nvPr/>
        </p:nvSpPr>
        <p:spPr bwMode="auto">
          <a:xfrm>
            <a:off x="6324600" y="1178018"/>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2000" b="1" dirty="0">
              <a:solidFill>
                <a:srgbClr val="FFFFFF"/>
              </a:solidFill>
              <a:latin typeface="Times New Roman" panose="02020603050405020304" pitchFamily="18" charset="0"/>
              <a:cs typeface="B Nazanin" panose="00000400000000000000" pitchFamily="2" charset="-78"/>
            </a:endParaRPr>
          </a:p>
        </p:txBody>
      </p:sp>
      <p:pic>
        <p:nvPicPr>
          <p:cNvPr id="61" name="Picture 60" descr="پرونده:Azad University logo.png - ویکی‌پدیا، دانشنامهٔ آزاد">
            <a:extLst>
              <a:ext uri="{FF2B5EF4-FFF2-40B4-BE49-F238E27FC236}">
                <a16:creationId xmlns:a16="http://schemas.microsoft.com/office/drawing/2014/main" id="{FA988D60-670C-406B-B8FB-D5A0053424E9}"/>
              </a:ext>
            </a:extLst>
          </p:cNvPr>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62" name="AutoShape 10">
            <a:extLst>
              <a:ext uri="{FF2B5EF4-FFF2-40B4-BE49-F238E27FC236}">
                <a16:creationId xmlns:a16="http://schemas.microsoft.com/office/drawing/2014/main" id="{96E6A76C-5024-445C-8373-4A127C8598B1}"/>
              </a:ext>
            </a:extLst>
          </p:cNvPr>
          <p:cNvSpPr>
            <a:spLocks noChangeArrowheads="1"/>
          </p:cNvSpPr>
          <p:nvPr/>
        </p:nvSpPr>
        <p:spPr bwMode="gray">
          <a:xfrm flipH="1">
            <a:off x="6244699" y="57140"/>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63" name="AutoShape 3">
            <a:extLst>
              <a:ext uri="{FF2B5EF4-FFF2-40B4-BE49-F238E27FC236}">
                <a16:creationId xmlns:a16="http://schemas.microsoft.com/office/drawing/2014/main" id="{C71EB997-3681-42CE-8D12-DC0BC893643A}"/>
              </a:ext>
            </a:extLst>
          </p:cNvPr>
          <p:cNvSpPr>
            <a:spLocks noChangeArrowheads="1"/>
          </p:cNvSpPr>
          <p:nvPr/>
        </p:nvSpPr>
        <p:spPr bwMode="gray">
          <a:xfrm flipH="1">
            <a:off x="161662" y="57140"/>
            <a:ext cx="1970868"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64" name="Rectangle 63">
            <a:extLst>
              <a:ext uri="{FF2B5EF4-FFF2-40B4-BE49-F238E27FC236}">
                <a16:creationId xmlns:a16="http://schemas.microsoft.com/office/drawing/2014/main" id="{C48087A2-0F0F-40A0-A837-05942D40B928}"/>
              </a:ext>
            </a:extLst>
          </p:cNvPr>
          <p:cNvSpPr/>
          <p:nvPr/>
        </p:nvSpPr>
        <p:spPr>
          <a:xfrm>
            <a:off x="431672" y="189466"/>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65" name="Rectangle 64">
            <a:extLst>
              <a:ext uri="{FF2B5EF4-FFF2-40B4-BE49-F238E27FC236}">
                <a16:creationId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66" name="AutoShape 10">
            <a:extLst>
              <a:ext uri="{FF2B5EF4-FFF2-40B4-BE49-F238E27FC236}">
                <a16:creationId xmlns:a16="http://schemas.microsoft.com/office/drawing/2014/main" id="{50B159E1-0AA0-4C32-86C7-52F5C5E0D242}"/>
              </a:ext>
            </a:extLst>
          </p:cNvPr>
          <p:cNvSpPr>
            <a:spLocks noChangeArrowheads="1"/>
          </p:cNvSpPr>
          <p:nvPr/>
        </p:nvSpPr>
        <p:spPr bwMode="gray">
          <a:xfrm flipH="1">
            <a:off x="2105458" y="54854"/>
            <a:ext cx="2137301" cy="651510"/>
          </a:xfrm>
          <a:prstGeom prst="chevron">
            <a:avLst>
              <a:gd name="adj" fmla="val 17842"/>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67" name="AutoShape 3">
            <a:extLst>
              <a:ext uri="{FF2B5EF4-FFF2-40B4-BE49-F238E27FC236}">
                <a16:creationId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68" name="Rectangle 67">
            <a:extLst>
              <a:ext uri="{FF2B5EF4-FFF2-40B4-BE49-F238E27FC236}">
                <a16:creationId xmlns:a16="http://schemas.microsoft.com/office/drawing/2014/main" id="{4DE55AA0-934E-4757-A2D4-1C4E49036DCD}"/>
              </a:ext>
            </a:extLst>
          </p:cNvPr>
          <p:cNvSpPr/>
          <p:nvPr/>
        </p:nvSpPr>
        <p:spPr>
          <a:xfrm>
            <a:off x="2402046" y="6407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69" name="Rectangle 68">
            <a:extLst>
              <a:ext uri="{FF2B5EF4-FFF2-40B4-BE49-F238E27FC236}">
                <a16:creationId xmlns:a16="http://schemas.microsoft.com/office/drawing/2014/main" id="{AC165A2D-60D3-440C-A112-7B419F7E72B2}"/>
              </a:ext>
            </a:extLst>
          </p:cNvPr>
          <p:cNvSpPr/>
          <p:nvPr/>
        </p:nvSpPr>
        <p:spPr>
          <a:xfrm>
            <a:off x="4529582"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 name="Slide Number Placeholder 1"/>
          <p:cNvSpPr>
            <a:spLocks noGrp="1"/>
          </p:cNvSpPr>
          <p:nvPr>
            <p:ph type="sldNum" sz="quarter" idx="12"/>
          </p:nvPr>
        </p:nvSpPr>
        <p:spPr/>
        <p:txBody>
          <a:bodyPr/>
          <a:lstStyle/>
          <a:p>
            <a:fld id="{7FC2E40A-4446-4E2B-B9AD-16F559E28E02}" type="slidenum">
              <a:rPr lang="en-US" smtClean="0"/>
              <a:t>40</a:t>
            </a:fld>
            <a:endParaRPr lang="en-US"/>
          </a:p>
        </p:txBody>
      </p:sp>
      <p:sp>
        <p:nvSpPr>
          <p:cNvPr id="37"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40</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150239732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Rounded Rectangle 175">
            <a:extLst>
              <a:ext uri="{FF2B5EF4-FFF2-40B4-BE49-F238E27FC236}">
                <a16:creationId xmlns:a16="http://schemas.microsoft.com/office/drawing/2014/main" id="{D8E27344-2AB1-4A61-B14B-D9C7962F785E}"/>
              </a:ext>
            </a:extLst>
          </p:cNvPr>
          <p:cNvSpPr/>
          <p:nvPr/>
        </p:nvSpPr>
        <p:spPr bwMode="auto">
          <a:xfrm>
            <a:off x="7456486" y="874277"/>
            <a:ext cx="1802143" cy="297229"/>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12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200" b="1" dirty="0">
              <a:solidFill>
                <a:srgbClr val="FFFFFF"/>
              </a:solidFill>
              <a:latin typeface="Times New Roman" panose="02020603050405020304" pitchFamily="18" charset="0"/>
              <a:cs typeface="B Nazanin" panose="00000400000000000000" pitchFamily="2" charset="-78"/>
            </a:endParaRPr>
          </a:p>
        </p:txBody>
      </p:sp>
      <p:pic>
        <p:nvPicPr>
          <p:cNvPr id="35" name="Picture 34" descr="پرونده:Azad University logo.png - ویکی‌پدیا، دانشنامهٔ آزاد">
            <a:extLst>
              <a:ext uri="{FF2B5EF4-FFF2-40B4-BE49-F238E27FC236}">
                <a16:creationId xmlns:a16="http://schemas.microsoft.com/office/drawing/2014/main" id="{FA988D60-670C-406B-B8FB-D5A0053424E9}"/>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36" name="AutoShape 10">
            <a:extLst>
              <a:ext uri="{FF2B5EF4-FFF2-40B4-BE49-F238E27FC236}">
                <a16:creationId xmlns:a16="http://schemas.microsoft.com/office/drawing/2014/main" id="{96E6A76C-5024-445C-8373-4A127C8598B1}"/>
              </a:ext>
            </a:extLst>
          </p:cNvPr>
          <p:cNvSpPr>
            <a:spLocks noChangeArrowheads="1"/>
          </p:cNvSpPr>
          <p:nvPr/>
        </p:nvSpPr>
        <p:spPr bwMode="gray">
          <a:xfrm flipH="1">
            <a:off x="6244699" y="57140"/>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7" name="AutoShape 3">
            <a:extLst>
              <a:ext uri="{FF2B5EF4-FFF2-40B4-BE49-F238E27FC236}">
                <a16:creationId xmlns:a16="http://schemas.microsoft.com/office/drawing/2014/main" id="{C71EB997-3681-42CE-8D12-DC0BC893643A}"/>
              </a:ext>
            </a:extLst>
          </p:cNvPr>
          <p:cNvSpPr>
            <a:spLocks noChangeArrowheads="1"/>
          </p:cNvSpPr>
          <p:nvPr/>
        </p:nvSpPr>
        <p:spPr bwMode="gray">
          <a:xfrm flipH="1">
            <a:off x="161662" y="57140"/>
            <a:ext cx="1970868"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8" name="Rectangle 37">
            <a:extLst>
              <a:ext uri="{FF2B5EF4-FFF2-40B4-BE49-F238E27FC236}">
                <a16:creationId xmlns:a16="http://schemas.microsoft.com/office/drawing/2014/main" id="{C48087A2-0F0F-40A0-A837-05942D40B928}"/>
              </a:ext>
            </a:extLst>
          </p:cNvPr>
          <p:cNvSpPr/>
          <p:nvPr/>
        </p:nvSpPr>
        <p:spPr>
          <a:xfrm>
            <a:off x="431672" y="189466"/>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9" name="Rectangle 38">
            <a:extLst>
              <a:ext uri="{FF2B5EF4-FFF2-40B4-BE49-F238E27FC236}">
                <a16:creationId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40" name="AutoShape 10">
            <a:extLst>
              <a:ext uri="{FF2B5EF4-FFF2-40B4-BE49-F238E27FC236}">
                <a16:creationId xmlns:a16="http://schemas.microsoft.com/office/drawing/2014/main" id="{50B159E1-0AA0-4C32-86C7-52F5C5E0D242}"/>
              </a:ext>
            </a:extLst>
          </p:cNvPr>
          <p:cNvSpPr>
            <a:spLocks noChangeArrowheads="1"/>
          </p:cNvSpPr>
          <p:nvPr/>
        </p:nvSpPr>
        <p:spPr bwMode="gray">
          <a:xfrm flipH="1">
            <a:off x="2105458" y="54854"/>
            <a:ext cx="2137301" cy="651510"/>
          </a:xfrm>
          <a:prstGeom prst="chevron">
            <a:avLst>
              <a:gd name="adj" fmla="val 17842"/>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1" name="AutoShape 3">
            <a:extLst>
              <a:ext uri="{FF2B5EF4-FFF2-40B4-BE49-F238E27FC236}">
                <a16:creationId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2" name="Rectangle 41">
            <a:extLst>
              <a:ext uri="{FF2B5EF4-FFF2-40B4-BE49-F238E27FC236}">
                <a16:creationId xmlns:a16="http://schemas.microsoft.com/office/drawing/2014/main" id="{4DE55AA0-934E-4757-A2D4-1C4E49036DCD}"/>
              </a:ext>
            </a:extLst>
          </p:cNvPr>
          <p:cNvSpPr/>
          <p:nvPr/>
        </p:nvSpPr>
        <p:spPr>
          <a:xfrm>
            <a:off x="2402046" y="6407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3" name="Rectangle 42">
            <a:extLst>
              <a:ext uri="{FF2B5EF4-FFF2-40B4-BE49-F238E27FC236}">
                <a16:creationId xmlns:a16="http://schemas.microsoft.com/office/drawing/2014/main" id="{AC165A2D-60D3-440C-A112-7B419F7E72B2}"/>
              </a:ext>
            </a:extLst>
          </p:cNvPr>
          <p:cNvSpPr/>
          <p:nvPr/>
        </p:nvSpPr>
        <p:spPr>
          <a:xfrm>
            <a:off x="4529582"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5" name="Rectangle 44"/>
          <p:cNvSpPr/>
          <p:nvPr/>
        </p:nvSpPr>
        <p:spPr>
          <a:xfrm>
            <a:off x="2348903" y="6430123"/>
            <a:ext cx="3922869" cy="369332"/>
          </a:xfrm>
          <a:prstGeom prst="rect">
            <a:avLst/>
          </a:prstGeom>
        </p:spPr>
        <p:txBody>
          <a:bodyPr wrap="none">
            <a:spAutoFit/>
          </a:bodyPr>
          <a:lstStyle/>
          <a:p>
            <a:pPr algn="r" rtl="1" fontAlgn="base">
              <a:spcBef>
                <a:spcPct val="0"/>
              </a:spcBef>
              <a:spcAft>
                <a:spcPct val="0"/>
              </a:spcAft>
            </a:pPr>
            <a:r>
              <a:rPr lang="fa-IR" dirty="0">
                <a:cs typeface="B Nazanin" panose="00000400000000000000" pitchFamily="2" charset="-78"/>
              </a:rPr>
              <a:t>ارزیابی توپولوژی‌های نام‌برده شده در ابعاد مختلف </a:t>
            </a:r>
            <a:r>
              <a:rPr lang="fa-IR" dirty="0">
                <a:solidFill>
                  <a:srgbClr val="61D6FF"/>
                </a:solidFill>
                <a:cs typeface="B Nazanin" panose="00000400000000000000" pitchFamily="2" charset="-78"/>
              </a:rPr>
              <a:t>[1]</a:t>
            </a:r>
            <a:r>
              <a:rPr lang="fa-IR" dirty="0">
                <a:cs typeface="B Nazanin" panose="00000400000000000000" pitchFamily="2" charset="-78"/>
              </a:rPr>
              <a:t>.</a:t>
            </a:r>
            <a:endParaRPr lang="en-US" dirty="0">
              <a:solidFill>
                <a:srgbClr val="000000"/>
              </a:solidFill>
              <a:latin typeface="Times New Roman" panose="02020603050405020304" pitchFamily="18" charset="0"/>
              <a:cs typeface="B Nazanin" pitchFamily="2" charset="-78"/>
            </a:endParaRPr>
          </a:p>
        </p:txBody>
      </p:sp>
      <p:graphicFrame>
        <p:nvGraphicFramePr>
          <p:cNvPr id="3" name="Table 2"/>
          <p:cNvGraphicFramePr>
            <a:graphicFrameLocks noGrp="1"/>
          </p:cNvGraphicFramePr>
          <p:nvPr>
            <p:extLst>
              <p:ext uri="{D42A27DB-BD31-4B8C-83A1-F6EECF244321}">
                <p14:modId xmlns:p14="http://schemas.microsoft.com/office/powerpoint/2010/main" val="1282533090"/>
              </p:ext>
            </p:extLst>
          </p:nvPr>
        </p:nvGraphicFramePr>
        <p:xfrm>
          <a:off x="234009" y="1293921"/>
          <a:ext cx="8229599" cy="4975460"/>
        </p:xfrm>
        <a:graphic>
          <a:graphicData uri="http://schemas.openxmlformats.org/drawingml/2006/table">
            <a:tbl>
              <a:tblPr rtl="1" firstRow="1" firstCol="1" bandRow="1"/>
              <a:tblGrid>
                <a:gridCol w="1175657">
                  <a:extLst>
                    <a:ext uri="{9D8B030D-6E8A-4147-A177-3AD203B41FA5}">
                      <a16:colId xmlns:a16="http://schemas.microsoft.com/office/drawing/2014/main" val="20000"/>
                    </a:ext>
                  </a:extLst>
                </a:gridCol>
                <a:gridCol w="1175657">
                  <a:extLst>
                    <a:ext uri="{9D8B030D-6E8A-4147-A177-3AD203B41FA5}">
                      <a16:colId xmlns:a16="http://schemas.microsoft.com/office/drawing/2014/main" val="20001"/>
                    </a:ext>
                  </a:extLst>
                </a:gridCol>
                <a:gridCol w="1175657">
                  <a:extLst>
                    <a:ext uri="{9D8B030D-6E8A-4147-A177-3AD203B41FA5}">
                      <a16:colId xmlns:a16="http://schemas.microsoft.com/office/drawing/2014/main" val="20002"/>
                    </a:ext>
                  </a:extLst>
                </a:gridCol>
                <a:gridCol w="1175657">
                  <a:extLst>
                    <a:ext uri="{9D8B030D-6E8A-4147-A177-3AD203B41FA5}">
                      <a16:colId xmlns:a16="http://schemas.microsoft.com/office/drawing/2014/main" val="20003"/>
                    </a:ext>
                  </a:extLst>
                </a:gridCol>
                <a:gridCol w="1175657">
                  <a:extLst>
                    <a:ext uri="{9D8B030D-6E8A-4147-A177-3AD203B41FA5}">
                      <a16:colId xmlns:a16="http://schemas.microsoft.com/office/drawing/2014/main" val="20004"/>
                    </a:ext>
                  </a:extLst>
                </a:gridCol>
                <a:gridCol w="1175657">
                  <a:extLst>
                    <a:ext uri="{9D8B030D-6E8A-4147-A177-3AD203B41FA5}">
                      <a16:colId xmlns:a16="http://schemas.microsoft.com/office/drawing/2014/main" val="20005"/>
                    </a:ext>
                  </a:extLst>
                </a:gridCol>
                <a:gridCol w="1175657">
                  <a:extLst>
                    <a:ext uri="{9D8B030D-6E8A-4147-A177-3AD203B41FA5}">
                      <a16:colId xmlns:a16="http://schemas.microsoft.com/office/drawing/2014/main" val="20006"/>
                    </a:ext>
                  </a:extLst>
                </a:gridCol>
              </a:tblGrid>
              <a:tr h="640080">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توپولوژی</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پیچیدگی در الگوریتم</a:t>
                      </a:r>
                      <a:endParaRPr lang="en-US"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توان تلفاتی</a:t>
                      </a:r>
                      <a:endParaRPr lang="en-US"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اندازه</a:t>
                      </a:r>
                      <a:endParaRPr lang="en-US"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هزینه</a:t>
                      </a:r>
                      <a:endParaRPr lang="en-US"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سرعت</a:t>
                      </a:r>
                      <a:endParaRPr lang="en-US"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میانگین</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extLst>
                  <a:ext uri="{0D108BD9-81ED-4DB2-BD59-A6C34878D82A}">
                    <a16:rowId xmlns:a16="http://schemas.microsoft.com/office/drawing/2014/main" val="10000"/>
                  </a:ext>
                </a:extLst>
              </a:tr>
              <a:tr h="640080">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انتقال بار سلول و پک باتری در قالب ماژول</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5</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2</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5</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3/6</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640080">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انتقال سلول به سلول مستقیم</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4</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5</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4</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1/4</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3/5</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r h="640080">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انتقال سریالی سلول به سلول در قالب ماژول</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5</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4</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1/8</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3/2</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r h="640080">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انتقال سریالی سلول به سلول</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5</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a:effectLst/>
                          <a:latin typeface="Times New Roman" panose="02020603050405020304" pitchFamily="18" charset="0"/>
                          <a:ea typeface="Calibri" panose="020F0502020204030204" pitchFamily="34" charset="0"/>
                          <a:cs typeface="B Lotus" panose="00000400000000000000" pitchFamily="2" charset="-78"/>
                        </a:rPr>
                        <a:t>1</a:t>
                      </a:r>
                      <a:endParaRPr lang="en-US" sz="1200" i="1">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5</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1/6</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3/1</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r h="640080">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انتقال سریالی سلول به سلول لایه‌ای</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4</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2/5</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1/5</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2/8</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r h="494900">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ترکیبی</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rtl="1">
                        <a:spcBef>
                          <a:spcPts val="600"/>
                        </a:spcBef>
                        <a:spcAft>
                          <a:spcPts val="600"/>
                        </a:spcAft>
                      </a:pPr>
                      <a:r>
                        <a:rPr lang="fa-IR" sz="1400" i="0">
                          <a:effectLst/>
                          <a:latin typeface="Times New Roman" panose="02020603050405020304" pitchFamily="18" charset="0"/>
                          <a:ea typeface="Calibri" panose="020F0502020204030204" pitchFamily="34" charset="0"/>
                          <a:cs typeface="B Lotus" panose="00000400000000000000" pitchFamily="2" charset="-78"/>
                        </a:rPr>
                        <a:t>3</a:t>
                      </a:r>
                      <a:endParaRPr lang="en-US" sz="1200" i="1">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a:effectLst/>
                          <a:latin typeface="Times New Roman" panose="02020603050405020304" pitchFamily="18" charset="0"/>
                          <a:ea typeface="Calibri" panose="020F0502020204030204" pitchFamily="34" charset="0"/>
                          <a:cs typeface="B Lotus" panose="00000400000000000000" pitchFamily="2" charset="-78"/>
                        </a:rPr>
                        <a:t>4</a:t>
                      </a:r>
                      <a:endParaRPr lang="en-US" sz="1200" i="1">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a:effectLst/>
                          <a:latin typeface="Times New Roman" panose="02020603050405020304" pitchFamily="18" charset="0"/>
                          <a:ea typeface="Calibri" panose="020F0502020204030204" pitchFamily="34" charset="0"/>
                          <a:cs typeface="B Lotus" panose="00000400000000000000" pitchFamily="2" charset="-78"/>
                        </a:rPr>
                        <a:t>1</a:t>
                      </a:r>
                      <a:endParaRPr lang="en-US" sz="1200" i="1">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a:effectLst/>
                          <a:latin typeface="Times New Roman" panose="02020603050405020304" pitchFamily="18" charset="0"/>
                          <a:ea typeface="Calibri" panose="020F0502020204030204" pitchFamily="34" charset="0"/>
                          <a:cs typeface="B Lotus" panose="00000400000000000000" pitchFamily="2" charset="-78"/>
                        </a:rPr>
                        <a:t>3</a:t>
                      </a:r>
                      <a:endParaRPr lang="en-US" sz="1200" i="1">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2/4</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2/7</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6"/>
                  </a:ext>
                </a:extLst>
              </a:tr>
              <a:tr h="640080">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انتقال بار سلول و پک باتری</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1</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4</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2/5</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1</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3/9</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2/5</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15"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41</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47294519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Picture 16"/>
          <p:cNvPicPr/>
          <p:nvPr/>
        </p:nvPicPr>
        <p:blipFill rotWithShape="1">
          <a:blip r:embed="rId3">
            <a:extLst>
              <a:ext uri="{28A0092B-C50C-407E-A947-70E740481C1C}">
                <a14:useLocalDpi xmlns:a14="http://schemas.microsoft.com/office/drawing/2010/main" val="0"/>
              </a:ext>
            </a:extLst>
          </a:blip>
          <a:srcRect b="1281"/>
          <a:stretch/>
        </p:blipFill>
        <p:spPr bwMode="auto">
          <a:xfrm>
            <a:off x="618951" y="2009934"/>
            <a:ext cx="8486677" cy="4194532"/>
          </a:xfrm>
          <a:prstGeom prst="rect">
            <a:avLst/>
          </a:prstGeom>
          <a:noFill/>
          <a:ln>
            <a:noFill/>
          </a:ln>
        </p:spPr>
      </p:pic>
      <p:sp>
        <p:nvSpPr>
          <p:cNvPr id="3" name="Rectangle 2"/>
          <p:cNvSpPr/>
          <p:nvPr/>
        </p:nvSpPr>
        <p:spPr>
          <a:xfrm>
            <a:off x="2910887" y="6152866"/>
            <a:ext cx="2767103" cy="369332"/>
          </a:xfrm>
          <a:prstGeom prst="rect">
            <a:avLst/>
          </a:prstGeom>
        </p:spPr>
        <p:txBody>
          <a:bodyPr wrap="none">
            <a:spAutoFit/>
          </a:bodyPr>
          <a:lstStyle/>
          <a:p>
            <a:pPr algn="r" rtl="1" fontAlgn="base">
              <a:spcBef>
                <a:spcPct val="0"/>
              </a:spcBef>
              <a:spcAft>
                <a:spcPct val="0"/>
              </a:spcAft>
            </a:pPr>
            <a:r>
              <a:rPr lang="fa-IR" dirty="0">
                <a:latin typeface="Times New Roman" panose="02020603050405020304" pitchFamily="18" charset="0"/>
                <a:cs typeface="B Lotus" panose="00000400000000000000" pitchFamily="2" charset="-78"/>
              </a:rPr>
              <a:t>مدار همسان سازی انتقال مجاور </a:t>
            </a:r>
            <a:r>
              <a:rPr lang="fa-IR" sz="1600" dirty="0">
                <a:solidFill>
                  <a:srgbClr val="61D6FF"/>
                </a:solidFill>
                <a:cs typeface="B Lotus" panose="00000400000000000000" pitchFamily="2" charset="-78"/>
              </a:rPr>
              <a:t>[1]</a:t>
            </a:r>
            <a:r>
              <a:rPr lang="fa-IR" sz="1600" b="1" dirty="0">
                <a:cs typeface="B Lotus" panose="00000400000000000000" pitchFamily="2" charset="-78"/>
              </a:rPr>
              <a:t>.</a:t>
            </a:r>
            <a:endParaRPr lang="en-US" b="1" dirty="0">
              <a:solidFill>
                <a:srgbClr val="000000"/>
              </a:solidFill>
              <a:latin typeface="Times New Roman" panose="02020603050405020304" pitchFamily="18" charset="0"/>
              <a:cs typeface="B Lotus" panose="00000400000000000000" pitchFamily="2" charset="-78"/>
            </a:endParaRPr>
          </a:p>
        </p:txBody>
      </p:sp>
      <p:sp>
        <p:nvSpPr>
          <p:cNvPr id="15" name="Rounded Rectangle 175">
            <a:extLst>
              <a:ext uri="{FF2B5EF4-FFF2-40B4-BE49-F238E27FC236}">
                <a16:creationId xmlns:a16="http://schemas.microsoft.com/office/drawing/2014/main" id="{D8E27344-2AB1-4A61-B14B-D9C7962F785E}"/>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2000" b="1" dirty="0">
              <a:solidFill>
                <a:srgbClr val="FFFFFF"/>
              </a:solidFill>
              <a:latin typeface="Times New Roman" panose="02020603050405020304" pitchFamily="18" charset="0"/>
              <a:cs typeface="B Nazanin" panose="00000400000000000000" pitchFamily="2" charset="-78"/>
            </a:endParaRPr>
          </a:p>
        </p:txBody>
      </p:sp>
      <p:pic>
        <p:nvPicPr>
          <p:cNvPr id="18" name="Picture 17" descr="پرونده:Azad University logo.png - ویکی‌پدیا، دانشنامهٔ آزاد">
            <a:extLst>
              <a:ext uri="{FF2B5EF4-FFF2-40B4-BE49-F238E27FC236}">
                <a16:creationId xmlns:a16="http://schemas.microsoft.com/office/drawing/2014/main"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4" name="AutoShape 10">
            <a:extLst>
              <a:ext uri="{FF2B5EF4-FFF2-40B4-BE49-F238E27FC236}">
                <a16:creationId xmlns:a16="http://schemas.microsoft.com/office/drawing/2014/main" id="{96E6A76C-5024-445C-8373-4A127C8598B1}"/>
              </a:ext>
            </a:extLst>
          </p:cNvPr>
          <p:cNvSpPr>
            <a:spLocks noChangeArrowheads="1"/>
          </p:cNvSpPr>
          <p:nvPr/>
        </p:nvSpPr>
        <p:spPr bwMode="gray">
          <a:xfrm flipH="1">
            <a:off x="6244699" y="57140"/>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5" name="AutoShape 3">
            <a:extLst>
              <a:ext uri="{FF2B5EF4-FFF2-40B4-BE49-F238E27FC236}">
                <a16:creationId xmlns:a16="http://schemas.microsoft.com/office/drawing/2014/main" id="{C71EB997-3681-42CE-8D12-DC0BC893643A}"/>
              </a:ext>
            </a:extLst>
          </p:cNvPr>
          <p:cNvSpPr>
            <a:spLocks noChangeArrowheads="1"/>
          </p:cNvSpPr>
          <p:nvPr/>
        </p:nvSpPr>
        <p:spPr bwMode="gray">
          <a:xfrm flipH="1">
            <a:off x="161662" y="57140"/>
            <a:ext cx="1970868"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6" name="Rectangle 25">
            <a:extLst>
              <a:ext uri="{FF2B5EF4-FFF2-40B4-BE49-F238E27FC236}">
                <a16:creationId xmlns:a16="http://schemas.microsoft.com/office/drawing/2014/main" id="{C48087A2-0F0F-40A0-A837-05942D40B928}"/>
              </a:ext>
            </a:extLst>
          </p:cNvPr>
          <p:cNvSpPr/>
          <p:nvPr/>
        </p:nvSpPr>
        <p:spPr>
          <a:xfrm>
            <a:off x="431672" y="189466"/>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7" name="Rectangle 26">
            <a:extLst>
              <a:ext uri="{FF2B5EF4-FFF2-40B4-BE49-F238E27FC236}">
                <a16:creationId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28" name="AutoShape 10">
            <a:extLst>
              <a:ext uri="{FF2B5EF4-FFF2-40B4-BE49-F238E27FC236}">
                <a16:creationId xmlns:a16="http://schemas.microsoft.com/office/drawing/2014/main" id="{50B159E1-0AA0-4C32-86C7-52F5C5E0D242}"/>
              </a:ext>
            </a:extLst>
          </p:cNvPr>
          <p:cNvSpPr>
            <a:spLocks noChangeArrowheads="1"/>
          </p:cNvSpPr>
          <p:nvPr/>
        </p:nvSpPr>
        <p:spPr bwMode="gray">
          <a:xfrm flipH="1">
            <a:off x="2105458" y="54854"/>
            <a:ext cx="2137301" cy="651510"/>
          </a:xfrm>
          <a:prstGeom prst="chevron">
            <a:avLst>
              <a:gd name="adj" fmla="val 17842"/>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9" name="AutoShape 3">
            <a:extLst>
              <a:ext uri="{FF2B5EF4-FFF2-40B4-BE49-F238E27FC236}">
                <a16:creationId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2" name="Rectangle 31">
            <a:extLst>
              <a:ext uri="{FF2B5EF4-FFF2-40B4-BE49-F238E27FC236}">
                <a16:creationId xmlns:a16="http://schemas.microsoft.com/office/drawing/2014/main" id="{4DE55AA0-934E-4757-A2D4-1C4E49036DCD}"/>
              </a:ext>
            </a:extLst>
          </p:cNvPr>
          <p:cNvSpPr/>
          <p:nvPr/>
        </p:nvSpPr>
        <p:spPr>
          <a:xfrm>
            <a:off x="2402046" y="6407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3" name="Rectangle 32">
            <a:extLst>
              <a:ext uri="{FF2B5EF4-FFF2-40B4-BE49-F238E27FC236}">
                <a16:creationId xmlns:a16="http://schemas.microsoft.com/office/drawing/2014/main" id="{AC165A2D-60D3-440C-A112-7B419F7E72B2}"/>
              </a:ext>
            </a:extLst>
          </p:cNvPr>
          <p:cNvSpPr/>
          <p:nvPr/>
        </p:nvSpPr>
        <p:spPr>
          <a:xfrm>
            <a:off x="4529582"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4" name="TextBox 33">
            <a:extLst>
              <a:ext uri="{FF2B5EF4-FFF2-40B4-BE49-F238E27FC236}">
                <a16:creationId xmlns:a16="http://schemas.microsoft.com/office/drawing/2014/main" id="{F43469DC-7F5B-471E-BD74-ED709E621F63}"/>
              </a:ext>
            </a:extLst>
          </p:cNvPr>
          <p:cNvSpPr txBox="1"/>
          <p:nvPr/>
        </p:nvSpPr>
        <p:spPr>
          <a:xfrm>
            <a:off x="7741141" y="1726687"/>
            <a:ext cx="1151276" cy="369332"/>
          </a:xfrm>
          <a:prstGeom prst="rect">
            <a:avLst/>
          </a:prstGeom>
          <a:noFill/>
        </p:spPr>
        <p:txBody>
          <a:bodyPr wrap="none" rtlCol="0">
            <a:spAutoFit/>
          </a:bodyPr>
          <a:lstStyle/>
          <a:p>
            <a:pPr algn="r" rtl="1"/>
            <a:r>
              <a:rPr lang="fa-IR" b="1" dirty="0">
                <a:cs typeface="B Nazanin" panose="00000400000000000000" pitchFamily="2" charset="-78"/>
              </a:rPr>
              <a:t>انتقال مجاور</a:t>
            </a:r>
          </a:p>
        </p:txBody>
      </p:sp>
      <p:sp>
        <p:nvSpPr>
          <p:cNvPr id="16"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42</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50263453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2026629" y="5791200"/>
            <a:ext cx="4297971" cy="369332"/>
          </a:xfrm>
          <a:prstGeom prst="rect">
            <a:avLst/>
          </a:prstGeom>
        </p:spPr>
        <p:txBody>
          <a:bodyPr wrap="none">
            <a:spAutoFit/>
          </a:bodyPr>
          <a:lstStyle/>
          <a:p>
            <a:pPr algn="r" rtl="1" fontAlgn="base">
              <a:spcBef>
                <a:spcPct val="0"/>
              </a:spcBef>
              <a:spcAft>
                <a:spcPct val="0"/>
              </a:spcAft>
            </a:pPr>
            <a:r>
              <a:rPr lang="fa-IR" b="1" dirty="0">
                <a:cs typeface="B Nazanin" panose="00000400000000000000" pitchFamily="2" charset="-78"/>
              </a:rPr>
              <a:t>ساختار همسان‌ساز ترانسفورماتور چندسیم‌پیچه </a:t>
            </a:r>
            <a:r>
              <a:rPr lang="fa-IR" dirty="0">
                <a:solidFill>
                  <a:srgbClr val="61D6FF"/>
                </a:solidFill>
                <a:cs typeface="B Nazanin" panose="00000400000000000000" pitchFamily="2" charset="-78"/>
              </a:rPr>
              <a:t>[1]</a:t>
            </a:r>
            <a:r>
              <a:rPr lang="fa-IR" b="1" dirty="0">
                <a:cs typeface="B Nazanin" panose="00000400000000000000" pitchFamily="2" charset="-78"/>
              </a:rPr>
              <a:t>. </a:t>
            </a:r>
            <a:endParaRPr lang="en-US" b="1" dirty="0">
              <a:solidFill>
                <a:srgbClr val="000000"/>
              </a:solidFill>
              <a:latin typeface="Times New Roman" panose="02020603050405020304" pitchFamily="18" charset="0"/>
              <a:cs typeface="B Nazanin" pitchFamily="2" charset="-78"/>
            </a:endParaRPr>
          </a:p>
        </p:txBody>
      </p:sp>
      <p:pic>
        <p:nvPicPr>
          <p:cNvPr id="18" name="Picture 17"/>
          <p:cNvPicPr/>
          <p:nvPr/>
        </p:nvPicPr>
        <p:blipFill>
          <a:blip r:embed="rId3">
            <a:extLst>
              <a:ext uri="{28A0092B-C50C-407E-A947-70E740481C1C}">
                <a14:useLocalDpi xmlns:a14="http://schemas.microsoft.com/office/drawing/2010/main" val="0"/>
              </a:ext>
            </a:extLst>
          </a:blip>
          <a:stretch>
            <a:fillRect/>
          </a:stretch>
        </p:blipFill>
        <p:spPr>
          <a:xfrm>
            <a:off x="346210" y="1343033"/>
            <a:ext cx="8350115" cy="4100508"/>
          </a:xfrm>
          <a:prstGeom prst="rect">
            <a:avLst/>
          </a:prstGeom>
        </p:spPr>
      </p:pic>
      <p:sp>
        <p:nvSpPr>
          <p:cNvPr id="35" name="Rounded Rectangle 175">
            <a:extLst>
              <a:ext uri="{FF2B5EF4-FFF2-40B4-BE49-F238E27FC236}">
                <a16:creationId xmlns:a16="http://schemas.microsoft.com/office/drawing/2014/main" id="{D8E27344-2AB1-4A61-B14B-D9C7962F785E}"/>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2000" b="1" dirty="0">
              <a:solidFill>
                <a:srgbClr val="FFFFFF"/>
              </a:solidFill>
              <a:latin typeface="Times New Roman" panose="02020603050405020304" pitchFamily="18" charset="0"/>
              <a:cs typeface="B Nazanin" panose="00000400000000000000" pitchFamily="2" charset="-78"/>
            </a:endParaRPr>
          </a:p>
        </p:txBody>
      </p:sp>
      <p:pic>
        <p:nvPicPr>
          <p:cNvPr id="36" name="Picture 35" descr="پرونده:Azad University logo.png - ویکی‌پدیا، دانشنامهٔ آزاد">
            <a:extLst>
              <a:ext uri="{FF2B5EF4-FFF2-40B4-BE49-F238E27FC236}">
                <a16:creationId xmlns:a16="http://schemas.microsoft.com/office/drawing/2014/main"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37" name="AutoShape 10">
            <a:extLst>
              <a:ext uri="{FF2B5EF4-FFF2-40B4-BE49-F238E27FC236}">
                <a16:creationId xmlns:a16="http://schemas.microsoft.com/office/drawing/2014/main" id="{96E6A76C-5024-445C-8373-4A127C8598B1}"/>
              </a:ext>
            </a:extLst>
          </p:cNvPr>
          <p:cNvSpPr>
            <a:spLocks noChangeArrowheads="1"/>
          </p:cNvSpPr>
          <p:nvPr/>
        </p:nvSpPr>
        <p:spPr bwMode="gray">
          <a:xfrm flipH="1">
            <a:off x="6244699" y="57140"/>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8" name="AutoShape 3">
            <a:extLst>
              <a:ext uri="{FF2B5EF4-FFF2-40B4-BE49-F238E27FC236}">
                <a16:creationId xmlns:a16="http://schemas.microsoft.com/office/drawing/2014/main" id="{C71EB997-3681-42CE-8D12-DC0BC893643A}"/>
              </a:ext>
            </a:extLst>
          </p:cNvPr>
          <p:cNvSpPr>
            <a:spLocks noChangeArrowheads="1"/>
          </p:cNvSpPr>
          <p:nvPr/>
        </p:nvSpPr>
        <p:spPr bwMode="gray">
          <a:xfrm flipH="1">
            <a:off x="161662" y="57140"/>
            <a:ext cx="1970868"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9" name="Rectangle 38">
            <a:extLst>
              <a:ext uri="{FF2B5EF4-FFF2-40B4-BE49-F238E27FC236}">
                <a16:creationId xmlns:a16="http://schemas.microsoft.com/office/drawing/2014/main" id="{C48087A2-0F0F-40A0-A837-05942D40B928}"/>
              </a:ext>
            </a:extLst>
          </p:cNvPr>
          <p:cNvSpPr/>
          <p:nvPr/>
        </p:nvSpPr>
        <p:spPr>
          <a:xfrm>
            <a:off x="431672" y="189466"/>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0" name="Rectangle 39">
            <a:extLst>
              <a:ext uri="{FF2B5EF4-FFF2-40B4-BE49-F238E27FC236}">
                <a16:creationId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41" name="AutoShape 10">
            <a:extLst>
              <a:ext uri="{FF2B5EF4-FFF2-40B4-BE49-F238E27FC236}">
                <a16:creationId xmlns:a16="http://schemas.microsoft.com/office/drawing/2014/main" id="{50B159E1-0AA0-4C32-86C7-52F5C5E0D242}"/>
              </a:ext>
            </a:extLst>
          </p:cNvPr>
          <p:cNvSpPr>
            <a:spLocks noChangeArrowheads="1"/>
          </p:cNvSpPr>
          <p:nvPr/>
        </p:nvSpPr>
        <p:spPr bwMode="gray">
          <a:xfrm flipH="1">
            <a:off x="2105458" y="54854"/>
            <a:ext cx="2137301" cy="651510"/>
          </a:xfrm>
          <a:prstGeom prst="chevron">
            <a:avLst>
              <a:gd name="adj" fmla="val 17842"/>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2" name="AutoShape 3">
            <a:extLst>
              <a:ext uri="{FF2B5EF4-FFF2-40B4-BE49-F238E27FC236}">
                <a16:creationId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3" name="Rectangle 42">
            <a:extLst>
              <a:ext uri="{FF2B5EF4-FFF2-40B4-BE49-F238E27FC236}">
                <a16:creationId xmlns:a16="http://schemas.microsoft.com/office/drawing/2014/main" id="{4DE55AA0-934E-4757-A2D4-1C4E49036DCD}"/>
              </a:ext>
            </a:extLst>
          </p:cNvPr>
          <p:cNvSpPr/>
          <p:nvPr/>
        </p:nvSpPr>
        <p:spPr>
          <a:xfrm>
            <a:off x="2402046" y="6407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4" name="Rectangle 43">
            <a:extLst>
              <a:ext uri="{FF2B5EF4-FFF2-40B4-BE49-F238E27FC236}">
                <a16:creationId xmlns:a16="http://schemas.microsoft.com/office/drawing/2014/main" id="{AC165A2D-60D3-440C-A112-7B419F7E72B2}"/>
              </a:ext>
            </a:extLst>
          </p:cNvPr>
          <p:cNvSpPr/>
          <p:nvPr/>
        </p:nvSpPr>
        <p:spPr>
          <a:xfrm>
            <a:off x="4529582"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5" name="TextBox 44">
            <a:extLst>
              <a:ext uri="{FF2B5EF4-FFF2-40B4-BE49-F238E27FC236}">
                <a16:creationId xmlns:a16="http://schemas.microsoft.com/office/drawing/2014/main" id="{F43469DC-7F5B-471E-BD74-ED709E621F63}"/>
              </a:ext>
            </a:extLst>
          </p:cNvPr>
          <p:cNvSpPr txBox="1"/>
          <p:nvPr/>
        </p:nvSpPr>
        <p:spPr>
          <a:xfrm>
            <a:off x="7404509" y="1726687"/>
            <a:ext cx="1487908" cy="369332"/>
          </a:xfrm>
          <a:prstGeom prst="rect">
            <a:avLst/>
          </a:prstGeom>
          <a:noFill/>
        </p:spPr>
        <p:txBody>
          <a:bodyPr wrap="none" rtlCol="0">
            <a:spAutoFit/>
          </a:bodyPr>
          <a:lstStyle/>
          <a:p>
            <a:pPr algn="r" rtl="1"/>
            <a:r>
              <a:rPr lang="fa-IR" b="1" dirty="0">
                <a:cs typeface="B Nazanin" panose="00000400000000000000" pitchFamily="2" charset="-78"/>
              </a:rPr>
              <a:t>انتقال غیر مجاور</a:t>
            </a:r>
          </a:p>
        </p:txBody>
      </p:sp>
      <p:sp>
        <p:nvSpPr>
          <p:cNvPr id="16"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43</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362938857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478942" y="6105269"/>
            <a:ext cx="2686954" cy="369332"/>
          </a:xfrm>
          <a:prstGeom prst="rect">
            <a:avLst/>
          </a:prstGeom>
        </p:spPr>
        <p:txBody>
          <a:bodyPr wrap="none">
            <a:spAutoFit/>
          </a:bodyPr>
          <a:lstStyle/>
          <a:p>
            <a:pPr algn="r" rtl="1" fontAlgn="base">
              <a:spcBef>
                <a:spcPct val="0"/>
              </a:spcBef>
              <a:spcAft>
                <a:spcPct val="0"/>
              </a:spcAft>
            </a:pPr>
            <a:r>
              <a:rPr lang="fa-IR" b="1" dirty="0">
                <a:cs typeface="B Nazanin" panose="00000400000000000000" pitchFamily="2" charset="-78"/>
              </a:rPr>
              <a:t>ساختار مدار سوئیچ خازنی </a:t>
            </a:r>
            <a:r>
              <a:rPr lang="fa-IR" dirty="0">
                <a:solidFill>
                  <a:srgbClr val="61D6FF"/>
                </a:solidFill>
                <a:cs typeface="B Nazanin" panose="00000400000000000000" pitchFamily="2" charset="-78"/>
              </a:rPr>
              <a:t>[1]</a:t>
            </a:r>
            <a:r>
              <a:rPr lang="fa-IR" b="1" dirty="0">
                <a:cs typeface="B Nazanin" panose="00000400000000000000" pitchFamily="2" charset="-78"/>
              </a:rPr>
              <a:t>.  </a:t>
            </a:r>
            <a:endParaRPr lang="en-US" b="1" dirty="0">
              <a:solidFill>
                <a:srgbClr val="000000"/>
              </a:solidFill>
              <a:latin typeface="Times New Roman" panose="02020603050405020304" pitchFamily="18" charset="0"/>
              <a:cs typeface="B Nazanin" pitchFamily="2" charset="-78"/>
            </a:endParaRPr>
          </a:p>
        </p:txBody>
      </p:sp>
      <p:pic>
        <p:nvPicPr>
          <p:cNvPr id="15" name="Picture 14"/>
          <p:cNvPicPr/>
          <p:nvPr/>
        </p:nvPicPr>
        <p:blipFill>
          <a:blip r:embed="rId3" cstate="print">
            <a:extLst>
              <a:ext uri="{28A0092B-C50C-407E-A947-70E740481C1C}">
                <a14:useLocalDpi xmlns:a14="http://schemas.microsoft.com/office/drawing/2010/main" val="0"/>
              </a:ext>
            </a:extLst>
          </a:blip>
          <a:stretch>
            <a:fillRect/>
          </a:stretch>
        </p:blipFill>
        <p:spPr bwMode="auto">
          <a:xfrm>
            <a:off x="693800" y="1946760"/>
            <a:ext cx="3751792" cy="4176558"/>
          </a:xfrm>
          <a:prstGeom prst="rect">
            <a:avLst/>
          </a:prstGeom>
          <a:noFill/>
          <a:ln>
            <a:noFill/>
          </a:ln>
        </p:spPr>
      </p:pic>
      <p:pic>
        <p:nvPicPr>
          <p:cNvPr id="4" name="Picture 3"/>
          <p:cNvPicPr>
            <a:picLocks noChangeAspect="1"/>
          </p:cNvPicPr>
          <p:nvPr/>
        </p:nvPicPr>
        <p:blipFill>
          <a:blip r:embed="rId4"/>
          <a:stretch>
            <a:fillRect/>
          </a:stretch>
        </p:blipFill>
        <p:spPr>
          <a:xfrm>
            <a:off x="5257800" y="1905000"/>
            <a:ext cx="3008569" cy="4167033"/>
          </a:xfrm>
          <a:prstGeom prst="rect">
            <a:avLst/>
          </a:prstGeom>
        </p:spPr>
      </p:pic>
      <p:sp>
        <p:nvSpPr>
          <p:cNvPr id="18" name="Rectangle 17"/>
          <p:cNvSpPr/>
          <p:nvPr/>
        </p:nvSpPr>
        <p:spPr>
          <a:xfrm>
            <a:off x="5058792" y="6123318"/>
            <a:ext cx="3067951" cy="369332"/>
          </a:xfrm>
          <a:prstGeom prst="rect">
            <a:avLst/>
          </a:prstGeom>
        </p:spPr>
        <p:txBody>
          <a:bodyPr wrap="square">
            <a:spAutoFit/>
          </a:bodyPr>
          <a:lstStyle/>
          <a:p>
            <a:pPr algn="r" rtl="1" fontAlgn="base">
              <a:spcBef>
                <a:spcPct val="0"/>
              </a:spcBef>
              <a:spcAft>
                <a:spcPct val="0"/>
              </a:spcAft>
            </a:pPr>
            <a:r>
              <a:rPr lang="fa-IR" b="1" dirty="0">
                <a:cs typeface="B Nazanin" panose="00000400000000000000" pitchFamily="2" charset="-78"/>
              </a:rPr>
              <a:t>ساختار مدار سوئیچ </a:t>
            </a:r>
            <a:r>
              <a:rPr lang="fa-IR" b="1" dirty="0" err="1">
                <a:cs typeface="B Nazanin" panose="00000400000000000000" pitchFamily="2" charset="-78"/>
              </a:rPr>
              <a:t>خازنی</a:t>
            </a:r>
            <a:r>
              <a:rPr lang="fa-IR" b="1" dirty="0">
                <a:cs typeface="B Nazanin" panose="00000400000000000000" pitchFamily="2" charset="-78"/>
              </a:rPr>
              <a:t> </a:t>
            </a:r>
            <a:r>
              <a:rPr lang="fa-IR" b="1" dirty="0" err="1">
                <a:cs typeface="B Nazanin" panose="00000400000000000000" pitchFamily="2" charset="-78"/>
              </a:rPr>
              <a:t>دوبل</a:t>
            </a:r>
            <a:r>
              <a:rPr lang="fa-IR" b="1" dirty="0">
                <a:cs typeface="B Nazanin" panose="00000400000000000000" pitchFamily="2" charset="-78"/>
              </a:rPr>
              <a:t> </a:t>
            </a:r>
            <a:r>
              <a:rPr lang="fa-IR" dirty="0">
                <a:solidFill>
                  <a:srgbClr val="61D6FF"/>
                </a:solidFill>
                <a:cs typeface="B Nazanin" panose="00000400000000000000" pitchFamily="2" charset="-78"/>
              </a:rPr>
              <a:t>[1]</a:t>
            </a:r>
            <a:r>
              <a:rPr lang="fa-IR" b="1" dirty="0">
                <a:cs typeface="B Nazanin" panose="00000400000000000000" pitchFamily="2" charset="-78"/>
              </a:rPr>
              <a:t>. </a:t>
            </a:r>
            <a:endParaRPr lang="en-US" b="1" dirty="0">
              <a:solidFill>
                <a:srgbClr val="000000"/>
              </a:solidFill>
              <a:latin typeface="Times New Roman" panose="02020603050405020304" pitchFamily="18" charset="0"/>
              <a:cs typeface="B Nazanin" pitchFamily="2" charset="-78"/>
            </a:endParaRPr>
          </a:p>
        </p:txBody>
      </p:sp>
      <p:sp>
        <p:nvSpPr>
          <p:cNvPr id="17" name="Rounded Rectangle 175">
            <a:extLst>
              <a:ext uri="{FF2B5EF4-FFF2-40B4-BE49-F238E27FC236}">
                <a16:creationId xmlns:a16="http://schemas.microsoft.com/office/drawing/2014/main" id="{D8E27344-2AB1-4A61-B14B-D9C7962F785E}"/>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2000" b="1" dirty="0">
              <a:solidFill>
                <a:srgbClr val="FFFFFF"/>
              </a:solidFill>
              <a:latin typeface="Times New Roman" panose="02020603050405020304" pitchFamily="18" charset="0"/>
              <a:cs typeface="B Nazanin" panose="00000400000000000000" pitchFamily="2" charset="-78"/>
            </a:endParaRPr>
          </a:p>
        </p:txBody>
      </p:sp>
      <p:pic>
        <p:nvPicPr>
          <p:cNvPr id="24" name="Picture 23" descr="پرونده:Azad University logo.png - ویکی‌پدیا، دانشنامهٔ آزاد">
            <a:extLst>
              <a:ext uri="{FF2B5EF4-FFF2-40B4-BE49-F238E27FC236}">
                <a16:creationId xmlns:a16="http://schemas.microsoft.com/office/drawing/2014/main" id="{FA988D60-670C-406B-B8FB-D5A0053424E9}"/>
              </a:ext>
            </a:extLst>
          </p:cNvPr>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5" name="AutoShape 10">
            <a:extLst>
              <a:ext uri="{FF2B5EF4-FFF2-40B4-BE49-F238E27FC236}">
                <a16:creationId xmlns:a16="http://schemas.microsoft.com/office/drawing/2014/main" id="{96E6A76C-5024-445C-8373-4A127C8598B1}"/>
              </a:ext>
            </a:extLst>
          </p:cNvPr>
          <p:cNvSpPr>
            <a:spLocks noChangeArrowheads="1"/>
          </p:cNvSpPr>
          <p:nvPr/>
        </p:nvSpPr>
        <p:spPr bwMode="gray">
          <a:xfrm flipH="1">
            <a:off x="6244699" y="57140"/>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6" name="AutoShape 3">
            <a:extLst>
              <a:ext uri="{FF2B5EF4-FFF2-40B4-BE49-F238E27FC236}">
                <a16:creationId xmlns:a16="http://schemas.microsoft.com/office/drawing/2014/main" id="{C71EB997-3681-42CE-8D12-DC0BC893643A}"/>
              </a:ext>
            </a:extLst>
          </p:cNvPr>
          <p:cNvSpPr>
            <a:spLocks noChangeArrowheads="1"/>
          </p:cNvSpPr>
          <p:nvPr/>
        </p:nvSpPr>
        <p:spPr bwMode="gray">
          <a:xfrm flipH="1">
            <a:off x="161662" y="57140"/>
            <a:ext cx="1970868"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7" name="Rectangle 26">
            <a:extLst>
              <a:ext uri="{FF2B5EF4-FFF2-40B4-BE49-F238E27FC236}">
                <a16:creationId xmlns:a16="http://schemas.microsoft.com/office/drawing/2014/main" id="{C48087A2-0F0F-40A0-A837-05942D40B928}"/>
              </a:ext>
            </a:extLst>
          </p:cNvPr>
          <p:cNvSpPr/>
          <p:nvPr/>
        </p:nvSpPr>
        <p:spPr>
          <a:xfrm>
            <a:off x="431672" y="189466"/>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8" name="Rectangle 27">
            <a:extLst>
              <a:ext uri="{FF2B5EF4-FFF2-40B4-BE49-F238E27FC236}">
                <a16:creationId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29" name="AutoShape 10">
            <a:extLst>
              <a:ext uri="{FF2B5EF4-FFF2-40B4-BE49-F238E27FC236}">
                <a16:creationId xmlns:a16="http://schemas.microsoft.com/office/drawing/2014/main" id="{50B159E1-0AA0-4C32-86C7-52F5C5E0D242}"/>
              </a:ext>
            </a:extLst>
          </p:cNvPr>
          <p:cNvSpPr>
            <a:spLocks noChangeArrowheads="1"/>
          </p:cNvSpPr>
          <p:nvPr/>
        </p:nvSpPr>
        <p:spPr bwMode="gray">
          <a:xfrm flipH="1">
            <a:off x="2105458" y="54854"/>
            <a:ext cx="2137301" cy="651510"/>
          </a:xfrm>
          <a:prstGeom prst="chevron">
            <a:avLst>
              <a:gd name="adj" fmla="val 17842"/>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2" name="AutoShape 3">
            <a:extLst>
              <a:ext uri="{FF2B5EF4-FFF2-40B4-BE49-F238E27FC236}">
                <a16:creationId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3" name="Rectangle 32">
            <a:extLst>
              <a:ext uri="{FF2B5EF4-FFF2-40B4-BE49-F238E27FC236}">
                <a16:creationId xmlns:a16="http://schemas.microsoft.com/office/drawing/2014/main" id="{4DE55AA0-934E-4757-A2D4-1C4E49036DCD}"/>
              </a:ext>
            </a:extLst>
          </p:cNvPr>
          <p:cNvSpPr/>
          <p:nvPr/>
        </p:nvSpPr>
        <p:spPr>
          <a:xfrm>
            <a:off x="2402046" y="6407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4" name="Rectangle 33">
            <a:extLst>
              <a:ext uri="{FF2B5EF4-FFF2-40B4-BE49-F238E27FC236}">
                <a16:creationId xmlns:a16="http://schemas.microsoft.com/office/drawing/2014/main" id="{AC165A2D-60D3-440C-A112-7B419F7E72B2}"/>
              </a:ext>
            </a:extLst>
          </p:cNvPr>
          <p:cNvSpPr/>
          <p:nvPr/>
        </p:nvSpPr>
        <p:spPr>
          <a:xfrm>
            <a:off x="4529582"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5" name="TextBox 34">
            <a:extLst>
              <a:ext uri="{FF2B5EF4-FFF2-40B4-BE49-F238E27FC236}">
                <a16:creationId xmlns:a16="http://schemas.microsoft.com/office/drawing/2014/main" id="{F43469DC-7F5B-471E-BD74-ED709E621F63}"/>
              </a:ext>
            </a:extLst>
          </p:cNvPr>
          <p:cNvSpPr txBox="1"/>
          <p:nvPr/>
        </p:nvSpPr>
        <p:spPr>
          <a:xfrm>
            <a:off x="7741141" y="1726687"/>
            <a:ext cx="1151276" cy="369332"/>
          </a:xfrm>
          <a:prstGeom prst="rect">
            <a:avLst/>
          </a:prstGeom>
          <a:noFill/>
        </p:spPr>
        <p:txBody>
          <a:bodyPr wrap="none" rtlCol="0">
            <a:spAutoFit/>
          </a:bodyPr>
          <a:lstStyle/>
          <a:p>
            <a:pPr algn="r" rtl="1"/>
            <a:r>
              <a:rPr lang="fa-IR" b="1" dirty="0">
                <a:cs typeface="B Nazanin" panose="00000400000000000000" pitchFamily="2" charset="-78"/>
              </a:rPr>
              <a:t>انتقال مجاور</a:t>
            </a:r>
          </a:p>
        </p:txBody>
      </p:sp>
      <p:sp>
        <p:nvSpPr>
          <p:cNvPr id="2" name="Slide Number Placeholder 1"/>
          <p:cNvSpPr>
            <a:spLocks noGrp="1"/>
          </p:cNvSpPr>
          <p:nvPr>
            <p:ph type="sldNum" sz="quarter" idx="12"/>
          </p:nvPr>
        </p:nvSpPr>
        <p:spPr/>
        <p:txBody>
          <a:bodyPr/>
          <a:lstStyle/>
          <a:p>
            <a:fld id="{7FC2E40A-4446-4E2B-B9AD-16F559E28E02}" type="slidenum">
              <a:rPr lang="en-US" smtClean="0"/>
              <a:t>44</a:t>
            </a:fld>
            <a:endParaRPr lang="en-US"/>
          </a:p>
        </p:txBody>
      </p:sp>
      <p:sp>
        <p:nvSpPr>
          <p:cNvPr id="19"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44</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391138939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3" name="AutoShape 2">
            <a:extLst>
              <a:ext uri="{FF2B5EF4-FFF2-40B4-BE49-F238E27FC236}">
                <a16:creationId xmlns:a16="http://schemas.microsoft.com/office/drawing/2014/main" id="{497A908A-E454-4B9F-A07D-96505D4C7818}"/>
              </a:ext>
            </a:extLst>
          </p:cNvPr>
          <p:cNvSpPr>
            <a:spLocks noChangeAspect="1" noChangeArrowheads="1"/>
          </p:cNvSpPr>
          <p:nvPr/>
        </p:nvSpPr>
        <p:spPr bwMode="ltGray">
          <a:xfrm rot="16200000" flipH="1">
            <a:off x="6766228" y="1978026"/>
            <a:ext cx="4824413" cy="4770438"/>
          </a:xfrm>
          <a:custGeom>
            <a:avLst/>
            <a:gdLst>
              <a:gd name="G0" fmla="+- 10478 0 0"/>
              <a:gd name="G1" fmla="+- -11739500 0 0"/>
              <a:gd name="G2" fmla="+- 0 0 -11739500"/>
              <a:gd name="T0" fmla="*/ 0 256 1"/>
              <a:gd name="T1" fmla="*/ 180 256 1"/>
              <a:gd name="G3" fmla="+- -11739500 T0 T1"/>
              <a:gd name="T2" fmla="*/ 0 256 1"/>
              <a:gd name="T3" fmla="*/ 90 256 1"/>
              <a:gd name="G4" fmla="+- -11739500 T2 T3"/>
              <a:gd name="G5" fmla="*/ G4 2 1"/>
              <a:gd name="T4" fmla="*/ 90 256 1"/>
              <a:gd name="T5" fmla="*/ 0 256 1"/>
              <a:gd name="G6" fmla="+- -11739500 T4 T5"/>
              <a:gd name="G7" fmla="*/ G6 2 1"/>
              <a:gd name="G8" fmla="abs -11739500"/>
              <a:gd name="T6" fmla="*/ 0 256 1"/>
              <a:gd name="T7" fmla="*/ 90 256 1"/>
              <a:gd name="G9" fmla="+- G8 T6 T7"/>
              <a:gd name="G10" fmla="?: G9 G7 G5"/>
              <a:gd name="T8" fmla="*/ 0 256 1"/>
              <a:gd name="T9" fmla="*/ 360 256 1"/>
              <a:gd name="G11" fmla="+- G10 T8 T9"/>
              <a:gd name="G12" fmla="?: G10 G11 G10"/>
              <a:gd name="T10" fmla="*/ 0 256 1"/>
              <a:gd name="T11" fmla="*/ 360 256 1"/>
              <a:gd name="G13" fmla="+- G12 T10 T11"/>
              <a:gd name="G14" fmla="?: G12 G13 G12"/>
              <a:gd name="G15" fmla="+- 0 0 G14"/>
              <a:gd name="G16" fmla="+- 10800 0 0"/>
              <a:gd name="G17" fmla="+- 10800 0 10478"/>
              <a:gd name="G18" fmla="*/ 10478 1 2"/>
              <a:gd name="G19" fmla="+- G18 5400 0"/>
              <a:gd name="G20" fmla="cos G19 -11739500"/>
              <a:gd name="G21" fmla="sin G19 -11739500"/>
              <a:gd name="G22" fmla="+- G20 10800 0"/>
              <a:gd name="G23" fmla="+- G21 10800 0"/>
              <a:gd name="G24" fmla="+- 10800 0 G20"/>
              <a:gd name="G25" fmla="+- 10478 10800 0"/>
              <a:gd name="G26" fmla="?: G9 G17 G25"/>
              <a:gd name="G27" fmla="?: G9 0 21600"/>
              <a:gd name="G28" fmla="cos 10800 -11739500"/>
              <a:gd name="G29" fmla="sin 10800 -11739500"/>
              <a:gd name="G30" fmla="sin 10478 -11739500"/>
              <a:gd name="G31" fmla="+- G28 10800 0"/>
              <a:gd name="G32" fmla="+- G29 10800 0"/>
              <a:gd name="G33" fmla="+- G30 10800 0"/>
              <a:gd name="G34" fmla="?: G4 0 G31"/>
              <a:gd name="G35" fmla="?: -11739500 G34 0"/>
              <a:gd name="G36" fmla="?: G6 G35 G31"/>
              <a:gd name="G37" fmla="+- 21600 0 G36"/>
              <a:gd name="G38" fmla="?: G4 0 G33"/>
              <a:gd name="G39" fmla="?: -11739500 G38 G32"/>
              <a:gd name="G40" fmla="?: G6 G39 0"/>
              <a:gd name="G41" fmla="?: G4 G32 21600"/>
              <a:gd name="G42" fmla="?: G6 G41 G33"/>
              <a:gd name="T12" fmla="*/ 10800 w 21600"/>
              <a:gd name="T13" fmla="*/ 0 h 21600"/>
              <a:gd name="T14" fmla="*/ 162 w 21600"/>
              <a:gd name="T15" fmla="*/ 10638 h 21600"/>
              <a:gd name="T16" fmla="*/ 10800 w 21600"/>
              <a:gd name="T17" fmla="*/ 322 h 21600"/>
              <a:gd name="T18" fmla="*/ 21438 w 21600"/>
              <a:gd name="T19" fmla="*/ 10638 h 21600"/>
              <a:gd name="T20" fmla="*/ G36 w 21600"/>
              <a:gd name="T21" fmla="*/ G40 h 21600"/>
              <a:gd name="T22" fmla="*/ G37 w 21600"/>
              <a:gd name="T23" fmla="*/ G42 h 21600"/>
            </a:gdLst>
            <a:ahLst/>
            <a:cxnLst>
              <a:cxn ang="0">
                <a:pos x="T12" y="T13"/>
              </a:cxn>
              <a:cxn ang="0">
                <a:pos x="T14" y="T15"/>
              </a:cxn>
              <a:cxn ang="0">
                <a:pos x="T16" y="T17"/>
              </a:cxn>
              <a:cxn ang="0">
                <a:pos x="T18" y="T19"/>
              </a:cxn>
            </a:cxnLst>
            <a:rect l="T20" t="T21" r="T22" b="T23"/>
            <a:pathLst>
              <a:path w="21600" h="21600">
                <a:moveTo>
                  <a:pt x="323" y="10641"/>
                </a:moveTo>
                <a:cubicBezTo>
                  <a:pt x="410" y="4916"/>
                  <a:pt x="5075" y="321"/>
                  <a:pt x="10800" y="322"/>
                </a:cubicBezTo>
                <a:cubicBezTo>
                  <a:pt x="16524" y="322"/>
                  <a:pt x="21189" y="4916"/>
                  <a:pt x="21276" y="10641"/>
                </a:cubicBezTo>
                <a:lnTo>
                  <a:pt x="21598" y="10636"/>
                </a:lnTo>
                <a:cubicBezTo>
                  <a:pt x="21509" y="4736"/>
                  <a:pt x="16700" y="-1"/>
                  <a:pt x="10799" y="0"/>
                </a:cubicBezTo>
                <a:cubicBezTo>
                  <a:pt x="4899" y="0"/>
                  <a:pt x="90" y="4736"/>
                  <a:pt x="1" y="10636"/>
                </a:cubicBezTo>
                <a:close/>
              </a:path>
            </a:pathLst>
          </a:custGeom>
          <a:gradFill rotWithShape="0">
            <a:gsLst>
              <a:gs pos="0">
                <a:srgbClr val="B0BAD8">
                  <a:gamma/>
                  <a:tint val="45490"/>
                  <a:invGamma/>
                </a:srgbClr>
              </a:gs>
              <a:gs pos="100000">
                <a:srgbClr val="B0BAD8"/>
              </a:gs>
            </a:gsLst>
            <a:lin ang="0" scaled="1"/>
          </a:gradFill>
          <a:ln w="9525" algn="ctr">
            <a:noFill/>
            <a:miter lim="800000"/>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124" name="AutoShape 3">
            <a:extLst>
              <a:ext uri="{FF2B5EF4-FFF2-40B4-BE49-F238E27FC236}">
                <a16:creationId xmlns:a16="http://schemas.microsoft.com/office/drawing/2014/main" id="{481E592A-A902-40E8-8D57-EEB2C886C06E}"/>
              </a:ext>
            </a:extLst>
          </p:cNvPr>
          <p:cNvSpPr>
            <a:spLocks noChangeAspect="1" noChangeArrowheads="1"/>
          </p:cNvSpPr>
          <p:nvPr/>
        </p:nvSpPr>
        <p:spPr bwMode="ltGray">
          <a:xfrm rot="16200000">
            <a:off x="7127876" y="2413794"/>
            <a:ext cx="4032250" cy="3929063"/>
          </a:xfrm>
          <a:custGeom>
            <a:avLst/>
            <a:gdLst>
              <a:gd name="G0" fmla="+- 56 0 0"/>
              <a:gd name="G1" fmla="+- 11796480 0 0"/>
              <a:gd name="G2" fmla="+- 0 0 11796480"/>
              <a:gd name="T0" fmla="*/ 0 256 1"/>
              <a:gd name="T1" fmla="*/ 180 256 1"/>
              <a:gd name="G3" fmla="+- 11796480 T0 T1"/>
              <a:gd name="T2" fmla="*/ 0 256 1"/>
              <a:gd name="T3" fmla="*/ 90 256 1"/>
              <a:gd name="G4" fmla="+- 11796480 T2 T3"/>
              <a:gd name="G5" fmla="*/ G4 2 1"/>
              <a:gd name="T4" fmla="*/ 90 256 1"/>
              <a:gd name="T5" fmla="*/ 0 256 1"/>
              <a:gd name="G6" fmla="+- 11796480 T4 T5"/>
              <a:gd name="G7" fmla="*/ G6 2 1"/>
              <a:gd name="G8" fmla="abs 11796480"/>
              <a:gd name="T6" fmla="*/ 0 256 1"/>
              <a:gd name="T7" fmla="*/ 90 256 1"/>
              <a:gd name="G9" fmla="+- G8 T6 T7"/>
              <a:gd name="G10" fmla="?: G9 G7 G5"/>
              <a:gd name="T8" fmla="*/ 0 256 1"/>
              <a:gd name="T9" fmla="*/ 360 256 1"/>
              <a:gd name="G11" fmla="+- G10 T8 T9"/>
              <a:gd name="G12" fmla="?: G10 G11 G10"/>
              <a:gd name="T10" fmla="*/ 0 256 1"/>
              <a:gd name="T11" fmla="*/ 360 256 1"/>
              <a:gd name="G13" fmla="+- G12 T10 T11"/>
              <a:gd name="G14" fmla="?: G12 G13 G12"/>
              <a:gd name="G15" fmla="+- 0 0 G14"/>
              <a:gd name="G16" fmla="+- 10800 0 0"/>
              <a:gd name="G17" fmla="+- 10800 0 56"/>
              <a:gd name="G18" fmla="*/ 56 1 2"/>
              <a:gd name="G19" fmla="+- G18 5400 0"/>
              <a:gd name="G20" fmla="cos G19 11796480"/>
              <a:gd name="G21" fmla="sin G19 11796480"/>
              <a:gd name="G22" fmla="+- G20 10800 0"/>
              <a:gd name="G23" fmla="+- G21 10800 0"/>
              <a:gd name="G24" fmla="+- 10800 0 G20"/>
              <a:gd name="G25" fmla="+- 56 10800 0"/>
              <a:gd name="G26" fmla="?: G9 G17 G25"/>
              <a:gd name="G27" fmla="?: G9 0 21600"/>
              <a:gd name="G28" fmla="cos 10800 11796480"/>
              <a:gd name="G29" fmla="sin 10800 11796480"/>
              <a:gd name="G30" fmla="sin 56 11796480"/>
              <a:gd name="G31" fmla="+- G28 10800 0"/>
              <a:gd name="G32" fmla="+- G29 10800 0"/>
              <a:gd name="G33" fmla="+- G30 10800 0"/>
              <a:gd name="G34" fmla="?: G4 0 G31"/>
              <a:gd name="G35" fmla="?: 11796480 G34 0"/>
              <a:gd name="G36" fmla="?: G6 G35 G31"/>
              <a:gd name="G37" fmla="+- 21600 0 G36"/>
              <a:gd name="G38" fmla="?: G4 0 G33"/>
              <a:gd name="G39" fmla="?: 11796480 G38 G32"/>
              <a:gd name="G40" fmla="?: G6 G39 0"/>
              <a:gd name="G41" fmla="?: G4 G32 21600"/>
              <a:gd name="G42" fmla="?: G6 G41 G33"/>
              <a:gd name="T12" fmla="*/ 10800 w 21600"/>
              <a:gd name="T13" fmla="*/ 0 h 21600"/>
              <a:gd name="T14" fmla="*/ 5372 w 21600"/>
              <a:gd name="T15" fmla="*/ 10800 h 21600"/>
              <a:gd name="T16" fmla="*/ 10800 w 21600"/>
              <a:gd name="T17" fmla="*/ 10744 h 21600"/>
              <a:gd name="T18" fmla="*/ 16228 w 21600"/>
              <a:gd name="T19" fmla="*/ 10800 h 21600"/>
              <a:gd name="T20" fmla="*/ G36 w 21600"/>
              <a:gd name="T21" fmla="*/ G40 h 21600"/>
              <a:gd name="T22" fmla="*/ G37 w 21600"/>
              <a:gd name="T23" fmla="*/ G42 h 21600"/>
            </a:gdLst>
            <a:ahLst/>
            <a:cxnLst>
              <a:cxn ang="0">
                <a:pos x="T12" y="T13"/>
              </a:cxn>
              <a:cxn ang="0">
                <a:pos x="T14" y="T15"/>
              </a:cxn>
              <a:cxn ang="0">
                <a:pos x="T16" y="T17"/>
              </a:cxn>
              <a:cxn ang="0">
                <a:pos x="T18" y="T19"/>
              </a:cxn>
            </a:cxnLst>
            <a:rect l="T20" t="T21" r="T22" b="T23"/>
            <a:pathLst>
              <a:path w="21600" h="21600">
                <a:moveTo>
                  <a:pt x="10744" y="10800"/>
                </a:moveTo>
                <a:cubicBezTo>
                  <a:pt x="10744" y="10769"/>
                  <a:pt x="10769" y="10744"/>
                  <a:pt x="10800" y="10744"/>
                </a:cubicBezTo>
                <a:cubicBezTo>
                  <a:pt x="10830" y="10743"/>
                  <a:pt x="10855" y="10769"/>
                  <a:pt x="10856" y="10799"/>
                </a:cubicBezTo>
                <a:lnTo>
                  <a:pt x="21600" y="10800"/>
                </a:lnTo>
                <a:cubicBezTo>
                  <a:pt x="21600" y="4835"/>
                  <a:pt x="16764" y="0"/>
                  <a:pt x="10800" y="0"/>
                </a:cubicBezTo>
                <a:cubicBezTo>
                  <a:pt x="4835" y="0"/>
                  <a:pt x="0" y="4835"/>
                  <a:pt x="0" y="10800"/>
                </a:cubicBezTo>
                <a:close/>
              </a:path>
            </a:pathLst>
          </a:custGeom>
          <a:gradFill rotWithShape="0">
            <a:gsLst>
              <a:gs pos="0">
                <a:srgbClr val="B8CCFE">
                  <a:gamma/>
                  <a:tint val="39216"/>
                  <a:invGamma/>
                </a:srgbClr>
              </a:gs>
              <a:gs pos="100000">
                <a:srgbClr val="B8CCFE"/>
              </a:gs>
            </a:gsLst>
            <a:lin ang="0" scaled="1"/>
          </a:gradFill>
          <a:ln w="0" algn="ctr">
            <a:noFill/>
            <a:miter lim="800000"/>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6" name="TextBox 35">
            <a:extLst>
              <a:ext uri="{FF2B5EF4-FFF2-40B4-BE49-F238E27FC236}">
                <a16:creationId xmlns:a16="http://schemas.microsoft.com/office/drawing/2014/main" id="{E582C850-2AD4-4453-BC7F-ADB7F3A6B2EB}"/>
              </a:ext>
            </a:extLst>
          </p:cNvPr>
          <p:cNvSpPr txBox="1"/>
          <p:nvPr/>
        </p:nvSpPr>
        <p:spPr>
          <a:xfrm>
            <a:off x="4367529" y="2083916"/>
            <a:ext cx="65" cy="276999"/>
          </a:xfrm>
          <a:prstGeom prst="rect">
            <a:avLst/>
          </a:prstGeom>
          <a:noFill/>
        </p:spPr>
        <p:txBody>
          <a:bodyPr wrap="none" lIns="0" tIns="0" rIns="0" bIns="0" rtlCol="0">
            <a:spAutoFit/>
          </a:bodyPr>
          <a:lstStyle/>
          <a:p>
            <a:endParaRPr lang="en-US" dirty="0"/>
          </a:p>
        </p:txBody>
      </p:sp>
      <p:grpSp>
        <p:nvGrpSpPr>
          <p:cNvPr id="56" name="Group 16">
            <a:extLst>
              <a:ext uri="{FF2B5EF4-FFF2-40B4-BE49-F238E27FC236}">
                <a16:creationId xmlns:a16="http://schemas.microsoft.com/office/drawing/2014/main" id="{48F23651-6D61-40C8-8FEE-2BD1F065F699}"/>
              </a:ext>
            </a:extLst>
          </p:cNvPr>
          <p:cNvGrpSpPr>
            <a:grpSpLocks noChangeAspect="1"/>
          </p:cNvGrpSpPr>
          <p:nvPr/>
        </p:nvGrpSpPr>
        <p:grpSpPr bwMode="auto">
          <a:xfrm>
            <a:off x="4895495" y="1671627"/>
            <a:ext cx="381000" cy="381000"/>
            <a:chOff x="2078" y="1680"/>
            <a:chExt cx="1615" cy="1615"/>
          </a:xfrm>
        </p:grpSpPr>
        <p:sp>
          <p:nvSpPr>
            <p:cNvPr id="57" name="Oval 17">
              <a:extLst>
                <a:ext uri="{FF2B5EF4-FFF2-40B4-BE49-F238E27FC236}">
                  <a16:creationId xmlns:a16="http://schemas.microsoft.com/office/drawing/2014/main" id="{1BD467B5-241D-41EF-813B-C90434382B1D}"/>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61" name="Oval 18">
              <a:extLst>
                <a:ext uri="{FF2B5EF4-FFF2-40B4-BE49-F238E27FC236}">
                  <a16:creationId xmlns:a16="http://schemas.microsoft.com/office/drawing/2014/main" id="{B5F0A1C3-3226-420B-A01C-C859D0007CD2}"/>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62" name="Oval 19">
              <a:extLst>
                <a:ext uri="{FF2B5EF4-FFF2-40B4-BE49-F238E27FC236}">
                  <a16:creationId xmlns:a16="http://schemas.microsoft.com/office/drawing/2014/main" id="{F5DE5234-D6B7-46A1-9EAB-6D52E6637BD8}"/>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63" name="Oval 20">
              <a:extLst>
                <a:ext uri="{FF2B5EF4-FFF2-40B4-BE49-F238E27FC236}">
                  <a16:creationId xmlns:a16="http://schemas.microsoft.com/office/drawing/2014/main" id="{CB389E40-FA61-419E-BEF4-B93947EC57DB}"/>
                </a:ext>
              </a:extLst>
            </p:cNvPr>
            <p:cNvSpPr>
              <a:spLocks noChangeArrowheads="1"/>
            </p:cNvSpPr>
            <p:nvPr/>
          </p:nvSpPr>
          <p:spPr bwMode="gray">
            <a:xfrm>
              <a:off x="2254" y="1856"/>
              <a:ext cx="1262" cy="1264"/>
            </a:xfrm>
            <a:prstGeom prst="ellipse">
              <a:avLst/>
            </a:prstGeom>
            <a:gradFill rotWithShape="1">
              <a:gsLst>
                <a:gs pos="0">
                  <a:srgbClr val="48BE67">
                    <a:gamma/>
                    <a:shade val="0"/>
                    <a:invGamma/>
                  </a:srgbClr>
                </a:gs>
                <a:gs pos="100000">
                  <a:srgbClr val="48BE67"/>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64" name="Oval 21">
              <a:extLst>
                <a:ext uri="{FF2B5EF4-FFF2-40B4-BE49-F238E27FC236}">
                  <a16:creationId xmlns:a16="http://schemas.microsoft.com/office/drawing/2014/main" id="{212D8A55-5449-439A-90FC-160FB3B6DB5C}"/>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65" name="Oval 22">
              <a:extLst>
                <a:ext uri="{FF2B5EF4-FFF2-40B4-BE49-F238E27FC236}">
                  <a16:creationId xmlns:a16="http://schemas.microsoft.com/office/drawing/2014/main" id="{82243F0D-BC4E-453E-AF30-E2C16B4BF936}"/>
                </a:ext>
              </a:extLst>
            </p:cNvPr>
            <p:cNvSpPr>
              <a:spLocks noChangeArrowheads="1"/>
            </p:cNvSpPr>
            <p:nvPr/>
          </p:nvSpPr>
          <p:spPr bwMode="gray">
            <a:xfrm>
              <a:off x="2337" y="1939"/>
              <a:ext cx="1096" cy="1098"/>
            </a:xfrm>
            <a:prstGeom prst="ellipse">
              <a:avLst/>
            </a:prstGeom>
            <a:gradFill rotWithShape="1">
              <a:gsLst>
                <a:gs pos="0">
                  <a:srgbClr val="48BE67"/>
                </a:gs>
                <a:gs pos="100000">
                  <a:srgbClr val="48BE67">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66" name="AutoShape 8">
            <a:extLst>
              <a:ext uri="{FF2B5EF4-FFF2-40B4-BE49-F238E27FC236}">
                <a16:creationId xmlns:a16="http://schemas.microsoft.com/office/drawing/2014/main" id="{2F0F3ECB-625C-4903-B10F-E7745C98B387}"/>
              </a:ext>
            </a:extLst>
          </p:cNvPr>
          <p:cNvSpPr>
            <a:spLocks noChangeAspect="1" noChangeArrowheads="1"/>
          </p:cNvSpPr>
          <p:nvPr/>
        </p:nvSpPr>
        <p:spPr bwMode="gray">
          <a:xfrm>
            <a:off x="2863808" y="1591645"/>
            <a:ext cx="205608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err="1">
                <a:cs typeface="B Nazanin" panose="00000400000000000000" pitchFamily="2" charset="-78"/>
              </a:rPr>
              <a:t>سریالی</a:t>
            </a:r>
            <a:r>
              <a:rPr lang="fa-IR" b="1" dirty="0">
                <a:cs typeface="B Nazanin" panose="00000400000000000000" pitchFamily="2" charset="-78"/>
              </a:rPr>
              <a:t> سلول به سلول</a:t>
            </a:r>
            <a:endParaRPr lang="en-US" b="1" dirty="0">
              <a:solidFill>
                <a:srgbClr val="000000"/>
              </a:solidFill>
              <a:latin typeface="Times New Roman" panose="02020603050405020304" pitchFamily="18" charset="0"/>
              <a:cs typeface="B Nazanin" pitchFamily="2" charset="-78"/>
            </a:endParaRPr>
          </a:p>
        </p:txBody>
      </p:sp>
      <p:grpSp>
        <p:nvGrpSpPr>
          <p:cNvPr id="81" name="Group 16">
            <a:extLst>
              <a:ext uri="{FF2B5EF4-FFF2-40B4-BE49-F238E27FC236}">
                <a16:creationId xmlns:a16="http://schemas.microsoft.com/office/drawing/2014/main" id="{2044EBB7-106C-4578-9CBF-500EE6F658F0}"/>
              </a:ext>
            </a:extLst>
          </p:cNvPr>
          <p:cNvGrpSpPr>
            <a:grpSpLocks noChangeAspect="1"/>
          </p:cNvGrpSpPr>
          <p:nvPr/>
        </p:nvGrpSpPr>
        <p:grpSpPr bwMode="auto">
          <a:xfrm>
            <a:off x="4880633" y="2221214"/>
            <a:ext cx="381000" cy="381000"/>
            <a:chOff x="2078" y="1680"/>
            <a:chExt cx="1615" cy="1615"/>
          </a:xfrm>
        </p:grpSpPr>
        <p:sp>
          <p:nvSpPr>
            <p:cNvPr id="82" name="Oval 17">
              <a:extLst>
                <a:ext uri="{FF2B5EF4-FFF2-40B4-BE49-F238E27FC236}">
                  <a16:creationId xmlns:a16="http://schemas.microsoft.com/office/drawing/2014/main" id="{4225F4B0-A869-446D-B74C-3E03CDDCFB10}"/>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83" name="Oval 18">
              <a:extLst>
                <a:ext uri="{FF2B5EF4-FFF2-40B4-BE49-F238E27FC236}">
                  <a16:creationId xmlns:a16="http://schemas.microsoft.com/office/drawing/2014/main" id="{26B960CA-3F48-4292-808D-CB9959F3CBF1}"/>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84" name="Oval 19">
              <a:extLst>
                <a:ext uri="{FF2B5EF4-FFF2-40B4-BE49-F238E27FC236}">
                  <a16:creationId xmlns:a16="http://schemas.microsoft.com/office/drawing/2014/main" id="{545D9F2F-5471-4FD7-B846-BDE25308EC72}"/>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85" name="Oval 20">
              <a:extLst>
                <a:ext uri="{FF2B5EF4-FFF2-40B4-BE49-F238E27FC236}">
                  <a16:creationId xmlns:a16="http://schemas.microsoft.com/office/drawing/2014/main" id="{56A24BAD-299E-4E54-BA04-C1A4AF14E815}"/>
                </a:ext>
              </a:extLst>
            </p:cNvPr>
            <p:cNvSpPr>
              <a:spLocks noChangeArrowheads="1"/>
            </p:cNvSpPr>
            <p:nvPr/>
          </p:nvSpPr>
          <p:spPr bwMode="gray">
            <a:xfrm>
              <a:off x="2254" y="1856"/>
              <a:ext cx="1262" cy="1264"/>
            </a:xfrm>
            <a:prstGeom prst="ellipse">
              <a:avLst/>
            </a:prstGeom>
            <a:gradFill rotWithShape="1">
              <a:gsLst>
                <a:gs pos="0">
                  <a:srgbClr val="48BE67">
                    <a:gamma/>
                    <a:shade val="0"/>
                    <a:invGamma/>
                  </a:srgbClr>
                </a:gs>
                <a:gs pos="100000">
                  <a:srgbClr val="48BE67"/>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86" name="Oval 21">
              <a:extLst>
                <a:ext uri="{FF2B5EF4-FFF2-40B4-BE49-F238E27FC236}">
                  <a16:creationId xmlns:a16="http://schemas.microsoft.com/office/drawing/2014/main" id="{5F055675-6400-4B29-B9E1-FE2FFC85A798}"/>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87" name="Oval 22">
              <a:extLst>
                <a:ext uri="{FF2B5EF4-FFF2-40B4-BE49-F238E27FC236}">
                  <a16:creationId xmlns:a16="http://schemas.microsoft.com/office/drawing/2014/main" id="{170B74C0-C3D8-44A8-8278-4D8F89FBD858}"/>
                </a:ext>
              </a:extLst>
            </p:cNvPr>
            <p:cNvSpPr>
              <a:spLocks noChangeArrowheads="1"/>
            </p:cNvSpPr>
            <p:nvPr/>
          </p:nvSpPr>
          <p:spPr bwMode="gray">
            <a:xfrm>
              <a:off x="2337" y="1939"/>
              <a:ext cx="1096" cy="1098"/>
            </a:xfrm>
            <a:prstGeom prst="ellipse">
              <a:avLst/>
            </a:prstGeom>
            <a:gradFill rotWithShape="1">
              <a:gsLst>
                <a:gs pos="0">
                  <a:srgbClr val="48BE67"/>
                </a:gs>
                <a:gs pos="100000">
                  <a:srgbClr val="48BE67">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88" name="AutoShape 8">
            <a:extLst>
              <a:ext uri="{FF2B5EF4-FFF2-40B4-BE49-F238E27FC236}">
                <a16:creationId xmlns:a16="http://schemas.microsoft.com/office/drawing/2014/main" id="{FD6AFBCA-B6AC-43F5-8D01-3342F74CB5FD}"/>
              </a:ext>
            </a:extLst>
          </p:cNvPr>
          <p:cNvSpPr>
            <a:spLocks noChangeAspect="1" noChangeArrowheads="1"/>
          </p:cNvSpPr>
          <p:nvPr/>
        </p:nvSpPr>
        <p:spPr bwMode="gray">
          <a:xfrm>
            <a:off x="2848946" y="2141232"/>
            <a:ext cx="205608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err="1">
                <a:cs typeface="B Nazanin" panose="00000400000000000000" pitchFamily="2" charset="-78"/>
              </a:rPr>
              <a:t>ماژولار</a:t>
            </a:r>
            <a:r>
              <a:rPr lang="fa-IR" b="1" dirty="0">
                <a:cs typeface="B Nazanin" panose="00000400000000000000" pitchFamily="2" charset="-78"/>
              </a:rPr>
              <a:t> سلول به سلول</a:t>
            </a:r>
            <a:endParaRPr lang="en-US" b="1" dirty="0">
              <a:solidFill>
                <a:srgbClr val="000000"/>
              </a:solidFill>
              <a:latin typeface="Times New Roman" panose="02020603050405020304" pitchFamily="18" charset="0"/>
              <a:cs typeface="B Nazanin" pitchFamily="2" charset="-78"/>
            </a:endParaRPr>
          </a:p>
        </p:txBody>
      </p:sp>
      <p:sp>
        <p:nvSpPr>
          <p:cNvPr id="89" name="TextBox 88">
            <a:extLst>
              <a:ext uri="{FF2B5EF4-FFF2-40B4-BE49-F238E27FC236}">
                <a16:creationId xmlns:a16="http://schemas.microsoft.com/office/drawing/2014/main" id="{5382B4C5-8F91-4918-A48A-9E9F395AB00C}"/>
              </a:ext>
            </a:extLst>
          </p:cNvPr>
          <p:cNvSpPr txBox="1"/>
          <p:nvPr/>
        </p:nvSpPr>
        <p:spPr>
          <a:xfrm>
            <a:off x="4379697" y="2630441"/>
            <a:ext cx="65" cy="276999"/>
          </a:xfrm>
          <a:prstGeom prst="rect">
            <a:avLst/>
          </a:prstGeom>
          <a:noFill/>
        </p:spPr>
        <p:txBody>
          <a:bodyPr wrap="none" lIns="0" tIns="0" rIns="0" bIns="0" rtlCol="0">
            <a:spAutoFit/>
          </a:bodyPr>
          <a:lstStyle/>
          <a:p>
            <a:endParaRPr lang="en-US" dirty="0"/>
          </a:p>
        </p:txBody>
      </p:sp>
      <p:grpSp>
        <p:nvGrpSpPr>
          <p:cNvPr id="90" name="Group 16">
            <a:extLst>
              <a:ext uri="{FF2B5EF4-FFF2-40B4-BE49-F238E27FC236}">
                <a16:creationId xmlns:a16="http://schemas.microsoft.com/office/drawing/2014/main" id="{FBD3D725-34E3-459A-BB18-C8AB09E88E3C}"/>
              </a:ext>
            </a:extLst>
          </p:cNvPr>
          <p:cNvGrpSpPr>
            <a:grpSpLocks noChangeAspect="1"/>
          </p:cNvGrpSpPr>
          <p:nvPr/>
        </p:nvGrpSpPr>
        <p:grpSpPr bwMode="auto">
          <a:xfrm>
            <a:off x="4892801" y="2767739"/>
            <a:ext cx="381000" cy="381000"/>
            <a:chOff x="2078" y="1680"/>
            <a:chExt cx="1615" cy="1615"/>
          </a:xfrm>
        </p:grpSpPr>
        <p:sp>
          <p:nvSpPr>
            <p:cNvPr id="91" name="Oval 17">
              <a:extLst>
                <a:ext uri="{FF2B5EF4-FFF2-40B4-BE49-F238E27FC236}">
                  <a16:creationId xmlns:a16="http://schemas.microsoft.com/office/drawing/2014/main" id="{753B3D21-4E3E-4862-87A5-658F4B7CB996}"/>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92" name="Oval 18">
              <a:extLst>
                <a:ext uri="{FF2B5EF4-FFF2-40B4-BE49-F238E27FC236}">
                  <a16:creationId xmlns:a16="http://schemas.microsoft.com/office/drawing/2014/main" id="{5D02CEFB-28FA-40CB-8F52-0B404E0C3799}"/>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93" name="Oval 19">
              <a:extLst>
                <a:ext uri="{FF2B5EF4-FFF2-40B4-BE49-F238E27FC236}">
                  <a16:creationId xmlns:a16="http://schemas.microsoft.com/office/drawing/2014/main" id="{F762C7DF-14CE-41AE-8E7D-59D2FCBD5B2B}"/>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94" name="Oval 20">
              <a:extLst>
                <a:ext uri="{FF2B5EF4-FFF2-40B4-BE49-F238E27FC236}">
                  <a16:creationId xmlns:a16="http://schemas.microsoft.com/office/drawing/2014/main" id="{0A577ECC-9535-46D0-97AD-F3E3FE94E1AC}"/>
                </a:ext>
              </a:extLst>
            </p:cNvPr>
            <p:cNvSpPr>
              <a:spLocks noChangeArrowheads="1"/>
            </p:cNvSpPr>
            <p:nvPr/>
          </p:nvSpPr>
          <p:spPr bwMode="gray">
            <a:xfrm>
              <a:off x="2254" y="1856"/>
              <a:ext cx="1262" cy="1264"/>
            </a:xfrm>
            <a:prstGeom prst="ellipse">
              <a:avLst/>
            </a:prstGeom>
            <a:gradFill rotWithShape="1">
              <a:gsLst>
                <a:gs pos="0">
                  <a:srgbClr val="48BE67">
                    <a:gamma/>
                    <a:shade val="0"/>
                    <a:invGamma/>
                  </a:srgbClr>
                </a:gs>
                <a:gs pos="100000">
                  <a:srgbClr val="48BE67"/>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95" name="Oval 21">
              <a:extLst>
                <a:ext uri="{FF2B5EF4-FFF2-40B4-BE49-F238E27FC236}">
                  <a16:creationId xmlns:a16="http://schemas.microsoft.com/office/drawing/2014/main" id="{574582C9-2954-413F-81CF-B650ABF84B7A}"/>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96" name="Oval 22">
              <a:extLst>
                <a:ext uri="{FF2B5EF4-FFF2-40B4-BE49-F238E27FC236}">
                  <a16:creationId xmlns:a16="http://schemas.microsoft.com/office/drawing/2014/main" id="{BDC6704D-8ED2-432B-A145-7004A5887A52}"/>
                </a:ext>
              </a:extLst>
            </p:cNvPr>
            <p:cNvSpPr>
              <a:spLocks noChangeArrowheads="1"/>
            </p:cNvSpPr>
            <p:nvPr/>
          </p:nvSpPr>
          <p:spPr bwMode="gray">
            <a:xfrm>
              <a:off x="2337" y="1939"/>
              <a:ext cx="1096" cy="1098"/>
            </a:xfrm>
            <a:prstGeom prst="ellipse">
              <a:avLst/>
            </a:prstGeom>
            <a:gradFill rotWithShape="1">
              <a:gsLst>
                <a:gs pos="0">
                  <a:srgbClr val="48BE67"/>
                </a:gs>
                <a:gs pos="100000">
                  <a:srgbClr val="48BE67">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97" name="AutoShape 8">
            <a:extLst>
              <a:ext uri="{FF2B5EF4-FFF2-40B4-BE49-F238E27FC236}">
                <a16:creationId xmlns:a16="http://schemas.microsoft.com/office/drawing/2014/main" id="{9C146FEA-974C-4124-9CE8-06D03A4E0502}"/>
              </a:ext>
            </a:extLst>
          </p:cNvPr>
          <p:cNvSpPr>
            <a:spLocks noChangeAspect="1" noChangeArrowheads="1"/>
          </p:cNvSpPr>
          <p:nvPr/>
        </p:nvSpPr>
        <p:spPr bwMode="gray">
          <a:xfrm>
            <a:off x="2861114" y="2687757"/>
            <a:ext cx="205608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cs typeface="B Nazanin" panose="00000400000000000000" pitchFamily="2" charset="-78"/>
              </a:rPr>
              <a:t>لایه ای</a:t>
            </a:r>
            <a:endParaRPr lang="en-US" b="1" dirty="0">
              <a:solidFill>
                <a:srgbClr val="000000"/>
              </a:solidFill>
              <a:latin typeface="Times New Roman" panose="02020603050405020304" pitchFamily="18" charset="0"/>
              <a:cs typeface="B Nazanin" pitchFamily="2" charset="-78"/>
            </a:endParaRPr>
          </a:p>
        </p:txBody>
      </p:sp>
      <p:sp>
        <p:nvSpPr>
          <p:cNvPr id="98" name="AutoShape 8">
            <a:extLst>
              <a:ext uri="{FF2B5EF4-FFF2-40B4-BE49-F238E27FC236}">
                <a16:creationId xmlns:a16="http://schemas.microsoft.com/office/drawing/2014/main" id="{2F35A0BE-ACAE-464F-966C-4598FD947DFB}"/>
              </a:ext>
            </a:extLst>
          </p:cNvPr>
          <p:cNvSpPr>
            <a:spLocks noChangeArrowheads="1"/>
          </p:cNvSpPr>
          <p:nvPr/>
        </p:nvSpPr>
        <p:spPr bwMode="gray">
          <a:xfrm>
            <a:off x="4025645" y="4140404"/>
            <a:ext cx="2496312"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cs typeface="B Nazanin" panose="00000400000000000000" pitchFamily="2" charset="-78"/>
              </a:rPr>
              <a:t>انتقال </a:t>
            </a:r>
            <a:r>
              <a:rPr lang="fa-IR" b="1" dirty="0" err="1">
                <a:cs typeface="B Nazanin" panose="00000400000000000000" pitchFamily="2" charset="-78"/>
              </a:rPr>
              <a:t>غیرمجاور</a:t>
            </a:r>
            <a:endParaRPr lang="en-US" b="1" dirty="0">
              <a:solidFill>
                <a:srgbClr val="000000"/>
              </a:solidFill>
              <a:latin typeface="Times New Roman" panose="02020603050405020304" pitchFamily="18" charset="0"/>
              <a:cs typeface="B Nazanin" pitchFamily="2" charset="-78"/>
            </a:endParaRPr>
          </a:p>
        </p:txBody>
      </p:sp>
      <p:grpSp>
        <p:nvGrpSpPr>
          <p:cNvPr id="99" name="Group 23">
            <a:extLst>
              <a:ext uri="{FF2B5EF4-FFF2-40B4-BE49-F238E27FC236}">
                <a16:creationId xmlns:a16="http://schemas.microsoft.com/office/drawing/2014/main" id="{0E5BDF2F-9DE7-4825-9AE7-41E56A5C9B5C}"/>
              </a:ext>
            </a:extLst>
          </p:cNvPr>
          <p:cNvGrpSpPr>
            <a:grpSpLocks noChangeAspect="1"/>
          </p:cNvGrpSpPr>
          <p:nvPr/>
        </p:nvGrpSpPr>
        <p:grpSpPr bwMode="auto">
          <a:xfrm>
            <a:off x="6450707" y="4207472"/>
            <a:ext cx="381000" cy="381000"/>
            <a:chOff x="2078" y="1680"/>
            <a:chExt cx="1615" cy="1615"/>
          </a:xfrm>
        </p:grpSpPr>
        <p:sp>
          <p:nvSpPr>
            <p:cNvPr id="100" name="Oval 24">
              <a:extLst>
                <a:ext uri="{FF2B5EF4-FFF2-40B4-BE49-F238E27FC236}">
                  <a16:creationId xmlns:a16="http://schemas.microsoft.com/office/drawing/2014/main" id="{DD60D054-9F05-4D44-841D-32425F932003}"/>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01" name="Oval 25">
              <a:extLst>
                <a:ext uri="{FF2B5EF4-FFF2-40B4-BE49-F238E27FC236}">
                  <a16:creationId xmlns:a16="http://schemas.microsoft.com/office/drawing/2014/main" id="{E52E5307-3006-47A0-B0C3-66AD538A2DEC}"/>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02" name="Oval 26">
              <a:extLst>
                <a:ext uri="{FF2B5EF4-FFF2-40B4-BE49-F238E27FC236}">
                  <a16:creationId xmlns:a16="http://schemas.microsoft.com/office/drawing/2014/main" id="{29886F4D-9409-4D12-B103-D5723A7D9453}"/>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03" name="Oval 27">
              <a:extLst>
                <a:ext uri="{FF2B5EF4-FFF2-40B4-BE49-F238E27FC236}">
                  <a16:creationId xmlns:a16="http://schemas.microsoft.com/office/drawing/2014/main" id="{03C03DB7-572E-4223-B28C-37172DCAF664}"/>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04" name="Oval 28">
              <a:extLst>
                <a:ext uri="{FF2B5EF4-FFF2-40B4-BE49-F238E27FC236}">
                  <a16:creationId xmlns:a16="http://schemas.microsoft.com/office/drawing/2014/main" id="{BD47E8AC-4A74-49D6-87A5-D0985424C5C6}"/>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05" name="Oval 29">
              <a:extLst>
                <a:ext uri="{FF2B5EF4-FFF2-40B4-BE49-F238E27FC236}">
                  <a16:creationId xmlns:a16="http://schemas.microsoft.com/office/drawing/2014/main" id="{93D097FA-DA6A-4273-8D07-A0CEC8288C0A}"/>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grpSp>
        <p:nvGrpSpPr>
          <p:cNvPr id="106" name="Group 16">
            <a:extLst>
              <a:ext uri="{FF2B5EF4-FFF2-40B4-BE49-F238E27FC236}">
                <a16:creationId xmlns:a16="http://schemas.microsoft.com/office/drawing/2014/main" id="{4E762C6F-9CDB-4038-B32D-552B92A2F21E}"/>
              </a:ext>
            </a:extLst>
          </p:cNvPr>
          <p:cNvGrpSpPr>
            <a:grpSpLocks noChangeAspect="1"/>
          </p:cNvGrpSpPr>
          <p:nvPr/>
        </p:nvGrpSpPr>
        <p:grpSpPr bwMode="auto">
          <a:xfrm>
            <a:off x="3694697" y="3966341"/>
            <a:ext cx="381000" cy="381000"/>
            <a:chOff x="2078" y="1680"/>
            <a:chExt cx="1615" cy="1615"/>
          </a:xfrm>
        </p:grpSpPr>
        <p:sp>
          <p:nvSpPr>
            <p:cNvPr id="107" name="Oval 17">
              <a:extLst>
                <a:ext uri="{FF2B5EF4-FFF2-40B4-BE49-F238E27FC236}">
                  <a16:creationId xmlns:a16="http://schemas.microsoft.com/office/drawing/2014/main" id="{A566AA4F-4245-4D71-9A14-84899F89F782}"/>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08" name="Oval 18">
              <a:extLst>
                <a:ext uri="{FF2B5EF4-FFF2-40B4-BE49-F238E27FC236}">
                  <a16:creationId xmlns:a16="http://schemas.microsoft.com/office/drawing/2014/main" id="{5F98DBCF-CF68-4DA7-B174-B1EE0E8FBF04}"/>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09" name="Oval 19">
              <a:extLst>
                <a:ext uri="{FF2B5EF4-FFF2-40B4-BE49-F238E27FC236}">
                  <a16:creationId xmlns:a16="http://schemas.microsoft.com/office/drawing/2014/main" id="{29ACD305-1F3B-4E34-8315-DA5B92F1443D}"/>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10" name="Oval 20">
              <a:extLst>
                <a:ext uri="{FF2B5EF4-FFF2-40B4-BE49-F238E27FC236}">
                  <a16:creationId xmlns:a16="http://schemas.microsoft.com/office/drawing/2014/main" id="{CBF69BE0-0A8B-4F4E-B887-A07B19CDBA5B}"/>
                </a:ext>
              </a:extLst>
            </p:cNvPr>
            <p:cNvSpPr>
              <a:spLocks noChangeArrowheads="1"/>
            </p:cNvSpPr>
            <p:nvPr/>
          </p:nvSpPr>
          <p:spPr bwMode="gray">
            <a:xfrm>
              <a:off x="2254" y="1856"/>
              <a:ext cx="1262" cy="1264"/>
            </a:xfrm>
            <a:prstGeom prst="ellipse">
              <a:avLst/>
            </a:prstGeom>
            <a:gradFill rotWithShape="1">
              <a:gsLst>
                <a:gs pos="0">
                  <a:srgbClr val="48BE67">
                    <a:gamma/>
                    <a:shade val="0"/>
                    <a:invGamma/>
                  </a:srgbClr>
                </a:gs>
                <a:gs pos="100000">
                  <a:srgbClr val="48BE67"/>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11" name="Oval 21">
              <a:extLst>
                <a:ext uri="{FF2B5EF4-FFF2-40B4-BE49-F238E27FC236}">
                  <a16:creationId xmlns:a16="http://schemas.microsoft.com/office/drawing/2014/main" id="{FF1E18AA-FE66-4CF0-9FD6-EF332ED7E8D8}"/>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12" name="Oval 22">
              <a:extLst>
                <a:ext uri="{FF2B5EF4-FFF2-40B4-BE49-F238E27FC236}">
                  <a16:creationId xmlns:a16="http://schemas.microsoft.com/office/drawing/2014/main" id="{3EDDF9C3-625B-47C1-A561-917F0D6CEE50}"/>
                </a:ext>
              </a:extLst>
            </p:cNvPr>
            <p:cNvSpPr>
              <a:spLocks noChangeArrowheads="1"/>
            </p:cNvSpPr>
            <p:nvPr/>
          </p:nvSpPr>
          <p:spPr bwMode="gray">
            <a:xfrm>
              <a:off x="2337" y="1939"/>
              <a:ext cx="1096" cy="1098"/>
            </a:xfrm>
            <a:prstGeom prst="ellipse">
              <a:avLst/>
            </a:prstGeom>
            <a:gradFill rotWithShape="1">
              <a:gsLst>
                <a:gs pos="0">
                  <a:srgbClr val="48BE67"/>
                </a:gs>
                <a:gs pos="100000">
                  <a:srgbClr val="48BE67">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113" name="AutoShape 8">
            <a:extLst>
              <a:ext uri="{FF2B5EF4-FFF2-40B4-BE49-F238E27FC236}">
                <a16:creationId xmlns:a16="http://schemas.microsoft.com/office/drawing/2014/main" id="{47888911-5BBC-4101-B688-DB3986A1511C}"/>
              </a:ext>
            </a:extLst>
          </p:cNvPr>
          <p:cNvSpPr>
            <a:spLocks noChangeAspect="1" noChangeArrowheads="1"/>
          </p:cNvSpPr>
          <p:nvPr/>
        </p:nvSpPr>
        <p:spPr bwMode="gray">
          <a:xfrm>
            <a:off x="1663010" y="3886359"/>
            <a:ext cx="205608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err="1">
                <a:cs typeface="B Nazanin" panose="00000400000000000000" pitchFamily="2" charset="-78"/>
              </a:rPr>
              <a:t>سریالی</a:t>
            </a:r>
            <a:r>
              <a:rPr lang="fa-IR" b="1" dirty="0">
                <a:cs typeface="B Nazanin" panose="00000400000000000000" pitchFamily="2" charset="-78"/>
              </a:rPr>
              <a:t> سلول و پک</a:t>
            </a:r>
            <a:endParaRPr lang="en-US" b="1" dirty="0">
              <a:solidFill>
                <a:srgbClr val="000000"/>
              </a:solidFill>
              <a:latin typeface="Times New Roman" panose="02020603050405020304" pitchFamily="18" charset="0"/>
              <a:cs typeface="B Nazanin" pitchFamily="2" charset="-78"/>
            </a:endParaRPr>
          </a:p>
        </p:txBody>
      </p:sp>
      <p:sp>
        <p:nvSpPr>
          <p:cNvPr id="114" name="TextBox 113">
            <a:extLst>
              <a:ext uri="{FF2B5EF4-FFF2-40B4-BE49-F238E27FC236}">
                <a16:creationId xmlns:a16="http://schemas.microsoft.com/office/drawing/2014/main" id="{F53964F2-A465-42D1-9BA5-A5A01547D796}"/>
              </a:ext>
            </a:extLst>
          </p:cNvPr>
          <p:cNvSpPr txBox="1"/>
          <p:nvPr/>
        </p:nvSpPr>
        <p:spPr>
          <a:xfrm>
            <a:off x="3208352" y="4371405"/>
            <a:ext cx="65" cy="276999"/>
          </a:xfrm>
          <a:prstGeom prst="rect">
            <a:avLst/>
          </a:prstGeom>
          <a:noFill/>
        </p:spPr>
        <p:txBody>
          <a:bodyPr wrap="none" lIns="0" tIns="0" rIns="0" bIns="0" rtlCol="0">
            <a:spAutoFit/>
          </a:bodyPr>
          <a:lstStyle/>
          <a:p>
            <a:endParaRPr lang="en-US" dirty="0"/>
          </a:p>
        </p:txBody>
      </p:sp>
      <p:grpSp>
        <p:nvGrpSpPr>
          <p:cNvPr id="115" name="Group 16">
            <a:extLst>
              <a:ext uri="{FF2B5EF4-FFF2-40B4-BE49-F238E27FC236}">
                <a16:creationId xmlns:a16="http://schemas.microsoft.com/office/drawing/2014/main" id="{49896148-48A4-4709-98EB-5720D105B595}"/>
              </a:ext>
            </a:extLst>
          </p:cNvPr>
          <p:cNvGrpSpPr>
            <a:grpSpLocks noChangeAspect="1"/>
          </p:cNvGrpSpPr>
          <p:nvPr/>
        </p:nvGrpSpPr>
        <p:grpSpPr bwMode="auto">
          <a:xfrm>
            <a:off x="3721456" y="4508703"/>
            <a:ext cx="381000" cy="381000"/>
            <a:chOff x="2078" y="1680"/>
            <a:chExt cx="1615" cy="1615"/>
          </a:xfrm>
        </p:grpSpPr>
        <p:sp>
          <p:nvSpPr>
            <p:cNvPr id="116" name="Oval 17">
              <a:extLst>
                <a:ext uri="{FF2B5EF4-FFF2-40B4-BE49-F238E27FC236}">
                  <a16:creationId xmlns:a16="http://schemas.microsoft.com/office/drawing/2014/main" id="{53AEC852-52A2-4132-AC51-7208BCE5FD95}"/>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17" name="Oval 18">
              <a:extLst>
                <a:ext uri="{FF2B5EF4-FFF2-40B4-BE49-F238E27FC236}">
                  <a16:creationId xmlns:a16="http://schemas.microsoft.com/office/drawing/2014/main" id="{BE494280-A6A9-4928-BD75-6714A34C9030}"/>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18" name="Oval 19">
              <a:extLst>
                <a:ext uri="{FF2B5EF4-FFF2-40B4-BE49-F238E27FC236}">
                  <a16:creationId xmlns:a16="http://schemas.microsoft.com/office/drawing/2014/main" id="{3E713282-E836-43DE-B38E-71CCEFA381E6}"/>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19" name="Oval 20">
              <a:extLst>
                <a:ext uri="{FF2B5EF4-FFF2-40B4-BE49-F238E27FC236}">
                  <a16:creationId xmlns:a16="http://schemas.microsoft.com/office/drawing/2014/main" id="{C2E43C42-D3E1-44FA-91DA-B25285B9EB7A}"/>
                </a:ext>
              </a:extLst>
            </p:cNvPr>
            <p:cNvSpPr>
              <a:spLocks noChangeArrowheads="1"/>
            </p:cNvSpPr>
            <p:nvPr/>
          </p:nvSpPr>
          <p:spPr bwMode="gray">
            <a:xfrm>
              <a:off x="2254" y="1856"/>
              <a:ext cx="1262" cy="1264"/>
            </a:xfrm>
            <a:prstGeom prst="ellipse">
              <a:avLst/>
            </a:prstGeom>
            <a:gradFill rotWithShape="1">
              <a:gsLst>
                <a:gs pos="0">
                  <a:srgbClr val="48BE67">
                    <a:gamma/>
                    <a:shade val="0"/>
                    <a:invGamma/>
                  </a:srgbClr>
                </a:gs>
                <a:gs pos="100000">
                  <a:srgbClr val="48BE67"/>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20" name="Oval 21">
              <a:extLst>
                <a:ext uri="{FF2B5EF4-FFF2-40B4-BE49-F238E27FC236}">
                  <a16:creationId xmlns:a16="http://schemas.microsoft.com/office/drawing/2014/main" id="{79E0E59C-0C9F-42C8-9E4F-B7DAD9BD08C7}"/>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21" name="Oval 22">
              <a:extLst>
                <a:ext uri="{FF2B5EF4-FFF2-40B4-BE49-F238E27FC236}">
                  <a16:creationId xmlns:a16="http://schemas.microsoft.com/office/drawing/2014/main" id="{08FA20D4-AA41-4693-B125-CAE4F0924DCB}"/>
                </a:ext>
              </a:extLst>
            </p:cNvPr>
            <p:cNvSpPr>
              <a:spLocks noChangeArrowheads="1"/>
            </p:cNvSpPr>
            <p:nvPr/>
          </p:nvSpPr>
          <p:spPr bwMode="gray">
            <a:xfrm>
              <a:off x="2337" y="1939"/>
              <a:ext cx="1096" cy="1098"/>
            </a:xfrm>
            <a:prstGeom prst="ellipse">
              <a:avLst/>
            </a:prstGeom>
            <a:gradFill rotWithShape="1">
              <a:gsLst>
                <a:gs pos="0">
                  <a:srgbClr val="48BE67"/>
                </a:gs>
                <a:gs pos="100000">
                  <a:srgbClr val="48BE67">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122" name="AutoShape 8">
            <a:extLst>
              <a:ext uri="{FF2B5EF4-FFF2-40B4-BE49-F238E27FC236}">
                <a16:creationId xmlns:a16="http://schemas.microsoft.com/office/drawing/2014/main" id="{A8F51255-4764-4938-8AFD-A035F4653E99}"/>
              </a:ext>
            </a:extLst>
          </p:cNvPr>
          <p:cNvSpPr>
            <a:spLocks noChangeAspect="1" noChangeArrowheads="1"/>
          </p:cNvSpPr>
          <p:nvPr/>
        </p:nvSpPr>
        <p:spPr bwMode="gray">
          <a:xfrm>
            <a:off x="1689769" y="4428721"/>
            <a:ext cx="205608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err="1">
                <a:cs typeface="B Nazanin" panose="00000400000000000000" pitchFamily="2" charset="-78"/>
              </a:rPr>
              <a:t>ماژولار</a:t>
            </a:r>
            <a:r>
              <a:rPr lang="fa-IR" b="1" dirty="0">
                <a:cs typeface="B Nazanin" panose="00000400000000000000" pitchFamily="2" charset="-78"/>
              </a:rPr>
              <a:t> سلول و پک</a:t>
            </a:r>
            <a:endParaRPr lang="en-US" b="1" dirty="0">
              <a:solidFill>
                <a:srgbClr val="000000"/>
              </a:solidFill>
              <a:latin typeface="Times New Roman" panose="02020603050405020304" pitchFamily="18" charset="0"/>
              <a:cs typeface="B Nazanin" pitchFamily="2" charset="-78"/>
            </a:endParaRPr>
          </a:p>
        </p:txBody>
      </p:sp>
      <p:sp>
        <p:nvSpPr>
          <p:cNvPr id="131" name="AutoShape 8">
            <a:extLst>
              <a:ext uri="{FF2B5EF4-FFF2-40B4-BE49-F238E27FC236}">
                <a16:creationId xmlns:a16="http://schemas.microsoft.com/office/drawing/2014/main" id="{1D001561-C43A-44D9-81F9-A023B7BC3B1F}"/>
              </a:ext>
            </a:extLst>
          </p:cNvPr>
          <p:cNvSpPr>
            <a:spLocks noChangeArrowheads="1"/>
          </p:cNvSpPr>
          <p:nvPr/>
        </p:nvSpPr>
        <p:spPr bwMode="gray">
          <a:xfrm>
            <a:off x="5232044" y="2153118"/>
            <a:ext cx="2496312" cy="512064"/>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cs typeface="B Nazanin" panose="00000400000000000000" pitchFamily="2" charset="-78"/>
              </a:rPr>
              <a:t>انتقال مجاور</a:t>
            </a:r>
            <a:endParaRPr lang="en-US" b="1" dirty="0">
              <a:solidFill>
                <a:srgbClr val="000000"/>
              </a:solidFill>
              <a:latin typeface="Times New Roman" panose="02020603050405020304" pitchFamily="18" charset="0"/>
              <a:cs typeface="B Nazanin" pitchFamily="2" charset="-78"/>
            </a:endParaRPr>
          </a:p>
        </p:txBody>
      </p:sp>
      <p:grpSp>
        <p:nvGrpSpPr>
          <p:cNvPr id="132" name="Group 23">
            <a:extLst>
              <a:ext uri="{FF2B5EF4-FFF2-40B4-BE49-F238E27FC236}">
                <a16:creationId xmlns:a16="http://schemas.microsoft.com/office/drawing/2014/main" id="{A0320E00-D2E6-474A-B6A6-AF32A2426411}"/>
              </a:ext>
            </a:extLst>
          </p:cNvPr>
          <p:cNvGrpSpPr>
            <a:grpSpLocks noChangeAspect="1"/>
          </p:cNvGrpSpPr>
          <p:nvPr/>
        </p:nvGrpSpPr>
        <p:grpSpPr bwMode="auto">
          <a:xfrm>
            <a:off x="7657106" y="2210441"/>
            <a:ext cx="381000" cy="381000"/>
            <a:chOff x="2078" y="1680"/>
            <a:chExt cx="1615" cy="1615"/>
          </a:xfrm>
        </p:grpSpPr>
        <p:sp>
          <p:nvSpPr>
            <p:cNvPr id="133" name="Oval 24">
              <a:extLst>
                <a:ext uri="{FF2B5EF4-FFF2-40B4-BE49-F238E27FC236}">
                  <a16:creationId xmlns:a16="http://schemas.microsoft.com/office/drawing/2014/main" id="{D36CF0DF-81DD-429F-8C92-4681C769AD85}"/>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34" name="Oval 25">
              <a:extLst>
                <a:ext uri="{FF2B5EF4-FFF2-40B4-BE49-F238E27FC236}">
                  <a16:creationId xmlns:a16="http://schemas.microsoft.com/office/drawing/2014/main" id="{F9FFCAE0-8BDF-4D64-A40D-96DC060F569C}"/>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35" name="Oval 26">
              <a:extLst>
                <a:ext uri="{FF2B5EF4-FFF2-40B4-BE49-F238E27FC236}">
                  <a16:creationId xmlns:a16="http://schemas.microsoft.com/office/drawing/2014/main" id="{24EEF376-1BE5-4514-9D50-48E1B7F61844}"/>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36" name="Oval 27">
              <a:extLst>
                <a:ext uri="{FF2B5EF4-FFF2-40B4-BE49-F238E27FC236}">
                  <a16:creationId xmlns:a16="http://schemas.microsoft.com/office/drawing/2014/main" id="{C02121B2-3EBA-46EE-8948-223B177F46FC}"/>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37" name="Oval 28">
              <a:extLst>
                <a:ext uri="{FF2B5EF4-FFF2-40B4-BE49-F238E27FC236}">
                  <a16:creationId xmlns:a16="http://schemas.microsoft.com/office/drawing/2014/main" id="{151051E3-E6C5-4669-A40D-88442091C56B}"/>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38" name="Oval 29">
              <a:extLst>
                <a:ext uri="{FF2B5EF4-FFF2-40B4-BE49-F238E27FC236}">
                  <a16:creationId xmlns:a16="http://schemas.microsoft.com/office/drawing/2014/main" id="{4BC7FCF1-505D-4E9A-BCBB-646C0851F826}"/>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139" name="AutoShape 8">
            <a:extLst>
              <a:ext uri="{FF2B5EF4-FFF2-40B4-BE49-F238E27FC236}">
                <a16:creationId xmlns:a16="http://schemas.microsoft.com/office/drawing/2014/main" id="{AD67BECF-64ED-4C10-BDF8-B54A15D16C17}"/>
              </a:ext>
            </a:extLst>
          </p:cNvPr>
          <p:cNvSpPr>
            <a:spLocks noChangeAspect="1" noChangeArrowheads="1"/>
          </p:cNvSpPr>
          <p:nvPr/>
        </p:nvSpPr>
        <p:spPr bwMode="gray">
          <a:xfrm>
            <a:off x="5232044" y="6170417"/>
            <a:ext cx="249967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cs typeface="B Nazanin" panose="00000400000000000000" pitchFamily="2" charset="-78"/>
              </a:rPr>
              <a:t>انتقال سلول به سلول </a:t>
            </a:r>
            <a:r>
              <a:rPr lang="fa-IR" b="1" dirty="0" err="1">
                <a:cs typeface="B Nazanin" panose="00000400000000000000" pitchFamily="2" charset="-78"/>
              </a:rPr>
              <a:t>مسقیم</a:t>
            </a:r>
            <a:endParaRPr lang="en-US" b="1" dirty="0">
              <a:solidFill>
                <a:srgbClr val="000000"/>
              </a:solidFill>
              <a:latin typeface="Times New Roman" panose="02020603050405020304" pitchFamily="18" charset="0"/>
              <a:cs typeface="B Nazanin" pitchFamily="2" charset="-78"/>
            </a:endParaRPr>
          </a:p>
        </p:txBody>
      </p:sp>
      <p:grpSp>
        <p:nvGrpSpPr>
          <p:cNvPr id="140" name="Group 23">
            <a:extLst>
              <a:ext uri="{FF2B5EF4-FFF2-40B4-BE49-F238E27FC236}">
                <a16:creationId xmlns:a16="http://schemas.microsoft.com/office/drawing/2014/main" id="{46DD52FD-E0C5-4D4F-B29D-6967CCD9432F}"/>
              </a:ext>
            </a:extLst>
          </p:cNvPr>
          <p:cNvGrpSpPr>
            <a:grpSpLocks noChangeAspect="1"/>
          </p:cNvGrpSpPr>
          <p:nvPr/>
        </p:nvGrpSpPr>
        <p:grpSpPr bwMode="auto">
          <a:xfrm>
            <a:off x="7660469" y="6246617"/>
            <a:ext cx="381000" cy="381000"/>
            <a:chOff x="2078" y="1680"/>
            <a:chExt cx="1615" cy="1615"/>
          </a:xfrm>
        </p:grpSpPr>
        <p:sp>
          <p:nvSpPr>
            <p:cNvPr id="141" name="Oval 24">
              <a:extLst>
                <a:ext uri="{FF2B5EF4-FFF2-40B4-BE49-F238E27FC236}">
                  <a16:creationId xmlns:a16="http://schemas.microsoft.com/office/drawing/2014/main" id="{26937B66-6C2A-4441-9A3C-B35598750681}"/>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42" name="Oval 25">
              <a:extLst>
                <a:ext uri="{FF2B5EF4-FFF2-40B4-BE49-F238E27FC236}">
                  <a16:creationId xmlns:a16="http://schemas.microsoft.com/office/drawing/2014/main" id="{41201666-3AA5-40C7-A08B-F6231D83CB0B}"/>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43" name="Oval 26">
              <a:extLst>
                <a:ext uri="{FF2B5EF4-FFF2-40B4-BE49-F238E27FC236}">
                  <a16:creationId xmlns:a16="http://schemas.microsoft.com/office/drawing/2014/main" id="{F5FDB05C-877B-46A0-84A3-4F7D6D29D587}"/>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44" name="Oval 27">
              <a:extLst>
                <a:ext uri="{FF2B5EF4-FFF2-40B4-BE49-F238E27FC236}">
                  <a16:creationId xmlns:a16="http://schemas.microsoft.com/office/drawing/2014/main" id="{FAA6EE00-6A71-489A-AE9F-0E102A937064}"/>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45" name="Oval 28">
              <a:extLst>
                <a:ext uri="{FF2B5EF4-FFF2-40B4-BE49-F238E27FC236}">
                  <a16:creationId xmlns:a16="http://schemas.microsoft.com/office/drawing/2014/main" id="{3C609F6B-8190-45A8-832A-11DFA4863205}"/>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46" name="Oval 29">
              <a:extLst>
                <a:ext uri="{FF2B5EF4-FFF2-40B4-BE49-F238E27FC236}">
                  <a16:creationId xmlns:a16="http://schemas.microsoft.com/office/drawing/2014/main" id="{C2FA29F7-937E-463B-B060-8EECEA46A678}"/>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125" name="Rounded Rectangle 175">
            <a:extLst>
              <a:ext uri="{FF2B5EF4-FFF2-40B4-BE49-F238E27FC236}">
                <a16:creationId xmlns:a16="http://schemas.microsoft.com/office/drawing/2014/main" id="{D8E27344-2AB1-4A61-B14B-D9C7962F785E}"/>
              </a:ext>
            </a:extLst>
          </p:cNvPr>
          <p:cNvSpPr/>
          <p:nvPr/>
        </p:nvSpPr>
        <p:spPr bwMode="auto">
          <a:xfrm>
            <a:off x="6324600" y="1269708"/>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2000" b="1" dirty="0">
              <a:solidFill>
                <a:srgbClr val="FFFFFF"/>
              </a:solidFill>
              <a:latin typeface="Times New Roman" panose="02020603050405020304" pitchFamily="18" charset="0"/>
              <a:cs typeface="B Nazanin" panose="00000400000000000000" pitchFamily="2" charset="-78"/>
            </a:endParaRPr>
          </a:p>
        </p:txBody>
      </p:sp>
      <p:pic>
        <p:nvPicPr>
          <p:cNvPr id="126" name="Picture 125" descr="پرونده:Azad University logo.png - ویکی‌پدیا، دانشنامهٔ آزاد">
            <a:extLst>
              <a:ext uri="{FF2B5EF4-FFF2-40B4-BE49-F238E27FC236}">
                <a16:creationId xmlns:a16="http://schemas.microsoft.com/office/drawing/2014/main" id="{FA988D60-670C-406B-B8FB-D5A0053424E9}"/>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127" name="AutoShape 10">
            <a:extLst>
              <a:ext uri="{FF2B5EF4-FFF2-40B4-BE49-F238E27FC236}">
                <a16:creationId xmlns:a16="http://schemas.microsoft.com/office/drawing/2014/main" id="{96E6A76C-5024-445C-8373-4A127C8598B1}"/>
              </a:ext>
            </a:extLst>
          </p:cNvPr>
          <p:cNvSpPr>
            <a:spLocks noChangeArrowheads="1"/>
          </p:cNvSpPr>
          <p:nvPr/>
        </p:nvSpPr>
        <p:spPr bwMode="gray">
          <a:xfrm flipH="1">
            <a:off x="6244699" y="57140"/>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128" name="AutoShape 3">
            <a:extLst>
              <a:ext uri="{FF2B5EF4-FFF2-40B4-BE49-F238E27FC236}">
                <a16:creationId xmlns:a16="http://schemas.microsoft.com/office/drawing/2014/main" id="{C71EB997-3681-42CE-8D12-DC0BC893643A}"/>
              </a:ext>
            </a:extLst>
          </p:cNvPr>
          <p:cNvSpPr>
            <a:spLocks noChangeArrowheads="1"/>
          </p:cNvSpPr>
          <p:nvPr/>
        </p:nvSpPr>
        <p:spPr bwMode="gray">
          <a:xfrm flipH="1">
            <a:off x="161662" y="57140"/>
            <a:ext cx="1970868"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129" name="Rectangle 128">
            <a:extLst>
              <a:ext uri="{FF2B5EF4-FFF2-40B4-BE49-F238E27FC236}">
                <a16:creationId xmlns:a16="http://schemas.microsoft.com/office/drawing/2014/main" id="{C48087A2-0F0F-40A0-A837-05942D40B928}"/>
              </a:ext>
            </a:extLst>
          </p:cNvPr>
          <p:cNvSpPr/>
          <p:nvPr/>
        </p:nvSpPr>
        <p:spPr>
          <a:xfrm>
            <a:off x="431672" y="189466"/>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130" name="Rectangle 129">
            <a:extLst>
              <a:ext uri="{FF2B5EF4-FFF2-40B4-BE49-F238E27FC236}">
                <a16:creationId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147" name="AutoShape 10">
            <a:extLst>
              <a:ext uri="{FF2B5EF4-FFF2-40B4-BE49-F238E27FC236}">
                <a16:creationId xmlns:a16="http://schemas.microsoft.com/office/drawing/2014/main" id="{50B159E1-0AA0-4C32-86C7-52F5C5E0D242}"/>
              </a:ext>
            </a:extLst>
          </p:cNvPr>
          <p:cNvSpPr>
            <a:spLocks noChangeArrowheads="1"/>
          </p:cNvSpPr>
          <p:nvPr/>
        </p:nvSpPr>
        <p:spPr bwMode="gray">
          <a:xfrm flipH="1">
            <a:off x="2105458" y="54854"/>
            <a:ext cx="2137301" cy="651510"/>
          </a:xfrm>
          <a:prstGeom prst="chevron">
            <a:avLst>
              <a:gd name="adj" fmla="val 17842"/>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156" name="AutoShape 3">
            <a:extLst>
              <a:ext uri="{FF2B5EF4-FFF2-40B4-BE49-F238E27FC236}">
                <a16:creationId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157" name="Rectangle 156">
            <a:extLst>
              <a:ext uri="{FF2B5EF4-FFF2-40B4-BE49-F238E27FC236}">
                <a16:creationId xmlns:a16="http://schemas.microsoft.com/office/drawing/2014/main" id="{4DE55AA0-934E-4757-A2D4-1C4E49036DCD}"/>
              </a:ext>
            </a:extLst>
          </p:cNvPr>
          <p:cNvSpPr/>
          <p:nvPr/>
        </p:nvSpPr>
        <p:spPr>
          <a:xfrm>
            <a:off x="2402046" y="6407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158" name="Rectangle 157">
            <a:extLst>
              <a:ext uri="{FF2B5EF4-FFF2-40B4-BE49-F238E27FC236}">
                <a16:creationId xmlns:a16="http://schemas.microsoft.com/office/drawing/2014/main" id="{AC165A2D-60D3-440C-A112-7B419F7E72B2}"/>
              </a:ext>
            </a:extLst>
          </p:cNvPr>
          <p:cNvSpPr/>
          <p:nvPr/>
        </p:nvSpPr>
        <p:spPr>
          <a:xfrm>
            <a:off x="4529582"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148"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45</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249800989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Picture 16"/>
          <p:cNvPicPr/>
          <p:nvPr/>
        </p:nvPicPr>
        <p:blipFill>
          <a:blip r:embed="rId3">
            <a:extLst>
              <a:ext uri="{28A0092B-C50C-407E-A947-70E740481C1C}">
                <a14:useLocalDpi xmlns:a14="http://schemas.microsoft.com/office/drawing/2010/main" val="0"/>
              </a:ext>
            </a:extLst>
          </a:blip>
          <a:stretch>
            <a:fillRect/>
          </a:stretch>
        </p:blipFill>
        <p:spPr bwMode="auto">
          <a:xfrm>
            <a:off x="304800" y="2050503"/>
            <a:ext cx="8683490" cy="4057300"/>
          </a:xfrm>
          <a:prstGeom prst="rect">
            <a:avLst/>
          </a:prstGeom>
          <a:noFill/>
          <a:ln>
            <a:noFill/>
          </a:ln>
        </p:spPr>
      </p:pic>
      <p:sp>
        <p:nvSpPr>
          <p:cNvPr id="18" name="Rounded Rectangle 175">
            <a:extLst>
              <a:ext uri="{FF2B5EF4-FFF2-40B4-BE49-F238E27FC236}">
                <a16:creationId xmlns:a16="http://schemas.microsoft.com/office/drawing/2014/main" id="{D8E27344-2AB1-4A61-B14B-D9C7962F785E}"/>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2000" b="1" dirty="0">
              <a:solidFill>
                <a:srgbClr val="FFFFFF"/>
              </a:solidFill>
              <a:latin typeface="Times New Roman" panose="02020603050405020304" pitchFamily="18" charset="0"/>
              <a:cs typeface="B Nazanin" panose="00000400000000000000" pitchFamily="2" charset="-78"/>
            </a:endParaRPr>
          </a:p>
        </p:txBody>
      </p:sp>
      <p:pic>
        <p:nvPicPr>
          <p:cNvPr id="24" name="Picture 23" descr="پرونده:Azad University logo.png - ویکی‌پدیا، دانشنامهٔ آزاد">
            <a:extLst>
              <a:ext uri="{FF2B5EF4-FFF2-40B4-BE49-F238E27FC236}">
                <a16:creationId xmlns:a16="http://schemas.microsoft.com/office/drawing/2014/main"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5" name="AutoShape 10">
            <a:extLst>
              <a:ext uri="{FF2B5EF4-FFF2-40B4-BE49-F238E27FC236}">
                <a16:creationId xmlns:a16="http://schemas.microsoft.com/office/drawing/2014/main" id="{96E6A76C-5024-445C-8373-4A127C8598B1}"/>
              </a:ext>
            </a:extLst>
          </p:cNvPr>
          <p:cNvSpPr>
            <a:spLocks noChangeArrowheads="1"/>
          </p:cNvSpPr>
          <p:nvPr/>
        </p:nvSpPr>
        <p:spPr bwMode="gray">
          <a:xfrm flipH="1">
            <a:off x="6244699" y="57140"/>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6" name="AutoShape 3">
            <a:extLst>
              <a:ext uri="{FF2B5EF4-FFF2-40B4-BE49-F238E27FC236}">
                <a16:creationId xmlns:a16="http://schemas.microsoft.com/office/drawing/2014/main" id="{C71EB997-3681-42CE-8D12-DC0BC893643A}"/>
              </a:ext>
            </a:extLst>
          </p:cNvPr>
          <p:cNvSpPr>
            <a:spLocks noChangeArrowheads="1"/>
          </p:cNvSpPr>
          <p:nvPr/>
        </p:nvSpPr>
        <p:spPr bwMode="gray">
          <a:xfrm flipH="1">
            <a:off x="161662" y="57140"/>
            <a:ext cx="1970868"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7" name="Rectangle 26">
            <a:extLst>
              <a:ext uri="{FF2B5EF4-FFF2-40B4-BE49-F238E27FC236}">
                <a16:creationId xmlns:a16="http://schemas.microsoft.com/office/drawing/2014/main" id="{C48087A2-0F0F-40A0-A837-05942D40B928}"/>
              </a:ext>
            </a:extLst>
          </p:cNvPr>
          <p:cNvSpPr/>
          <p:nvPr/>
        </p:nvSpPr>
        <p:spPr>
          <a:xfrm>
            <a:off x="431672" y="189466"/>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8" name="Rectangle 27">
            <a:extLst>
              <a:ext uri="{FF2B5EF4-FFF2-40B4-BE49-F238E27FC236}">
                <a16:creationId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29" name="AutoShape 10">
            <a:extLst>
              <a:ext uri="{FF2B5EF4-FFF2-40B4-BE49-F238E27FC236}">
                <a16:creationId xmlns:a16="http://schemas.microsoft.com/office/drawing/2014/main" id="{50B159E1-0AA0-4C32-86C7-52F5C5E0D242}"/>
              </a:ext>
            </a:extLst>
          </p:cNvPr>
          <p:cNvSpPr>
            <a:spLocks noChangeArrowheads="1"/>
          </p:cNvSpPr>
          <p:nvPr/>
        </p:nvSpPr>
        <p:spPr bwMode="gray">
          <a:xfrm flipH="1">
            <a:off x="2105458" y="54854"/>
            <a:ext cx="2137301" cy="651510"/>
          </a:xfrm>
          <a:prstGeom prst="chevron">
            <a:avLst>
              <a:gd name="adj" fmla="val 17842"/>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1" name="AutoShape 3">
            <a:extLst>
              <a:ext uri="{FF2B5EF4-FFF2-40B4-BE49-F238E27FC236}">
                <a16:creationId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2" name="Rectangle 31">
            <a:extLst>
              <a:ext uri="{FF2B5EF4-FFF2-40B4-BE49-F238E27FC236}">
                <a16:creationId xmlns:a16="http://schemas.microsoft.com/office/drawing/2014/main" id="{4DE55AA0-934E-4757-A2D4-1C4E49036DCD}"/>
              </a:ext>
            </a:extLst>
          </p:cNvPr>
          <p:cNvSpPr/>
          <p:nvPr/>
        </p:nvSpPr>
        <p:spPr>
          <a:xfrm>
            <a:off x="2402046" y="6407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3" name="Rectangle 32">
            <a:extLst>
              <a:ext uri="{FF2B5EF4-FFF2-40B4-BE49-F238E27FC236}">
                <a16:creationId xmlns:a16="http://schemas.microsoft.com/office/drawing/2014/main" id="{AC165A2D-60D3-440C-A112-7B419F7E72B2}"/>
              </a:ext>
            </a:extLst>
          </p:cNvPr>
          <p:cNvSpPr/>
          <p:nvPr/>
        </p:nvSpPr>
        <p:spPr>
          <a:xfrm>
            <a:off x="4529582"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4" name="Rectangle 43"/>
          <p:cNvSpPr/>
          <p:nvPr/>
        </p:nvSpPr>
        <p:spPr>
          <a:xfrm>
            <a:off x="2221390" y="6172200"/>
            <a:ext cx="3988592" cy="369332"/>
          </a:xfrm>
          <a:prstGeom prst="rect">
            <a:avLst/>
          </a:prstGeom>
        </p:spPr>
        <p:txBody>
          <a:bodyPr wrap="none">
            <a:spAutoFit/>
          </a:bodyPr>
          <a:lstStyle/>
          <a:p>
            <a:pPr algn="ctr" rtl="1" fontAlgn="base">
              <a:spcBef>
                <a:spcPct val="0"/>
              </a:spcBef>
              <a:spcAft>
                <a:spcPct val="0"/>
              </a:spcAft>
            </a:pPr>
            <a:r>
              <a:rPr lang="fa-IR" dirty="0">
                <a:latin typeface="Times New Roman" panose="02020603050405020304" pitchFamily="18" charset="0"/>
                <a:cs typeface="B Lotus" panose="00000400000000000000" pitchFamily="2" charset="-78"/>
              </a:rPr>
              <a:t>شماتیک دیاگرام همسان سازی ماژولار سلول به سلول.</a:t>
            </a:r>
            <a:endParaRPr lang="en-US" dirty="0">
              <a:latin typeface="Times New Roman" panose="02020603050405020304" pitchFamily="18" charset="0"/>
              <a:cs typeface="B Lotus" panose="00000400000000000000" pitchFamily="2" charset="-78"/>
            </a:endParaRPr>
          </a:p>
        </p:txBody>
      </p:sp>
      <p:sp>
        <p:nvSpPr>
          <p:cNvPr id="45" name="TextBox 44">
            <a:extLst>
              <a:ext uri="{FF2B5EF4-FFF2-40B4-BE49-F238E27FC236}">
                <a16:creationId xmlns:a16="http://schemas.microsoft.com/office/drawing/2014/main" id="{F43469DC-7F5B-471E-BD74-ED709E621F63}"/>
              </a:ext>
            </a:extLst>
          </p:cNvPr>
          <p:cNvSpPr txBox="1"/>
          <p:nvPr/>
        </p:nvSpPr>
        <p:spPr>
          <a:xfrm>
            <a:off x="7741141" y="1726687"/>
            <a:ext cx="1151276" cy="369332"/>
          </a:xfrm>
          <a:prstGeom prst="rect">
            <a:avLst/>
          </a:prstGeom>
          <a:noFill/>
        </p:spPr>
        <p:txBody>
          <a:bodyPr wrap="none" rtlCol="0">
            <a:spAutoFit/>
          </a:bodyPr>
          <a:lstStyle/>
          <a:p>
            <a:pPr algn="r" rtl="1"/>
            <a:r>
              <a:rPr lang="fa-IR" b="1" dirty="0">
                <a:cs typeface="B Nazanin" panose="00000400000000000000" pitchFamily="2" charset="-78"/>
              </a:rPr>
              <a:t>انتقال مجاور</a:t>
            </a:r>
          </a:p>
        </p:txBody>
      </p:sp>
      <p:graphicFrame>
        <p:nvGraphicFramePr>
          <p:cNvPr id="15" name="Table 14"/>
          <p:cNvGraphicFramePr>
            <a:graphicFrameLocks noGrp="1"/>
          </p:cNvGraphicFramePr>
          <p:nvPr>
            <p:extLst>
              <p:ext uri="{D42A27DB-BD31-4B8C-83A1-F6EECF244321}">
                <p14:modId xmlns:p14="http://schemas.microsoft.com/office/powerpoint/2010/main" val="2434933159"/>
              </p:ext>
            </p:extLst>
          </p:nvPr>
        </p:nvGraphicFramePr>
        <p:xfrm>
          <a:off x="431672" y="1292475"/>
          <a:ext cx="4180150" cy="762000"/>
        </p:xfrm>
        <a:graphic>
          <a:graphicData uri="http://schemas.openxmlformats.org/drawingml/2006/table">
            <a:tbl>
              <a:tblPr rtl="1" firstRow="1" firstCol="1" bandRow="1"/>
              <a:tblGrid>
                <a:gridCol w="1157922">
                  <a:extLst>
                    <a:ext uri="{9D8B030D-6E8A-4147-A177-3AD203B41FA5}">
                      <a16:colId xmlns:a16="http://schemas.microsoft.com/office/drawing/2014/main" val="20001"/>
                    </a:ext>
                  </a:extLst>
                </a:gridCol>
                <a:gridCol w="781685">
                  <a:extLst>
                    <a:ext uri="{9D8B030D-6E8A-4147-A177-3AD203B41FA5}">
                      <a16:colId xmlns:a16="http://schemas.microsoft.com/office/drawing/2014/main" val="20002"/>
                    </a:ext>
                  </a:extLst>
                </a:gridCol>
                <a:gridCol w="470535">
                  <a:extLst>
                    <a:ext uri="{9D8B030D-6E8A-4147-A177-3AD203B41FA5}">
                      <a16:colId xmlns:a16="http://schemas.microsoft.com/office/drawing/2014/main" val="20003"/>
                    </a:ext>
                  </a:extLst>
                </a:gridCol>
                <a:gridCol w="472122">
                  <a:extLst>
                    <a:ext uri="{9D8B030D-6E8A-4147-A177-3AD203B41FA5}">
                      <a16:colId xmlns:a16="http://schemas.microsoft.com/office/drawing/2014/main" val="20004"/>
                    </a:ext>
                  </a:extLst>
                </a:gridCol>
                <a:gridCol w="556260">
                  <a:extLst>
                    <a:ext uri="{9D8B030D-6E8A-4147-A177-3AD203B41FA5}">
                      <a16:colId xmlns:a16="http://schemas.microsoft.com/office/drawing/2014/main" val="20005"/>
                    </a:ext>
                  </a:extLst>
                </a:gridCol>
                <a:gridCol w="741626">
                  <a:extLst>
                    <a:ext uri="{9D8B030D-6E8A-4147-A177-3AD203B41FA5}">
                      <a16:colId xmlns:a16="http://schemas.microsoft.com/office/drawing/2014/main" val="20006"/>
                    </a:ext>
                  </a:extLst>
                </a:gridCol>
              </a:tblGrid>
              <a:tr h="381000">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پیچیدگی الگوریتم</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lvl="0" indent="0" algn="ctr" defTabSz="914400" rtl="1" eaLnBrk="1" fontAlgn="auto" latinLnBrk="0" hangingPunct="1">
                        <a:lnSpc>
                          <a:spcPct val="100000"/>
                        </a:lnSpc>
                        <a:spcBef>
                          <a:spcPts val="600"/>
                        </a:spcBef>
                        <a:spcAft>
                          <a:spcPts val="600"/>
                        </a:spcAft>
                        <a:buClrTx/>
                        <a:buSzTx/>
                        <a:buFontTx/>
                        <a:buNone/>
                        <a:tabLst/>
                        <a:defRPr/>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راندمان</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اندازه</a:t>
                      </a:r>
                      <a:endParaRPr lang="en-US"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هزینه</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سرعت</a:t>
                      </a:r>
                      <a:endParaRPr lang="en-US"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امتیاز</a:t>
                      </a:r>
                      <a:r>
                        <a:rPr lang="fa-IR" sz="1400" i="0" kern="1200" baseline="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 نهایی</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extLst>
                  <a:ext uri="{0D108BD9-81ED-4DB2-BD59-A6C34878D82A}">
                    <a16:rowId xmlns:a16="http://schemas.microsoft.com/office/drawing/2014/main" val="10000"/>
                  </a:ext>
                </a:extLst>
              </a:tr>
              <a:tr h="381000">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5</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4</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1/8</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3/2</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19"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46</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12261635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Picture 17"/>
          <p:cNvPicPr/>
          <p:nvPr/>
        </p:nvPicPr>
        <p:blipFill>
          <a:blip r:embed="rId3">
            <a:extLst>
              <a:ext uri="{28A0092B-C50C-407E-A947-70E740481C1C}">
                <a14:useLocalDpi xmlns:a14="http://schemas.microsoft.com/office/drawing/2010/main" val="0"/>
              </a:ext>
            </a:extLst>
          </a:blip>
          <a:stretch>
            <a:fillRect/>
          </a:stretch>
        </p:blipFill>
        <p:spPr bwMode="auto">
          <a:xfrm>
            <a:off x="570714" y="2139498"/>
            <a:ext cx="8077200" cy="4146478"/>
          </a:xfrm>
          <a:prstGeom prst="rect">
            <a:avLst/>
          </a:prstGeom>
          <a:noFill/>
          <a:ln>
            <a:noFill/>
          </a:ln>
        </p:spPr>
      </p:pic>
      <p:sp>
        <p:nvSpPr>
          <p:cNvPr id="15" name="Rounded Rectangle 175">
            <a:extLst>
              <a:ext uri="{FF2B5EF4-FFF2-40B4-BE49-F238E27FC236}">
                <a16:creationId xmlns:a16="http://schemas.microsoft.com/office/drawing/2014/main" id="{D8E27344-2AB1-4A61-B14B-D9C7962F785E}"/>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2000" b="1" dirty="0">
              <a:solidFill>
                <a:srgbClr val="FFFFFF"/>
              </a:solidFill>
              <a:latin typeface="Times New Roman" panose="02020603050405020304" pitchFamily="18" charset="0"/>
              <a:cs typeface="B Nazanin" panose="00000400000000000000" pitchFamily="2" charset="-78"/>
            </a:endParaRPr>
          </a:p>
        </p:txBody>
      </p:sp>
      <p:pic>
        <p:nvPicPr>
          <p:cNvPr id="24" name="Picture 23" descr="پرونده:Azad University logo.png - ویکی‌پدیا، دانشنامهٔ آزاد">
            <a:extLst>
              <a:ext uri="{FF2B5EF4-FFF2-40B4-BE49-F238E27FC236}">
                <a16:creationId xmlns:a16="http://schemas.microsoft.com/office/drawing/2014/main"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5" name="AutoShape 10">
            <a:extLst>
              <a:ext uri="{FF2B5EF4-FFF2-40B4-BE49-F238E27FC236}">
                <a16:creationId xmlns:a16="http://schemas.microsoft.com/office/drawing/2014/main" id="{96E6A76C-5024-445C-8373-4A127C8598B1}"/>
              </a:ext>
            </a:extLst>
          </p:cNvPr>
          <p:cNvSpPr>
            <a:spLocks noChangeArrowheads="1"/>
          </p:cNvSpPr>
          <p:nvPr/>
        </p:nvSpPr>
        <p:spPr bwMode="gray">
          <a:xfrm flipH="1">
            <a:off x="6244699" y="57140"/>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6" name="AutoShape 3">
            <a:extLst>
              <a:ext uri="{FF2B5EF4-FFF2-40B4-BE49-F238E27FC236}">
                <a16:creationId xmlns:a16="http://schemas.microsoft.com/office/drawing/2014/main" id="{C71EB997-3681-42CE-8D12-DC0BC893643A}"/>
              </a:ext>
            </a:extLst>
          </p:cNvPr>
          <p:cNvSpPr>
            <a:spLocks noChangeArrowheads="1"/>
          </p:cNvSpPr>
          <p:nvPr/>
        </p:nvSpPr>
        <p:spPr bwMode="gray">
          <a:xfrm flipH="1">
            <a:off x="161662" y="57140"/>
            <a:ext cx="1970868"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7" name="Rectangle 26">
            <a:extLst>
              <a:ext uri="{FF2B5EF4-FFF2-40B4-BE49-F238E27FC236}">
                <a16:creationId xmlns:a16="http://schemas.microsoft.com/office/drawing/2014/main" id="{C48087A2-0F0F-40A0-A837-05942D40B928}"/>
              </a:ext>
            </a:extLst>
          </p:cNvPr>
          <p:cNvSpPr/>
          <p:nvPr/>
        </p:nvSpPr>
        <p:spPr>
          <a:xfrm>
            <a:off x="431672" y="189466"/>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8" name="Rectangle 27">
            <a:extLst>
              <a:ext uri="{FF2B5EF4-FFF2-40B4-BE49-F238E27FC236}">
                <a16:creationId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29" name="AutoShape 10">
            <a:extLst>
              <a:ext uri="{FF2B5EF4-FFF2-40B4-BE49-F238E27FC236}">
                <a16:creationId xmlns:a16="http://schemas.microsoft.com/office/drawing/2014/main" id="{50B159E1-0AA0-4C32-86C7-52F5C5E0D242}"/>
              </a:ext>
            </a:extLst>
          </p:cNvPr>
          <p:cNvSpPr>
            <a:spLocks noChangeArrowheads="1"/>
          </p:cNvSpPr>
          <p:nvPr/>
        </p:nvSpPr>
        <p:spPr bwMode="gray">
          <a:xfrm flipH="1">
            <a:off x="2105458" y="54854"/>
            <a:ext cx="2137301" cy="651510"/>
          </a:xfrm>
          <a:prstGeom prst="chevron">
            <a:avLst>
              <a:gd name="adj" fmla="val 17842"/>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1" name="AutoShape 3">
            <a:extLst>
              <a:ext uri="{FF2B5EF4-FFF2-40B4-BE49-F238E27FC236}">
                <a16:creationId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2" name="Rectangle 31">
            <a:extLst>
              <a:ext uri="{FF2B5EF4-FFF2-40B4-BE49-F238E27FC236}">
                <a16:creationId xmlns:a16="http://schemas.microsoft.com/office/drawing/2014/main" id="{4DE55AA0-934E-4757-A2D4-1C4E49036DCD}"/>
              </a:ext>
            </a:extLst>
          </p:cNvPr>
          <p:cNvSpPr/>
          <p:nvPr/>
        </p:nvSpPr>
        <p:spPr>
          <a:xfrm>
            <a:off x="2402046" y="6407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3" name="Rectangle 32">
            <a:extLst>
              <a:ext uri="{FF2B5EF4-FFF2-40B4-BE49-F238E27FC236}">
                <a16:creationId xmlns:a16="http://schemas.microsoft.com/office/drawing/2014/main" id="{AC165A2D-60D3-440C-A112-7B419F7E72B2}"/>
              </a:ext>
            </a:extLst>
          </p:cNvPr>
          <p:cNvSpPr/>
          <p:nvPr/>
        </p:nvSpPr>
        <p:spPr>
          <a:xfrm>
            <a:off x="4529582"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4" name="Rectangle 33"/>
          <p:cNvSpPr/>
          <p:nvPr/>
        </p:nvSpPr>
        <p:spPr>
          <a:xfrm>
            <a:off x="3152826" y="6318394"/>
            <a:ext cx="2912977" cy="369332"/>
          </a:xfrm>
          <a:prstGeom prst="rect">
            <a:avLst/>
          </a:prstGeom>
        </p:spPr>
        <p:txBody>
          <a:bodyPr wrap="none">
            <a:spAutoFit/>
          </a:bodyPr>
          <a:lstStyle/>
          <a:p>
            <a:pPr algn="r" rtl="1" fontAlgn="base">
              <a:spcBef>
                <a:spcPct val="0"/>
              </a:spcBef>
              <a:spcAft>
                <a:spcPct val="0"/>
              </a:spcAft>
            </a:pPr>
            <a:r>
              <a:rPr lang="fa-IR" dirty="0">
                <a:latin typeface="Times New Roman" panose="02020603050405020304" pitchFamily="18" charset="0"/>
                <a:cs typeface="B Lotus" panose="00000400000000000000" pitchFamily="2" charset="-78"/>
              </a:rPr>
              <a:t>شماتیک دیاگرام همسان سازی لایه ای.</a:t>
            </a:r>
            <a:endParaRPr lang="en-US" b="1" dirty="0">
              <a:solidFill>
                <a:srgbClr val="000000"/>
              </a:solidFill>
              <a:latin typeface="Times New Roman" panose="02020603050405020304" pitchFamily="18" charset="0"/>
              <a:cs typeface="B Nazanin" pitchFamily="2" charset="-78"/>
            </a:endParaRPr>
          </a:p>
        </p:txBody>
      </p:sp>
      <p:sp>
        <p:nvSpPr>
          <p:cNvPr id="35" name="TextBox 34">
            <a:extLst>
              <a:ext uri="{FF2B5EF4-FFF2-40B4-BE49-F238E27FC236}">
                <a16:creationId xmlns:a16="http://schemas.microsoft.com/office/drawing/2014/main" id="{F43469DC-7F5B-471E-BD74-ED709E621F63}"/>
              </a:ext>
            </a:extLst>
          </p:cNvPr>
          <p:cNvSpPr txBox="1"/>
          <p:nvPr/>
        </p:nvSpPr>
        <p:spPr>
          <a:xfrm>
            <a:off x="7741141" y="1726687"/>
            <a:ext cx="1151276" cy="369332"/>
          </a:xfrm>
          <a:prstGeom prst="rect">
            <a:avLst/>
          </a:prstGeom>
          <a:noFill/>
        </p:spPr>
        <p:txBody>
          <a:bodyPr wrap="none" rtlCol="0">
            <a:spAutoFit/>
          </a:bodyPr>
          <a:lstStyle/>
          <a:p>
            <a:pPr algn="r" rtl="1"/>
            <a:r>
              <a:rPr lang="fa-IR" b="1" dirty="0">
                <a:cs typeface="B Nazanin" panose="00000400000000000000" pitchFamily="2" charset="-78"/>
              </a:rPr>
              <a:t>انتقال مجاور</a:t>
            </a:r>
          </a:p>
        </p:txBody>
      </p:sp>
      <p:graphicFrame>
        <p:nvGraphicFramePr>
          <p:cNvPr id="16" name="Table 15"/>
          <p:cNvGraphicFramePr>
            <a:graphicFrameLocks noGrp="1"/>
          </p:cNvGraphicFramePr>
          <p:nvPr>
            <p:extLst>
              <p:ext uri="{D42A27DB-BD31-4B8C-83A1-F6EECF244321}">
                <p14:modId xmlns:p14="http://schemas.microsoft.com/office/powerpoint/2010/main" val="1414955168"/>
              </p:ext>
            </p:extLst>
          </p:nvPr>
        </p:nvGraphicFramePr>
        <p:xfrm>
          <a:off x="431672" y="1292475"/>
          <a:ext cx="4180150" cy="762000"/>
        </p:xfrm>
        <a:graphic>
          <a:graphicData uri="http://schemas.openxmlformats.org/drawingml/2006/table">
            <a:tbl>
              <a:tblPr rtl="1" firstRow="1" firstCol="1" bandRow="1"/>
              <a:tblGrid>
                <a:gridCol w="1157922">
                  <a:extLst>
                    <a:ext uri="{9D8B030D-6E8A-4147-A177-3AD203B41FA5}">
                      <a16:colId xmlns:a16="http://schemas.microsoft.com/office/drawing/2014/main" val="20001"/>
                    </a:ext>
                  </a:extLst>
                </a:gridCol>
                <a:gridCol w="781685">
                  <a:extLst>
                    <a:ext uri="{9D8B030D-6E8A-4147-A177-3AD203B41FA5}">
                      <a16:colId xmlns:a16="http://schemas.microsoft.com/office/drawing/2014/main" val="20002"/>
                    </a:ext>
                  </a:extLst>
                </a:gridCol>
                <a:gridCol w="470535">
                  <a:extLst>
                    <a:ext uri="{9D8B030D-6E8A-4147-A177-3AD203B41FA5}">
                      <a16:colId xmlns:a16="http://schemas.microsoft.com/office/drawing/2014/main" val="20003"/>
                    </a:ext>
                  </a:extLst>
                </a:gridCol>
                <a:gridCol w="472122">
                  <a:extLst>
                    <a:ext uri="{9D8B030D-6E8A-4147-A177-3AD203B41FA5}">
                      <a16:colId xmlns:a16="http://schemas.microsoft.com/office/drawing/2014/main" val="20004"/>
                    </a:ext>
                  </a:extLst>
                </a:gridCol>
                <a:gridCol w="556260">
                  <a:extLst>
                    <a:ext uri="{9D8B030D-6E8A-4147-A177-3AD203B41FA5}">
                      <a16:colId xmlns:a16="http://schemas.microsoft.com/office/drawing/2014/main" val="20005"/>
                    </a:ext>
                  </a:extLst>
                </a:gridCol>
                <a:gridCol w="741626">
                  <a:extLst>
                    <a:ext uri="{9D8B030D-6E8A-4147-A177-3AD203B41FA5}">
                      <a16:colId xmlns:a16="http://schemas.microsoft.com/office/drawing/2014/main" val="20006"/>
                    </a:ext>
                  </a:extLst>
                </a:gridCol>
              </a:tblGrid>
              <a:tr h="381000">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پیچیدگی الگوریتم</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lvl="0" indent="0" algn="ctr" defTabSz="914400" rtl="1" eaLnBrk="1" fontAlgn="auto" latinLnBrk="0" hangingPunct="1">
                        <a:lnSpc>
                          <a:spcPct val="100000"/>
                        </a:lnSpc>
                        <a:spcBef>
                          <a:spcPts val="600"/>
                        </a:spcBef>
                        <a:spcAft>
                          <a:spcPts val="600"/>
                        </a:spcAft>
                        <a:buClrTx/>
                        <a:buSzTx/>
                        <a:buFontTx/>
                        <a:buNone/>
                        <a:tabLst/>
                        <a:defRPr/>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راندمان</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اندازه</a:t>
                      </a:r>
                      <a:endParaRPr lang="en-US"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هزینه</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سرعت</a:t>
                      </a:r>
                      <a:endParaRPr lang="en-US"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امتیاز</a:t>
                      </a:r>
                      <a:r>
                        <a:rPr lang="fa-IR" sz="1400" i="0" kern="1200" baseline="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 نهایی</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extLst>
                  <a:ext uri="{0D108BD9-81ED-4DB2-BD59-A6C34878D82A}">
                    <a16:rowId xmlns:a16="http://schemas.microsoft.com/office/drawing/2014/main" val="10000"/>
                  </a:ext>
                </a:extLst>
              </a:tr>
              <a:tr h="381000">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4</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2/5</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1/5</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2/8</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17"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47</a:t>
            </a:fld>
            <a:endParaRPr lang="fa-IR" sz="1800" dirty="0">
              <a:solidFill>
                <a:schemeClr val="tx1"/>
              </a:solidFill>
              <a:cs typeface="B Lotus" panose="00000400000000000000" pitchFamily="2" charset="-78"/>
            </a:endParaRPr>
          </a:p>
        </p:txBody>
      </p:sp>
      <p:pic>
        <p:nvPicPr>
          <p:cNvPr id="19" name="Picture 18"/>
          <p:cNvPicPr/>
          <p:nvPr/>
        </p:nvPicPr>
        <p:blipFill>
          <a:blip r:embed="rId5">
            <a:extLst>
              <a:ext uri="{28A0092B-C50C-407E-A947-70E740481C1C}">
                <a14:useLocalDpi xmlns:a14="http://schemas.microsoft.com/office/drawing/2010/main" val="0"/>
              </a:ext>
            </a:extLst>
          </a:blip>
          <a:stretch>
            <a:fillRect/>
          </a:stretch>
        </p:blipFill>
        <p:spPr bwMode="auto">
          <a:xfrm>
            <a:off x="4758589" y="1695057"/>
            <a:ext cx="7778650" cy="4296544"/>
          </a:xfrm>
          <a:prstGeom prst="rect">
            <a:avLst/>
          </a:prstGeom>
          <a:noFill/>
          <a:ln>
            <a:noFill/>
          </a:ln>
        </p:spPr>
      </p:pic>
      <p:sp>
        <p:nvSpPr>
          <p:cNvPr id="20" name="Rectangle 19"/>
          <p:cNvSpPr/>
          <p:nvPr/>
        </p:nvSpPr>
        <p:spPr>
          <a:xfrm>
            <a:off x="6544613" y="5991601"/>
            <a:ext cx="4206601" cy="369332"/>
          </a:xfrm>
          <a:prstGeom prst="rect">
            <a:avLst/>
          </a:prstGeom>
        </p:spPr>
        <p:txBody>
          <a:bodyPr wrap="none">
            <a:spAutoFit/>
          </a:bodyPr>
          <a:lstStyle/>
          <a:p>
            <a:pPr algn="r" rtl="1" fontAlgn="base">
              <a:spcBef>
                <a:spcPct val="0"/>
              </a:spcBef>
              <a:spcAft>
                <a:spcPct val="0"/>
              </a:spcAft>
            </a:pPr>
            <a:r>
              <a:rPr lang="fa-IR" b="1" dirty="0">
                <a:cs typeface="B Nazanin" panose="00000400000000000000" pitchFamily="2" charset="-78"/>
              </a:rPr>
              <a:t>شماتیک دیاگرام همسان سازی سلول و پک ماژولار.</a:t>
            </a:r>
            <a:endParaRPr lang="en-US" b="1" dirty="0">
              <a:solidFill>
                <a:srgbClr val="000000"/>
              </a:solidFill>
              <a:latin typeface="Times New Roman" panose="02020603050405020304" pitchFamily="18" charset="0"/>
              <a:cs typeface="B Nazanin" pitchFamily="2" charset="-78"/>
            </a:endParaRPr>
          </a:p>
        </p:txBody>
      </p:sp>
      <p:pic>
        <p:nvPicPr>
          <p:cNvPr id="21" name="Picture 20"/>
          <p:cNvPicPr/>
          <p:nvPr/>
        </p:nvPicPr>
        <p:blipFill>
          <a:blip r:embed="rId6">
            <a:extLst>
              <a:ext uri="{28A0092B-C50C-407E-A947-70E740481C1C}">
                <a14:useLocalDpi xmlns:a14="http://schemas.microsoft.com/office/drawing/2010/main" val="0"/>
              </a:ext>
            </a:extLst>
          </a:blip>
          <a:stretch>
            <a:fillRect/>
          </a:stretch>
        </p:blipFill>
        <p:spPr bwMode="auto">
          <a:xfrm>
            <a:off x="-2438400" y="1666302"/>
            <a:ext cx="7924800" cy="3916079"/>
          </a:xfrm>
          <a:prstGeom prst="rect">
            <a:avLst/>
          </a:prstGeom>
          <a:noFill/>
          <a:ln>
            <a:noFill/>
          </a:ln>
        </p:spPr>
      </p:pic>
      <p:sp>
        <p:nvSpPr>
          <p:cNvPr id="22" name="Rectangle 21"/>
          <p:cNvSpPr/>
          <p:nvPr/>
        </p:nvSpPr>
        <p:spPr>
          <a:xfrm>
            <a:off x="-481516" y="5799904"/>
            <a:ext cx="4011034" cy="369332"/>
          </a:xfrm>
          <a:prstGeom prst="rect">
            <a:avLst/>
          </a:prstGeom>
        </p:spPr>
        <p:txBody>
          <a:bodyPr wrap="none">
            <a:spAutoFit/>
          </a:bodyPr>
          <a:lstStyle/>
          <a:p>
            <a:pPr algn="ctr" rtl="1" fontAlgn="base">
              <a:spcBef>
                <a:spcPct val="0"/>
              </a:spcBef>
              <a:spcAft>
                <a:spcPct val="0"/>
              </a:spcAft>
            </a:pPr>
            <a:r>
              <a:rPr lang="fa-IR" dirty="0">
                <a:latin typeface="Times New Roman" panose="02020603050405020304" pitchFamily="18" charset="0"/>
                <a:ea typeface="Calibri" panose="020F0502020204030204" pitchFamily="34" charset="0"/>
                <a:cs typeface="B Lotus" panose="00000400000000000000" pitchFamily="2" charset="-78"/>
              </a:rPr>
              <a:t>شکل 7 </a:t>
            </a:r>
            <a:r>
              <a:rPr lang="fa-IR" dirty="0">
                <a:latin typeface="Times New Roman" panose="02020603050405020304" pitchFamily="18" charset="0"/>
                <a:cs typeface="B Lotus" panose="00000400000000000000" pitchFamily="2" charset="-78"/>
              </a:rPr>
              <a:t>شماتیک دیاگرام همسان سازی سلول به سلول.</a:t>
            </a:r>
            <a:endParaRPr lang="en-US" dirty="0">
              <a:latin typeface="Times New Roman" panose="02020603050405020304" pitchFamily="18" charset="0"/>
              <a:cs typeface="B Lotus" panose="00000400000000000000" pitchFamily="2" charset="-78"/>
            </a:endParaRPr>
          </a:p>
        </p:txBody>
      </p:sp>
    </p:spTree>
    <p:extLst>
      <p:ext uri="{BB962C8B-B14F-4D97-AF65-F5344CB8AC3E}">
        <p14:creationId xmlns:p14="http://schemas.microsoft.com/office/powerpoint/2010/main" val="91747322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Picture 16"/>
          <p:cNvPicPr/>
          <p:nvPr/>
        </p:nvPicPr>
        <p:blipFill>
          <a:blip r:embed="rId3">
            <a:extLst>
              <a:ext uri="{28A0092B-C50C-407E-A947-70E740481C1C}">
                <a14:useLocalDpi xmlns:a14="http://schemas.microsoft.com/office/drawing/2010/main" val="0"/>
              </a:ext>
            </a:extLst>
          </a:blip>
          <a:stretch>
            <a:fillRect/>
          </a:stretch>
        </p:blipFill>
        <p:spPr bwMode="auto">
          <a:xfrm>
            <a:off x="640257" y="2054475"/>
            <a:ext cx="7778650" cy="4296544"/>
          </a:xfrm>
          <a:prstGeom prst="rect">
            <a:avLst/>
          </a:prstGeom>
          <a:noFill/>
          <a:ln>
            <a:noFill/>
          </a:ln>
        </p:spPr>
      </p:pic>
      <p:sp>
        <p:nvSpPr>
          <p:cNvPr id="15" name="Rounded Rectangle 175">
            <a:extLst>
              <a:ext uri="{FF2B5EF4-FFF2-40B4-BE49-F238E27FC236}">
                <a16:creationId xmlns:a16="http://schemas.microsoft.com/office/drawing/2014/main" id="{D8E27344-2AB1-4A61-B14B-D9C7962F785E}"/>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2000" b="1" dirty="0">
              <a:solidFill>
                <a:srgbClr val="FFFFFF"/>
              </a:solidFill>
              <a:latin typeface="Times New Roman" panose="02020603050405020304" pitchFamily="18" charset="0"/>
              <a:cs typeface="B Nazanin" panose="00000400000000000000" pitchFamily="2" charset="-78"/>
            </a:endParaRPr>
          </a:p>
        </p:txBody>
      </p:sp>
      <p:pic>
        <p:nvPicPr>
          <p:cNvPr id="18" name="Picture 17" descr="پرونده:Azad University logo.png - ویکی‌پدیا، دانشنامهٔ آزاد">
            <a:extLst>
              <a:ext uri="{FF2B5EF4-FFF2-40B4-BE49-F238E27FC236}">
                <a16:creationId xmlns:a16="http://schemas.microsoft.com/office/drawing/2014/main"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4" name="AutoShape 10">
            <a:extLst>
              <a:ext uri="{FF2B5EF4-FFF2-40B4-BE49-F238E27FC236}">
                <a16:creationId xmlns:a16="http://schemas.microsoft.com/office/drawing/2014/main" id="{96E6A76C-5024-445C-8373-4A127C8598B1}"/>
              </a:ext>
            </a:extLst>
          </p:cNvPr>
          <p:cNvSpPr>
            <a:spLocks noChangeArrowheads="1"/>
          </p:cNvSpPr>
          <p:nvPr/>
        </p:nvSpPr>
        <p:spPr bwMode="gray">
          <a:xfrm flipH="1">
            <a:off x="6244699" y="57140"/>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5" name="AutoShape 3">
            <a:extLst>
              <a:ext uri="{FF2B5EF4-FFF2-40B4-BE49-F238E27FC236}">
                <a16:creationId xmlns:a16="http://schemas.microsoft.com/office/drawing/2014/main" id="{C71EB997-3681-42CE-8D12-DC0BC893643A}"/>
              </a:ext>
            </a:extLst>
          </p:cNvPr>
          <p:cNvSpPr>
            <a:spLocks noChangeArrowheads="1"/>
          </p:cNvSpPr>
          <p:nvPr/>
        </p:nvSpPr>
        <p:spPr bwMode="gray">
          <a:xfrm flipH="1">
            <a:off x="161662" y="57140"/>
            <a:ext cx="1970868"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6" name="Rectangle 25">
            <a:extLst>
              <a:ext uri="{FF2B5EF4-FFF2-40B4-BE49-F238E27FC236}">
                <a16:creationId xmlns:a16="http://schemas.microsoft.com/office/drawing/2014/main" id="{C48087A2-0F0F-40A0-A837-05942D40B928}"/>
              </a:ext>
            </a:extLst>
          </p:cNvPr>
          <p:cNvSpPr/>
          <p:nvPr/>
        </p:nvSpPr>
        <p:spPr>
          <a:xfrm>
            <a:off x="431672" y="189466"/>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7" name="Rectangle 26">
            <a:extLst>
              <a:ext uri="{FF2B5EF4-FFF2-40B4-BE49-F238E27FC236}">
                <a16:creationId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28" name="AutoShape 10">
            <a:extLst>
              <a:ext uri="{FF2B5EF4-FFF2-40B4-BE49-F238E27FC236}">
                <a16:creationId xmlns:a16="http://schemas.microsoft.com/office/drawing/2014/main" id="{50B159E1-0AA0-4C32-86C7-52F5C5E0D242}"/>
              </a:ext>
            </a:extLst>
          </p:cNvPr>
          <p:cNvSpPr>
            <a:spLocks noChangeArrowheads="1"/>
          </p:cNvSpPr>
          <p:nvPr/>
        </p:nvSpPr>
        <p:spPr bwMode="gray">
          <a:xfrm flipH="1">
            <a:off x="2105458" y="54854"/>
            <a:ext cx="2137301" cy="651510"/>
          </a:xfrm>
          <a:prstGeom prst="chevron">
            <a:avLst>
              <a:gd name="adj" fmla="val 17842"/>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9" name="AutoShape 3">
            <a:extLst>
              <a:ext uri="{FF2B5EF4-FFF2-40B4-BE49-F238E27FC236}">
                <a16:creationId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2" name="Rectangle 31">
            <a:extLst>
              <a:ext uri="{FF2B5EF4-FFF2-40B4-BE49-F238E27FC236}">
                <a16:creationId xmlns:a16="http://schemas.microsoft.com/office/drawing/2014/main" id="{4DE55AA0-934E-4757-A2D4-1C4E49036DCD}"/>
              </a:ext>
            </a:extLst>
          </p:cNvPr>
          <p:cNvSpPr/>
          <p:nvPr/>
        </p:nvSpPr>
        <p:spPr>
          <a:xfrm>
            <a:off x="2402046" y="6407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3" name="Rectangle 32">
            <a:extLst>
              <a:ext uri="{FF2B5EF4-FFF2-40B4-BE49-F238E27FC236}">
                <a16:creationId xmlns:a16="http://schemas.microsoft.com/office/drawing/2014/main" id="{AC165A2D-60D3-440C-A112-7B419F7E72B2}"/>
              </a:ext>
            </a:extLst>
          </p:cNvPr>
          <p:cNvSpPr/>
          <p:nvPr/>
        </p:nvSpPr>
        <p:spPr>
          <a:xfrm>
            <a:off x="4529582"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4" name="TextBox 33">
            <a:extLst>
              <a:ext uri="{FF2B5EF4-FFF2-40B4-BE49-F238E27FC236}">
                <a16:creationId xmlns:a16="http://schemas.microsoft.com/office/drawing/2014/main" id="{F43469DC-7F5B-471E-BD74-ED709E621F63}"/>
              </a:ext>
            </a:extLst>
          </p:cNvPr>
          <p:cNvSpPr txBox="1"/>
          <p:nvPr/>
        </p:nvSpPr>
        <p:spPr>
          <a:xfrm>
            <a:off x="7404509" y="1726687"/>
            <a:ext cx="1487908" cy="369332"/>
          </a:xfrm>
          <a:prstGeom prst="rect">
            <a:avLst/>
          </a:prstGeom>
          <a:noFill/>
        </p:spPr>
        <p:txBody>
          <a:bodyPr wrap="none" rtlCol="0">
            <a:spAutoFit/>
          </a:bodyPr>
          <a:lstStyle/>
          <a:p>
            <a:pPr algn="r" rtl="1"/>
            <a:r>
              <a:rPr lang="fa-IR" b="1" dirty="0">
                <a:cs typeface="B Nazanin" panose="00000400000000000000" pitchFamily="2" charset="-78"/>
              </a:rPr>
              <a:t>انتقال غیر مجاور</a:t>
            </a:r>
          </a:p>
        </p:txBody>
      </p:sp>
      <p:sp>
        <p:nvSpPr>
          <p:cNvPr id="35" name="Rectangle 34"/>
          <p:cNvSpPr/>
          <p:nvPr/>
        </p:nvSpPr>
        <p:spPr>
          <a:xfrm>
            <a:off x="2426281" y="6351019"/>
            <a:ext cx="4206601" cy="369332"/>
          </a:xfrm>
          <a:prstGeom prst="rect">
            <a:avLst/>
          </a:prstGeom>
        </p:spPr>
        <p:txBody>
          <a:bodyPr wrap="none">
            <a:spAutoFit/>
          </a:bodyPr>
          <a:lstStyle/>
          <a:p>
            <a:pPr algn="r" rtl="1" fontAlgn="base">
              <a:spcBef>
                <a:spcPct val="0"/>
              </a:spcBef>
              <a:spcAft>
                <a:spcPct val="0"/>
              </a:spcAft>
            </a:pPr>
            <a:r>
              <a:rPr lang="fa-IR" b="1" dirty="0">
                <a:cs typeface="B Nazanin" panose="00000400000000000000" pitchFamily="2" charset="-78"/>
              </a:rPr>
              <a:t>شماتیک دیاگرام همسان سازی سلول و پک ماژولار.</a:t>
            </a:r>
            <a:endParaRPr lang="en-US" b="1" dirty="0">
              <a:solidFill>
                <a:srgbClr val="000000"/>
              </a:solidFill>
              <a:latin typeface="Times New Roman" panose="02020603050405020304" pitchFamily="18" charset="0"/>
              <a:cs typeface="B Nazanin" pitchFamily="2" charset="-78"/>
            </a:endParaRPr>
          </a:p>
        </p:txBody>
      </p:sp>
      <p:graphicFrame>
        <p:nvGraphicFramePr>
          <p:cNvPr id="19" name="Table 18"/>
          <p:cNvGraphicFramePr>
            <a:graphicFrameLocks noGrp="1"/>
          </p:cNvGraphicFramePr>
          <p:nvPr>
            <p:extLst>
              <p:ext uri="{D42A27DB-BD31-4B8C-83A1-F6EECF244321}">
                <p14:modId xmlns:p14="http://schemas.microsoft.com/office/powerpoint/2010/main" val="383620767"/>
              </p:ext>
            </p:extLst>
          </p:nvPr>
        </p:nvGraphicFramePr>
        <p:xfrm>
          <a:off x="431672" y="1292475"/>
          <a:ext cx="4180150" cy="762000"/>
        </p:xfrm>
        <a:graphic>
          <a:graphicData uri="http://schemas.openxmlformats.org/drawingml/2006/table">
            <a:tbl>
              <a:tblPr rtl="1" firstRow="1" firstCol="1" bandRow="1"/>
              <a:tblGrid>
                <a:gridCol w="1157922">
                  <a:extLst>
                    <a:ext uri="{9D8B030D-6E8A-4147-A177-3AD203B41FA5}">
                      <a16:colId xmlns:a16="http://schemas.microsoft.com/office/drawing/2014/main" val="20001"/>
                    </a:ext>
                  </a:extLst>
                </a:gridCol>
                <a:gridCol w="781685">
                  <a:extLst>
                    <a:ext uri="{9D8B030D-6E8A-4147-A177-3AD203B41FA5}">
                      <a16:colId xmlns:a16="http://schemas.microsoft.com/office/drawing/2014/main" val="20002"/>
                    </a:ext>
                  </a:extLst>
                </a:gridCol>
                <a:gridCol w="470535">
                  <a:extLst>
                    <a:ext uri="{9D8B030D-6E8A-4147-A177-3AD203B41FA5}">
                      <a16:colId xmlns:a16="http://schemas.microsoft.com/office/drawing/2014/main" val="20003"/>
                    </a:ext>
                  </a:extLst>
                </a:gridCol>
                <a:gridCol w="472122">
                  <a:extLst>
                    <a:ext uri="{9D8B030D-6E8A-4147-A177-3AD203B41FA5}">
                      <a16:colId xmlns:a16="http://schemas.microsoft.com/office/drawing/2014/main" val="20004"/>
                    </a:ext>
                  </a:extLst>
                </a:gridCol>
                <a:gridCol w="556260">
                  <a:extLst>
                    <a:ext uri="{9D8B030D-6E8A-4147-A177-3AD203B41FA5}">
                      <a16:colId xmlns:a16="http://schemas.microsoft.com/office/drawing/2014/main" val="20005"/>
                    </a:ext>
                  </a:extLst>
                </a:gridCol>
                <a:gridCol w="741626">
                  <a:extLst>
                    <a:ext uri="{9D8B030D-6E8A-4147-A177-3AD203B41FA5}">
                      <a16:colId xmlns:a16="http://schemas.microsoft.com/office/drawing/2014/main" val="20006"/>
                    </a:ext>
                  </a:extLst>
                </a:gridCol>
              </a:tblGrid>
              <a:tr h="381000">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پیچیدگی الگوریتم</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lvl="0" indent="0" algn="ctr" defTabSz="914400" rtl="1" eaLnBrk="1" fontAlgn="auto" latinLnBrk="0" hangingPunct="1">
                        <a:lnSpc>
                          <a:spcPct val="100000"/>
                        </a:lnSpc>
                        <a:spcBef>
                          <a:spcPts val="600"/>
                        </a:spcBef>
                        <a:spcAft>
                          <a:spcPts val="600"/>
                        </a:spcAft>
                        <a:buClrTx/>
                        <a:buSzTx/>
                        <a:buFontTx/>
                        <a:buNone/>
                        <a:tabLst/>
                        <a:defRPr/>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راندمان</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اندازه</a:t>
                      </a:r>
                      <a:endParaRPr lang="en-US"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هزینه</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سرعت</a:t>
                      </a:r>
                      <a:endParaRPr lang="en-US"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امتیاز</a:t>
                      </a:r>
                      <a:r>
                        <a:rPr lang="fa-IR" sz="1400" i="0" kern="1200" baseline="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 نهایی</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extLst>
                  <a:ext uri="{0D108BD9-81ED-4DB2-BD59-A6C34878D82A}">
                    <a16:rowId xmlns:a16="http://schemas.microsoft.com/office/drawing/2014/main" val="10000"/>
                  </a:ext>
                </a:extLst>
              </a:tr>
              <a:tr h="381000">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5</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2</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5</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3/6</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20"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48</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221099724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3165095" y="3241909"/>
            <a:ext cx="5106983" cy="646331"/>
          </a:xfrm>
          <a:prstGeom prst="rect">
            <a:avLst/>
          </a:prstGeom>
        </p:spPr>
        <p:txBody>
          <a:bodyPr wrap="square">
            <a:spAutoFit/>
          </a:bodyPr>
          <a:lstStyle/>
          <a:p>
            <a:pPr marL="285750" indent="-285750" algn="justLow" rtl="1">
              <a:buFont typeface="Arial" panose="020B0604020202020204" pitchFamily="34" charset="0"/>
              <a:buChar char="•"/>
            </a:pPr>
            <a:r>
              <a:rPr lang="fa-IR" dirty="0">
                <a:latin typeface="Times New Roman" panose="02020603050405020304" pitchFamily="18" charset="0"/>
                <a:ea typeface="Calibri" panose="020F0502020204030204" pitchFamily="34" charset="0"/>
                <a:cs typeface="B Lotus" panose="00000400000000000000" pitchFamily="2" charset="-78"/>
              </a:rPr>
              <a:t>هر هشت سلول هر زیرماژول دارای سطوح ولتاژ متفاوتی هستند.</a:t>
            </a:r>
          </a:p>
          <a:p>
            <a:pPr marL="285750" indent="-285750" algn="justLow" rtl="1">
              <a:buFont typeface="Arial" panose="020B0604020202020204" pitchFamily="34" charset="0"/>
              <a:buChar char="•"/>
            </a:pPr>
            <a:r>
              <a:rPr lang="fa-IR" dirty="0">
                <a:latin typeface="Times New Roman" panose="02020603050405020304" pitchFamily="18" charset="0"/>
                <a:ea typeface="Calibri" panose="020F0502020204030204" pitchFamily="34" charset="0"/>
                <a:cs typeface="B Lotus" panose="00000400000000000000" pitchFamily="2" charset="-78"/>
              </a:rPr>
              <a:t> اختلاف ولتاژ اولیه بین سلول باتری ‌ها 8/341 میلی ولت است.</a:t>
            </a:r>
            <a:endParaRPr lang="en-US" dirty="0"/>
          </a:p>
        </p:txBody>
      </p:sp>
      <p:sp>
        <p:nvSpPr>
          <p:cNvPr id="19" name="TextBox 18">
            <a:extLst>
              <a:ext uri="{FF2B5EF4-FFF2-40B4-BE49-F238E27FC236}">
                <a16:creationId xmlns:a16="http://schemas.microsoft.com/office/drawing/2014/main" id="{F43469DC-7F5B-471E-BD74-ED709E621F63}"/>
              </a:ext>
            </a:extLst>
          </p:cNvPr>
          <p:cNvSpPr txBox="1"/>
          <p:nvPr/>
        </p:nvSpPr>
        <p:spPr>
          <a:xfrm>
            <a:off x="6840272" y="1970998"/>
            <a:ext cx="2061783" cy="369332"/>
          </a:xfrm>
          <a:prstGeom prst="rect">
            <a:avLst/>
          </a:prstGeom>
          <a:noFill/>
        </p:spPr>
        <p:txBody>
          <a:bodyPr wrap="none" rtlCol="0">
            <a:spAutoFit/>
          </a:bodyPr>
          <a:lstStyle/>
          <a:p>
            <a:pPr algn="r" rtl="1"/>
            <a:r>
              <a:rPr lang="fa-IR" b="1" dirty="0">
                <a:cs typeface="B Nazanin" panose="00000400000000000000" pitchFamily="2" charset="-78"/>
              </a:rPr>
              <a:t>شرایط اولیه شبیه سازی</a:t>
            </a:r>
          </a:p>
        </p:txBody>
      </p:sp>
      <p:sp>
        <p:nvSpPr>
          <p:cNvPr id="21" name="AutoShape 8">
            <a:extLst>
              <a:ext uri="{FF2B5EF4-FFF2-40B4-BE49-F238E27FC236}">
                <a16:creationId xmlns:a16="http://schemas.microsoft.com/office/drawing/2014/main" id="{FF901E6E-4D39-4565-9B46-60C2C5B1D5F6}"/>
              </a:ext>
            </a:extLst>
          </p:cNvPr>
          <p:cNvSpPr>
            <a:spLocks noChangeAspect="1" noChangeArrowheads="1"/>
          </p:cNvSpPr>
          <p:nvPr/>
        </p:nvSpPr>
        <p:spPr bwMode="gray">
          <a:xfrm>
            <a:off x="6753620" y="2580598"/>
            <a:ext cx="129381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cs typeface="B Nazanin" panose="00000400000000000000" pitchFamily="2" charset="-78"/>
              </a:rPr>
              <a:t>حالت اول</a:t>
            </a:r>
            <a:endParaRPr lang="en-US" b="1" dirty="0">
              <a:solidFill>
                <a:srgbClr val="000000"/>
              </a:solidFill>
              <a:latin typeface="Times New Roman" panose="02020603050405020304" pitchFamily="18" charset="0"/>
              <a:cs typeface="B Nazanin" pitchFamily="2" charset="-78"/>
            </a:endParaRPr>
          </a:p>
        </p:txBody>
      </p:sp>
      <p:grpSp>
        <p:nvGrpSpPr>
          <p:cNvPr id="22" name="Group 23">
            <a:extLst>
              <a:ext uri="{FF2B5EF4-FFF2-40B4-BE49-F238E27FC236}">
                <a16:creationId xmlns:a16="http://schemas.microsoft.com/office/drawing/2014/main" id="{978D1582-1549-4D37-9C95-34020E281F7D}"/>
              </a:ext>
            </a:extLst>
          </p:cNvPr>
          <p:cNvGrpSpPr>
            <a:grpSpLocks noChangeAspect="1"/>
          </p:cNvGrpSpPr>
          <p:nvPr/>
        </p:nvGrpSpPr>
        <p:grpSpPr bwMode="auto">
          <a:xfrm>
            <a:off x="8004570" y="2656798"/>
            <a:ext cx="381000" cy="381000"/>
            <a:chOff x="2078" y="1680"/>
            <a:chExt cx="1615" cy="1615"/>
          </a:xfrm>
        </p:grpSpPr>
        <p:sp>
          <p:nvSpPr>
            <p:cNvPr id="23" name="Oval 24">
              <a:extLst>
                <a:ext uri="{FF2B5EF4-FFF2-40B4-BE49-F238E27FC236}">
                  <a16:creationId xmlns:a16="http://schemas.microsoft.com/office/drawing/2014/main" id="{394744AB-69AD-4039-A10B-0D8E0439243B}"/>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24" name="Oval 25">
              <a:extLst>
                <a:ext uri="{FF2B5EF4-FFF2-40B4-BE49-F238E27FC236}">
                  <a16:creationId xmlns:a16="http://schemas.microsoft.com/office/drawing/2014/main" id="{154704C5-3C92-4C99-8D43-D388A6C5B289}"/>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25" name="Oval 26">
              <a:extLst>
                <a:ext uri="{FF2B5EF4-FFF2-40B4-BE49-F238E27FC236}">
                  <a16:creationId xmlns:a16="http://schemas.microsoft.com/office/drawing/2014/main" id="{04F66D2C-385D-4CBC-8E8F-3E3A912DFC98}"/>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26" name="Oval 27">
              <a:extLst>
                <a:ext uri="{FF2B5EF4-FFF2-40B4-BE49-F238E27FC236}">
                  <a16:creationId xmlns:a16="http://schemas.microsoft.com/office/drawing/2014/main" id="{EA27390D-90C7-4FEF-9F37-D35FD2EA7723}"/>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27" name="Oval 28">
              <a:extLst>
                <a:ext uri="{FF2B5EF4-FFF2-40B4-BE49-F238E27FC236}">
                  <a16:creationId xmlns:a16="http://schemas.microsoft.com/office/drawing/2014/main" id="{5C9AFE92-58F0-4BF1-8021-7EEAC92E3206}"/>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28" name="Oval 29">
              <a:extLst>
                <a:ext uri="{FF2B5EF4-FFF2-40B4-BE49-F238E27FC236}">
                  <a16:creationId xmlns:a16="http://schemas.microsoft.com/office/drawing/2014/main" id="{1B81B5B2-AD7F-472D-BBE8-64F0040E5D5F}"/>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29" name="TextBox 28">
            <a:extLst>
              <a:ext uri="{FF2B5EF4-FFF2-40B4-BE49-F238E27FC236}">
                <a16:creationId xmlns:a16="http://schemas.microsoft.com/office/drawing/2014/main" id="{90C43403-B77E-474E-A638-C5BD6540DB40}"/>
              </a:ext>
            </a:extLst>
          </p:cNvPr>
          <p:cNvSpPr txBox="1"/>
          <p:nvPr/>
        </p:nvSpPr>
        <p:spPr>
          <a:xfrm>
            <a:off x="4122852" y="2961598"/>
            <a:ext cx="65" cy="276999"/>
          </a:xfrm>
          <a:prstGeom prst="rect">
            <a:avLst/>
          </a:prstGeom>
          <a:noFill/>
        </p:spPr>
        <p:txBody>
          <a:bodyPr wrap="none" lIns="0" tIns="0" rIns="0" bIns="0" rtlCol="0">
            <a:spAutoFit/>
          </a:bodyPr>
          <a:lstStyle/>
          <a:p>
            <a:endParaRPr lang="en-US" dirty="0"/>
          </a:p>
        </p:txBody>
      </p:sp>
      <p:sp>
        <p:nvSpPr>
          <p:cNvPr id="48" name="AutoShape 8">
            <a:extLst>
              <a:ext uri="{FF2B5EF4-FFF2-40B4-BE49-F238E27FC236}">
                <a16:creationId xmlns:a16="http://schemas.microsoft.com/office/drawing/2014/main" id="{FF901E6E-4D39-4565-9B46-60C2C5B1D5F6}"/>
              </a:ext>
            </a:extLst>
          </p:cNvPr>
          <p:cNvSpPr>
            <a:spLocks noChangeAspect="1" noChangeArrowheads="1"/>
          </p:cNvSpPr>
          <p:nvPr/>
        </p:nvSpPr>
        <p:spPr bwMode="gray">
          <a:xfrm>
            <a:off x="6705600" y="4038600"/>
            <a:ext cx="129381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cs typeface="B Nazanin" panose="00000400000000000000" pitchFamily="2" charset="-78"/>
              </a:rPr>
              <a:t>حالت دوم</a:t>
            </a:r>
            <a:endParaRPr lang="en-US" b="1" dirty="0">
              <a:solidFill>
                <a:srgbClr val="000000"/>
              </a:solidFill>
              <a:latin typeface="Times New Roman" panose="02020603050405020304" pitchFamily="18" charset="0"/>
              <a:cs typeface="B Nazanin" pitchFamily="2" charset="-78"/>
            </a:endParaRPr>
          </a:p>
        </p:txBody>
      </p:sp>
      <p:grpSp>
        <p:nvGrpSpPr>
          <p:cNvPr id="49" name="Group 23">
            <a:extLst>
              <a:ext uri="{FF2B5EF4-FFF2-40B4-BE49-F238E27FC236}">
                <a16:creationId xmlns:a16="http://schemas.microsoft.com/office/drawing/2014/main" id="{978D1582-1549-4D37-9C95-34020E281F7D}"/>
              </a:ext>
            </a:extLst>
          </p:cNvPr>
          <p:cNvGrpSpPr>
            <a:grpSpLocks noChangeAspect="1"/>
          </p:cNvGrpSpPr>
          <p:nvPr/>
        </p:nvGrpSpPr>
        <p:grpSpPr bwMode="auto">
          <a:xfrm>
            <a:off x="7956550" y="4114800"/>
            <a:ext cx="381000" cy="381000"/>
            <a:chOff x="2078" y="1680"/>
            <a:chExt cx="1615" cy="1615"/>
          </a:xfrm>
        </p:grpSpPr>
        <p:sp>
          <p:nvSpPr>
            <p:cNvPr id="50" name="Oval 24">
              <a:extLst>
                <a:ext uri="{FF2B5EF4-FFF2-40B4-BE49-F238E27FC236}">
                  <a16:creationId xmlns:a16="http://schemas.microsoft.com/office/drawing/2014/main" id="{394744AB-69AD-4039-A10B-0D8E0439243B}"/>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51" name="Oval 25">
              <a:extLst>
                <a:ext uri="{FF2B5EF4-FFF2-40B4-BE49-F238E27FC236}">
                  <a16:creationId xmlns:a16="http://schemas.microsoft.com/office/drawing/2014/main" id="{154704C5-3C92-4C99-8D43-D388A6C5B289}"/>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52" name="Oval 26">
              <a:extLst>
                <a:ext uri="{FF2B5EF4-FFF2-40B4-BE49-F238E27FC236}">
                  <a16:creationId xmlns:a16="http://schemas.microsoft.com/office/drawing/2014/main" id="{04F66D2C-385D-4CBC-8E8F-3E3A912DFC98}"/>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53" name="Oval 27">
              <a:extLst>
                <a:ext uri="{FF2B5EF4-FFF2-40B4-BE49-F238E27FC236}">
                  <a16:creationId xmlns:a16="http://schemas.microsoft.com/office/drawing/2014/main" id="{EA27390D-90C7-4FEF-9F37-D35FD2EA7723}"/>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54" name="Oval 28">
              <a:extLst>
                <a:ext uri="{FF2B5EF4-FFF2-40B4-BE49-F238E27FC236}">
                  <a16:creationId xmlns:a16="http://schemas.microsoft.com/office/drawing/2014/main" id="{5C9AFE92-58F0-4BF1-8021-7EEAC92E3206}"/>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55" name="Oval 29">
              <a:extLst>
                <a:ext uri="{FF2B5EF4-FFF2-40B4-BE49-F238E27FC236}">
                  <a16:creationId xmlns:a16="http://schemas.microsoft.com/office/drawing/2014/main" id="{1B81B5B2-AD7F-472D-BBE8-64F0040E5D5F}"/>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5" name="Rectangle 4"/>
          <p:cNvSpPr/>
          <p:nvPr/>
        </p:nvSpPr>
        <p:spPr>
          <a:xfrm>
            <a:off x="1031495" y="4735895"/>
            <a:ext cx="7237624" cy="646331"/>
          </a:xfrm>
          <a:prstGeom prst="rect">
            <a:avLst/>
          </a:prstGeom>
        </p:spPr>
        <p:txBody>
          <a:bodyPr wrap="square">
            <a:spAutoFit/>
          </a:bodyPr>
          <a:lstStyle/>
          <a:p>
            <a:pPr marL="285750" indent="-285750" algn="r" rtl="1">
              <a:buFont typeface="Arial" panose="020B0604020202020204" pitchFamily="34" charset="0"/>
              <a:buChar char="•"/>
            </a:pPr>
            <a:r>
              <a:rPr lang="fa-IR" dirty="0">
                <a:latin typeface="Times New Roman" panose="02020603050405020304" pitchFamily="18" charset="0"/>
                <a:ea typeface="Calibri" panose="020F0502020204030204" pitchFamily="34" charset="0"/>
                <a:cs typeface="B Lotus" panose="00000400000000000000" pitchFamily="2" charset="-78"/>
              </a:rPr>
              <a:t>وضعیت شارژ برای 83 سلول باتری برابر با 96 و 93 سلول دیگر باتری مقادیر متفاوتی دارند.</a:t>
            </a:r>
            <a:endParaRPr lang="en-US" dirty="0">
              <a:latin typeface="Times New Roman" panose="02020603050405020304" pitchFamily="18" charset="0"/>
              <a:ea typeface="Calibri" panose="020F0502020204030204" pitchFamily="34" charset="0"/>
              <a:cs typeface="B Lotus" panose="00000400000000000000" pitchFamily="2" charset="-78"/>
            </a:endParaRPr>
          </a:p>
          <a:p>
            <a:pPr marL="285750" indent="-285750" algn="r" rtl="1">
              <a:buFont typeface="Arial" panose="020B0604020202020204" pitchFamily="34" charset="0"/>
              <a:buChar char="•"/>
            </a:pPr>
            <a:r>
              <a:rPr lang="fa-IR" dirty="0">
                <a:latin typeface="Times New Roman" panose="02020603050405020304" pitchFamily="18" charset="0"/>
                <a:ea typeface="Calibri" panose="020F0502020204030204" pitchFamily="34" charset="0"/>
                <a:cs typeface="B Lotus" panose="00000400000000000000" pitchFamily="2" charset="-78"/>
              </a:rPr>
              <a:t>اختلاف ولتاژ اولیه بین حداکثر و حداقل ولتاژ سلول 3/58 میلی ولت است</a:t>
            </a:r>
            <a:r>
              <a:rPr lang="en-US" dirty="0">
                <a:latin typeface="Times New Roman" panose="02020603050405020304" pitchFamily="18" charset="0"/>
                <a:ea typeface="Calibri" panose="020F0502020204030204" pitchFamily="34" charset="0"/>
                <a:cs typeface="B Lotus" panose="00000400000000000000" pitchFamily="2" charset="-78"/>
              </a:rPr>
              <a:t>.</a:t>
            </a:r>
            <a:endParaRPr lang="en-US" dirty="0"/>
          </a:p>
        </p:txBody>
      </p:sp>
      <p:sp>
        <p:nvSpPr>
          <p:cNvPr id="34" name="Rounded Rectangle 175">
            <a:extLst>
              <a:ext uri="{FF2B5EF4-FFF2-40B4-BE49-F238E27FC236}">
                <a16:creationId xmlns:a16="http://schemas.microsoft.com/office/drawing/2014/main" id="{AACCE7D9-540A-47B9-8964-41031B797FDD}"/>
              </a:ext>
            </a:extLst>
          </p:cNvPr>
          <p:cNvSpPr/>
          <p:nvPr/>
        </p:nvSpPr>
        <p:spPr bwMode="auto">
          <a:xfrm>
            <a:off x="7124531" y="917675"/>
            <a:ext cx="1486069" cy="4985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مقالات اخیر</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35"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6"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7" name="Rectangle 36"/>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8" name="Rectangle 37"/>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39" name="Picture 38" descr="پرونده:Azad University logo.png - ویکی‌پدیا، دانشنامهٔ آزاد">
            <a:extLst>
              <a:ext uri="{FF2B5EF4-FFF2-40B4-BE49-F238E27FC236}">
                <a16:creationId xmlns:a16="http://schemas.microsoft.com/office/drawing/2014/main" id="{FA988D60-670C-406B-B8FB-D5A0053424E9}"/>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40" name="AutoShape 10">
            <a:extLst>
              <a:ext uri="{FF2B5EF4-FFF2-40B4-BE49-F238E27FC236}">
                <a16:creationId xmlns:a16="http://schemas.microsoft.com/office/drawing/2014/main"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41" name="Rectangle 40">
            <a:extLst>
              <a:ext uri="{FF2B5EF4-FFF2-40B4-BE49-F238E27FC236}">
                <a16:creationId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42" name="AutoShape 3">
            <a:extLst>
              <a:ext uri="{FF2B5EF4-FFF2-40B4-BE49-F238E27FC236}">
                <a16:creationId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3" name="Rectangle 42">
            <a:extLst>
              <a:ext uri="{FF2B5EF4-FFF2-40B4-BE49-F238E27FC236}">
                <a16:creationId xmlns:a16="http://schemas.microsoft.com/office/drawing/2014/main"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4" name="TextBox 43">
            <a:extLst>
              <a:ext uri="{FF2B5EF4-FFF2-40B4-BE49-F238E27FC236}">
                <a16:creationId xmlns:a16="http://schemas.microsoft.com/office/drawing/2014/main" id="{F43469DC-7F5B-471E-BD74-ED709E621F63}"/>
              </a:ext>
            </a:extLst>
          </p:cNvPr>
          <p:cNvSpPr txBox="1"/>
          <p:nvPr/>
        </p:nvSpPr>
        <p:spPr>
          <a:xfrm>
            <a:off x="36674" y="1005399"/>
            <a:ext cx="6364243" cy="369332"/>
          </a:xfrm>
          <a:prstGeom prst="rect">
            <a:avLst/>
          </a:prstGeom>
          <a:noFill/>
        </p:spPr>
        <p:txBody>
          <a:bodyPr wrap="none" rtlCol="0">
            <a:spAutoFit/>
          </a:bodyPr>
          <a:lstStyle/>
          <a:p>
            <a:pPr algn="r" rtl="1" fontAlgn="base">
              <a:spcBef>
                <a:spcPct val="0"/>
              </a:spcBef>
              <a:spcAft>
                <a:spcPct val="0"/>
              </a:spcAft>
            </a:pPr>
            <a:r>
              <a:rPr lang="fa-IR" dirty="0">
                <a:cs typeface="B Lotus" panose="00000400000000000000" pitchFamily="2" charset="-78"/>
              </a:rPr>
              <a:t>الگوریتم بهبودیافته و تسریع‌کننده فرآیند همسان‌سازی متناسب خودروهای تجاری کِشنده</a:t>
            </a:r>
            <a:endParaRPr lang="en-US" b="1" dirty="0">
              <a:solidFill>
                <a:srgbClr val="000000"/>
              </a:solidFill>
              <a:latin typeface="Times New Roman" panose="02020603050405020304" pitchFamily="18" charset="0"/>
              <a:cs typeface="B Lotus" panose="00000400000000000000" pitchFamily="2" charset="-78"/>
            </a:endParaRPr>
          </a:p>
        </p:txBody>
      </p:sp>
      <p:sp>
        <p:nvSpPr>
          <p:cNvPr id="45"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49</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6053962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1"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2" name="Rectangle 21"/>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3" name="Rectangle 22"/>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25" name="Picture 24" descr="پرونده:Azad University logo.png - ویکی‌پدیا، دانشنامهٔ آزاد">
            <a:extLst>
              <a:ext uri="{FF2B5EF4-FFF2-40B4-BE49-F238E27FC236}">
                <a16:creationId xmlns:a16="http://schemas.microsoft.com/office/drawing/2014/main" id="{FA988D60-670C-406B-B8FB-D5A0053424E9}"/>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6" name="AutoShape 10">
            <a:extLst>
              <a:ext uri="{FF2B5EF4-FFF2-40B4-BE49-F238E27FC236}">
                <a16:creationId xmlns:a16="http://schemas.microsoft.com/office/drawing/2014/main"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7" name="Rectangle 26">
            <a:extLst>
              <a:ext uri="{FF2B5EF4-FFF2-40B4-BE49-F238E27FC236}">
                <a16:creationId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28" name="AutoShape 3">
            <a:extLst>
              <a:ext uri="{FF2B5EF4-FFF2-40B4-BE49-F238E27FC236}">
                <a16:creationId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9" name="Rectangle 28">
            <a:extLst>
              <a:ext uri="{FF2B5EF4-FFF2-40B4-BE49-F238E27FC236}">
                <a16:creationId xmlns:a16="http://schemas.microsoft.com/office/drawing/2014/main"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33" name="Picture 32"/>
          <p:cNvPicPr/>
          <p:nvPr/>
        </p:nvPicPr>
        <p:blipFill>
          <a:blip r:embed="rId4" cstate="print">
            <a:extLst>
              <a:ext uri="{28A0092B-C50C-407E-A947-70E740481C1C}">
                <a14:useLocalDpi xmlns:a14="http://schemas.microsoft.com/office/drawing/2010/main" val="0"/>
              </a:ext>
            </a:extLst>
          </a:blip>
          <a:stretch>
            <a:fillRect/>
          </a:stretch>
        </p:blipFill>
        <p:spPr>
          <a:xfrm>
            <a:off x="31194" y="773969"/>
            <a:ext cx="4572000" cy="1828800"/>
          </a:xfrm>
          <a:prstGeom prst="rect">
            <a:avLst/>
          </a:prstGeom>
        </p:spPr>
      </p:pic>
      <p:pic>
        <p:nvPicPr>
          <p:cNvPr id="34" name="Picture 33"/>
          <p:cNvPicPr/>
          <p:nvPr/>
        </p:nvPicPr>
        <p:blipFill>
          <a:blip r:embed="rId5" cstate="print">
            <a:extLst>
              <a:ext uri="{28A0092B-C50C-407E-A947-70E740481C1C}">
                <a14:useLocalDpi xmlns:a14="http://schemas.microsoft.com/office/drawing/2010/main" val="0"/>
              </a:ext>
            </a:extLst>
          </a:blip>
          <a:stretch>
            <a:fillRect/>
          </a:stretch>
        </p:blipFill>
        <p:spPr>
          <a:xfrm>
            <a:off x="31194" y="2462338"/>
            <a:ext cx="4572000" cy="1828800"/>
          </a:xfrm>
          <a:prstGeom prst="rect">
            <a:avLst/>
          </a:prstGeom>
        </p:spPr>
      </p:pic>
      <p:pic>
        <p:nvPicPr>
          <p:cNvPr id="35" name="Picture 34"/>
          <p:cNvPicPr/>
          <p:nvPr/>
        </p:nvPicPr>
        <p:blipFill>
          <a:blip r:embed="rId5" cstate="print">
            <a:extLst>
              <a:ext uri="{28A0092B-C50C-407E-A947-70E740481C1C}">
                <a14:useLocalDpi xmlns:a14="http://schemas.microsoft.com/office/drawing/2010/main" val="0"/>
              </a:ext>
            </a:extLst>
          </a:blip>
          <a:stretch>
            <a:fillRect/>
          </a:stretch>
        </p:blipFill>
        <p:spPr>
          <a:xfrm>
            <a:off x="31194" y="4291138"/>
            <a:ext cx="4572000" cy="1828800"/>
          </a:xfrm>
          <a:prstGeom prst="rect">
            <a:avLst/>
          </a:prstGeom>
        </p:spPr>
      </p:pic>
      <p:pic>
        <p:nvPicPr>
          <p:cNvPr id="38" name="Picture 37"/>
          <p:cNvPicPr/>
          <p:nvPr/>
        </p:nvPicPr>
        <p:blipFill>
          <a:blip r:embed="rId6" cstate="print">
            <a:extLst>
              <a:ext uri="{28A0092B-C50C-407E-A947-70E740481C1C}">
                <a14:useLocalDpi xmlns:a14="http://schemas.microsoft.com/office/drawing/2010/main" val="0"/>
              </a:ext>
            </a:extLst>
          </a:blip>
          <a:stretch>
            <a:fillRect/>
          </a:stretch>
        </p:blipFill>
        <p:spPr>
          <a:xfrm>
            <a:off x="4597214" y="732668"/>
            <a:ext cx="4496383" cy="1772887"/>
          </a:xfrm>
          <a:prstGeom prst="rect">
            <a:avLst/>
          </a:prstGeom>
        </p:spPr>
      </p:pic>
      <p:pic>
        <p:nvPicPr>
          <p:cNvPr id="41" name="Picture 40"/>
          <p:cNvPicPr/>
          <p:nvPr/>
        </p:nvPicPr>
        <p:blipFill>
          <a:blip r:embed="rId7" cstate="print">
            <a:extLst>
              <a:ext uri="{28A0092B-C50C-407E-A947-70E740481C1C}">
                <a14:useLocalDpi xmlns:a14="http://schemas.microsoft.com/office/drawing/2010/main" val="0"/>
              </a:ext>
            </a:extLst>
          </a:blip>
          <a:stretch>
            <a:fillRect/>
          </a:stretch>
        </p:blipFill>
        <p:spPr>
          <a:xfrm>
            <a:off x="4597214" y="2506698"/>
            <a:ext cx="4496383" cy="1779810"/>
          </a:xfrm>
          <a:prstGeom prst="rect">
            <a:avLst/>
          </a:prstGeom>
        </p:spPr>
      </p:pic>
      <p:pic>
        <p:nvPicPr>
          <p:cNvPr id="42" name="Picture 41"/>
          <p:cNvPicPr/>
          <p:nvPr/>
        </p:nvPicPr>
        <p:blipFill>
          <a:blip r:embed="rId8" cstate="print">
            <a:extLst>
              <a:ext uri="{28A0092B-C50C-407E-A947-70E740481C1C}">
                <a14:useLocalDpi xmlns:a14="http://schemas.microsoft.com/office/drawing/2010/main" val="0"/>
              </a:ext>
            </a:extLst>
          </a:blip>
          <a:stretch>
            <a:fillRect/>
          </a:stretch>
        </p:blipFill>
        <p:spPr>
          <a:xfrm>
            <a:off x="4597214" y="4286508"/>
            <a:ext cx="4546786" cy="1823020"/>
          </a:xfrm>
          <a:prstGeom prst="rect">
            <a:avLst/>
          </a:prstGeom>
        </p:spPr>
      </p:pic>
      <p:pic>
        <p:nvPicPr>
          <p:cNvPr id="44" name="Picture 43"/>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0" y="798200"/>
            <a:ext cx="288925" cy="173350"/>
          </a:xfrm>
          <a:prstGeom prst="rect">
            <a:avLst/>
          </a:prstGeom>
        </p:spPr>
      </p:pic>
      <p:pic>
        <p:nvPicPr>
          <p:cNvPr id="45" name="Picture 44"/>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4993" y="2436483"/>
            <a:ext cx="235585" cy="183510"/>
          </a:xfrm>
          <a:prstGeom prst="rect">
            <a:avLst/>
          </a:prstGeom>
        </p:spPr>
      </p:pic>
      <p:pic>
        <p:nvPicPr>
          <p:cNvPr id="46" name="Picture 45"/>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0" y="4273914"/>
            <a:ext cx="212090" cy="205734"/>
          </a:xfrm>
          <a:prstGeom prst="rect">
            <a:avLst/>
          </a:prstGeom>
        </p:spPr>
      </p:pic>
      <p:pic>
        <p:nvPicPr>
          <p:cNvPr id="47" name="Picture 46"/>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468257" y="884875"/>
            <a:ext cx="288925" cy="173350"/>
          </a:xfrm>
          <a:prstGeom prst="rect">
            <a:avLst/>
          </a:prstGeom>
        </p:spPr>
      </p:pic>
      <p:pic>
        <p:nvPicPr>
          <p:cNvPr id="48" name="Picture 47"/>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521597" y="2523158"/>
            <a:ext cx="235585" cy="183510"/>
          </a:xfrm>
          <a:prstGeom prst="rect">
            <a:avLst/>
          </a:prstGeom>
        </p:spPr>
      </p:pic>
      <p:pic>
        <p:nvPicPr>
          <p:cNvPr id="49" name="Picture 48"/>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4545092" y="4376781"/>
            <a:ext cx="212090" cy="205734"/>
          </a:xfrm>
          <a:prstGeom prst="rect">
            <a:avLst/>
          </a:prstGeom>
        </p:spPr>
      </p:pic>
      <p:sp>
        <p:nvSpPr>
          <p:cNvPr id="51" name="TextBox 50"/>
          <p:cNvSpPr txBox="1"/>
          <p:nvPr/>
        </p:nvSpPr>
        <p:spPr>
          <a:xfrm>
            <a:off x="123531" y="6242134"/>
            <a:ext cx="4539698" cy="584775"/>
          </a:xfrm>
          <a:prstGeom prst="rect">
            <a:avLst/>
          </a:prstGeom>
          <a:noFill/>
        </p:spPr>
        <p:txBody>
          <a:bodyPr wrap="square" rtlCol="0">
            <a:spAutoFit/>
          </a:bodyPr>
          <a:lstStyle/>
          <a:p>
            <a:pPr algn="ctr" rtl="1"/>
            <a:r>
              <a:rPr lang="fa-IR" sz="1600" dirty="0">
                <a:latin typeface="Times New Roman" panose="02020603050405020304" pitchFamily="18" charset="0"/>
                <a:cs typeface="B Lotus" panose="00000400000000000000" pitchFamily="2" charset="-78"/>
              </a:rPr>
              <a:t>نتیجه همسان سازی حالت اول به روش های </a:t>
            </a:r>
            <a:r>
              <a:rPr lang="fa-IR" sz="1600" dirty="0">
                <a:solidFill>
                  <a:srgbClr val="61D6FF"/>
                </a:solidFill>
                <a:latin typeface="Times New Roman" panose="02020603050405020304" pitchFamily="18" charset="0"/>
                <a:cs typeface="B Lotus" panose="00000400000000000000" pitchFamily="2" charset="-78"/>
              </a:rPr>
              <a:t>[3]</a:t>
            </a:r>
            <a:r>
              <a:rPr lang="fa-IR" sz="1600" dirty="0">
                <a:latin typeface="Times New Roman" panose="02020603050405020304" pitchFamily="18" charset="0"/>
                <a:cs typeface="B Lotus" panose="00000400000000000000" pitchFamily="2" charset="-78"/>
              </a:rPr>
              <a:t>(الف)،</a:t>
            </a:r>
            <a:r>
              <a:rPr lang="fa-IR" sz="1600" dirty="0">
                <a:solidFill>
                  <a:srgbClr val="61D6FF"/>
                </a:solidFill>
                <a:latin typeface="Times New Roman" panose="02020603050405020304" pitchFamily="18" charset="0"/>
                <a:cs typeface="B Lotus" panose="00000400000000000000" pitchFamily="2" charset="-78"/>
              </a:rPr>
              <a:t> [2]</a:t>
            </a:r>
            <a:r>
              <a:rPr lang="fa-IR" sz="1600" dirty="0">
                <a:latin typeface="Times New Roman" panose="02020603050405020304" pitchFamily="18" charset="0"/>
                <a:cs typeface="B Lotus" panose="00000400000000000000" pitchFamily="2" charset="-78"/>
              </a:rPr>
              <a:t>(ب)،</a:t>
            </a:r>
            <a:r>
              <a:rPr lang="fa-IR" sz="1600" dirty="0">
                <a:solidFill>
                  <a:srgbClr val="61D6FF"/>
                </a:solidFill>
                <a:latin typeface="Times New Roman" panose="02020603050405020304" pitchFamily="18" charset="0"/>
                <a:cs typeface="B Lotus" panose="00000400000000000000" pitchFamily="2" charset="-78"/>
              </a:rPr>
              <a:t> [1]</a:t>
            </a:r>
            <a:r>
              <a:rPr lang="fa-IR" sz="1600" dirty="0">
                <a:latin typeface="Times New Roman" panose="02020603050405020304" pitchFamily="18" charset="0"/>
                <a:cs typeface="B Lotus" panose="00000400000000000000" pitchFamily="2" charset="-78"/>
              </a:rPr>
              <a:t>(ج).</a:t>
            </a:r>
            <a:r>
              <a:rPr lang="fa-IR" sz="1600" dirty="0">
                <a:latin typeface="Times New Roman" panose="02020603050405020304" pitchFamily="18" charset="0"/>
                <a:ea typeface="Calibri" panose="020F0502020204030204" pitchFamily="34" charset="0"/>
                <a:cs typeface="B Lotus" panose="00000400000000000000" pitchFamily="2" charset="-78"/>
              </a:rPr>
              <a:t> </a:t>
            </a:r>
            <a:endParaRPr lang="en-US" sz="1600" dirty="0">
              <a:latin typeface="Times New Roman" panose="02020603050405020304" pitchFamily="18" charset="0"/>
              <a:cs typeface="B Lotus" panose="00000400000000000000" pitchFamily="2" charset="-78"/>
            </a:endParaRPr>
          </a:p>
        </p:txBody>
      </p:sp>
      <p:sp>
        <p:nvSpPr>
          <p:cNvPr id="52" name="TextBox 51"/>
          <p:cNvSpPr txBox="1"/>
          <p:nvPr/>
        </p:nvSpPr>
        <p:spPr>
          <a:xfrm>
            <a:off x="4757182" y="6242134"/>
            <a:ext cx="4566020" cy="584775"/>
          </a:xfrm>
          <a:prstGeom prst="rect">
            <a:avLst/>
          </a:prstGeom>
          <a:noFill/>
        </p:spPr>
        <p:txBody>
          <a:bodyPr wrap="square" rtlCol="0">
            <a:spAutoFit/>
          </a:bodyPr>
          <a:lstStyle/>
          <a:p>
            <a:pPr algn="ctr" rtl="1"/>
            <a:r>
              <a:rPr lang="fa-IR" sz="1600" dirty="0">
                <a:latin typeface="Times New Roman" panose="02020603050405020304" pitchFamily="18" charset="0"/>
                <a:cs typeface="B Lotus" panose="00000400000000000000" pitchFamily="2" charset="-78"/>
              </a:rPr>
              <a:t>نتیجه همسان سازی حالت دوم به روش های </a:t>
            </a:r>
            <a:r>
              <a:rPr lang="fa-IR" sz="1600" dirty="0">
                <a:solidFill>
                  <a:srgbClr val="61D6FF"/>
                </a:solidFill>
                <a:latin typeface="Times New Roman" panose="02020603050405020304" pitchFamily="18" charset="0"/>
                <a:cs typeface="B Lotus" panose="00000400000000000000" pitchFamily="2" charset="-78"/>
              </a:rPr>
              <a:t>[3]</a:t>
            </a:r>
            <a:r>
              <a:rPr lang="fa-IR" sz="1600" dirty="0">
                <a:latin typeface="Times New Roman" panose="02020603050405020304" pitchFamily="18" charset="0"/>
                <a:cs typeface="B Lotus" panose="00000400000000000000" pitchFamily="2" charset="-78"/>
              </a:rPr>
              <a:t>(الف)،</a:t>
            </a:r>
            <a:r>
              <a:rPr lang="fa-IR" sz="1600" dirty="0">
                <a:solidFill>
                  <a:srgbClr val="61D6FF"/>
                </a:solidFill>
                <a:latin typeface="Times New Roman" panose="02020603050405020304" pitchFamily="18" charset="0"/>
                <a:cs typeface="B Lotus" panose="00000400000000000000" pitchFamily="2" charset="-78"/>
              </a:rPr>
              <a:t> [2]</a:t>
            </a:r>
            <a:r>
              <a:rPr lang="fa-IR" sz="1600" dirty="0">
                <a:latin typeface="Times New Roman" panose="02020603050405020304" pitchFamily="18" charset="0"/>
                <a:cs typeface="B Lotus" panose="00000400000000000000" pitchFamily="2" charset="-78"/>
              </a:rPr>
              <a:t>(ب)،</a:t>
            </a:r>
            <a:r>
              <a:rPr lang="fa-IR" sz="1600" dirty="0">
                <a:solidFill>
                  <a:srgbClr val="61D6FF"/>
                </a:solidFill>
                <a:latin typeface="Times New Roman" panose="02020603050405020304" pitchFamily="18" charset="0"/>
                <a:cs typeface="B Lotus" panose="00000400000000000000" pitchFamily="2" charset="-78"/>
              </a:rPr>
              <a:t> [1]</a:t>
            </a:r>
            <a:r>
              <a:rPr lang="fa-IR" sz="1600" dirty="0">
                <a:latin typeface="Times New Roman" panose="02020603050405020304" pitchFamily="18" charset="0"/>
                <a:cs typeface="B Lotus" panose="00000400000000000000" pitchFamily="2" charset="-78"/>
              </a:rPr>
              <a:t>(ج).</a:t>
            </a:r>
            <a:r>
              <a:rPr lang="fa-IR" sz="1600" dirty="0">
                <a:latin typeface="Times New Roman" panose="02020603050405020304" pitchFamily="18" charset="0"/>
                <a:ea typeface="Calibri" panose="020F0502020204030204" pitchFamily="34" charset="0"/>
                <a:cs typeface="B Lotus" panose="00000400000000000000" pitchFamily="2" charset="-78"/>
              </a:rPr>
              <a:t> </a:t>
            </a:r>
            <a:endParaRPr lang="en-US" sz="1600" dirty="0">
              <a:latin typeface="Times New Roman" panose="02020603050405020304" pitchFamily="18" charset="0"/>
              <a:cs typeface="B Lotus" panose="00000400000000000000" pitchFamily="2" charset="-78"/>
            </a:endParaRPr>
          </a:p>
        </p:txBody>
      </p:sp>
      <p:sp>
        <p:nvSpPr>
          <p:cNvPr id="30"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50</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27337770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02334" y="1128986"/>
            <a:ext cx="7026706" cy="5270030"/>
          </a:xfrm>
          <a:prstGeom prst="rect">
            <a:avLst/>
          </a:prstGeom>
        </p:spPr>
      </p:pic>
      <p:sp>
        <p:nvSpPr>
          <p:cNvPr id="20" name="TextBox 19"/>
          <p:cNvSpPr txBox="1"/>
          <p:nvPr/>
        </p:nvSpPr>
        <p:spPr>
          <a:xfrm>
            <a:off x="2736756" y="6399016"/>
            <a:ext cx="2957862" cy="369332"/>
          </a:xfrm>
          <a:prstGeom prst="rect">
            <a:avLst/>
          </a:prstGeom>
          <a:noFill/>
        </p:spPr>
        <p:txBody>
          <a:bodyPr wrap="none" rtlCol="0">
            <a:spAutoFit/>
          </a:bodyPr>
          <a:lstStyle/>
          <a:p>
            <a:pPr algn="ctr" rtl="1"/>
            <a:r>
              <a:rPr lang="fa-IR" dirty="0">
                <a:latin typeface="Times New Roman" panose="02020603050405020304" pitchFamily="18" charset="0"/>
                <a:cs typeface="B Lotus" panose="00000400000000000000" pitchFamily="2" charset="-78"/>
              </a:rPr>
              <a:t>نحوه عملکرد خوشه بندی </a:t>
            </a:r>
            <a:r>
              <a:rPr lang="en-US" dirty="0">
                <a:latin typeface="Times New Roman" panose="02020603050405020304" pitchFamily="18" charset="0"/>
                <a:cs typeface="B Lotus" panose="00000400000000000000" pitchFamily="2" charset="-78"/>
              </a:rPr>
              <a:t>K-means</a:t>
            </a:r>
            <a:r>
              <a:rPr lang="fa-IR" dirty="0">
                <a:latin typeface="Times New Roman" panose="02020603050405020304" pitchFamily="18" charset="0"/>
                <a:cs typeface="B Lotus" panose="00000400000000000000" pitchFamily="2" charset="-78"/>
              </a:rPr>
              <a:t> </a:t>
            </a:r>
            <a:endParaRPr lang="en-US" dirty="0">
              <a:latin typeface="Times New Roman" panose="02020603050405020304" pitchFamily="18" charset="0"/>
              <a:cs typeface="B Lotus" panose="00000400000000000000" pitchFamily="2" charset="-78"/>
            </a:endParaRPr>
          </a:p>
        </p:txBody>
      </p:sp>
      <p:sp>
        <p:nvSpPr>
          <p:cNvPr id="18" name="Rounded Rectangle 175">
            <a:extLst>
              <a:ext uri="{FF2B5EF4-FFF2-40B4-BE49-F238E27FC236}">
                <a16:creationId xmlns:a16="http://schemas.microsoft.com/office/drawing/2014/main" id="{AACCE7D9-540A-47B9-8964-41031B797FDD}"/>
              </a:ext>
            </a:extLst>
          </p:cNvPr>
          <p:cNvSpPr/>
          <p:nvPr/>
        </p:nvSpPr>
        <p:spPr bwMode="auto">
          <a:xfrm>
            <a:off x="7124531" y="917675"/>
            <a:ext cx="1486069" cy="4985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مقالات اخیر</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19"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1"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2" name="Rectangle 21"/>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3" name="Rectangle 22"/>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24" name="Picture 23" descr="پرونده:Azad University logo.png - ویکی‌پدیا، دانشنامهٔ آزاد">
            <a:extLst>
              <a:ext uri="{FF2B5EF4-FFF2-40B4-BE49-F238E27FC236}">
                <a16:creationId xmlns:a16="http://schemas.microsoft.com/office/drawing/2014/main"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5" name="AutoShape 10">
            <a:extLst>
              <a:ext uri="{FF2B5EF4-FFF2-40B4-BE49-F238E27FC236}">
                <a16:creationId xmlns:a16="http://schemas.microsoft.com/office/drawing/2014/main"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7" name="Rectangle 26">
            <a:extLst>
              <a:ext uri="{FF2B5EF4-FFF2-40B4-BE49-F238E27FC236}">
                <a16:creationId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28" name="AutoShape 3">
            <a:extLst>
              <a:ext uri="{FF2B5EF4-FFF2-40B4-BE49-F238E27FC236}">
                <a16:creationId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9" name="Rectangle 28">
            <a:extLst>
              <a:ext uri="{FF2B5EF4-FFF2-40B4-BE49-F238E27FC236}">
                <a16:creationId xmlns:a16="http://schemas.microsoft.com/office/drawing/2014/main"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1" name="TextBox 30">
            <a:extLst>
              <a:ext uri="{FF2B5EF4-FFF2-40B4-BE49-F238E27FC236}">
                <a16:creationId xmlns:a16="http://schemas.microsoft.com/office/drawing/2014/main" id="{F43469DC-7F5B-471E-BD74-ED709E621F63}"/>
              </a:ext>
            </a:extLst>
          </p:cNvPr>
          <p:cNvSpPr txBox="1"/>
          <p:nvPr/>
        </p:nvSpPr>
        <p:spPr>
          <a:xfrm>
            <a:off x="-438805" y="941739"/>
            <a:ext cx="7315201" cy="307777"/>
          </a:xfrm>
          <a:prstGeom prst="rect">
            <a:avLst/>
          </a:prstGeom>
          <a:noFill/>
        </p:spPr>
        <p:txBody>
          <a:bodyPr wrap="square" rtlCol="0">
            <a:spAutoFit/>
          </a:bodyPr>
          <a:lstStyle/>
          <a:p>
            <a:pPr algn="ctr" rtl="1" fontAlgn="base">
              <a:spcBef>
                <a:spcPct val="0"/>
              </a:spcBef>
              <a:spcAft>
                <a:spcPct val="0"/>
              </a:spcAft>
            </a:pPr>
            <a:r>
              <a:rPr lang="fa-IR" sz="1400" dirty="0">
                <a:cs typeface="B Lotus" panose="00000400000000000000" pitchFamily="2" charset="-78"/>
              </a:rPr>
              <a:t>روشی نو برای همسان‌سازی باتری پک با اتصال سری بر مبنای تجزیه و تحلیل خوشه‌بندی همراه با الگوریتم ژنتیک</a:t>
            </a:r>
            <a:endParaRPr lang="en-US" sz="1400" dirty="0">
              <a:cs typeface="B Lotus" panose="00000400000000000000" pitchFamily="2" charset="-78"/>
            </a:endParaRPr>
          </a:p>
        </p:txBody>
      </p:sp>
      <p:sp>
        <p:nvSpPr>
          <p:cNvPr id="16"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51</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16583831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extBox 19"/>
          <p:cNvSpPr txBox="1"/>
          <p:nvPr/>
        </p:nvSpPr>
        <p:spPr>
          <a:xfrm>
            <a:off x="1778986" y="6245406"/>
            <a:ext cx="5261377" cy="369332"/>
          </a:xfrm>
          <a:prstGeom prst="rect">
            <a:avLst/>
          </a:prstGeom>
          <a:noFill/>
        </p:spPr>
        <p:txBody>
          <a:bodyPr wrap="none" rtlCol="0">
            <a:spAutoFit/>
          </a:bodyPr>
          <a:lstStyle/>
          <a:p>
            <a:pPr algn="ctr" rtl="1"/>
            <a:r>
              <a:rPr lang="fa-IR" dirty="0">
                <a:latin typeface="Times New Roman" panose="02020603050405020304" pitchFamily="18" charset="0"/>
                <a:cs typeface="B Lotus" panose="00000400000000000000" pitchFamily="2" charset="-78"/>
              </a:rPr>
              <a:t>فلوچارت خوشه بندی باتری ها به روش </a:t>
            </a:r>
            <a:r>
              <a:rPr lang="en-US" dirty="0">
                <a:latin typeface="Times New Roman" panose="02020603050405020304" pitchFamily="18" charset="0"/>
                <a:cs typeface="B Lotus" panose="00000400000000000000" pitchFamily="2" charset="-78"/>
              </a:rPr>
              <a:t>k-means</a:t>
            </a:r>
            <a:r>
              <a:rPr lang="fa-IR" dirty="0">
                <a:latin typeface="Times New Roman" panose="02020603050405020304" pitchFamily="18" charset="0"/>
                <a:cs typeface="B Lotus" panose="00000400000000000000" pitchFamily="2" charset="-78"/>
              </a:rPr>
              <a:t> به همراه </a:t>
            </a:r>
            <a:r>
              <a:rPr lang="en-US" dirty="0">
                <a:latin typeface="Times New Roman" panose="02020603050405020304" pitchFamily="18" charset="0"/>
                <a:cs typeface="B Lotus" panose="00000400000000000000" pitchFamily="2" charset="-78"/>
              </a:rPr>
              <a:t>GA</a:t>
            </a:r>
            <a:r>
              <a:rPr lang="fa-IR" dirty="0">
                <a:solidFill>
                  <a:srgbClr val="61D6FF"/>
                </a:solidFill>
                <a:latin typeface="Times New Roman" panose="02020603050405020304" pitchFamily="18" charset="0"/>
                <a:cs typeface="B Lotus" panose="00000400000000000000" pitchFamily="2" charset="-78"/>
              </a:rPr>
              <a:t> [1]</a:t>
            </a:r>
            <a:r>
              <a:rPr lang="fa-IR" dirty="0">
                <a:latin typeface="Times New Roman" panose="02020603050405020304" pitchFamily="18" charset="0"/>
                <a:cs typeface="B Lotus" panose="00000400000000000000" pitchFamily="2" charset="-78"/>
              </a:rPr>
              <a:t>.</a:t>
            </a:r>
            <a:r>
              <a:rPr lang="fa-IR" dirty="0">
                <a:latin typeface="Times New Roman" panose="02020603050405020304" pitchFamily="18" charset="0"/>
                <a:ea typeface="Calibri" panose="020F0502020204030204" pitchFamily="34" charset="0"/>
                <a:cs typeface="B Lotus" panose="00000400000000000000" pitchFamily="2" charset="-78"/>
              </a:rPr>
              <a:t> </a:t>
            </a:r>
            <a:endParaRPr lang="en-US" dirty="0">
              <a:latin typeface="Times New Roman" panose="02020603050405020304" pitchFamily="18" charset="0"/>
              <a:cs typeface="B Lotus" panose="00000400000000000000" pitchFamily="2" charset="-78"/>
            </a:endParaRPr>
          </a:p>
        </p:txBody>
      </p:sp>
      <p:pic>
        <p:nvPicPr>
          <p:cNvPr id="18" name="Picture 17"/>
          <p:cNvPicPr/>
          <p:nvPr/>
        </p:nvPicPr>
        <p:blipFill>
          <a:blip r:embed="rId3" cstate="print">
            <a:extLst>
              <a:ext uri="{28A0092B-C50C-407E-A947-70E740481C1C}">
                <a14:useLocalDpi xmlns:a14="http://schemas.microsoft.com/office/drawing/2010/main" val="0"/>
              </a:ext>
            </a:extLst>
          </a:blip>
          <a:stretch>
            <a:fillRect/>
          </a:stretch>
        </p:blipFill>
        <p:spPr bwMode="auto">
          <a:xfrm>
            <a:off x="595239" y="1484891"/>
            <a:ext cx="7628872" cy="4687309"/>
          </a:xfrm>
          <a:prstGeom prst="rect">
            <a:avLst/>
          </a:prstGeom>
          <a:noFill/>
          <a:ln>
            <a:noFill/>
          </a:ln>
        </p:spPr>
      </p:pic>
      <p:sp>
        <p:nvSpPr>
          <p:cNvPr id="19" name="Rounded Rectangle 175">
            <a:extLst>
              <a:ext uri="{FF2B5EF4-FFF2-40B4-BE49-F238E27FC236}">
                <a16:creationId xmlns:a16="http://schemas.microsoft.com/office/drawing/2014/main" id="{AACCE7D9-540A-47B9-8964-41031B797FDD}"/>
              </a:ext>
            </a:extLst>
          </p:cNvPr>
          <p:cNvSpPr/>
          <p:nvPr/>
        </p:nvSpPr>
        <p:spPr bwMode="auto">
          <a:xfrm>
            <a:off x="7124531" y="917675"/>
            <a:ext cx="1486069" cy="4985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مقالات اخیر</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21"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2"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3" name="Rectangle 22"/>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4" name="Rectangle 23"/>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25" name="Picture 24" descr="پرونده:Azad University logo.png - ویکی‌پدیا، دانشنامهٔ آزاد">
            <a:extLst>
              <a:ext uri="{FF2B5EF4-FFF2-40B4-BE49-F238E27FC236}">
                <a16:creationId xmlns:a16="http://schemas.microsoft.com/office/drawing/2014/main"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7" name="AutoShape 10">
            <a:extLst>
              <a:ext uri="{FF2B5EF4-FFF2-40B4-BE49-F238E27FC236}">
                <a16:creationId xmlns:a16="http://schemas.microsoft.com/office/drawing/2014/main"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8" name="Rectangle 27">
            <a:extLst>
              <a:ext uri="{FF2B5EF4-FFF2-40B4-BE49-F238E27FC236}">
                <a16:creationId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29" name="AutoShape 3">
            <a:extLst>
              <a:ext uri="{FF2B5EF4-FFF2-40B4-BE49-F238E27FC236}">
                <a16:creationId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1" name="Rectangle 30">
            <a:extLst>
              <a:ext uri="{FF2B5EF4-FFF2-40B4-BE49-F238E27FC236}">
                <a16:creationId xmlns:a16="http://schemas.microsoft.com/office/drawing/2014/main"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2" name="TextBox 31">
            <a:extLst>
              <a:ext uri="{FF2B5EF4-FFF2-40B4-BE49-F238E27FC236}">
                <a16:creationId xmlns:a16="http://schemas.microsoft.com/office/drawing/2014/main" id="{F43469DC-7F5B-471E-BD74-ED709E621F63}"/>
              </a:ext>
            </a:extLst>
          </p:cNvPr>
          <p:cNvSpPr txBox="1"/>
          <p:nvPr/>
        </p:nvSpPr>
        <p:spPr>
          <a:xfrm>
            <a:off x="-438805" y="941739"/>
            <a:ext cx="7315201" cy="307777"/>
          </a:xfrm>
          <a:prstGeom prst="rect">
            <a:avLst/>
          </a:prstGeom>
          <a:noFill/>
        </p:spPr>
        <p:txBody>
          <a:bodyPr wrap="square" rtlCol="0">
            <a:spAutoFit/>
          </a:bodyPr>
          <a:lstStyle/>
          <a:p>
            <a:pPr algn="ctr" rtl="1" fontAlgn="base">
              <a:spcBef>
                <a:spcPct val="0"/>
              </a:spcBef>
              <a:spcAft>
                <a:spcPct val="0"/>
              </a:spcAft>
            </a:pPr>
            <a:r>
              <a:rPr lang="fa-IR" sz="1400" dirty="0">
                <a:cs typeface="B Lotus" panose="00000400000000000000" pitchFamily="2" charset="-78"/>
              </a:rPr>
              <a:t>روشی نو برای همسان‌سازی باتری پک با اتصال سری بر مبنای تجزیه و تحلیل خوشه‌بندی همراه با الگوریتم ژنتیک</a:t>
            </a:r>
            <a:endParaRPr lang="en-US" sz="1400" dirty="0">
              <a:cs typeface="B Lotus" panose="00000400000000000000" pitchFamily="2" charset="-78"/>
            </a:endParaRPr>
          </a:p>
        </p:txBody>
      </p:sp>
      <p:grpSp>
        <p:nvGrpSpPr>
          <p:cNvPr id="2" name="Group 1"/>
          <p:cNvGrpSpPr/>
          <p:nvPr/>
        </p:nvGrpSpPr>
        <p:grpSpPr>
          <a:xfrm>
            <a:off x="55839" y="5207002"/>
            <a:ext cx="4191000" cy="930454"/>
            <a:chOff x="9102590" y="2693531"/>
            <a:chExt cx="4495800" cy="1099777"/>
          </a:xfrm>
        </p:grpSpPr>
        <p:pic>
          <p:nvPicPr>
            <p:cNvPr id="33" name="Picture 32"/>
            <p:cNvPicPr/>
            <p:nvPr/>
          </p:nvPicPr>
          <p:blipFill>
            <a:blip r:embed="rId5" cstate="print">
              <a:extLst>
                <a:ext uri="{28A0092B-C50C-407E-A947-70E740481C1C}">
                  <a14:useLocalDpi xmlns:a14="http://schemas.microsoft.com/office/drawing/2010/main" val="0"/>
                </a:ext>
              </a:extLst>
            </a:blip>
            <a:stretch>
              <a:fillRect/>
            </a:stretch>
          </p:blipFill>
          <p:spPr>
            <a:xfrm>
              <a:off x="9144000" y="3048001"/>
              <a:ext cx="4454390" cy="745307"/>
            </a:xfrm>
            <a:prstGeom prst="rect">
              <a:avLst/>
            </a:prstGeom>
          </p:spPr>
        </p:pic>
        <p:sp>
          <p:nvSpPr>
            <p:cNvPr id="34" name="Rounded Rectangle 33"/>
            <p:cNvSpPr/>
            <p:nvPr/>
          </p:nvSpPr>
          <p:spPr>
            <a:xfrm>
              <a:off x="9102590" y="2998331"/>
              <a:ext cx="4495800" cy="794977"/>
            </a:xfrm>
            <a:prstGeom prst="roundRect">
              <a:avLst/>
            </a:prstGeom>
            <a:noFill/>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cxnSp>
          <p:nvCxnSpPr>
            <p:cNvPr id="35" name="Straight Connector 34"/>
            <p:cNvCxnSpPr/>
            <p:nvPr/>
          </p:nvCxnSpPr>
          <p:spPr>
            <a:xfrm flipV="1">
              <a:off x="9144000" y="2693531"/>
              <a:ext cx="3387590" cy="322051"/>
            </a:xfrm>
            <a:prstGeom prst="line">
              <a:avLst/>
            </a:prstGeom>
          </p:spPr>
          <p:style>
            <a:lnRef idx="2">
              <a:schemeClr val="dk1"/>
            </a:lnRef>
            <a:fillRef idx="0">
              <a:schemeClr val="dk1"/>
            </a:fillRef>
            <a:effectRef idx="1">
              <a:schemeClr val="dk1"/>
            </a:effectRef>
            <a:fontRef idx="minor">
              <a:schemeClr val="tx1"/>
            </a:fontRef>
          </p:style>
        </p:cxnSp>
        <p:cxnSp>
          <p:nvCxnSpPr>
            <p:cNvPr id="36" name="Straight Connector 35"/>
            <p:cNvCxnSpPr/>
            <p:nvPr/>
          </p:nvCxnSpPr>
          <p:spPr>
            <a:xfrm flipH="1" flipV="1">
              <a:off x="12531590" y="2693532"/>
              <a:ext cx="1066800" cy="348498"/>
            </a:xfrm>
            <a:prstGeom prst="line">
              <a:avLst/>
            </a:prstGeom>
          </p:spPr>
          <p:style>
            <a:lnRef idx="2">
              <a:schemeClr val="dk1"/>
            </a:lnRef>
            <a:fillRef idx="0">
              <a:schemeClr val="dk1"/>
            </a:fillRef>
            <a:effectRef idx="1">
              <a:schemeClr val="dk1"/>
            </a:effectRef>
            <a:fontRef idx="minor">
              <a:schemeClr val="tx1"/>
            </a:fontRef>
          </p:style>
        </p:cxnSp>
      </p:grpSp>
      <p:sp>
        <p:nvSpPr>
          <p:cNvPr id="26"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52</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276806380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8" name="Picture 47"/>
          <p:cNvPicPr/>
          <p:nvPr/>
        </p:nvPicPr>
        <p:blipFill>
          <a:blip r:embed="rId3">
            <a:extLst>
              <a:ext uri="{28A0092B-C50C-407E-A947-70E740481C1C}">
                <a14:useLocalDpi xmlns:a14="http://schemas.microsoft.com/office/drawing/2010/main" val="0"/>
              </a:ext>
            </a:extLst>
          </a:blip>
          <a:stretch>
            <a:fillRect/>
          </a:stretch>
        </p:blipFill>
        <p:spPr>
          <a:xfrm>
            <a:off x="762000" y="1613840"/>
            <a:ext cx="7848599" cy="4329760"/>
          </a:xfrm>
          <a:prstGeom prst="rect">
            <a:avLst/>
          </a:prstGeom>
        </p:spPr>
      </p:pic>
      <p:sp>
        <p:nvSpPr>
          <p:cNvPr id="52" name="TextBox 51"/>
          <p:cNvSpPr txBox="1"/>
          <p:nvPr/>
        </p:nvSpPr>
        <p:spPr>
          <a:xfrm>
            <a:off x="2882089" y="6308280"/>
            <a:ext cx="2379177" cy="369332"/>
          </a:xfrm>
          <a:prstGeom prst="rect">
            <a:avLst/>
          </a:prstGeom>
          <a:noFill/>
        </p:spPr>
        <p:txBody>
          <a:bodyPr wrap="none" rtlCol="0">
            <a:spAutoFit/>
          </a:bodyPr>
          <a:lstStyle/>
          <a:p>
            <a:pPr algn="ctr" rtl="1"/>
            <a:r>
              <a:rPr lang="fa-IR" dirty="0">
                <a:latin typeface="Times New Roman" panose="02020603050405020304" pitchFamily="18" charset="0"/>
                <a:cs typeface="B Lotus" panose="00000400000000000000" pitchFamily="2" charset="-78"/>
              </a:rPr>
              <a:t>مدار همسا‌ن‌ساز پیشنهادی </a:t>
            </a:r>
            <a:r>
              <a:rPr lang="fa-IR" dirty="0">
                <a:solidFill>
                  <a:srgbClr val="61D6FF"/>
                </a:solidFill>
                <a:latin typeface="Times New Roman" panose="02020603050405020304" pitchFamily="18" charset="0"/>
                <a:cs typeface="B Lotus" panose="00000400000000000000" pitchFamily="2" charset="-78"/>
              </a:rPr>
              <a:t>[1]</a:t>
            </a:r>
            <a:r>
              <a:rPr lang="fa-IR" dirty="0">
                <a:latin typeface="Times New Roman" panose="02020603050405020304" pitchFamily="18" charset="0"/>
                <a:cs typeface="B Lotus" panose="00000400000000000000" pitchFamily="2" charset="-78"/>
              </a:rPr>
              <a:t>.</a:t>
            </a:r>
            <a:r>
              <a:rPr lang="fa-IR" dirty="0">
                <a:latin typeface="Times New Roman" panose="02020603050405020304" pitchFamily="18" charset="0"/>
                <a:ea typeface="Calibri" panose="020F0502020204030204" pitchFamily="34" charset="0"/>
                <a:cs typeface="B Lotus" panose="00000400000000000000" pitchFamily="2" charset="-78"/>
              </a:rPr>
              <a:t> </a:t>
            </a:r>
            <a:endParaRPr lang="fa-IR" dirty="0">
              <a:latin typeface="Times New Roman" panose="02020603050405020304" pitchFamily="18" charset="0"/>
              <a:cs typeface="B Lotus" panose="00000400000000000000" pitchFamily="2" charset="-78"/>
            </a:endParaRPr>
          </a:p>
        </p:txBody>
      </p:sp>
      <p:sp>
        <p:nvSpPr>
          <p:cNvPr id="18" name="Rounded Rectangle 175">
            <a:extLst>
              <a:ext uri="{FF2B5EF4-FFF2-40B4-BE49-F238E27FC236}">
                <a16:creationId xmlns:a16="http://schemas.microsoft.com/office/drawing/2014/main" id="{AACCE7D9-540A-47B9-8964-41031B797FDD}"/>
              </a:ext>
            </a:extLst>
          </p:cNvPr>
          <p:cNvSpPr/>
          <p:nvPr/>
        </p:nvSpPr>
        <p:spPr bwMode="auto">
          <a:xfrm>
            <a:off x="7124531" y="917675"/>
            <a:ext cx="1486069" cy="4985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مقالات اخیر</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19"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0"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1" name="Rectangle 20"/>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2" name="Rectangle 21"/>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23" name="Picture 22" descr="پرونده:Azad University logo.png - ویکی‌پدیا، دانشنامهٔ آزاد">
            <a:extLst>
              <a:ext uri="{FF2B5EF4-FFF2-40B4-BE49-F238E27FC236}">
                <a16:creationId xmlns:a16="http://schemas.microsoft.com/office/drawing/2014/main"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4" name="AutoShape 10">
            <a:extLst>
              <a:ext uri="{FF2B5EF4-FFF2-40B4-BE49-F238E27FC236}">
                <a16:creationId xmlns:a16="http://schemas.microsoft.com/office/drawing/2014/main"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5" name="Rectangle 24">
            <a:extLst>
              <a:ext uri="{FF2B5EF4-FFF2-40B4-BE49-F238E27FC236}">
                <a16:creationId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27" name="AutoShape 3">
            <a:extLst>
              <a:ext uri="{FF2B5EF4-FFF2-40B4-BE49-F238E27FC236}">
                <a16:creationId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8" name="Rectangle 27">
            <a:extLst>
              <a:ext uri="{FF2B5EF4-FFF2-40B4-BE49-F238E27FC236}">
                <a16:creationId xmlns:a16="http://schemas.microsoft.com/office/drawing/2014/main"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2" name="TextBox 31">
            <a:extLst>
              <a:ext uri="{FF2B5EF4-FFF2-40B4-BE49-F238E27FC236}">
                <a16:creationId xmlns:a16="http://schemas.microsoft.com/office/drawing/2014/main" id="{F43469DC-7F5B-471E-BD74-ED709E621F63}"/>
              </a:ext>
            </a:extLst>
          </p:cNvPr>
          <p:cNvSpPr txBox="1"/>
          <p:nvPr/>
        </p:nvSpPr>
        <p:spPr>
          <a:xfrm>
            <a:off x="-438805" y="941383"/>
            <a:ext cx="7315201" cy="307777"/>
          </a:xfrm>
          <a:prstGeom prst="rect">
            <a:avLst/>
          </a:prstGeom>
          <a:noFill/>
        </p:spPr>
        <p:txBody>
          <a:bodyPr wrap="square" rtlCol="0">
            <a:spAutoFit/>
          </a:bodyPr>
          <a:lstStyle/>
          <a:p>
            <a:pPr algn="ctr" rtl="1" fontAlgn="base">
              <a:spcBef>
                <a:spcPct val="0"/>
              </a:spcBef>
              <a:spcAft>
                <a:spcPct val="0"/>
              </a:spcAft>
            </a:pPr>
            <a:r>
              <a:rPr lang="fa-IR" sz="1400" dirty="0">
                <a:cs typeface="B Lotus" panose="00000400000000000000" pitchFamily="2" charset="-78"/>
              </a:rPr>
              <a:t>روشی نو برای همسان‌سازی باتری پک با اتصال سری بر مبنای تجزیه و تحلیل خوشه‌بندی همراه با الگوریتم ژنتیک</a:t>
            </a:r>
            <a:endParaRPr lang="en-US" sz="1400" dirty="0">
              <a:cs typeface="B Lotus" panose="00000400000000000000" pitchFamily="2" charset="-78"/>
            </a:endParaRPr>
          </a:p>
        </p:txBody>
      </p:sp>
      <p:sp>
        <p:nvSpPr>
          <p:cNvPr id="16"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53</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422850486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 name="TextBox 50"/>
          <p:cNvSpPr txBox="1"/>
          <p:nvPr/>
        </p:nvSpPr>
        <p:spPr>
          <a:xfrm>
            <a:off x="2180397" y="6425128"/>
            <a:ext cx="3453189" cy="369332"/>
          </a:xfrm>
          <a:prstGeom prst="rect">
            <a:avLst/>
          </a:prstGeom>
          <a:noFill/>
        </p:spPr>
        <p:txBody>
          <a:bodyPr wrap="none" rtlCol="0">
            <a:spAutoFit/>
          </a:bodyPr>
          <a:lstStyle/>
          <a:p>
            <a:pPr algn="ctr" rtl="1"/>
            <a:r>
              <a:rPr lang="fa-IR" dirty="0">
                <a:latin typeface="Times New Roman" panose="02020603050405020304" pitchFamily="18" charset="0"/>
                <a:ea typeface="Calibri" panose="020F0502020204030204" pitchFamily="34" charset="0"/>
                <a:cs typeface="B Lotus" panose="00000400000000000000" pitchFamily="2" charset="-78"/>
              </a:rPr>
              <a:t>مسیر عبوری جریان برای سلول شماره 1 </a:t>
            </a:r>
            <a:r>
              <a:rPr lang="fa-IR" dirty="0">
                <a:solidFill>
                  <a:srgbClr val="61D6FF"/>
                </a:solidFill>
                <a:latin typeface="Times New Roman" panose="02020603050405020304" pitchFamily="18" charset="0"/>
                <a:cs typeface="B Lotus" panose="00000400000000000000" pitchFamily="2" charset="-78"/>
              </a:rPr>
              <a:t>[1]</a:t>
            </a:r>
            <a:r>
              <a:rPr lang="fa-IR" dirty="0">
                <a:latin typeface="Times New Roman" panose="02020603050405020304" pitchFamily="18" charset="0"/>
                <a:cs typeface="B Lotus" panose="00000400000000000000" pitchFamily="2" charset="-78"/>
              </a:rPr>
              <a:t>.</a:t>
            </a:r>
            <a:r>
              <a:rPr lang="fa-IR" dirty="0">
                <a:latin typeface="Times New Roman" panose="02020603050405020304" pitchFamily="18" charset="0"/>
                <a:ea typeface="Calibri" panose="020F0502020204030204" pitchFamily="34" charset="0"/>
                <a:cs typeface="B Lotus" panose="00000400000000000000" pitchFamily="2" charset="-78"/>
              </a:rPr>
              <a:t>  </a:t>
            </a:r>
            <a:endParaRPr lang="en-US" dirty="0">
              <a:latin typeface="Times New Roman" panose="02020603050405020304" pitchFamily="18" charset="0"/>
              <a:cs typeface="B Lotus" panose="00000400000000000000" pitchFamily="2" charset="-78"/>
            </a:endParaRPr>
          </a:p>
        </p:txBody>
      </p:sp>
      <p:pic>
        <p:nvPicPr>
          <p:cNvPr id="18" name="Picture 17"/>
          <p:cNvPicPr/>
          <p:nvPr/>
        </p:nvPicPr>
        <p:blipFill>
          <a:blip r:embed="rId3">
            <a:extLst>
              <a:ext uri="{28A0092B-C50C-407E-A947-70E740481C1C}">
                <a14:useLocalDpi xmlns:a14="http://schemas.microsoft.com/office/drawing/2010/main" val="0"/>
              </a:ext>
            </a:extLst>
          </a:blip>
          <a:stretch>
            <a:fillRect/>
          </a:stretch>
        </p:blipFill>
        <p:spPr>
          <a:xfrm>
            <a:off x="1524000" y="1355269"/>
            <a:ext cx="6771766" cy="4816931"/>
          </a:xfrm>
          <a:prstGeom prst="rect">
            <a:avLst/>
          </a:prstGeom>
        </p:spPr>
      </p:pic>
      <p:sp>
        <p:nvSpPr>
          <p:cNvPr id="19" name="Rounded Rectangle 175">
            <a:extLst>
              <a:ext uri="{FF2B5EF4-FFF2-40B4-BE49-F238E27FC236}">
                <a16:creationId xmlns:a16="http://schemas.microsoft.com/office/drawing/2014/main" id="{AACCE7D9-540A-47B9-8964-41031B797FDD}"/>
              </a:ext>
            </a:extLst>
          </p:cNvPr>
          <p:cNvSpPr/>
          <p:nvPr/>
        </p:nvSpPr>
        <p:spPr bwMode="auto">
          <a:xfrm>
            <a:off x="7124531" y="917675"/>
            <a:ext cx="1486069" cy="4985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مقالات اخیر</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20"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1"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2" name="Rectangle 21"/>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3" name="Rectangle 22"/>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24" name="Picture 23" descr="پرونده:Azad University logo.png - ویکی‌پدیا، دانشنامهٔ آزاد">
            <a:extLst>
              <a:ext uri="{FF2B5EF4-FFF2-40B4-BE49-F238E27FC236}">
                <a16:creationId xmlns:a16="http://schemas.microsoft.com/office/drawing/2014/main"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5" name="AutoShape 10">
            <a:extLst>
              <a:ext uri="{FF2B5EF4-FFF2-40B4-BE49-F238E27FC236}">
                <a16:creationId xmlns:a16="http://schemas.microsoft.com/office/drawing/2014/main"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7" name="Rectangle 26">
            <a:extLst>
              <a:ext uri="{FF2B5EF4-FFF2-40B4-BE49-F238E27FC236}">
                <a16:creationId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28" name="AutoShape 3">
            <a:extLst>
              <a:ext uri="{FF2B5EF4-FFF2-40B4-BE49-F238E27FC236}">
                <a16:creationId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9" name="Rectangle 28">
            <a:extLst>
              <a:ext uri="{FF2B5EF4-FFF2-40B4-BE49-F238E27FC236}">
                <a16:creationId xmlns:a16="http://schemas.microsoft.com/office/drawing/2014/main"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1" name="TextBox 30">
            <a:extLst>
              <a:ext uri="{FF2B5EF4-FFF2-40B4-BE49-F238E27FC236}">
                <a16:creationId xmlns:a16="http://schemas.microsoft.com/office/drawing/2014/main" id="{F43469DC-7F5B-471E-BD74-ED709E621F63}"/>
              </a:ext>
            </a:extLst>
          </p:cNvPr>
          <p:cNvSpPr txBox="1"/>
          <p:nvPr/>
        </p:nvSpPr>
        <p:spPr>
          <a:xfrm>
            <a:off x="-438805" y="941739"/>
            <a:ext cx="7315201" cy="307777"/>
          </a:xfrm>
          <a:prstGeom prst="rect">
            <a:avLst/>
          </a:prstGeom>
          <a:noFill/>
        </p:spPr>
        <p:txBody>
          <a:bodyPr wrap="square" rtlCol="0">
            <a:spAutoFit/>
          </a:bodyPr>
          <a:lstStyle/>
          <a:p>
            <a:pPr algn="ctr" rtl="1" fontAlgn="base">
              <a:spcBef>
                <a:spcPct val="0"/>
              </a:spcBef>
              <a:spcAft>
                <a:spcPct val="0"/>
              </a:spcAft>
            </a:pPr>
            <a:r>
              <a:rPr lang="fa-IR" sz="1400" dirty="0">
                <a:cs typeface="B Lotus" panose="00000400000000000000" pitchFamily="2" charset="-78"/>
              </a:rPr>
              <a:t>روشی نو برای همسان‌سازی باتری پک با اتصال سری بر مبنای تجزیه و تحلیل خوشه‌بندی همراه با الگوریتم ژنتیک</a:t>
            </a:r>
            <a:endParaRPr lang="en-US" sz="1400" dirty="0">
              <a:cs typeface="B Lotus" panose="00000400000000000000" pitchFamily="2" charset="-78"/>
            </a:endParaRPr>
          </a:p>
        </p:txBody>
      </p:sp>
      <p:sp>
        <p:nvSpPr>
          <p:cNvPr id="16"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54</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181887945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Picture 18"/>
          <p:cNvPicPr/>
          <p:nvPr/>
        </p:nvPicPr>
        <p:blipFill>
          <a:blip r:embed="rId3">
            <a:extLst>
              <a:ext uri="{28A0092B-C50C-407E-A947-70E740481C1C}">
                <a14:useLocalDpi xmlns:a14="http://schemas.microsoft.com/office/drawing/2010/main" val="0"/>
              </a:ext>
            </a:extLst>
          </a:blip>
          <a:stretch>
            <a:fillRect/>
          </a:stretch>
        </p:blipFill>
        <p:spPr>
          <a:xfrm>
            <a:off x="780347" y="1753107"/>
            <a:ext cx="7601653" cy="4055759"/>
          </a:xfrm>
          <a:prstGeom prst="rect">
            <a:avLst/>
          </a:prstGeom>
        </p:spPr>
      </p:pic>
      <p:sp>
        <p:nvSpPr>
          <p:cNvPr id="34" name="TextBox 33"/>
          <p:cNvSpPr txBox="1"/>
          <p:nvPr/>
        </p:nvSpPr>
        <p:spPr>
          <a:xfrm>
            <a:off x="1725527" y="5917725"/>
            <a:ext cx="4519172" cy="369332"/>
          </a:xfrm>
          <a:prstGeom prst="rect">
            <a:avLst/>
          </a:prstGeom>
          <a:noFill/>
        </p:spPr>
        <p:txBody>
          <a:bodyPr wrap="square" rtlCol="0">
            <a:spAutoFit/>
          </a:bodyPr>
          <a:lstStyle/>
          <a:p>
            <a:pPr algn="ctr" rtl="1"/>
            <a:r>
              <a:rPr lang="fa-IR" dirty="0">
                <a:latin typeface="Times New Roman" panose="02020603050405020304" pitchFamily="18" charset="0"/>
                <a:ea typeface="Calibri" panose="020F0502020204030204" pitchFamily="34" charset="0"/>
                <a:cs typeface="B Lotus" panose="00000400000000000000" pitchFamily="2" charset="-78"/>
              </a:rPr>
              <a:t>مسیر عبور جریان در دوره‌های مختلف (حالت باک) </a:t>
            </a:r>
            <a:r>
              <a:rPr lang="fa-IR" dirty="0">
                <a:solidFill>
                  <a:srgbClr val="61D6FF"/>
                </a:solidFill>
                <a:latin typeface="Times New Roman" panose="02020603050405020304" pitchFamily="18" charset="0"/>
                <a:cs typeface="B Lotus" panose="00000400000000000000" pitchFamily="2" charset="-78"/>
              </a:rPr>
              <a:t>[1]</a:t>
            </a:r>
            <a:r>
              <a:rPr lang="fa-IR" dirty="0">
                <a:latin typeface="Times New Roman" panose="02020603050405020304" pitchFamily="18" charset="0"/>
                <a:cs typeface="B Lotus" panose="00000400000000000000" pitchFamily="2" charset="-78"/>
              </a:rPr>
              <a:t>.</a:t>
            </a:r>
            <a:r>
              <a:rPr lang="fa-IR" dirty="0">
                <a:latin typeface="Times New Roman" panose="02020603050405020304" pitchFamily="18" charset="0"/>
                <a:ea typeface="Calibri" panose="020F0502020204030204" pitchFamily="34" charset="0"/>
                <a:cs typeface="B Lotus" panose="00000400000000000000" pitchFamily="2" charset="-78"/>
              </a:rPr>
              <a:t>  </a:t>
            </a:r>
            <a:endParaRPr lang="en-US" dirty="0">
              <a:latin typeface="Times New Roman" panose="02020603050405020304" pitchFamily="18" charset="0"/>
              <a:cs typeface="B Lotus" panose="00000400000000000000" pitchFamily="2" charset="-78"/>
            </a:endParaRPr>
          </a:p>
        </p:txBody>
      </p:sp>
      <p:sp>
        <p:nvSpPr>
          <p:cNvPr id="36" name="Rounded Rectangle 175">
            <a:extLst>
              <a:ext uri="{FF2B5EF4-FFF2-40B4-BE49-F238E27FC236}">
                <a16:creationId xmlns:a16="http://schemas.microsoft.com/office/drawing/2014/main" id="{AACCE7D9-540A-47B9-8964-41031B797FDD}"/>
              </a:ext>
            </a:extLst>
          </p:cNvPr>
          <p:cNvSpPr/>
          <p:nvPr/>
        </p:nvSpPr>
        <p:spPr bwMode="auto">
          <a:xfrm>
            <a:off x="7124531" y="917675"/>
            <a:ext cx="1486069" cy="4985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مقالات اخیر</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37"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8"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9" name="Rectangle 38"/>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0" name="Rectangle 39"/>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41" name="Picture 40" descr="پرونده:Azad University logo.png - ویکی‌پدیا، دانشنامهٔ آزاد">
            <a:extLst>
              <a:ext uri="{FF2B5EF4-FFF2-40B4-BE49-F238E27FC236}">
                <a16:creationId xmlns:a16="http://schemas.microsoft.com/office/drawing/2014/main"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42" name="AutoShape 10">
            <a:extLst>
              <a:ext uri="{FF2B5EF4-FFF2-40B4-BE49-F238E27FC236}">
                <a16:creationId xmlns:a16="http://schemas.microsoft.com/office/drawing/2014/main"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43" name="Rectangle 42">
            <a:extLst>
              <a:ext uri="{FF2B5EF4-FFF2-40B4-BE49-F238E27FC236}">
                <a16:creationId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44" name="AutoShape 3">
            <a:extLst>
              <a:ext uri="{FF2B5EF4-FFF2-40B4-BE49-F238E27FC236}">
                <a16:creationId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5" name="Rectangle 44">
            <a:extLst>
              <a:ext uri="{FF2B5EF4-FFF2-40B4-BE49-F238E27FC236}">
                <a16:creationId xmlns:a16="http://schemas.microsoft.com/office/drawing/2014/main"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6" name="TextBox 45">
            <a:extLst>
              <a:ext uri="{FF2B5EF4-FFF2-40B4-BE49-F238E27FC236}">
                <a16:creationId xmlns:a16="http://schemas.microsoft.com/office/drawing/2014/main" id="{F43469DC-7F5B-471E-BD74-ED709E621F63}"/>
              </a:ext>
            </a:extLst>
          </p:cNvPr>
          <p:cNvSpPr txBox="1"/>
          <p:nvPr/>
        </p:nvSpPr>
        <p:spPr>
          <a:xfrm>
            <a:off x="-438805" y="941739"/>
            <a:ext cx="7315201" cy="307777"/>
          </a:xfrm>
          <a:prstGeom prst="rect">
            <a:avLst/>
          </a:prstGeom>
          <a:noFill/>
        </p:spPr>
        <p:txBody>
          <a:bodyPr wrap="square" rtlCol="0">
            <a:spAutoFit/>
          </a:bodyPr>
          <a:lstStyle/>
          <a:p>
            <a:pPr algn="ctr" rtl="1" fontAlgn="base">
              <a:spcBef>
                <a:spcPct val="0"/>
              </a:spcBef>
              <a:spcAft>
                <a:spcPct val="0"/>
              </a:spcAft>
            </a:pPr>
            <a:r>
              <a:rPr lang="fa-IR" sz="1400" dirty="0">
                <a:cs typeface="B Lotus" panose="00000400000000000000" pitchFamily="2" charset="-78"/>
              </a:rPr>
              <a:t>روشی نو برای همسان‌سازی باتری پک با اتصال سری بر مبنای تجزیه و تحلیل خوشه‌بندی همراه با الگوریتم ژنتیک</a:t>
            </a:r>
            <a:endParaRPr lang="en-US" sz="1400" dirty="0">
              <a:cs typeface="B Lotus" panose="00000400000000000000" pitchFamily="2" charset="-78"/>
            </a:endParaRPr>
          </a:p>
        </p:txBody>
      </p:sp>
      <p:sp>
        <p:nvSpPr>
          <p:cNvPr id="16"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55</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169685112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Picture 17"/>
          <p:cNvPicPr/>
          <p:nvPr/>
        </p:nvPicPr>
        <p:blipFill>
          <a:blip r:embed="rId3">
            <a:extLst>
              <a:ext uri="{28A0092B-C50C-407E-A947-70E740481C1C}">
                <a14:useLocalDpi xmlns:a14="http://schemas.microsoft.com/office/drawing/2010/main" val="0"/>
              </a:ext>
            </a:extLst>
          </a:blip>
          <a:stretch>
            <a:fillRect/>
          </a:stretch>
        </p:blipFill>
        <p:spPr>
          <a:xfrm>
            <a:off x="485261" y="1833402"/>
            <a:ext cx="8125339" cy="4025343"/>
          </a:xfrm>
          <a:prstGeom prst="rect">
            <a:avLst/>
          </a:prstGeom>
        </p:spPr>
      </p:pic>
      <p:sp>
        <p:nvSpPr>
          <p:cNvPr id="20" name="TextBox 19"/>
          <p:cNvSpPr txBox="1"/>
          <p:nvPr/>
        </p:nvSpPr>
        <p:spPr>
          <a:xfrm>
            <a:off x="1725527" y="6083899"/>
            <a:ext cx="4519172" cy="369332"/>
          </a:xfrm>
          <a:prstGeom prst="rect">
            <a:avLst/>
          </a:prstGeom>
          <a:noFill/>
        </p:spPr>
        <p:txBody>
          <a:bodyPr wrap="square" rtlCol="0">
            <a:spAutoFit/>
          </a:bodyPr>
          <a:lstStyle/>
          <a:p>
            <a:pPr algn="ctr" rtl="1"/>
            <a:r>
              <a:rPr lang="fa-IR" dirty="0">
                <a:latin typeface="Times New Roman" panose="02020603050405020304" pitchFamily="18" charset="0"/>
                <a:ea typeface="Calibri" panose="020F0502020204030204" pitchFamily="34" charset="0"/>
                <a:cs typeface="B Lotus" panose="00000400000000000000" pitchFamily="2" charset="-78"/>
              </a:rPr>
              <a:t>مسیر عبور جریان در دوره‌های مختلف (حالت بوست) </a:t>
            </a:r>
            <a:r>
              <a:rPr lang="fa-IR" dirty="0">
                <a:solidFill>
                  <a:srgbClr val="61D6FF"/>
                </a:solidFill>
                <a:latin typeface="Times New Roman" panose="02020603050405020304" pitchFamily="18" charset="0"/>
                <a:cs typeface="B Lotus" panose="00000400000000000000" pitchFamily="2" charset="-78"/>
              </a:rPr>
              <a:t>[1]</a:t>
            </a:r>
            <a:r>
              <a:rPr lang="fa-IR" dirty="0">
                <a:latin typeface="Times New Roman" panose="02020603050405020304" pitchFamily="18" charset="0"/>
                <a:cs typeface="B Lotus" panose="00000400000000000000" pitchFamily="2" charset="-78"/>
              </a:rPr>
              <a:t>.</a:t>
            </a:r>
            <a:r>
              <a:rPr lang="fa-IR" dirty="0">
                <a:latin typeface="Times New Roman" panose="02020603050405020304" pitchFamily="18" charset="0"/>
                <a:ea typeface="Calibri" panose="020F0502020204030204" pitchFamily="34" charset="0"/>
                <a:cs typeface="B Lotus" panose="00000400000000000000" pitchFamily="2" charset="-78"/>
              </a:rPr>
              <a:t>  </a:t>
            </a:r>
            <a:endParaRPr lang="en-US" dirty="0">
              <a:latin typeface="Times New Roman" panose="02020603050405020304" pitchFamily="18" charset="0"/>
              <a:cs typeface="B Lotus" panose="00000400000000000000" pitchFamily="2" charset="-78"/>
            </a:endParaRPr>
          </a:p>
        </p:txBody>
      </p:sp>
      <p:sp>
        <p:nvSpPr>
          <p:cNvPr id="21" name="Rounded Rectangle 175">
            <a:extLst>
              <a:ext uri="{FF2B5EF4-FFF2-40B4-BE49-F238E27FC236}">
                <a16:creationId xmlns:a16="http://schemas.microsoft.com/office/drawing/2014/main" id="{AACCE7D9-540A-47B9-8964-41031B797FDD}"/>
              </a:ext>
            </a:extLst>
          </p:cNvPr>
          <p:cNvSpPr/>
          <p:nvPr/>
        </p:nvSpPr>
        <p:spPr bwMode="auto">
          <a:xfrm>
            <a:off x="7124531" y="917675"/>
            <a:ext cx="1486069" cy="4985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مقالات اخیر</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22"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3"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4" name="Rectangle 23"/>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5" name="Rectangle 24"/>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27" name="Picture 26" descr="پرونده:Azad University logo.png - ویکی‌پدیا، دانشنامهٔ آزاد">
            <a:extLst>
              <a:ext uri="{FF2B5EF4-FFF2-40B4-BE49-F238E27FC236}">
                <a16:creationId xmlns:a16="http://schemas.microsoft.com/office/drawing/2014/main"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8" name="AutoShape 10">
            <a:extLst>
              <a:ext uri="{FF2B5EF4-FFF2-40B4-BE49-F238E27FC236}">
                <a16:creationId xmlns:a16="http://schemas.microsoft.com/office/drawing/2014/main"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9" name="Rectangle 28">
            <a:extLst>
              <a:ext uri="{FF2B5EF4-FFF2-40B4-BE49-F238E27FC236}">
                <a16:creationId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31" name="AutoShape 3">
            <a:extLst>
              <a:ext uri="{FF2B5EF4-FFF2-40B4-BE49-F238E27FC236}">
                <a16:creationId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2" name="Rectangle 31">
            <a:extLst>
              <a:ext uri="{FF2B5EF4-FFF2-40B4-BE49-F238E27FC236}">
                <a16:creationId xmlns:a16="http://schemas.microsoft.com/office/drawing/2014/main"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3" name="TextBox 32">
            <a:extLst>
              <a:ext uri="{FF2B5EF4-FFF2-40B4-BE49-F238E27FC236}">
                <a16:creationId xmlns:a16="http://schemas.microsoft.com/office/drawing/2014/main" id="{F43469DC-7F5B-471E-BD74-ED709E621F63}"/>
              </a:ext>
            </a:extLst>
          </p:cNvPr>
          <p:cNvSpPr txBox="1"/>
          <p:nvPr/>
        </p:nvSpPr>
        <p:spPr>
          <a:xfrm>
            <a:off x="-438805" y="941739"/>
            <a:ext cx="7315201" cy="307777"/>
          </a:xfrm>
          <a:prstGeom prst="rect">
            <a:avLst/>
          </a:prstGeom>
          <a:noFill/>
        </p:spPr>
        <p:txBody>
          <a:bodyPr wrap="square" rtlCol="0">
            <a:spAutoFit/>
          </a:bodyPr>
          <a:lstStyle/>
          <a:p>
            <a:pPr algn="ctr" rtl="1" fontAlgn="base">
              <a:spcBef>
                <a:spcPct val="0"/>
              </a:spcBef>
              <a:spcAft>
                <a:spcPct val="0"/>
              </a:spcAft>
            </a:pPr>
            <a:r>
              <a:rPr lang="fa-IR" sz="1400" dirty="0">
                <a:cs typeface="B Lotus" panose="00000400000000000000" pitchFamily="2" charset="-78"/>
              </a:rPr>
              <a:t>روشی نو برای همسان‌سازی باتری پک با اتصال سری بر مبنای تجزیه و تحلیل خوشه‌بندی همراه با الگوریتم ژنتیک</a:t>
            </a:r>
            <a:endParaRPr lang="en-US" sz="1400" dirty="0">
              <a:cs typeface="B Lotus" panose="00000400000000000000" pitchFamily="2" charset="-78"/>
            </a:endParaRPr>
          </a:p>
        </p:txBody>
      </p:sp>
      <p:sp>
        <p:nvSpPr>
          <p:cNvPr id="16"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56</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236470858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Text Box 151"/>
          <p:cNvSpPr txBox="1"/>
          <p:nvPr/>
        </p:nvSpPr>
        <p:spPr>
          <a:xfrm>
            <a:off x="148662" y="6069102"/>
            <a:ext cx="8842938" cy="369332"/>
          </a:xfrm>
          <a:prstGeom prst="rect">
            <a:avLst/>
          </a:prstGeom>
          <a:solidFill>
            <a:prstClr val="white"/>
          </a:solidFill>
          <a:ln>
            <a:noFill/>
          </a:ln>
          <a:effectLst/>
        </p:spPr>
        <p:txBody>
          <a:bodyPr rot="0" spcFirstLastPara="0" vert="horz" wrap="square" lIns="0" tIns="0" rIns="0" bIns="0" numCol="1" spcCol="0" rtlCol="0" fromWordArt="0" anchor="t" anchorCtr="0" forceAA="0" compatLnSpc="1">
            <a:prstTxWarp prst="textNoShape">
              <a:avLst/>
            </a:prstTxWarp>
            <a:spAutoFit/>
          </a:bodyPr>
          <a:lstStyle/>
          <a:p>
            <a:pPr algn="ctr" rtl="1">
              <a:spcAft>
                <a:spcPts val="1000"/>
              </a:spcAft>
            </a:pPr>
            <a:r>
              <a:rPr lang="fa-IR" sz="1200" dirty="0">
                <a:latin typeface="Times New Roman" panose="02020603050405020304" pitchFamily="18" charset="0"/>
                <a:ea typeface="Calibri" panose="020F0502020204030204" pitchFamily="34" charset="0"/>
                <a:cs typeface="B Lotus" panose="00000400000000000000" pitchFamily="2" charset="-78"/>
              </a:rPr>
              <a:t>شکل موج ولتاژ سلول‌ها تحت فرآیند همسان‌سازی</a:t>
            </a:r>
            <a:r>
              <a:rPr lang="fa-IR" altLang="en-US" sz="1200" dirty="0">
                <a:latin typeface="Times New Roman" panose="02020603050405020304" pitchFamily="18" charset="0"/>
                <a:ea typeface="Calibri" panose="020F0502020204030204" pitchFamily="34" charset="0"/>
                <a:cs typeface="B Lotus" panose="00000400000000000000" pitchFamily="2" charset="-78"/>
              </a:rPr>
              <a:t> روش آستانه ثابت (الف)، روش خوشه‌بندی</a:t>
            </a:r>
            <a:r>
              <a:rPr lang="en-US" altLang="en-US" sz="1200" dirty="0">
                <a:latin typeface="Times New Roman" panose="02020603050405020304" pitchFamily="18" charset="0"/>
                <a:ea typeface="Calibri" panose="020F0502020204030204" pitchFamily="34" charset="0"/>
                <a:cs typeface="B Lotus" panose="00000400000000000000" pitchFamily="2" charset="-78"/>
              </a:rPr>
              <a:t> K-means </a:t>
            </a:r>
            <a:r>
              <a:rPr lang="fa-IR" altLang="en-US" sz="1200" dirty="0">
                <a:latin typeface="Times New Roman" panose="02020603050405020304" pitchFamily="18" charset="0"/>
                <a:ea typeface="Calibri" panose="020F0502020204030204" pitchFamily="34" charset="0"/>
                <a:cs typeface="B Lotus" panose="00000400000000000000" pitchFamily="2" charset="-78"/>
              </a:rPr>
              <a:t>بدون </a:t>
            </a:r>
            <a:r>
              <a:rPr lang="en-US" altLang="en-US" sz="1200" dirty="0">
                <a:latin typeface="Times New Roman" panose="02020603050405020304" pitchFamily="18" charset="0"/>
                <a:ea typeface="Calibri" panose="020F0502020204030204" pitchFamily="34" charset="0"/>
                <a:cs typeface="B Lotus" panose="00000400000000000000" pitchFamily="2" charset="-78"/>
              </a:rPr>
              <a:t>GA</a:t>
            </a:r>
            <a:r>
              <a:rPr lang="fa-IR" altLang="en-US" sz="1200" dirty="0">
                <a:latin typeface="Times New Roman" panose="02020603050405020304" pitchFamily="18" charset="0"/>
                <a:ea typeface="Calibri" panose="020F0502020204030204" pitchFamily="34" charset="0"/>
                <a:cs typeface="B Lotus" panose="00000400000000000000" pitchFamily="2" charset="-78"/>
              </a:rPr>
              <a:t> (ب)، روش خوشه‌بندی</a:t>
            </a:r>
            <a:r>
              <a:rPr lang="en-US" altLang="en-US" sz="1200" dirty="0">
                <a:latin typeface="Times New Roman" panose="02020603050405020304" pitchFamily="18" charset="0"/>
                <a:ea typeface="Calibri" panose="020F0502020204030204" pitchFamily="34" charset="0"/>
                <a:cs typeface="B Lotus" panose="00000400000000000000" pitchFamily="2" charset="-78"/>
              </a:rPr>
              <a:t> K-means </a:t>
            </a:r>
            <a:r>
              <a:rPr lang="fa-IR" altLang="en-US" sz="1200" dirty="0">
                <a:latin typeface="Times New Roman" panose="02020603050405020304" pitchFamily="18" charset="0"/>
                <a:ea typeface="Calibri" panose="020F0502020204030204" pitchFamily="34" charset="0"/>
                <a:cs typeface="B Lotus" panose="00000400000000000000" pitchFamily="2" charset="-78"/>
              </a:rPr>
              <a:t>همراه با </a:t>
            </a:r>
            <a:r>
              <a:rPr lang="en-US" altLang="en-US" sz="1200" dirty="0">
                <a:latin typeface="Times New Roman" panose="02020603050405020304" pitchFamily="18" charset="0"/>
                <a:ea typeface="Calibri" panose="020F0502020204030204" pitchFamily="34" charset="0"/>
                <a:cs typeface="B Lotus" panose="00000400000000000000" pitchFamily="2" charset="-78"/>
              </a:rPr>
              <a:t>GA</a:t>
            </a:r>
            <a:r>
              <a:rPr lang="fa-IR" altLang="en-US" sz="1200" dirty="0">
                <a:latin typeface="Times New Roman" panose="02020603050405020304" pitchFamily="18" charset="0"/>
                <a:ea typeface="Calibri" panose="020F0502020204030204" pitchFamily="34" charset="0"/>
                <a:cs typeface="B Lotus" panose="00000400000000000000" pitchFamily="2" charset="-78"/>
              </a:rPr>
              <a:t> با ضرایب 6:4 (ج) </a:t>
            </a:r>
            <a:r>
              <a:rPr lang="fa-IR" sz="1200" dirty="0">
                <a:solidFill>
                  <a:srgbClr val="61D6FF"/>
                </a:solidFill>
                <a:latin typeface="Times New Roman" panose="02020603050405020304" pitchFamily="18" charset="0"/>
                <a:cs typeface="B Lotus" panose="00000400000000000000" pitchFamily="2" charset="-78"/>
              </a:rPr>
              <a:t>[1]</a:t>
            </a:r>
            <a:r>
              <a:rPr lang="fa-IR" sz="1200" dirty="0">
                <a:solidFill>
                  <a:srgbClr val="292934"/>
                </a:solidFill>
                <a:latin typeface="Times New Roman" panose="02020603050405020304" pitchFamily="18" charset="0"/>
                <a:cs typeface="B Lotus" panose="00000400000000000000" pitchFamily="2" charset="-78"/>
              </a:rPr>
              <a:t>.</a:t>
            </a:r>
            <a:r>
              <a:rPr lang="fa-IR" altLang="en-US" sz="1200" dirty="0">
                <a:solidFill>
                  <a:srgbClr val="292934"/>
                </a:solidFill>
                <a:latin typeface="Times New Roman" panose="02020603050405020304" pitchFamily="18" charset="0"/>
                <a:ea typeface="Calibri" panose="020F0502020204030204" pitchFamily="34" charset="0"/>
                <a:cs typeface="B Lotus" panose="00000400000000000000" pitchFamily="2" charset="-78"/>
              </a:rPr>
              <a:t> </a:t>
            </a:r>
            <a:endParaRPr lang="en-US" sz="1200" i="0" dirty="0">
              <a:solidFill>
                <a:srgbClr val="262626"/>
              </a:solidFill>
              <a:effectLst/>
              <a:latin typeface="Times New Roman" panose="02020603050405020304" pitchFamily="18" charset="0"/>
              <a:ea typeface="Calibri" panose="020F0502020204030204" pitchFamily="34" charset="0"/>
              <a:cs typeface="B Lotus" panose="00000400000000000000" pitchFamily="2" charset="-78"/>
            </a:endParaRPr>
          </a:p>
        </p:txBody>
      </p:sp>
      <p:sp>
        <p:nvSpPr>
          <p:cNvPr id="21"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2"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3" name="Rectangle 22"/>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4" name="Rectangle 23"/>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25" name="Picture 24" descr="پرونده:Azad University logo.png - ویکی‌پدیا، دانشنامهٔ آزاد">
            <a:extLst>
              <a:ext uri="{FF2B5EF4-FFF2-40B4-BE49-F238E27FC236}">
                <a16:creationId xmlns:a16="http://schemas.microsoft.com/office/drawing/2014/main" id="{FA988D60-670C-406B-B8FB-D5A0053424E9}"/>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7" name="AutoShape 10">
            <a:extLst>
              <a:ext uri="{FF2B5EF4-FFF2-40B4-BE49-F238E27FC236}">
                <a16:creationId xmlns:a16="http://schemas.microsoft.com/office/drawing/2014/main"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8" name="Rectangle 27">
            <a:extLst>
              <a:ext uri="{FF2B5EF4-FFF2-40B4-BE49-F238E27FC236}">
                <a16:creationId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29" name="AutoShape 3">
            <a:extLst>
              <a:ext uri="{FF2B5EF4-FFF2-40B4-BE49-F238E27FC236}">
                <a16:creationId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1" name="Rectangle 30">
            <a:extLst>
              <a:ext uri="{FF2B5EF4-FFF2-40B4-BE49-F238E27FC236}">
                <a16:creationId xmlns:a16="http://schemas.microsoft.com/office/drawing/2014/main"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grpSp>
        <p:nvGrpSpPr>
          <p:cNvPr id="5" name="Group 4"/>
          <p:cNvGrpSpPr/>
          <p:nvPr/>
        </p:nvGrpSpPr>
        <p:grpSpPr>
          <a:xfrm>
            <a:off x="148662" y="1076600"/>
            <a:ext cx="8842938" cy="4909564"/>
            <a:chOff x="1419359" y="1250116"/>
            <a:chExt cx="5793740" cy="4273249"/>
          </a:xfrm>
        </p:grpSpPr>
        <p:pic>
          <p:nvPicPr>
            <p:cNvPr id="20" name="Picture 19"/>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419359" y="1250116"/>
              <a:ext cx="5793740" cy="4257040"/>
            </a:xfrm>
            <a:prstGeom prst="rect">
              <a:avLst/>
            </a:prstGeom>
            <a:noFill/>
            <a:ln>
              <a:noFill/>
            </a:ln>
          </p:spPr>
        </p:pic>
        <p:grpSp>
          <p:nvGrpSpPr>
            <p:cNvPr id="34" name="Group 33"/>
            <p:cNvGrpSpPr/>
            <p:nvPr/>
          </p:nvGrpSpPr>
          <p:grpSpPr>
            <a:xfrm>
              <a:off x="2740897" y="3200400"/>
              <a:ext cx="3337558" cy="2322965"/>
              <a:chOff x="0" y="0"/>
              <a:chExt cx="3338113" cy="2282436"/>
            </a:xfrm>
          </p:grpSpPr>
          <p:pic>
            <p:nvPicPr>
              <p:cNvPr id="35" name="Picture 34"/>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527933" y="0"/>
                <a:ext cx="288925" cy="173355"/>
              </a:xfrm>
              <a:prstGeom prst="rect">
                <a:avLst/>
              </a:prstGeom>
            </p:spPr>
          </p:pic>
          <p:pic>
            <p:nvPicPr>
              <p:cNvPr id="36" name="Picture 35"/>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0" y="2147365"/>
                <a:ext cx="233045" cy="133350"/>
              </a:xfrm>
              <a:prstGeom prst="rect">
                <a:avLst/>
              </a:prstGeom>
            </p:spPr>
          </p:pic>
          <p:pic>
            <p:nvPicPr>
              <p:cNvPr id="37" name="Picture 36"/>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126658" y="2141466"/>
                <a:ext cx="211455" cy="140970"/>
              </a:xfrm>
              <a:prstGeom prst="rect">
                <a:avLst/>
              </a:prstGeom>
            </p:spPr>
          </p:pic>
        </p:grpSp>
      </p:grpSp>
      <p:sp>
        <p:nvSpPr>
          <p:cNvPr id="38" name="Rounded Rectangle 175">
            <a:extLst>
              <a:ext uri="{FF2B5EF4-FFF2-40B4-BE49-F238E27FC236}">
                <a16:creationId xmlns:a16="http://schemas.microsoft.com/office/drawing/2014/main" id="{AACCE7D9-540A-47B9-8964-41031B797FDD}"/>
              </a:ext>
            </a:extLst>
          </p:cNvPr>
          <p:cNvSpPr/>
          <p:nvPr/>
        </p:nvSpPr>
        <p:spPr bwMode="auto">
          <a:xfrm>
            <a:off x="7124531" y="917675"/>
            <a:ext cx="1486069" cy="4985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مقالات اخیر</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2" name="Slide Number Placeholder 1"/>
          <p:cNvSpPr>
            <a:spLocks noGrp="1"/>
          </p:cNvSpPr>
          <p:nvPr>
            <p:ph type="sldNum" sz="quarter" idx="12"/>
          </p:nvPr>
        </p:nvSpPr>
        <p:spPr/>
        <p:txBody>
          <a:bodyPr/>
          <a:lstStyle/>
          <a:p>
            <a:fld id="{7FC2E40A-4446-4E2B-B9AD-16F559E28E02}" type="slidenum">
              <a:rPr lang="en-US" smtClean="0"/>
              <a:t>57</a:t>
            </a:fld>
            <a:endParaRPr lang="en-US"/>
          </a:p>
        </p:txBody>
      </p:sp>
      <p:sp>
        <p:nvSpPr>
          <p:cNvPr id="26"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57</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160020711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rotWithShape="1">
          <a:blip r:embed="rId3"/>
          <a:srcRect/>
          <a:stretch/>
        </p:blipFill>
        <p:spPr>
          <a:xfrm>
            <a:off x="867650" y="1703725"/>
            <a:ext cx="7315200" cy="4188146"/>
          </a:xfrm>
          <a:prstGeom prst="rect">
            <a:avLst/>
          </a:prstGeom>
        </p:spPr>
      </p:pic>
      <p:sp>
        <p:nvSpPr>
          <p:cNvPr id="6" name="Rectangle 5"/>
          <p:cNvSpPr/>
          <p:nvPr/>
        </p:nvSpPr>
        <p:spPr>
          <a:xfrm>
            <a:off x="1439150" y="6096000"/>
            <a:ext cx="6172200" cy="369332"/>
          </a:xfrm>
          <a:prstGeom prst="rect">
            <a:avLst/>
          </a:prstGeom>
        </p:spPr>
        <p:txBody>
          <a:bodyPr wrap="square">
            <a:spAutoFit/>
          </a:bodyPr>
          <a:lstStyle/>
          <a:p>
            <a:pPr algn="ctr" rtl="1">
              <a:spcAft>
                <a:spcPts val="1000"/>
              </a:spcAft>
            </a:pPr>
            <a:r>
              <a:rPr lang="fa-IR" dirty="0">
                <a:solidFill>
                  <a:srgbClr val="262626"/>
                </a:solidFill>
                <a:latin typeface="Times New Roman" panose="02020603050405020304" pitchFamily="18" charset="0"/>
                <a:ea typeface="Calibri" panose="020F0502020204030204" pitchFamily="34" charset="0"/>
                <a:cs typeface="B Lotus" panose="00000400000000000000" pitchFamily="2" charset="-78"/>
              </a:rPr>
              <a:t>روند تأثیر متقابل میزان همسان‌سازی و زمان همسان‌سازی (</a:t>
            </a:r>
            <a:r>
              <a:rPr lang="en-US" dirty="0">
                <a:solidFill>
                  <a:srgbClr val="262626"/>
                </a:solidFill>
                <a:latin typeface="Times New Roman" panose="02020603050405020304" pitchFamily="18" charset="0"/>
                <a:ea typeface="Calibri" panose="020F0502020204030204" pitchFamily="34" charset="0"/>
                <a:cs typeface="B Lotus" panose="00000400000000000000" pitchFamily="2" charset="-78"/>
              </a:rPr>
              <a:t>α:β</a:t>
            </a:r>
            <a:r>
              <a:rPr lang="fa-IR" dirty="0">
                <a:solidFill>
                  <a:srgbClr val="262626"/>
                </a:solidFill>
                <a:latin typeface="Times New Roman" panose="02020603050405020304" pitchFamily="18" charset="0"/>
                <a:ea typeface="Calibri" panose="020F0502020204030204" pitchFamily="34" charset="0"/>
                <a:cs typeface="B Lotus" panose="00000400000000000000" pitchFamily="2" charset="-78"/>
              </a:rPr>
              <a:t>) </a:t>
            </a:r>
            <a:r>
              <a:rPr lang="fa-IR" dirty="0">
                <a:solidFill>
                  <a:srgbClr val="61D6FF"/>
                </a:solidFill>
                <a:latin typeface="Times New Roman" panose="02020603050405020304" pitchFamily="18" charset="0"/>
                <a:cs typeface="B Lotus" panose="00000400000000000000" pitchFamily="2" charset="-78"/>
              </a:rPr>
              <a:t>[1]</a:t>
            </a:r>
            <a:r>
              <a:rPr lang="fa-IR" dirty="0">
                <a:latin typeface="Times New Roman" panose="02020603050405020304" pitchFamily="18" charset="0"/>
                <a:cs typeface="B Lotus" panose="00000400000000000000" pitchFamily="2" charset="-78"/>
              </a:rPr>
              <a:t>.</a:t>
            </a:r>
            <a:endParaRPr lang="en-US" dirty="0">
              <a:solidFill>
                <a:srgbClr val="262626"/>
              </a:solidFill>
              <a:effectLst/>
              <a:latin typeface="Times New Roman" panose="02020603050405020304" pitchFamily="18" charset="0"/>
              <a:ea typeface="Calibri" panose="020F0502020204030204" pitchFamily="34" charset="0"/>
              <a:cs typeface="B Lotus" panose="00000400000000000000" pitchFamily="2" charset="-78"/>
            </a:endParaRPr>
          </a:p>
        </p:txBody>
      </p:sp>
      <p:sp>
        <p:nvSpPr>
          <p:cNvPr id="18" name="Rounded Rectangle 175">
            <a:extLst>
              <a:ext uri="{FF2B5EF4-FFF2-40B4-BE49-F238E27FC236}">
                <a16:creationId xmlns:a16="http://schemas.microsoft.com/office/drawing/2014/main" id="{AACCE7D9-540A-47B9-8964-41031B797FDD}"/>
              </a:ext>
            </a:extLst>
          </p:cNvPr>
          <p:cNvSpPr/>
          <p:nvPr/>
        </p:nvSpPr>
        <p:spPr bwMode="auto">
          <a:xfrm>
            <a:off x="7124531" y="917675"/>
            <a:ext cx="1486069" cy="4985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مقالات اخیر</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19"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0"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1" name="Rectangle 20"/>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2" name="Rectangle 21"/>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23" name="Picture 22" descr="پرونده:Azad University logo.png - ویکی‌پدیا، دانشنامهٔ آزاد">
            <a:extLst>
              <a:ext uri="{FF2B5EF4-FFF2-40B4-BE49-F238E27FC236}">
                <a16:creationId xmlns:a16="http://schemas.microsoft.com/office/drawing/2014/main"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4" name="AutoShape 10">
            <a:extLst>
              <a:ext uri="{FF2B5EF4-FFF2-40B4-BE49-F238E27FC236}">
                <a16:creationId xmlns:a16="http://schemas.microsoft.com/office/drawing/2014/main"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5" name="Rectangle 24">
            <a:extLst>
              <a:ext uri="{FF2B5EF4-FFF2-40B4-BE49-F238E27FC236}">
                <a16:creationId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27" name="AutoShape 3">
            <a:extLst>
              <a:ext uri="{FF2B5EF4-FFF2-40B4-BE49-F238E27FC236}">
                <a16:creationId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8" name="Rectangle 27">
            <a:extLst>
              <a:ext uri="{FF2B5EF4-FFF2-40B4-BE49-F238E27FC236}">
                <a16:creationId xmlns:a16="http://schemas.microsoft.com/office/drawing/2014/main"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9" name="TextBox 28">
            <a:extLst>
              <a:ext uri="{FF2B5EF4-FFF2-40B4-BE49-F238E27FC236}">
                <a16:creationId xmlns:a16="http://schemas.microsoft.com/office/drawing/2014/main" id="{F43469DC-7F5B-471E-BD74-ED709E621F63}"/>
              </a:ext>
            </a:extLst>
          </p:cNvPr>
          <p:cNvSpPr txBox="1"/>
          <p:nvPr/>
        </p:nvSpPr>
        <p:spPr>
          <a:xfrm>
            <a:off x="-438805" y="941739"/>
            <a:ext cx="7315201" cy="307777"/>
          </a:xfrm>
          <a:prstGeom prst="rect">
            <a:avLst/>
          </a:prstGeom>
          <a:noFill/>
        </p:spPr>
        <p:txBody>
          <a:bodyPr wrap="square" rtlCol="0">
            <a:spAutoFit/>
          </a:bodyPr>
          <a:lstStyle/>
          <a:p>
            <a:pPr algn="ctr" rtl="1" fontAlgn="base">
              <a:spcBef>
                <a:spcPct val="0"/>
              </a:spcBef>
              <a:spcAft>
                <a:spcPct val="0"/>
              </a:spcAft>
            </a:pPr>
            <a:r>
              <a:rPr lang="fa-IR" sz="1400" dirty="0">
                <a:cs typeface="B Lotus" panose="00000400000000000000" pitchFamily="2" charset="-78"/>
              </a:rPr>
              <a:t>روشی نو برای همسان‌سازی باتری پک با اتصال سری بر مبنای تجزیه و تحلیل خوشه‌بندی همراه با الگوریتم ژنتیک</a:t>
            </a:r>
            <a:endParaRPr lang="en-US" sz="1400" dirty="0">
              <a:cs typeface="B Lotus" panose="00000400000000000000" pitchFamily="2" charset="-78"/>
            </a:endParaRPr>
          </a:p>
        </p:txBody>
      </p:sp>
      <p:sp>
        <p:nvSpPr>
          <p:cNvPr id="16"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58</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265494642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1"/>
          <p:cNvSpPr>
            <a:spLocks noChangeArrowheads="1"/>
          </p:cNvSpPr>
          <p:nvPr/>
        </p:nvSpPr>
        <p:spPr bwMode="auto">
          <a:xfrm>
            <a:off x="907487" y="6171442"/>
            <a:ext cx="735965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gn="ctr" rtl="1" eaLnBrk="0" fontAlgn="base" hangingPunct="0">
              <a:spcBef>
                <a:spcPct val="0"/>
              </a:spcBef>
              <a:spcAft>
                <a:spcPct val="0"/>
              </a:spcAft>
            </a:pPr>
            <a:r>
              <a:rPr lang="fa-IR" altLang="en-US" sz="1400" dirty="0">
                <a:latin typeface="Times New Roman" panose="02020603050405020304" pitchFamily="18" charset="0"/>
                <a:ea typeface="Calibri" panose="020F0502020204030204" pitchFamily="34" charset="0"/>
                <a:cs typeface="B Lotus" panose="00000400000000000000" pitchFamily="2" charset="-78"/>
              </a:rPr>
              <a:t>نتیجه دسته‌بندی سلول‌ها در فرآیند همسان‌سازی عملی به روش آستانه ثابت (الف)، روش خوشه‌بندی</a:t>
            </a:r>
            <a:r>
              <a:rPr lang="en-US" altLang="en-US" sz="1400" dirty="0">
                <a:latin typeface="Times New Roman" panose="02020603050405020304" pitchFamily="18" charset="0"/>
                <a:ea typeface="Calibri" panose="020F0502020204030204" pitchFamily="34" charset="0"/>
                <a:cs typeface="B Lotus" panose="00000400000000000000" pitchFamily="2" charset="-78"/>
              </a:rPr>
              <a:t> K-means </a:t>
            </a:r>
            <a:r>
              <a:rPr lang="fa-IR" altLang="en-US" sz="1400" dirty="0">
                <a:latin typeface="Times New Roman" panose="02020603050405020304" pitchFamily="18" charset="0"/>
                <a:ea typeface="Calibri" panose="020F0502020204030204" pitchFamily="34" charset="0"/>
                <a:cs typeface="B Lotus" panose="00000400000000000000" pitchFamily="2" charset="-78"/>
              </a:rPr>
              <a:t>بدون </a:t>
            </a:r>
            <a:r>
              <a:rPr lang="en-US" altLang="en-US" sz="1400" dirty="0">
                <a:latin typeface="Times New Roman" panose="02020603050405020304" pitchFamily="18" charset="0"/>
                <a:ea typeface="Calibri" panose="020F0502020204030204" pitchFamily="34" charset="0"/>
                <a:cs typeface="B Lotus" panose="00000400000000000000" pitchFamily="2" charset="-78"/>
              </a:rPr>
              <a:t>GA</a:t>
            </a:r>
            <a:r>
              <a:rPr lang="fa-IR" altLang="en-US" sz="1400" dirty="0">
                <a:latin typeface="Times New Roman" panose="02020603050405020304" pitchFamily="18" charset="0"/>
                <a:ea typeface="Calibri" panose="020F0502020204030204" pitchFamily="34" charset="0"/>
                <a:cs typeface="B Lotus" panose="00000400000000000000" pitchFamily="2" charset="-78"/>
              </a:rPr>
              <a:t> (ب)، روش خوشه‌بندی</a:t>
            </a:r>
            <a:r>
              <a:rPr lang="en-US" altLang="en-US" sz="1400" dirty="0">
                <a:latin typeface="Times New Roman" panose="02020603050405020304" pitchFamily="18" charset="0"/>
                <a:ea typeface="Calibri" panose="020F0502020204030204" pitchFamily="34" charset="0"/>
                <a:cs typeface="B Lotus" panose="00000400000000000000" pitchFamily="2" charset="-78"/>
              </a:rPr>
              <a:t> K-means </a:t>
            </a:r>
            <a:r>
              <a:rPr lang="fa-IR" altLang="en-US" sz="1400" dirty="0">
                <a:latin typeface="Times New Roman" panose="02020603050405020304" pitchFamily="18" charset="0"/>
                <a:ea typeface="Calibri" panose="020F0502020204030204" pitchFamily="34" charset="0"/>
                <a:cs typeface="B Lotus" panose="00000400000000000000" pitchFamily="2" charset="-78"/>
              </a:rPr>
              <a:t>همراه با </a:t>
            </a:r>
            <a:r>
              <a:rPr lang="en-US" altLang="en-US" sz="1400" dirty="0">
                <a:latin typeface="Times New Roman" panose="02020603050405020304" pitchFamily="18" charset="0"/>
                <a:ea typeface="Calibri" panose="020F0502020204030204" pitchFamily="34" charset="0"/>
                <a:cs typeface="B Lotus" panose="00000400000000000000" pitchFamily="2" charset="-78"/>
              </a:rPr>
              <a:t>GA</a:t>
            </a:r>
            <a:r>
              <a:rPr lang="fa-IR" altLang="en-US" sz="1400" dirty="0">
                <a:latin typeface="Times New Roman" panose="02020603050405020304" pitchFamily="18" charset="0"/>
                <a:ea typeface="Calibri" panose="020F0502020204030204" pitchFamily="34" charset="0"/>
                <a:cs typeface="B Lotus" panose="00000400000000000000" pitchFamily="2" charset="-78"/>
              </a:rPr>
              <a:t> با ضرایب 6:4 (ج) </a:t>
            </a:r>
            <a:r>
              <a:rPr lang="fa-IR" sz="1400" dirty="0">
                <a:solidFill>
                  <a:srgbClr val="61D6FF"/>
                </a:solidFill>
                <a:latin typeface="Times New Roman" panose="02020603050405020304" pitchFamily="18" charset="0"/>
                <a:cs typeface="B Lotus" panose="00000400000000000000" pitchFamily="2" charset="-78"/>
              </a:rPr>
              <a:t>[1]</a:t>
            </a:r>
            <a:r>
              <a:rPr lang="fa-IR" sz="1400" dirty="0">
                <a:latin typeface="Times New Roman" panose="02020603050405020304" pitchFamily="18" charset="0"/>
                <a:cs typeface="B Lotus" panose="00000400000000000000" pitchFamily="2" charset="-78"/>
              </a:rPr>
              <a:t>.</a:t>
            </a:r>
            <a:r>
              <a:rPr lang="fa-IR" altLang="en-US" sz="1400" dirty="0">
                <a:latin typeface="Times New Roman" panose="02020603050405020304" pitchFamily="18" charset="0"/>
                <a:ea typeface="Calibri" panose="020F0502020204030204" pitchFamily="34" charset="0"/>
                <a:cs typeface="B Lotus" panose="00000400000000000000" pitchFamily="2" charset="-78"/>
              </a:rPr>
              <a:t> </a:t>
            </a:r>
            <a:endParaRPr kumimoji="0" lang="fa-IR" altLang="en-US" sz="1400" b="0" i="0" u="none" strike="noStrike" cap="none" normalizeH="0" baseline="0" dirty="0">
              <a:ln>
                <a:noFill/>
              </a:ln>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p:txBody>
      </p:sp>
      <p:sp>
        <p:nvSpPr>
          <p:cNvPr id="22"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3"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4" name="Rectangle 23"/>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5" name="Rectangle 24"/>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27" name="Picture 26" descr="پرونده:Azad University logo.png - ویکی‌پدیا، دانشنامهٔ آزاد">
            <a:extLst>
              <a:ext uri="{FF2B5EF4-FFF2-40B4-BE49-F238E27FC236}">
                <a16:creationId xmlns:a16="http://schemas.microsoft.com/office/drawing/2014/main" id="{FA988D60-670C-406B-B8FB-D5A0053424E9}"/>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8" name="AutoShape 10">
            <a:extLst>
              <a:ext uri="{FF2B5EF4-FFF2-40B4-BE49-F238E27FC236}">
                <a16:creationId xmlns:a16="http://schemas.microsoft.com/office/drawing/2014/main"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9" name="Rectangle 28">
            <a:extLst>
              <a:ext uri="{FF2B5EF4-FFF2-40B4-BE49-F238E27FC236}">
                <a16:creationId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31" name="AutoShape 3">
            <a:extLst>
              <a:ext uri="{FF2B5EF4-FFF2-40B4-BE49-F238E27FC236}">
                <a16:creationId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2" name="Rectangle 31">
            <a:extLst>
              <a:ext uri="{FF2B5EF4-FFF2-40B4-BE49-F238E27FC236}">
                <a16:creationId xmlns:a16="http://schemas.microsoft.com/office/drawing/2014/main"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4" name="Rounded Rectangle 175">
            <a:extLst>
              <a:ext uri="{FF2B5EF4-FFF2-40B4-BE49-F238E27FC236}">
                <a16:creationId xmlns:a16="http://schemas.microsoft.com/office/drawing/2014/main" id="{AACCE7D9-540A-47B9-8964-41031B797FDD}"/>
              </a:ext>
            </a:extLst>
          </p:cNvPr>
          <p:cNvSpPr/>
          <p:nvPr/>
        </p:nvSpPr>
        <p:spPr bwMode="auto">
          <a:xfrm>
            <a:off x="7124531" y="917675"/>
            <a:ext cx="1486069" cy="4985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مقالات اخیر</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35" name="TextBox 34">
            <a:extLst>
              <a:ext uri="{FF2B5EF4-FFF2-40B4-BE49-F238E27FC236}">
                <a16:creationId xmlns:a16="http://schemas.microsoft.com/office/drawing/2014/main" id="{F43469DC-7F5B-471E-BD74-ED709E621F63}"/>
              </a:ext>
            </a:extLst>
          </p:cNvPr>
          <p:cNvSpPr txBox="1"/>
          <p:nvPr/>
        </p:nvSpPr>
        <p:spPr>
          <a:xfrm>
            <a:off x="-438805" y="941739"/>
            <a:ext cx="7315201" cy="307777"/>
          </a:xfrm>
          <a:prstGeom prst="rect">
            <a:avLst/>
          </a:prstGeom>
          <a:noFill/>
        </p:spPr>
        <p:txBody>
          <a:bodyPr wrap="square" rtlCol="0">
            <a:spAutoFit/>
          </a:bodyPr>
          <a:lstStyle/>
          <a:p>
            <a:pPr algn="ctr" rtl="1" fontAlgn="base">
              <a:spcBef>
                <a:spcPct val="0"/>
              </a:spcBef>
              <a:spcAft>
                <a:spcPct val="0"/>
              </a:spcAft>
            </a:pPr>
            <a:r>
              <a:rPr lang="fa-IR" sz="1400" dirty="0">
                <a:cs typeface="B Lotus" panose="00000400000000000000" pitchFamily="2" charset="-78"/>
              </a:rPr>
              <a:t>روشی نو برای همسان‌سازی باتری پک با اتصال سری بر مبنای تجزیه و تحلیل خوشه‌بندی همراه با الگوریتم ژنتیک</a:t>
            </a:r>
            <a:endParaRPr lang="en-US" sz="1400" dirty="0">
              <a:cs typeface="B Lotus" panose="00000400000000000000" pitchFamily="2" charset="-78"/>
            </a:endParaRPr>
          </a:p>
        </p:txBody>
      </p:sp>
      <p:grpSp>
        <p:nvGrpSpPr>
          <p:cNvPr id="7" name="Group 6"/>
          <p:cNvGrpSpPr/>
          <p:nvPr/>
        </p:nvGrpSpPr>
        <p:grpSpPr>
          <a:xfrm>
            <a:off x="148662" y="1752600"/>
            <a:ext cx="8877300" cy="4191010"/>
            <a:chOff x="163902" y="2243153"/>
            <a:chExt cx="8877300" cy="2446358"/>
          </a:xfrm>
        </p:grpSpPr>
        <p:grpSp>
          <p:nvGrpSpPr>
            <p:cNvPr id="4" name="Group 3"/>
            <p:cNvGrpSpPr/>
            <p:nvPr/>
          </p:nvGrpSpPr>
          <p:grpSpPr>
            <a:xfrm>
              <a:off x="163902" y="2243153"/>
              <a:ext cx="8877300" cy="2438395"/>
              <a:chOff x="165100" y="2118360"/>
              <a:chExt cx="8877300" cy="2438400"/>
            </a:xfrm>
          </p:grpSpPr>
          <p:pic>
            <p:nvPicPr>
              <p:cNvPr id="36" name="Picture 35"/>
              <p:cNvPicPr/>
              <p:nvPr/>
            </p:nvPicPr>
            <p:blipFill rotWithShape="1">
              <a:blip r:embed="rId4" cstate="print">
                <a:extLst>
                  <a:ext uri="{28A0092B-C50C-407E-A947-70E740481C1C}">
                    <a14:useLocalDpi xmlns:a14="http://schemas.microsoft.com/office/drawing/2010/main" val="0"/>
                  </a:ext>
                </a:extLst>
              </a:blip>
              <a:srcRect b="68127"/>
              <a:stretch/>
            </p:blipFill>
            <p:spPr bwMode="auto">
              <a:xfrm>
                <a:off x="165100" y="2224917"/>
                <a:ext cx="2959100" cy="2270883"/>
              </a:xfrm>
              <a:prstGeom prst="rect">
                <a:avLst/>
              </a:prstGeom>
              <a:noFill/>
              <a:ln>
                <a:noFill/>
              </a:ln>
            </p:spPr>
          </p:pic>
          <p:pic>
            <p:nvPicPr>
              <p:cNvPr id="38" name="Picture 37"/>
              <p:cNvPicPr/>
              <p:nvPr/>
            </p:nvPicPr>
            <p:blipFill rotWithShape="1">
              <a:blip r:embed="rId4" cstate="print">
                <a:extLst>
                  <a:ext uri="{28A0092B-C50C-407E-A947-70E740481C1C}">
                    <a14:useLocalDpi xmlns:a14="http://schemas.microsoft.com/office/drawing/2010/main" val="0"/>
                  </a:ext>
                </a:extLst>
              </a:blip>
              <a:srcRect t="32086" b="33690"/>
              <a:stretch/>
            </p:blipFill>
            <p:spPr bwMode="auto">
              <a:xfrm>
                <a:off x="3124200" y="2118360"/>
                <a:ext cx="2959100" cy="2438400"/>
              </a:xfrm>
              <a:prstGeom prst="rect">
                <a:avLst/>
              </a:prstGeom>
              <a:noFill/>
              <a:ln>
                <a:noFill/>
              </a:ln>
            </p:spPr>
          </p:pic>
          <p:pic>
            <p:nvPicPr>
              <p:cNvPr id="39" name="Picture 38"/>
              <p:cNvPicPr/>
              <p:nvPr/>
            </p:nvPicPr>
            <p:blipFill rotWithShape="1">
              <a:blip r:embed="rId4" cstate="print">
                <a:extLst>
                  <a:ext uri="{28A0092B-C50C-407E-A947-70E740481C1C}">
                    <a14:useLocalDpi xmlns:a14="http://schemas.microsoft.com/office/drawing/2010/main" val="0"/>
                  </a:ext>
                </a:extLst>
              </a:blip>
              <a:srcRect t="66310"/>
              <a:stretch/>
            </p:blipFill>
            <p:spPr bwMode="auto">
              <a:xfrm>
                <a:off x="6083300" y="2118360"/>
                <a:ext cx="2959100" cy="2400300"/>
              </a:xfrm>
              <a:prstGeom prst="rect">
                <a:avLst/>
              </a:prstGeom>
              <a:noFill/>
              <a:ln>
                <a:noFill/>
              </a:ln>
            </p:spPr>
          </p:pic>
        </p:grpSp>
        <p:pic>
          <p:nvPicPr>
            <p:cNvPr id="41" name="Picture 40"/>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572785" y="4480584"/>
              <a:ext cx="288925" cy="173338"/>
            </a:xfrm>
            <a:prstGeom prst="rect">
              <a:avLst/>
            </a:prstGeom>
          </p:spPr>
        </p:pic>
        <p:pic>
          <p:nvPicPr>
            <p:cNvPr id="42" name="Picture 41"/>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561075" y="4506014"/>
              <a:ext cx="235585" cy="183497"/>
            </a:xfrm>
            <a:prstGeom prst="rect">
              <a:avLst/>
            </a:prstGeom>
          </p:spPr>
        </p:pic>
        <p:pic>
          <p:nvPicPr>
            <p:cNvPr id="43" name="Picture 42"/>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543670" y="4491072"/>
              <a:ext cx="212090" cy="152385"/>
            </a:xfrm>
            <a:prstGeom prst="rect">
              <a:avLst/>
            </a:prstGeom>
          </p:spPr>
        </p:pic>
      </p:grpSp>
      <p:sp>
        <p:nvSpPr>
          <p:cNvPr id="2" name="Slide Number Placeholder 1"/>
          <p:cNvSpPr>
            <a:spLocks noGrp="1"/>
          </p:cNvSpPr>
          <p:nvPr>
            <p:ph type="sldNum" sz="quarter" idx="12"/>
          </p:nvPr>
        </p:nvSpPr>
        <p:spPr/>
        <p:txBody>
          <a:bodyPr/>
          <a:lstStyle/>
          <a:p>
            <a:fld id="{7FC2E40A-4446-4E2B-B9AD-16F559E28E02}" type="slidenum">
              <a:rPr lang="en-US" smtClean="0"/>
              <a:t>59</a:t>
            </a:fld>
            <a:endParaRPr lang="en-US"/>
          </a:p>
        </p:txBody>
      </p:sp>
      <p:sp>
        <p:nvSpPr>
          <p:cNvPr id="26"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59</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196956538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ext Box 63">
            <a:extLst>
              <a:ext uri="{FF2B5EF4-FFF2-40B4-BE49-F238E27FC236}">
                <a16:creationId xmlns:a16="http://schemas.microsoft.com/office/drawing/2014/main" id="{7DE4DEE4-712A-4CFA-A055-E6C6E9E30DE0}"/>
              </a:ext>
            </a:extLst>
          </p:cNvPr>
          <p:cNvSpPr txBox="1"/>
          <p:nvPr/>
        </p:nvSpPr>
        <p:spPr>
          <a:xfrm>
            <a:off x="358601" y="6088461"/>
            <a:ext cx="4579620" cy="215444"/>
          </a:xfrm>
          <a:prstGeom prst="rect">
            <a:avLst/>
          </a:prstGeom>
          <a:solidFill>
            <a:prstClr val="white"/>
          </a:solidFill>
          <a:ln>
            <a:noFill/>
          </a:ln>
          <a:effectLst/>
        </p:spPr>
        <p:txBody>
          <a:bodyPr rot="0" spcFirstLastPara="0" vert="horz" wrap="square" lIns="0" tIns="0" rIns="0" bIns="0" numCol="1" spcCol="0" rtlCol="0" fromWordArt="0" anchor="t" anchorCtr="0" forceAA="0" compatLnSpc="1">
            <a:prstTxWarp prst="textNoShape">
              <a:avLst/>
            </a:prstTxWarp>
            <a:spAutoFit/>
          </a:bodyPr>
          <a:lstStyle/>
          <a:p>
            <a:pPr algn="ctr" rtl="1">
              <a:spcAft>
                <a:spcPts val="1000"/>
              </a:spcAft>
            </a:pPr>
            <a:r>
              <a:rPr lang="fa-IR" sz="1400" i="0" dirty="0">
                <a:solidFill>
                  <a:srgbClr val="262626"/>
                </a:solidFill>
                <a:effectLst/>
                <a:latin typeface="Times New Roman" panose="02020603050405020304" pitchFamily="18" charset="0"/>
                <a:ea typeface="Calibri" panose="020F0502020204030204" pitchFamily="34" charset="0"/>
                <a:cs typeface="B Lotus" panose="00000400000000000000" pitchFamily="2" charset="-78"/>
              </a:rPr>
              <a:t>دیاگرام الگوریتم همسان‌سازی </a:t>
            </a:r>
            <a:r>
              <a:rPr lang="fa-IR" sz="1400" dirty="0">
                <a:solidFill>
                  <a:srgbClr val="262626"/>
                </a:solidFill>
                <a:latin typeface="Times New Roman" panose="02020603050405020304" pitchFamily="18" charset="0"/>
                <a:ea typeface="Calibri" panose="020F0502020204030204" pitchFamily="34" charset="0"/>
                <a:cs typeface="B Lotus" panose="00000400000000000000" pitchFamily="2" charset="-78"/>
              </a:rPr>
              <a:t>پیشنهادی </a:t>
            </a:r>
            <a:r>
              <a:rPr lang="fa-IR" sz="1400" dirty="0">
                <a:solidFill>
                  <a:srgbClr val="61D6FF"/>
                </a:solidFill>
                <a:latin typeface="Times New Roman" panose="02020603050405020304" pitchFamily="18" charset="0"/>
                <a:ea typeface="Calibri" panose="020F0502020204030204" pitchFamily="34" charset="0"/>
                <a:cs typeface="B Lotus" panose="00000400000000000000" pitchFamily="2" charset="-78"/>
              </a:rPr>
              <a:t>[1]</a:t>
            </a:r>
            <a:r>
              <a:rPr lang="fa-IR" sz="1400" dirty="0">
                <a:latin typeface="Times New Roman" panose="02020603050405020304" pitchFamily="18" charset="0"/>
                <a:ea typeface="Calibri" panose="020F0502020204030204" pitchFamily="34" charset="0"/>
                <a:cs typeface="B Lotus" panose="00000400000000000000" pitchFamily="2" charset="-78"/>
              </a:rPr>
              <a:t>.</a:t>
            </a:r>
            <a:r>
              <a:rPr lang="fa-IR" sz="1400" i="0" dirty="0">
                <a:solidFill>
                  <a:srgbClr val="262626"/>
                </a:solidFill>
                <a:effectLst/>
                <a:latin typeface="Times New Roman" panose="02020603050405020304" pitchFamily="18" charset="0"/>
                <a:ea typeface="Calibri" panose="020F0502020204030204" pitchFamily="34" charset="0"/>
                <a:cs typeface="B Lotus" panose="00000400000000000000" pitchFamily="2" charset="-78"/>
              </a:rPr>
              <a:t> </a:t>
            </a:r>
            <a:endParaRPr lang="en-US" sz="1400" i="0" dirty="0">
              <a:solidFill>
                <a:srgbClr val="262626"/>
              </a:solidFill>
              <a:effectLst/>
              <a:latin typeface="Times New Roman" panose="02020603050405020304" pitchFamily="18" charset="0"/>
              <a:ea typeface="Calibri" panose="020F0502020204030204" pitchFamily="34" charset="0"/>
              <a:cs typeface="B Lotus" panose="00000400000000000000" pitchFamily="2" charset="-78"/>
            </a:endParaRPr>
          </a:p>
        </p:txBody>
      </p:sp>
      <p:pic>
        <p:nvPicPr>
          <p:cNvPr id="18" name="Picture 17">
            <a:extLst>
              <a:ext uri="{FF2B5EF4-FFF2-40B4-BE49-F238E27FC236}">
                <a16:creationId xmlns:a16="http://schemas.microsoft.com/office/drawing/2014/main" id="{E1AC8998-D07C-42DC-BAE5-39A733290A32}"/>
              </a:ext>
            </a:extLst>
          </p:cNvPr>
          <p:cNvPicPr/>
          <p:nvPr/>
        </p:nvPicPr>
        <p:blipFill>
          <a:blip r:embed="rId3" cstate="print">
            <a:extLst>
              <a:ext uri="{28A0092B-C50C-407E-A947-70E740481C1C}">
                <a14:useLocalDpi xmlns:a14="http://schemas.microsoft.com/office/drawing/2010/main" val="0"/>
              </a:ext>
            </a:extLst>
          </a:blip>
          <a:stretch>
            <a:fillRect/>
          </a:stretch>
        </p:blipFill>
        <p:spPr>
          <a:xfrm>
            <a:off x="418672" y="1905000"/>
            <a:ext cx="5110562" cy="3794442"/>
          </a:xfrm>
          <a:prstGeom prst="rect">
            <a:avLst/>
          </a:prstGeom>
        </p:spPr>
      </p:pic>
      <p:pic>
        <p:nvPicPr>
          <p:cNvPr id="21" name="Picture 20">
            <a:extLst>
              <a:ext uri="{FF2B5EF4-FFF2-40B4-BE49-F238E27FC236}">
                <a16:creationId xmlns:a16="http://schemas.microsoft.com/office/drawing/2014/main" id="{876448F6-AB3F-418C-80C5-029BBB6F0E1B}"/>
              </a:ext>
            </a:extLst>
          </p:cNvPr>
          <p:cNvPicPr/>
          <p:nvPr/>
        </p:nvPicPr>
        <p:blipFill>
          <a:blip r:embed="rId4" cstate="print">
            <a:extLst>
              <a:ext uri="{28A0092B-C50C-407E-A947-70E740481C1C}">
                <a14:useLocalDpi xmlns:a14="http://schemas.microsoft.com/office/drawing/2010/main" val="0"/>
              </a:ext>
            </a:extLst>
          </a:blip>
          <a:stretch>
            <a:fillRect/>
          </a:stretch>
        </p:blipFill>
        <p:spPr>
          <a:xfrm>
            <a:off x="6319270" y="2185866"/>
            <a:ext cx="1798955" cy="418465"/>
          </a:xfrm>
          <a:prstGeom prst="rect">
            <a:avLst/>
          </a:prstGeom>
        </p:spPr>
      </p:pic>
      <p:pic>
        <p:nvPicPr>
          <p:cNvPr id="22" name="Picture 21">
            <a:extLst>
              <a:ext uri="{FF2B5EF4-FFF2-40B4-BE49-F238E27FC236}">
                <a16:creationId xmlns:a16="http://schemas.microsoft.com/office/drawing/2014/main" id="{15111EFB-EBE7-4083-A4DC-F4AA2768E46F}"/>
              </a:ext>
            </a:extLst>
          </p:cNvPr>
          <p:cNvPicPr/>
          <p:nvPr/>
        </p:nvPicPr>
        <p:blipFill>
          <a:blip r:embed="rId5">
            <a:extLst>
              <a:ext uri="{28A0092B-C50C-407E-A947-70E740481C1C}">
                <a14:useLocalDpi xmlns:a14="http://schemas.microsoft.com/office/drawing/2010/main" val="0"/>
              </a:ext>
            </a:extLst>
          </a:blip>
          <a:stretch>
            <a:fillRect/>
          </a:stretch>
        </p:blipFill>
        <p:spPr>
          <a:xfrm>
            <a:off x="6292098" y="2668983"/>
            <a:ext cx="1374775" cy="323215"/>
          </a:xfrm>
          <a:prstGeom prst="rect">
            <a:avLst/>
          </a:prstGeom>
        </p:spPr>
      </p:pic>
      <p:pic>
        <p:nvPicPr>
          <p:cNvPr id="23" name="Picture 22">
            <a:extLst>
              <a:ext uri="{FF2B5EF4-FFF2-40B4-BE49-F238E27FC236}">
                <a16:creationId xmlns:a16="http://schemas.microsoft.com/office/drawing/2014/main" id="{9D79F70F-45AE-4B8F-BCD1-DE43E48B8B86}"/>
              </a:ext>
            </a:extLst>
          </p:cNvPr>
          <p:cNvPicPr/>
          <p:nvPr/>
        </p:nvPicPr>
        <p:blipFill>
          <a:blip r:embed="rId6">
            <a:extLst>
              <a:ext uri="{28A0092B-C50C-407E-A947-70E740481C1C}">
                <a14:useLocalDpi xmlns:a14="http://schemas.microsoft.com/office/drawing/2010/main" val="0"/>
              </a:ext>
            </a:extLst>
          </a:blip>
          <a:stretch>
            <a:fillRect/>
          </a:stretch>
        </p:blipFill>
        <p:spPr>
          <a:xfrm>
            <a:off x="6287616" y="3346711"/>
            <a:ext cx="1176246" cy="323215"/>
          </a:xfrm>
          <a:prstGeom prst="rect">
            <a:avLst/>
          </a:prstGeom>
        </p:spPr>
      </p:pic>
      <p:pic>
        <p:nvPicPr>
          <p:cNvPr id="24" name="Picture 23">
            <a:extLst>
              <a:ext uri="{FF2B5EF4-FFF2-40B4-BE49-F238E27FC236}">
                <a16:creationId xmlns:a16="http://schemas.microsoft.com/office/drawing/2014/main" id="{D74C6577-8BB2-4763-94C0-5C23DEF93F37}"/>
              </a:ext>
            </a:extLst>
          </p:cNvPr>
          <p:cNvPicPr/>
          <p:nvPr/>
        </p:nvPicPr>
        <p:blipFill>
          <a:blip r:embed="rId7">
            <a:extLst>
              <a:ext uri="{28A0092B-C50C-407E-A947-70E740481C1C}">
                <a14:useLocalDpi xmlns:a14="http://schemas.microsoft.com/office/drawing/2010/main" val="0"/>
              </a:ext>
            </a:extLst>
          </a:blip>
          <a:stretch>
            <a:fillRect/>
          </a:stretch>
        </p:blipFill>
        <p:spPr>
          <a:xfrm>
            <a:off x="6336543" y="3769543"/>
            <a:ext cx="2118051" cy="265960"/>
          </a:xfrm>
          <a:prstGeom prst="rect">
            <a:avLst/>
          </a:prstGeom>
        </p:spPr>
      </p:pic>
      <p:pic>
        <p:nvPicPr>
          <p:cNvPr id="25" name="Picture 24">
            <a:extLst>
              <a:ext uri="{FF2B5EF4-FFF2-40B4-BE49-F238E27FC236}">
                <a16:creationId xmlns:a16="http://schemas.microsoft.com/office/drawing/2014/main" id="{F71B0E14-F814-4C9A-844F-82D9AA5A2052}"/>
              </a:ext>
            </a:extLst>
          </p:cNvPr>
          <p:cNvPicPr/>
          <p:nvPr/>
        </p:nvPicPr>
        <p:blipFill>
          <a:blip r:embed="rId8">
            <a:extLst>
              <a:ext uri="{28A0092B-C50C-407E-A947-70E740481C1C}">
                <a14:useLocalDpi xmlns:a14="http://schemas.microsoft.com/office/drawing/2010/main" val="0"/>
              </a:ext>
            </a:extLst>
          </a:blip>
          <a:stretch>
            <a:fillRect/>
          </a:stretch>
        </p:blipFill>
        <p:spPr>
          <a:xfrm>
            <a:off x="6319270" y="4333626"/>
            <a:ext cx="2541625" cy="533400"/>
          </a:xfrm>
          <a:prstGeom prst="rect">
            <a:avLst/>
          </a:prstGeom>
        </p:spPr>
      </p:pic>
      <p:sp>
        <p:nvSpPr>
          <p:cNvPr id="27" name="Text Box 63">
            <a:extLst>
              <a:ext uri="{FF2B5EF4-FFF2-40B4-BE49-F238E27FC236}">
                <a16:creationId xmlns:a16="http://schemas.microsoft.com/office/drawing/2014/main" id="{699A4BE1-0D52-4A8A-841F-1ADFC36A026E}"/>
              </a:ext>
            </a:extLst>
          </p:cNvPr>
          <p:cNvSpPr txBox="1"/>
          <p:nvPr/>
        </p:nvSpPr>
        <p:spPr>
          <a:xfrm>
            <a:off x="5982715" y="6088461"/>
            <a:ext cx="2930072" cy="215444"/>
          </a:xfrm>
          <a:prstGeom prst="rect">
            <a:avLst/>
          </a:prstGeom>
          <a:solidFill>
            <a:prstClr val="white"/>
          </a:solidFill>
          <a:ln>
            <a:noFill/>
          </a:ln>
          <a:effectLst/>
        </p:spPr>
        <p:txBody>
          <a:bodyPr rot="0" spcFirstLastPara="0" vert="horz" wrap="square" lIns="0" tIns="0" rIns="0" bIns="0" numCol="1" spcCol="0" rtlCol="0" fromWordArt="0" anchor="t" anchorCtr="0" forceAA="0" compatLnSpc="1">
            <a:prstTxWarp prst="textNoShape">
              <a:avLst/>
            </a:prstTxWarp>
            <a:spAutoFit/>
          </a:bodyPr>
          <a:lstStyle/>
          <a:p>
            <a:pPr algn="ctr" rtl="1">
              <a:spcAft>
                <a:spcPts val="1000"/>
              </a:spcAft>
            </a:pPr>
            <a:r>
              <a:rPr lang="fa-IR" sz="1400" dirty="0">
                <a:solidFill>
                  <a:srgbClr val="262626"/>
                </a:solidFill>
                <a:latin typeface="Times New Roman" panose="02020603050405020304" pitchFamily="18" charset="0"/>
                <a:ea typeface="Calibri" panose="020F0502020204030204" pitchFamily="34" charset="0"/>
                <a:cs typeface="B Lotus" panose="00000400000000000000" pitchFamily="2" charset="-78"/>
              </a:rPr>
              <a:t>روابط خوشه بندی </a:t>
            </a:r>
            <a:r>
              <a:rPr lang="fa-IR" sz="1400" dirty="0">
                <a:solidFill>
                  <a:srgbClr val="61D6FF"/>
                </a:solidFill>
                <a:latin typeface="Times New Roman" panose="02020603050405020304" pitchFamily="18" charset="0"/>
                <a:ea typeface="Calibri" panose="020F0502020204030204" pitchFamily="34" charset="0"/>
                <a:cs typeface="B Lotus" panose="00000400000000000000" pitchFamily="2" charset="-78"/>
              </a:rPr>
              <a:t>[1]</a:t>
            </a:r>
            <a:r>
              <a:rPr lang="fa-IR" sz="1400" dirty="0">
                <a:latin typeface="Times New Roman" panose="02020603050405020304" pitchFamily="18" charset="0"/>
                <a:ea typeface="Calibri" panose="020F0502020204030204" pitchFamily="34" charset="0"/>
                <a:cs typeface="B Lotus" panose="00000400000000000000" pitchFamily="2" charset="-78"/>
              </a:rPr>
              <a:t>.</a:t>
            </a:r>
            <a:endParaRPr lang="en-US" sz="1400" i="0" dirty="0">
              <a:solidFill>
                <a:srgbClr val="262626"/>
              </a:solidFill>
              <a:effectLst/>
              <a:latin typeface="Times New Roman" panose="02020603050405020304" pitchFamily="18" charset="0"/>
              <a:ea typeface="Calibri" panose="020F0502020204030204" pitchFamily="34" charset="0"/>
              <a:cs typeface="B Lotus" panose="00000400000000000000" pitchFamily="2" charset="-78"/>
            </a:endParaRPr>
          </a:p>
        </p:txBody>
      </p:sp>
      <p:pic>
        <p:nvPicPr>
          <p:cNvPr id="28" name="Picture 27" descr="پرونده:Azad University logo.png - ویکی‌پدیا، دانشنامهٔ آزاد">
            <a:extLst>
              <a:ext uri="{FF2B5EF4-FFF2-40B4-BE49-F238E27FC236}">
                <a16:creationId xmlns:a16="http://schemas.microsoft.com/office/drawing/2014/main" id="{B260B773-F2C5-485B-BA12-93452E166218}"/>
              </a:ext>
            </a:extLst>
          </p:cNvPr>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9" name="TextBox 28">
            <a:extLst>
              <a:ext uri="{FF2B5EF4-FFF2-40B4-BE49-F238E27FC236}">
                <a16:creationId xmlns:a16="http://schemas.microsoft.com/office/drawing/2014/main" id="{90C43403-B77E-474E-A638-C5BD6540DB40}"/>
              </a:ext>
            </a:extLst>
          </p:cNvPr>
          <p:cNvSpPr txBox="1"/>
          <p:nvPr/>
        </p:nvSpPr>
        <p:spPr>
          <a:xfrm>
            <a:off x="2648411" y="686668"/>
            <a:ext cx="65" cy="276999"/>
          </a:xfrm>
          <a:prstGeom prst="rect">
            <a:avLst/>
          </a:prstGeom>
          <a:noFill/>
        </p:spPr>
        <p:txBody>
          <a:bodyPr wrap="none" lIns="0" tIns="0" rIns="0" bIns="0" rtlCol="0">
            <a:spAutoFit/>
          </a:bodyPr>
          <a:lstStyle/>
          <a:p>
            <a:endParaRPr lang="en-US" dirty="0"/>
          </a:p>
        </p:txBody>
      </p:sp>
      <p:sp>
        <p:nvSpPr>
          <p:cNvPr id="31" name="Slide Number Placeholder 4">
            <a:extLst>
              <a:ext uri="{FF2B5EF4-FFF2-40B4-BE49-F238E27FC236}">
                <a16:creationId xmlns:a16="http://schemas.microsoft.com/office/drawing/2014/main" id="{27EA69B3-891D-46E8-8004-444EAE0D2017}"/>
              </a:ext>
            </a:extLst>
          </p:cNvPr>
          <p:cNvSpPr>
            <a:spLocks noGrp="1"/>
          </p:cNvSpPr>
          <p:nvPr>
            <p:ph type="sldNum" sz="quarter" idx="12"/>
          </p:nvPr>
        </p:nvSpPr>
        <p:spPr>
          <a:xfrm>
            <a:off x="7620000" y="18288"/>
            <a:ext cx="1066800" cy="329184"/>
          </a:xfrm>
        </p:spPr>
        <p:txBody>
          <a:bodyPr/>
          <a:lstStyle/>
          <a:p>
            <a:fld id="{7FC2E40A-4446-4E2B-B9AD-16F559E28E02}" type="slidenum">
              <a:rPr lang="en-US" smtClean="0"/>
              <a:t>60</a:t>
            </a:fld>
            <a:endParaRPr lang="en-US"/>
          </a:p>
        </p:txBody>
      </p:sp>
      <p:sp>
        <p:nvSpPr>
          <p:cNvPr id="32"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3"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4" name="Rectangle 33"/>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5" name="Rectangle 34"/>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pic>
        <p:nvPicPr>
          <p:cNvPr id="36" name="Picture 35" descr="پرونده:Azad University logo.png - ویکی‌پدیا، دانشنامهٔ آزاد">
            <a:extLst>
              <a:ext uri="{FF2B5EF4-FFF2-40B4-BE49-F238E27FC236}">
                <a16:creationId xmlns:a16="http://schemas.microsoft.com/office/drawing/2014/main" id="{FA988D60-670C-406B-B8FB-D5A0053424E9}"/>
              </a:ext>
            </a:extLst>
          </p:cNvPr>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37" name="AutoShape 10">
            <a:extLst>
              <a:ext uri="{FF2B5EF4-FFF2-40B4-BE49-F238E27FC236}">
                <a16:creationId xmlns:a16="http://schemas.microsoft.com/office/drawing/2014/main"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8" name="Rectangle 37">
            <a:extLst>
              <a:ext uri="{FF2B5EF4-FFF2-40B4-BE49-F238E27FC236}">
                <a16:creationId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39" name="AutoShape 3">
            <a:extLst>
              <a:ext uri="{FF2B5EF4-FFF2-40B4-BE49-F238E27FC236}">
                <a16:creationId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0" name="Rectangle 39">
            <a:extLst>
              <a:ext uri="{FF2B5EF4-FFF2-40B4-BE49-F238E27FC236}">
                <a16:creationId xmlns:a16="http://schemas.microsoft.com/office/drawing/2014/main"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1" name="Rounded Rectangle 175">
            <a:extLst>
              <a:ext uri="{FF2B5EF4-FFF2-40B4-BE49-F238E27FC236}">
                <a16:creationId xmlns:a16="http://schemas.microsoft.com/office/drawing/2014/main" id="{AACCE7D9-540A-47B9-8964-41031B797FDD}"/>
              </a:ext>
            </a:extLst>
          </p:cNvPr>
          <p:cNvSpPr/>
          <p:nvPr/>
        </p:nvSpPr>
        <p:spPr bwMode="auto">
          <a:xfrm>
            <a:off x="7124531" y="917675"/>
            <a:ext cx="1486069" cy="498507"/>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400" b="1" dirty="0">
                <a:solidFill>
                  <a:srgbClr val="FFFFFF"/>
                </a:solidFill>
                <a:latin typeface="Times New Roman" panose="02020603050405020304" pitchFamily="18" charset="0"/>
                <a:cs typeface="B Nazanin" panose="00000400000000000000" pitchFamily="2" charset="-78"/>
              </a:rPr>
              <a:t>مقالات اخیر</a:t>
            </a:r>
            <a:endParaRPr lang="en-US" sz="2400" b="1" dirty="0">
              <a:solidFill>
                <a:srgbClr val="FFFFFF"/>
              </a:solidFill>
              <a:latin typeface="Times New Roman" panose="02020603050405020304" pitchFamily="18" charset="0"/>
              <a:cs typeface="B Nazanin" panose="00000400000000000000" pitchFamily="2" charset="-78"/>
            </a:endParaRPr>
          </a:p>
        </p:txBody>
      </p:sp>
      <p:sp>
        <p:nvSpPr>
          <p:cNvPr id="42" name="Rectangle 41"/>
          <p:cNvSpPr/>
          <p:nvPr/>
        </p:nvSpPr>
        <p:spPr>
          <a:xfrm>
            <a:off x="148663" y="916237"/>
            <a:ext cx="6861738" cy="523220"/>
          </a:xfrm>
          <a:prstGeom prst="rect">
            <a:avLst/>
          </a:prstGeom>
        </p:spPr>
        <p:txBody>
          <a:bodyPr wrap="square">
            <a:spAutoFit/>
          </a:bodyPr>
          <a:lstStyle/>
          <a:p>
            <a:pPr algn="r" rtl="1" fontAlgn="base">
              <a:spcBef>
                <a:spcPct val="0"/>
              </a:spcBef>
              <a:spcAft>
                <a:spcPct val="0"/>
              </a:spcAft>
            </a:pPr>
            <a:r>
              <a:rPr lang="fa-IR" sz="1400" dirty="0">
                <a:cs typeface="B Lotus" panose="00000400000000000000" pitchFamily="2" charset="-78"/>
              </a:rPr>
              <a:t>روشی بهینه و سریع برای همسان‌سازی فعال پک باتری مستهلک با استفاده از مبدل ولتاژ</a:t>
            </a:r>
            <a:r>
              <a:rPr lang="en-US" sz="1400" dirty="0">
                <a:cs typeface="B Lotus" panose="00000400000000000000" pitchFamily="2" charset="-78"/>
              </a:rPr>
              <a:t> </a:t>
            </a:r>
            <a:r>
              <a:rPr lang="fa-IR" sz="1400" dirty="0">
                <a:cs typeface="B Lotus" panose="00000400000000000000" pitchFamily="2" charset="-78"/>
              </a:rPr>
              <a:t>دوطرفه با دامنه ولتاژ کاری وسیع و الگوریتم خوشه‌بندی </a:t>
            </a:r>
            <a:r>
              <a:rPr lang="en-US" sz="1400" i="1" dirty="0">
                <a:latin typeface="Times New Roman" panose="02020603050405020304" pitchFamily="18" charset="0"/>
                <a:cs typeface="Times New Roman" panose="02020603050405020304" pitchFamily="18" charset="0"/>
              </a:rPr>
              <a:t>DBSCAN</a:t>
            </a:r>
            <a:endParaRPr lang="en-US" sz="1400" dirty="0">
              <a:latin typeface="Times New Roman" panose="02020603050405020304" pitchFamily="18" charset="0"/>
              <a:cs typeface="Times New Roman" panose="02020603050405020304" pitchFamily="18" charset="0"/>
            </a:endParaRPr>
          </a:p>
        </p:txBody>
      </p:sp>
      <p:sp>
        <p:nvSpPr>
          <p:cNvPr id="26"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60</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18429761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Box 16"/>
          <p:cNvSpPr txBox="1"/>
          <p:nvPr/>
        </p:nvSpPr>
        <p:spPr>
          <a:xfrm>
            <a:off x="320146" y="934180"/>
            <a:ext cx="3717685" cy="369332"/>
          </a:xfrm>
          <a:prstGeom prst="rect">
            <a:avLst/>
          </a:prstGeom>
          <a:noFill/>
        </p:spPr>
        <p:txBody>
          <a:bodyPr wrap="none" rtlCol="0">
            <a:spAutoFit/>
          </a:bodyPr>
          <a:lstStyle/>
          <a:p>
            <a:pPr algn="r" rtl="1" fontAlgn="base">
              <a:spcBef>
                <a:spcPct val="0"/>
              </a:spcBef>
              <a:spcAft>
                <a:spcPct val="0"/>
              </a:spcAft>
            </a:pPr>
            <a:r>
              <a:rPr lang="fa-IR" b="1" dirty="0">
                <a:cs typeface="B Nazanin" panose="00000400000000000000" pitchFamily="2" charset="-78"/>
              </a:rPr>
              <a:t>روش های تخمین وضعیت شارژ باتری (</a:t>
            </a:r>
            <a:r>
              <a:rPr lang="en-US" b="1" i="1" dirty="0">
                <a:latin typeface="Times New Roman" panose="02020603050405020304" pitchFamily="18" charset="0"/>
                <a:cs typeface="Times New Roman" panose="02020603050405020304" pitchFamily="18" charset="0"/>
              </a:rPr>
              <a:t>SOC</a:t>
            </a:r>
            <a:r>
              <a:rPr lang="fa-IR" b="1" dirty="0">
                <a:cs typeface="B Nazanin" panose="00000400000000000000" pitchFamily="2" charset="-78"/>
              </a:rPr>
              <a:t>)</a:t>
            </a:r>
            <a:endParaRPr lang="en-US" b="1" dirty="0">
              <a:solidFill>
                <a:srgbClr val="000000"/>
              </a:solidFill>
              <a:latin typeface="Times New Roman" panose="02020603050405020304" pitchFamily="18" charset="0"/>
              <a:cs typeface="B Nazanin" pitchFamily="2" charset="-78"/>
            </a:endParaRPr>
          </a:p>
        </p:txBody>
      </p:sp>
      <p:sp>
        <p:nvSpPr>
          <p:cNvPr id="52" name="TextBox 51">
            <a:extLst>
              <a:ext uri="{FF2B5EF4-FFF2-40B4-BE49-F238E27FC236}">
                <a16:creationId xmlns:a16="http://schemas.microsoft.com/office/drawing/2014/main" id="{0D7C9433-5674-4BC9-A282-6D982E5B3065}"/>
              </a:ext>
            </a:extLst>
          </p:cNvPr>
          <p:cNvSpPr txBox="1"/>
          <p:nvPr/>
        </p:nvSpPr>
        <p:spPr>
          <a:xfrm>
            <a:off x="-397968" y="3240253"/>
            <a:ext cx="65" cy="276999"/>
          </a:xfrm>
          <a:prstGeom prst="rect">
            <a:avLst/>
          </a:prstGeom>
          <a:noFill/>
        </p:spPr>
        <p:txBody>
          <a:bodyPr wrap="none" lIns="0" tIns="0" rIns="0" bIns="0" rtlCol="0">
            <a:spAutoFit/>
          </a:bodyPr>
          <a:lstStyle/>
          <a:p>
            <a:endParaRPr lang="en-US" dirty="0"/>
          </a:p>
        </p:txBody>
      </p:sp>
      <p:sp>
        <p:nvSpPr>
          <p:cNvPr id="53" name="AutoShape 8">
            <a:extLst>
              <a:ext uri="{FF2B5EF4-FFF2-40B4-BE49-F238E27FC236}">
                <a16:creationId xmlns:a16="http://schemas.microsoft.com/office/drawing/2014/main" id="{CF9E5B87-43A1-4646-AE69-F01C6BAFAD06}"/>
              </a:ext>
            </a:extLst>
          </p:cNvPr>
          <p:cNvSpPr>
            <a:spLocks noChangeAspect="1" noChangeArrowheads="1"/>
          </p:cNvSpPr>
          <p:nvPr/>
        </p:nvSpPr>
        <p:spPr bwMode="gray">
          <a:xfrm>
            <a:off x="2792428" y="3918238"/>
            <a:ext cx="3931920" cy="473685"/>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a:cs typeface="B Nazanin" panose="00000400000000000000" pitchFamily="2" charset="-78"/>
              </a:rPr>
              <a:t>ولتاژ مدار باز (</a:t>
            </a:r>
            <a:r>
              <a:rPr lang="en-US" b="1" i="1">
                <a:latin typeface="Times New Roman" panose="02020603050405020304" pitchFamily="18" charset="0"/>
                <a:cs typeface="Times New Roman" panose="02020603050405020304" pitchFamily="18" charset="0"/>
              </a:rPr>
              <a:t>OCV</a:t>
            </a:r>
            <a:r>
              <a:rPr lang="fa-IR" b="1">
                <a:cs typeface="B Nazanin" panose="00000400000000000000" pitchFamily="2" charset="-78"/>
              </a:rPr>
              <a:t>)</a:t>
            </a:r>
            <a:endParaRPr lang="en-US" b="1" dirty="0">
              <a:solidFill>
                <a:srgbClr val="000000"/>
              </a:solidFill>
              <a:latin typeface="Times New Roman" panose="02020603050405020304" pitchFamily="18" charset="0"/>
              <a:cs typeface="B Nazanin" pitchFamily="2" charset="-78"/>
            </a:endParaRPr>
          </a:p>
        </p:txBody>
      </p:sp>
      <p:pic>
        <p:nvPicPr>
          <p:cNvPr id="5" name="Picture 4"/>
          <p:cNvPicPr>
            <a:picLocks noChangeAspect="1"/>
          </p:cNvPicPr>
          <p:nvPr/>
        </p:nvPicPr>
        <p:blipFill>
          <a:blip r:embed="rId3"/>
          <a:stretch>
            <a:fillRect/>
          </a:stretch>
        </p:blipFill>
        <p:spPr>
          <a:xfrm>
            <a:off x="477025" y="1438854"/>
            <a:ext cx="1838325" cy="1933575"/>
          </a:xfrm>
          <a:prstGeom prst="rect">
            <a:avLst/>
          </a:prstGeom>
        </p:spPr>
      </p:pic>
      <p:sp>
        <p:nvSpPr>
          <p:cNvPr id="120" name="AutoShape 2">
            <a:extLst>
              <a:ext uri="{FF2B5EF4-FFF2-40B4-BE49-F238E27FC236}">
                <a16:creationId xmlns:a16="http://schemas.microsoft.com/office/drawing/2014/main" id="{497A908A-E454-4B9F-A07D-96505D4C7818}"/>
              </a:ext>
            </a:extLst>
          </p:cNvPr>
          <p:cNvSpPr>
            <a:spLocks noChangeAspect="1" noChangeArrowheads="1"/>
          </p:cNvSpPr>
          <p:nvPr/>
        </p:nvSpPr>
        <p:spPr bwMode="ltGray">
          <a:xfrm rot="16200000" flipH="1">
            <a:off x="6766228" y="1705000"/>
            <a:ext cx="4824413" cy="4770438"/>
          </a:xfrm>
          <a:custGeom>
            <a:avLst/>
            <a:gdLst>
              <a:gd name="G0" fmla="+- 10478 0 0"/>
              <a:gd name="G1" fmla="+- -11739500 0 0"/>
              <a:gd name="G2" fmla="+- 0 0 -11739500"/>
              <a:gd name="T0" fmla="*/ 0 256 1"/>
              <a:gd name="T1" fmla="*/ 180 256 1"/>
              <a:gd name="G3" fmla="+- -11739500 T0 T1"/>
              <a:gd name="T2" fmla="*/ 0 256 1"/>
              <a:gd name="T3" fmla="*/ 90 256 1"/>
              <a:gd name="G4" fmla="+- -11739500 T2 T3"/>
              <a:gd name="G5" fmla="*/ G4 2 1"/>
              <a:gd name="T4" fmla="*/ 90 256 1"/>
              <a:gd name="T5" fmla="*/ 0 256 1"/>
              <a:gd name="G6" fmla="+- -11739500 T4 T5"/>
              <a:gd name="G7" fmla="*/ G6 2 1"/>
              <a:gd name="G8" fmla="abs -11739500"/>
              <a:gd name="T6" fmla="*/ 0 256 1"/>
              <a:gd name="T7" fmla="*/ 90 256 1"/>
              <a:gd name="G9" fmla="+- G8 T6 T7"/>
              <a:gd name="G10" fmla="?: G9 G7 G5"/>
              <a:gd name="T8" fmla="*/ 0 256 1"/>
              <a:gd name="T9" fmla="*/ 360 256 1"/>
              <a:gd name="G11" fmla="+- G10 T8 T9"/>
              <a:gd name="G12" fmla="?: G10 G11 G10"/>
              <a:gd name="T10" fmla="*/ 0 256 1"/>
              <a:gd name="T11" fmla="*/ 360 256 1"/>
              <a:gd name="G13" fmla="+- G12 T10 T11"/>
              <a:gd name="G14" fmla="?: G12 G13 G12"/>
              <a:gd name="G15" fmla="+- 0 0 G14"/>
              <a:gd name="G16" fmla="+- 10800 0 0"/>
              <a:gd name="G17" fmla="+- 10800 0 10478"/>
              <a:gd name="G18" fmla="*/ 10478 1 2"/>
              <a:gd name="G19" fmla="+- G18 5400 0"/>
              <a:gd name="G20" fmla="cos G19 -11739500"/>
              <a:gd name="G21" fmla="sin G19 -11739500"/>
              <a:gd name="G22" fmla="+- G20 10800 0"/>
              <a:gd name="G23" fmla="+- G21 10800 0"/>
              <a:gd name="G24" fmla="+- 10800 0 G20"/>
              <a:gd name="G25" fmla="+- 10478 10800 0"/>
              <a:gd name="G26" fmla="?: G9 G17 G25"/>
              <a:gd name="G27" fmla="?: G9 0 21600"/>
              <a:gd name="G28" fmla="cos 10800 -11739500"/>
              <a:gd name="G29" fmla="sin 10800 -11739500"/>
              <a:gd name="G30" fmla="sin 10478 -11739500"/>
              <a:gd name="G31" fmla="+- G28 10800 0"/>
              <a:gd name="G32" fmla="+- G29 10800 0"/>
              <a:gd name="G33" fmla="+- G30 10800 0"/>
              <a:gd name="G34" fmla="?: G4 0 G31"/>
              <a:gd name="G35" fmla="?: -11739500 G34 0"/>
              <a:gd name="G36" fmla="?: G6 G35 G31"/>
              <a:gd name="G37" fmla="+- 21600 0 G36"/>
              <a:gd name="G38" fmla="?: G4 0 G33"/>
              <a:gd name="G39" fmla="?: -11739500 G38 G32"/>
              <a:gd name="G40" fmla="?: G6 G39 0"/>
              <a:gd name="G41" fmla="?: G4 G32 21600"/>
              <a:gd name="G42" fmla="?: G6 G41 G33"/>
              <a:gd name="T12" fmla="*/ 10800 w 21600"/>
              <a:gd name="T13" fmla="*/ 0 h 21600"/>
              <a:gd name="T14" fmla="*/ 162 w 21600"/>
              <a:gd name="T15" fmla="*/ 10638 h 21600"/>
              <a:gd name="T16" fmla="*/ 10800 w 21600"/>
              <a:gd name="T17" fmla="*/ 322 h 21600"/>
              <a:gd name="T18" fmla="*/ 21438 w 21600"/>
              <a:gd name="T19" fmla="*/ 10638 h 21600"/>
              <a:gd name="T20" fmla="*/ G36 w 21600"/>
              <a:gd name="T21" fmla="*/ G40 h 21600"/>
              <a:gd name="T22" fmla="*/ G37 w 21600"/>
              <a:gd name="T23" fmla="*/ G42 h 21600"/>
            </a:gdLst>
            <a:ahLst/>
            <a:cxnLst>
              <a:cxn ang="0">
                <a:pos x="T12" y="T13"/>
              </a:cxn>
              <a:cxn ang="0">
                <a:pos x="T14" y="T15"/>
              </a:cxn>
              <a:cxn ang="0">
                <a:pos x="T16" y="T17"/>
              </a:cxn>
              <a:cxn ang="0">
                <a:pos x="T18" y="T19"/>
              </a:cxn>
            </a:cxnLst>
            <a:rect l="T20" t="T21" r="T22" b="T23"/>
            <a:pathLst>
              <a:path w="21600" h="21600">
                <a:moveTo>
                  <a:pt x="323" y="10641"/>
                </a:moveTo>
                <a:cubicBezTo>
                  <a:pt x="410" y="4916"/>
                  <a:pt x="5075" y="321"/>
                  <a:pt x="10800" y="322"/>
                </a:cubicBezTo>
                <a:cubicBezTo>
                  <a:pt x="16524" y="322"/>
                  <a:pt x="21189" y="4916"/>
                  <a:pt x="21276" y="10641"/>
                </a:cubicBezTo>
                <a:lnTo>
                  <a:pt x="21598" y="10636"/>
                </a:lnTo>
                <a:cubicBezTo>
                  <a:pt x="21509" y="4736"/>
                  <a:pt x="16700" y="-1"/>
                  <a:pt x="10799" y="0"/>
                </a:cubicBezTo>
                <a:cubicBezTo>
                  <a:pt x="4899" y="0"/>
                  <a:pt x="90" y="4736"/>
                  <a:pt x="1" y="10636"/>
                </a:cubicBezTo>
                <a:close/>
              </a:path>
            </a:pathLst>
          </a:custGeom>
          <a:gradFill rotWithShape="0">
            <a:gsLst>
              <a:gs pos="0">
                <a:srgbClr val="B0BAD8">
                  <a:gamma/>
                  <a:tint val="45490"/>
                  <a:invGamma/>
                </a:srgbClr>
              </a:gs>
              <a:gs pos="100000">
                <a:srgbClr val="B0BAD8"/>
              </a:gs>
            </a:gsLst>
            <a:lin ang="0" scaled="1"/>
          </a:gradFill>
          <a:ln w="9525" algn="ctr">
            <a:noFill/>
            <a:miter lim="800000"/>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121" name="AutoShape 3">
            <a:extLst>
              <a:ext uri="{FF2B5EF4-FFF2-40B4-BE49-F238E27FC236}">
                <a16:creationId xmlns:a16="http://schemas.microsoft.com/office/drawing/2014/main" id="{481E592A-A902-40E8-8D57-EEB2C886C06E}"/>
              </a:ext>
            </a:extLst>
          </p:cNvPr>
          <p:cNvSpPr>
            <a:spLocks noChangeAspect="1" noChangeArrowheads="1"/>
          </p:cNvSpPr>
          <p:nvPr/>
        </p:nvSpPr>
        <p:spPr bwMode="ltGray">
          <a:xfrm rot="16200000">
            <a:off x="7127876" y="2140768"/>
            <a:ext cx="4032250" cy="3929063"/>
          </a:xfrm>
          <a:custGeom>
            <a:avLst/>
            <a:gdLst>
              <a:gd name="G0" fmla="+- 56 0 0"/>
              <a:gd name="G1" fmla="+- 11796480 0 0"/>
              <a:gd name="G2" fmla="+- 0 0 11796480"/>
              <a:gd name="T0" fmla="*/ 0 256 1"/>
              <a:gd name="T1" fmla="*/ 180 256 1"/>
              <a:gd name="G3" fmla="+- 11796480 T0 T1"/>
              <a:gd name="T2" fmla="*/ 0 256 1"/>
              <a:gd name="T3" fmla="*/ 90 256 1"/>
              <a:gd name="G4" fmla="+- 11796480 T2 T3"/>
              <a:gd name="G5" fmla="*/ G4 2 1"/>
              <a:gd name="T4" fmla="*/ 90 256 1"/>
              <a:gd name="T5" fmla="*/ 0 256 1"/>
              <a:gd name="G6" fmla="+- 11796480 T4 T5"/>
              <a:gd name="G7" fmla="*/ G6 2 1"/>
              <a:gd name="G8" fmla="abs 11796480"/>
              <a:gd name="T6" fmla="*/ 0 256 1"/>
              <a:gd name="T7" fmla="*/ 90 256 1"/>
              <a:gd name="G9" fmla="+- G8 T6 T7"/>
              <a:gd name="G10" fmla="?: G9 G7 G5"/>
              <a:gd name="T8" fmla="*/ 0 256 1"/>
              <a:gd name="T9" fmla="*/ 360 256 1"/>
              <a:gd name="G11" fmla="+- G10 T8 T9"/>
              <a:gd name="G12" fmla="?: G10 G11 G10"/>
              <a:gd name="T10" fmla="*/ 0 256 1"/>
              <a:gd name="T11" fmla="*/ 360 256 1"/>
              <a:gd name="G13" fmla="+- G12 T10 T11"/>
              <a:gd name="G14" fmla="?: G12 G13 G12"/>
              <a:gd name="G15" fmla="+- 0 0 G14"/>
              <a:gd name="G16" fmla="+- 10800 0 0"/>
              <a:gd name="G17" fmla="+- 10800 0 56"/>
              <a:gd name="G18" fmla="*/ 56 1 2"/>
              <a:gd name="G19" fmla="+- G18 5400 0"/>
              <a:gd name="G20" fmla="cos G19 11796480"/>
              <a:gd name="G21" fmla="sin G19 11796480"/>
              <a:gd name="G22" fmla="+- G20 10800 0"/>
              <a:gd name="G23" fmla="+- G21 10800 0"/>
              <a:gd name="G24" fmla="+- 10800 0 G20"/>
              <a:gd name="G25" fmla="+- 56 10800 0"/>
              <a:gd name="G26" fmla="?: G9 G17 G25"/>
              <a:gd name="G27" fmla="?: G9 0 21600"/>
              <a:gd name="G28" fmla="cos 10800 11796480"/>
              <a:gd name="G29" fmla="sin 10800 11796480"/>
              <a:gd name="G30" fmla="sin 56 11796480"/>
              <a:gd name="G31" fmla="+- G28 10800 0"/>
              <a:gd name="G32" fmla="+- G29 10800 0"/>
              <a:gd name="G33" fmla="+- G30 10800 0"/>
              <a:gd name="G34" fmla="?: G4 0 G31"/>
              <a:gd name="G35" fmla="?: 11796480 G34 0"/>
              <a:gd name="G36" fmla="?: G6 G35 G31"/>
              <a:gd name="G37" fmla="+- 21600 0 G36"/>
              <a:gd name="G38" fmla="?: G4 0 G33"/>
              <a:gd name="G39" fmla="?: 11796480 G38 G32"/>
              <a:gd name="G40" fmla="?: G6 G39 0"/>
              <a:gd name="G41" fmla="?: G4 G32 21600"/>
              <a:gd name="G42" fmla="?: G6 G41 G33"/>
              <a:gd name="T12" fmla="*/ 10800 w 21600"/>
              <a:gd name="T13" fmla="*/ 0 h 21600"/>
              <a:gd name="T14" fmla="*/ 5372 w 21600"/>
              <a:gd name="T15" fmla="*/ 10800 h 21600"/>
              <a:gd name="T16" fmla="*/ 10800 w 21600"/>
              <a:gd name="T17" fmla="*/ 10744 h 21600"/>
              <a:gd name="T18" fmla="*/ 16228 w 21600"/>
              <a:gd name="T19" fmla="*/ 10800 h 21600"/>
              <a:gd name="T20" fmla="*/ G36 w 21600"/>
              <a:gd name="T21" fmla="*/ G40 h 21600"/>
              <a:gd name="T22" fmla="*/ G37 w 21600"/>
              <a:gd name="T23" fmla="*/ G42 h 21600"/>
            </a:gdLst>
            <a:ahLst/>
            <a:cxnLst>
              <a:cxn ang="0">
                <a:pos x="T12" y="T13"/>
              </a:cxn>
              <a:cxn ang="0">
                <a:pos x="T14" y="T15"/>
              </a:cxn>
              <a:cxn ang="0">
                <a:pos x="T16" y="T17"/>
              </a:cxn>
              <a:cxn ang="0">
                <a:pos x="T18" y="T19"/>
              </a:cxn>
            </a:cxnLst>
            <a:rect l="T20" t="T21" r="T22" b="T23"/>
            <a:pathLst>
              <a:path w="21600" h="21600">
                <a:moveTo>
                  <a:pt x="10744" y="10800"/>
                </a:moveTo>
                <a:cubicBezTo>
                  <a:pt x="10744" y="10769"/>
                  <a:pt x="10769" y="10744"/>
                  <a:pt x="10800" y="10744"/>
                </a:cubicBezTo>
                <a:cubicBezTo>
                  <a:pt x="10830" y="10743"/>
                  <a:pt x="10855" y="10769"/>
                  <a:pt x="10856" y="10799"/>
                </a:cubicBezTo>
                <a:lnTo>
                  <a:pt x="21600" y="10800"/>
                </a:lnTo>
                <a:cubicBezTo>
                  <a:pt x="21600" y="4835"/>
                  <a:pt x="16764" y="0"/>
                  <a:pt x="10800" y="0"/>
                </a:cubicBezTo>
                <a:cubicBezTo>
                  <a:pt x="4835" y="0"/>
                  <a:pt x="0" y="4835"/>
                  <a:pt x="0" y="10800"/>
                </a:cubicBezTo>
                <a:close/>
              </a:path>
            </a:pathLst>
          </a:custGeom>
          <a:gradFill rotWithShape="0">
            <a:gsLst>
              <a:gs pos="0">
                <a:srgbClr val="B8CCFE">
                  <a:gamma/>
                  <a:tint val="39216"/>
                  <a:invGamma/>
                </a:srgbClr>
              </a:gs>
              <a:gs pos="100000">
                <a:srgbClr val="B8CCFE"/>
              </a:gs>
            </a:gsLst>
            <a:lin ang="0" scaled="1"/>
          </a:gradFill>
          <a:ln w="0" algn="ctr">
            <a:noFill/>
            <a:miter lim="800000"/>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123" name="AutoShape 6">
            <a:extLst>
              <a:ext uri="{FF2B5EF4-FFF2-40B4-BE49-F238E27FC236}">
                <a16:creationId xmlns:a16="http://schemas.microsoft.com/office/drawing/2014/main" id="{1F8AE669-1568-4178-BF56-57E58EA0C127}"/>
              </a:ext>
            </a:extLst>
          </p:cNvPr>
          <p:cNvSpPr>
            <a:spLocks noChangeAspect="1" noChangeArrowheads="1"/>
          </p:cNvSpPr>
          <p:nvPr/>
        </p:nvSpPr>
        <p:spPr bwMode="gray">
          <a:xfrm>
            <a:off x="3350973" y="5518299"/>
            <a:ext cx="3931920" cy="447659"/>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solidFill>
                  <a:srgbClr val="000000"/>
                </a:solidFill>
                <a:latin typeface="Times New Roman" panose="02020603050405020304" pitchFamily="18" charset="0"/>
                <a:cs typeface="B Nazanin" pitchFamily="2" charset="-78"/>
              </a:rPr>
              <a:t>مبتنی بر مدل</a:t>
            </a:r>
            <a:endParaRPr lang="en-US" b="1" dirty="0">
              <a:solidFill>
                <a:srgbClr val="000000"/>
              </a:solidFill>
              <a:latin typeface="Times New Roman" panose="02020603050405020304" pitchFamily="18" charset="0"/>
              <a:cs typeface="B Nazanin" pitchFamily="2" charset="-78"/>
            </a:endParaRPr>
          </a:p>
        </p:txBody>
      </p:sp>
      <p:sp>
        <p:nvSpPr>
          <p:cNvPr id="125" name="AutoShape 8">
            <a:extLst>
              <a:ext uri="{FF2B5EF4-FFF2-40B4-BE49-F238E27FC236}">
                <a16:creationId xmlns:a16="http://schemas.microsoft.com/office/drawing/2014/main" id="{CF9E5B87-43A1-4646-AE69-F01C6BAFAD06}"/>
              </a:ext>
            </a:extLst>
          </p:cNvPr>
          <p:cNvSpPr>
            <a:spLocks noChangeAspect="1" noChangeArrowheads="1"/>
          </p:cNvSpPr>
          <p:nvPr/>
        </p:nvSpPr>
        <p:spPr bwMode="gray">
          <a:xfrm>
            <a:off x="3387068" y="2347178"/>
            <a:ext cx="3931920" cy="444685"/>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cs typeface="B Nazanin" panose="00000400000000000000" pitchFamily="2" charset="-78"/>
              </a:rPr>
              <a:t>شمارش کولن</a:t>
            </a:r>
            <a:endParaRPr lang="en-US" b="1" dirty="0">
              <a:solidFill>
                <a:srgbClr val="000000"/>
              </a:solidFill>
              <a:latin typeface="Times New Roman" panose="02020603050405020304" pitchFamily="18" charset="0"/>
              <a:cs typeface="B Nazanin" pitchFamily="2" charset="-78"/>
            </a:endParaRPr>
          </a:p>
        </p:txBody>
      </p:sp>
      <p:sp>
        <p:nvSpPr>
          <p:cNvPr id="154" name="TextBox 153">
            <a:extLst>
              <a:ext uri="{FF2B5EF4-FFF2-40B4-BE49-F238E27FC236}">
                <a16:creationId xmlns:a16="http://schemas.microsoft.com/office/drawing/2014/main" id="{0D7C9433-5674-4BC9-A282-6D982E5B3065}"/>
              </a:ext>
            </a:extLst>
          </p:cNvPr>
          <p:cNvSpPr txBox="1"/>
          <p:nvPr/>
        </p:nvSpPr>
        <p:spPr>
          <a:xfrm>
            <a:off x="4118977" y="2973412"/>
            <a:ext cx="65" cy="276999"/>
          </a:xfrm>
          <a:prstGeom prst="rect">
            <a:avLst/>
          </a:prstGeom>
          <a:noFill/>
        </p:spPr>
        <p:txBody>
          <a:bodyPr wrap="none" lIns="0" tIns="0" rIns="0" bIns="0" rtlCol="0">
            <a:spAutoFit/>
          </a:bodyPr>
          <a:lstStyle/>
          <a:p>
            <a:endParaRPr lang="en-US" dirty="0"/>
          </a:p>
        </p:txBody>
      </p:sp>
      <p:grpSp>
        <p:nvGrpSpPr>
          <p:cNvPr id="64" name="Group 23">
            <a:extLst>
              <a:ext uri="{FF2B5EF4-FFF2-40B4-BE49-F238E27FC236}">
                <a16:creationId xmlns:a16="http://schemas.microsoft.com/office/drawing/2014/main" id="{A77ECBC8-8907-49C6-B868-8715395CD4AB}"/>
              </a:ext>
            </a:extLst>
          </p:cNvPr>
          <p:cNvGrpSpPr>
            <a:grpSpLocks noChangeAspect="1"/>
          </p:cNvGrpSpPr>
          <p:nvPr/>
        </p:nvGrpSpPr>
        <p:grpSpPr bwMode="auto">
          <a:xfrm>
            <a:off x="6567366" y="3960617"/>
            <a:ext cx="381000" cy="381000"/>
            <a:chOff x="2078" y="1680"/>
            <a:chExt cx="1615" cy="1615"/>
          </a:xfrm>
        </p:grpSpPr>
        <p:sp>
          <p:nvSpPr>
            <p:cNvPr id="65" name="Oval 24">
              <a:extLst>
                <a:ext uri="{FF2B5EF4-FFF2-40B4-BE49-F238E27FC236}">
                  <a16:creationId xmlns:a16="http://schemas.microsoft.com/office/drawing/2014/main" id="{1501B9F0-1BD0-4587-A5DA-8504002448CD}"/>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66" name="Oval 25">
              <a:extLst>
                <a:ext uri="{FF2B5EF4-FFF2-40B4-BE49-F238E27FC236}">
                  <a16:creationId xmlns:a16="http://schemas.microsoft.com/office/drawing/2014/main" id="{909C959D-95E6-47AB-BA03-A36E5558C646}"/>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67" name="Oval 26">
              <a:extLst>
                <a:ext uri="{FF2B5EF4-FFF2-40B4-BE49-F238E27FC236}">
                  <a16:creationId xmlns:a16="http://schemas.microsoft.com/office/drawing/2014/main" id="{DBE4DAAC-D3AA-4C03-8635-E677788322CA}"/>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68" name="Oval 27">
              <a:extLst>
                <a:ext uri="{FF2B5EF4-FFF2-40B4-BE49-F238E27FC236}">
                  <a16:creationId xmlns:a16="http://schemas.microsoft.com/office/drawing/2014/main" id="{503A22F7-588D-4C3B-990F-521D103C8785}"/>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69" name="Oval 28">
              <a:extLst>
                <a:ext uri="{FF2B5EF4-FFF2-40B4-BE49-F238E27FC236}">
                  <a16:creationId xmlns:a16="http://schemas.microsoft.com/office/drawing/2014/main" id="{DB14B947-3B24-4D3C-8BA6-1CDE3B23E877}"/>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70" name="Oval 29">
              <a:extLst>
                <a:ext uri="{FF2B5EF4-FFF2-40B4-BE49-F238E27FC236}">
                  <a16:creationId xmlns:a16="http://schemas.microsoft.com/office/drawing/2014/main" id="{EC52A3D0-6BC6-4E5D-88F2-AA4F423555B2}"/>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grpSp>
        <p:nvGrpSpPr>
          <p:cNvPr id="163" name="Group 23">
            <a:extLst>
              <a:ext uri="{FF2B5EF4-FFF2-40B4-BE49-F238E27FC236}">
                <a16:creationId xmlns:a16="http://schemas.microsoft.com/office/drawing/2014/main" id="{A77ECBC8-8907-49C6-B868-8715395CD4AB}"/>
              </a:ext>
            </a:extLst>
          </p:cNvPr>
          <p:cNvGrpSpPr>
            <a:grpSpLocks noChangeAspect="1"/>
          </p:cNvGrpSpPr>
          <p:nvPr/>
        </p:nvGrpSpPr>
        <p:grpSpPr bwMode="auto">
          <a:xfrm>
            <a:off x="7176028" y="2382615"/>
            <a:ext cx="381000" cy="381000"/>
            <a:chOff x="2078" y="1680"/>
            <a:chExt cx="1615" cy="1615"/>
          </a:xfrm>
        </p:grpSpPr>
        <p:sp>
          <p:nvSpPr>
            <p:cNvPr id="164" name="Oval 24">
              <a:extLst>
                <a:ext uri="{FF2B5EF4-FFF2-40B4-BE49-F238E27FC236}">
                  <a16:creationId xmlns:a16="http://schemas.microsoft.com/office/drawing/2014/main" id="{1501B9F0-1BD0-4587-A5DA-8504002448CD}"/>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65" name="Oval 25">
              <a:extLst>
                <a:ext uri="{FF2B5EF4-FFF2-40B4-BE49-F238E27FC236}">
                  <a16:creationId xmlns:a16="http://schemas.microsoft.com/office/drawing/2014/main" id="{909C959D-95E6-47AB-BA03-A36E5558C646}"/>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66" name="Oval 26">
              <a:extLst>
                <a:ext uri="{FF2B5EF4-FFF2-40B4-BE49-F238E27FC236}">
                  <a16:creationId xmlns:a16="http://schemas.microsoft.com/office/drawing/2014/main" id="{DBE4DAAC-D3AA-4C03-8635-E677788322CA}"/>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67" name="Oval 27">
              <a:extLst>
                <a:ext uri="{FF2B5EF4-FFF2-40B4-BE49-F238E27FC236}">
                  <a16:creationId xmlns:a16="http://schemas.microsoft.com/office/drawing/2014/main" id="{503A22F7-588D-4C3B-990F-521D103C8785}"/>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68" name="Oval 28">
              <a:extLst>
                <a:ext uri="{FF2B5EF4-FFF2-40B4-BE49-F238E27FC236}">
                  <a16:creationId xmlns:a16="http://schemas.microsoft.com/office/drawing/2014/main" id="{DB14B947-3B24-4D3C-8BA6-1CDE3B23E877}"/>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69" name="Oval 29">
              <a:extLst>
                <a:ext uri="{FF2B5EF4-FFF2-40B4-BE49-F238E27FC236}">
                  <a16:creationId xmlns:a16="http://schemas.microsoft.com/office/drawing/2014/main" id="{EC52A3D0-6BC6-4E5D-88F2-AA4F423555B2}"/>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grpSp>
        <p:nvGrpSpPr>
          <p:cNvPr id="170" name="Group 23">
            <a:extLst>
              <a:ext uri="{FF2B5EF4-FFF2-40B4-BE49-F238E27FC236}">
                <a16:creationId xmlns:a16="http://schemas.microsoft.com/office/drawing/2014/main" id="{A77ECBC8-8907-49C6-B868-8715395CD4AB}"/>
              </a:ext>
            </a:extLst>
          </p:cNvPr>
          <p:cNvGrpSpPr>
            <a:grpSpLocks noChangeAspect="1"/>
          </p:cNvGrpSpPr>
          <p:nvPr/>
        </p:nvGrpSpPr>
        <p:grpSpPr bwMode="auto">
          <a:xfrm>
            <a:off x="7138335" y="5552886"/>
            <a:ext cx="381000" cy="381000"/>
            <a:chOff x="2078" y="1680"/>
            <a:chExt cx="1615" cy="1615"/>
          </a:xfrm>
        </p:grpSpPr>
        <p:sp>
          <p:nvSpPr>
            <p:cNvPr id="171" name="Oval 24">
              <a:extLst>
                <a:ext uri="{FF2B5EF4-FFF2-40B4-BE49-F238E27FC236}">
                  <a16:creationId xmlns:a16="http://schemas.microsoft.com/office/drawing/2014/main" id="{1501B9F0-1BD0-4587-A5DA-8504002448CD}"/>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2" name="Oval 25">
              <a:extLst>
                <a:ext uri="{FF2B5EF4-FFF2-40B4-BE49-F238E27FC236}">
                  <a16:creationId xmlns:a16="http://schemas.microsoft.com/office/drawing/2014/main" id="{909C959D-95E6-47AB-BA03-A36E5558C646}"/>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3" name="Oval 26">
              <a:extLst>
                <a:ext uri="{FF2B5EF4-FFF2-40B4-BE49-F238E27FC236}">
                  <a16:creationId xmlns:a16="http://schemas.microsoft.com/office/drawing/2014/main" id="{DBE4DAAC-D3AA-4C03-8635-E677788322CA}"/>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4" name="Oval 27">
              <a:extLst>
                <a:ext uri="{FF2B5EF4-FFF2-40B4-BE49-F238E27FC236}">
                  <a16:creationId xmlns:a16="http://schemas.microsoft.com/office/drawing/2014/main" id="{503A22F7-588D-4C3B-990F-521D103C8785}"/>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5" name="Oval 28">
              <a:extLst>
                <a:ext uri="{FF2B5EF4-FFF2-40B4-BE49-F238E27FC236}">
                  <a16:creationId xmlns:a16="http://schemas.microsoft.com/office/drawing/2014/main" id="{DB14B947-3B24-4D3C-8BA6-1CDE3B23E877}"/>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176" name="Oval 29">
              <a:extLst>
                <a:ext uri="{FF2B5EF4-FFF2-40B4-BE49-F238E27FC236}">
                  <a16:creationId xmlns:a16="http://schemas.microsoft.com/office/drawing/2014/main" id="{EC52A3D0-6BC6-4E5D-88F2-AA4F423555B2}"/>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59" name="Rounded Rectangle 175">
            <a:extLst>
              <a:ext uri="{FF2B5EF4-FFF2-40B4-BE49-F238E27FC236}">
                <a16:creationId xmlns:a16="http://schemas.microsoft.com/office/drawing/2014/main" id="{8D19BD66-3E4D-4F25-BA5B-9959C4AF86A5}"/>
              </a:ext>
            </a:extLst>
          </p:cNvPr>
          <p:cNvSpPr/>
          <p:nvPr/>
        </p:nvSpPr>
        <p:spPr bwMode="auto">
          <a:xfrm>
            <a:off x="6858000" y="971946"/>
            <a:ext cx="23890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fontAlgn="base">
              <a:spcBef>
                <a:spcPct val="0"/>
              </a:spcBef>
              <a:spcAft>
                <a:spcPct val="0"/>
              </a:spcAft>
              <a:defRPr/>
            </a:pPr>
            <a:r>
              <a:rPr lang="fa-IR" sz="2200" b="1" kern="0" dirty="0">
                <a:solidFill>
                  <a:srgbClr val="FFFFFF"/>
                </a:solidFill>
                <a:latin typeface="Times New Roman" panose="02020603050405020304" pitchFamily="18" charset="0"/>
                <a:cs typeface="B Nazanin" pitchFamily="2" charset="-78"/>
              </a:rPr>
              <a:t>سیستم مدیریت باتری</a:t>
            </a:r>
          </a:p>
        </p:txBody>
      </p:sp>
      <p:sp>
        <p:nvSpPr>
          <p:cNvPr id="60" name="AutoShape 12" descr="5 Things That Affect Your Charging Speed | EVgo">
            <a:extLst>
              <a:ext uri="{FF2B5EF4-FFF2-40B4-BE49-F238E27FC236}">
                <a16:creationId xmlns:a16="http://schemas.microsoft.com/office/drawing/2014/main" id="{66FC110F-0F22-434B-8ACD-45D626A3C908}"/>
              </a:ext>
            </a:extLst>
          </p:cNvPr>
          <p:cNvSpPr>
            <a:spLocks noChangeAspect="1" noChangeArrowheads="1"/>
          </p:cNvSpPr>
          <p:nvPr/>
        </p:nvSpPr>
        <p:spPr bwMode="auto">
          <a:xfrm>
            <a:off x="63500" y="-13652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1" name="AutoShape 2" descr="What is the Depth of Discharge (DoD) Estimation of a Lithium Ion Battery?">
            <a:extLst>
              <a:ext uri="{FF2B5EF4-FFF2-40B4-BE49-F238E27FC236}">
                <a16:creationId xmlns:a16="http://schemas.microsoft.com/office/drawing/2014/main" id="{AE94E5F4-4CC0-4C2D-B4A7-E343C7C8ADB8}"/>
              </a:ext>
            </a:extLst>
          </p:cNvPr>
          <p:cNvSpPr>
            <a:spLocks noChangeAspect="1" noChangeArrowheads="1"/>
          </p:cNvSpPr>
          <p:nvPr/>
        </p:nvSpPr>
        <p:spPr bwMode="auto">
          <a:xfrm>
            <a:off x="215900" y="1587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2" name="AutoShape 10">
            <a:extLst>
              <a:ext uri="{FF2B5EF4-FFF2-40B4-BE49-F238E27FC236}">
                <a16:creationId xmlns:a16="http://schemas.microsoft.com/office/drawing/2014/main" id="{0E51A7C8-157C-451B-8B78-DB07BC6EBAFF}"/>
              </a:ext>
            </a:extLst>
          </p:cNvPr>
          <p:cNvSpPr>
            <a:spLocks noChangeArrowheads="1"/>
          </p:cNvSpPr>
          <p:nvPr/>
        </p:nvSpPr>
        <p:spPr bwMode="gray">
          <a:xfrm flipH="1">
            <a:off x="6244699" y="57140"/>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63" name="AutoShape 3">
            <a:extLst>
              <a:ext uri="{FF2B5EF4-FFF2-40B4-BE49-F238E27FC236}">
                <a16:creationId xmlns:a16="http://schemas.microsoft.com/office/drawing/2014/main" id="{8AD084DA-8D50-42FC-9827-910C0293EF8E}"/>
              </a:ext>
            </a:extLst>
          </p:cNvPr>
          <p:cNvSpPr>
            <a:spLocks noChangeArrowheads="1"/>
          </p:cNvSpPr>
          <p:nvPr/>
        </p:nvSpPr>
        <p:spPr bwMode="gray">
          <a:xfrm flipH="1">
            <a:off x="4188613" y="57140"/>
            <a:ext cx="2056086"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71" name="AutoShape 3">
            <a:extLst>
              <a:ext uri="{FF2B5EF4-FFF2-40B4-BE49-F238E27FC236}">
                <a16:creationId xmlns:a16="http://schemas.microsoft.com/office/drawing/2014/main" id="{9C1D6F19-0265-412E-9AED-47EAEB80CC52}"/>
              </a:ext>
            </a:extLst>
          </p:cNvPr>
          <p:cNvSpPr>
            <a:spLocks noChangeArrowheads="1"/>
          </p:cNvSpPr>
          <p:nvPr/>
        </p:nvSpPr>
        <p:spPr bwMode="gray">
          <a:xfrm flipH="1">
            <a:off x="2132529" y="57140"/>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72" name="AutoShape 3">
            <a:extLst>
              <a:ext uri="{FF2B5EF4-FFF2-40B4-BE49-F238E27FC236}">
                <a16:creationId xmlns:a16="http://schemas.microsoft.com/office/drawing/2014/main" id="{0E991C3B-34C7-4CE5-8014-566F379FFBF2}"/>
              </a:ext>
            </a:extLst>
          </p:cNvPr>
          <p:cNvSpPr>
            <a:spLocks noChangeArrowheads="1"/>
          </p:cNvSpPr>
          <p:nvPr/>
        </p:nvSpPr>
        <p:spPr bwMode="gray">
          <a:xfrm flipH="1">
            <a:off x="161662" y="57140"/>
            <a:ext cx="1970868"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73" name="Rectangle 72">
            <a:extLst>
              <a:ext uri="{FF2B5EF4-FFF2-40B4-BE49-F238E27FC236}">
                <a16:creationId xmlns:a16="http://schemas.microsoft.com/office/drawing/2014/main" id="{80BD53AA-967F-4168-B767-427C76535D6B}"/>
              </a:ext>
            </a:extLst>
          </p:cNvPr>
          <p:cNvSpPr/>
          <p:nvPr/>
        </p:nvSpPr>
        <p:spPr>
          <a:xfrm>
            <a:off x="431672" y="189466"/>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74" name="Rectangle 73">
            <a:extLst>
              <a:ext uri="{FF2B5EF4-FFF2-40B4-BE49-F238E27FC236}">
                <a16:creationId xmlns:a16="http://schemas.microsoft.com/office/drawing/2014/main" id="{2AC7EE3A-D352-4345-B647-569773716BD3}"/>
              </a:ext>
            </a:extLst>
          </p:cNvPr>
          <p:cNvSpPr/>
          <p:nvPr/>
        </p:nvSpPr>
        <p:spPr>
          <a:xfrm>
            <a:off x="2355191" y="66356"/>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75" name="Rectangle 74">
            <a:extLst>
              <a:ext uri="{FF2B5EF4-FFF2-40B4-BE49-F238E27FC236}">
                <a16:creationId xmlns:a16="http://schemas.microsoft.com/office/drawing/2014/main" id="{37328964-0EC8-4739-9481-3F9FCF564204}"/>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76" name="Rectangle 75">
            <a:extLst>
              <a:ext uri="{FF2B5EF4-FFF2-40B4-BE49-F238E27FC236}">
                <a16:creationId xmlns:a16="http://schemas.microsoft.com/office/drawing/2014/main" id="{9B94B742-81B7-4631-84FC-5FD9CA0BBAB3}"/>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pic>
        <p:nvPicPr>
          <p:cNvPr id="77" name="Picture 76" descr="پرونده:Azad University logo.png - ویکی‌پدیا، دانشنامهٔ آزاد">
            <a:extLst>
              <a:ext uri="{FF2B5EF4-FFF2-40B4-BE49-F238E27FC236}">
                <a16:creationId xmlns:a16="http://schemas.microsoft.com/office/drawing/2014/main" id="{DE9569A3-4E60-44E6-B193-07F4C2260CD2}"/>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46"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61</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197229952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9" name="Rectangle 428"/>
          <p:cNvSpPr/>
          <p:nvPr/>
        </p:nvSpPr>
        <p:spPr>
          <a:xfrm>
            <a:off x="346210" y="6187624"/>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1" name="AutoShape 8">
            <a:extLst>
              <a:ext uri="{FF2B5EF4-FFF2-40B4-BE49-F238E27FC236}">
                <a16:creationId xmlns:a16="http://schemas.microsoft.com/office/drawing/2014/main" id="{CF9E5B87-43A1-4646-AE69-F01C6BAFAD06}"/>
              </a:ext>
            </a:extLst>
          </p:cNvPr>
          <p:cNvSpPr>
            <a:spLocks noChangeAspect="1" noChangeArrowheads="1"/>
          </p:cNvSpPr>
          <p:nvPr/>
        </p:nvSpPr>
        <p:spPr bwMode="gray">
          <a:xfrm>
            <a:off x="6494325" y="1866180"/>
            <a:ext cx="230346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cs typeface="B Lotus" panose="00000400000000000000" pitchFamily="2" charset="-78"/>
              </a:rPr>
              <a:t>شمارش کولن</a:t>
            </a:r>
            <a:endParaRPr lang="en-US" b="1" dirty="0">
              <a:solidFill>
                <a:srgbClr val="000000"/>
              </a:solidFill>
              <a:latin typeface="Times New Roman" panose="02020603050405020304" pitchFamily="18" charset="0"/>
              <a:cs typeface="B Lotus" panose="00000400000000000000" pitchFamily="2" charset="-78"/>
            </a:endParaRPr>
          </a:p>
        </p:txBody>
      </p:sp>
      <p:grpSp>
        <p:nvGrpSpPr>
          <p:cNvPr id="38" name="Group 23">
            <a:extLst>
              <a:ext uri="{FF2B5EF4-FFF2-40B4-BE49-F238E27FC236}">
                <a16:creationId xmlns:a16="http://schemas.microsoft.com/office/drawing/2014/main" id="{A77ECBC8-8907-49C6-B868-8715395CD4AB}"/>
              </a:ext>
            </a:extLst>
          </p:cNvPr>
          <p:cNvGrpSpPr>
            <a:grpSpLocks noChangeAspect="1"/>
          </p:cNvGrpSpPr>
          <p:nvPr/>
        </p:nvGrpSpPr>
        <p:grpSpPr bwMode="auto">
          <a:xfrm>
            <a:off x="8754925" y="1942380"/>
            <a:ext cx="381000" cy="381000"/>
            <a:chOff x="2078" y="1680"/>
            <a:chExt cx="1615" cy="1615"/>
          </a:xfrm>
        </p:grpSpPr>
        <p:sp>
          <p:nvSpPr>
            <p:cNvPr id="39" name="Oval 24">
              <a:extLst>
                <a:ext uri="{FF2B5EF4-FFF2-40B4-BE49-F238E27FC236}">
                  <a16:creationId xmlns:a16="http://schemas.microsoft.com/office/drawing/2014/main" id="{1501B9F0-1BD0-4587-A5DA-8504002448CD}"/>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0" name="Oval 25">
              <a:extLst>
                <a:ext uri="{FF2B5EF4-FFF2-40B4-BE49-F238E27FC236}">
                  <a16:creationId xmlns:a16="http://schemas.microsoft.com/office/drawing/2014/main" id="{909C959D-95E6-47AB-BA03-A36E5558C646}"/>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1" name="Oval 26">
              <a:extLst>
                <a:ext uri="{FF2B5EF4-FFF2-40B4-BE49-F238E27FC236}">
                  <a16:creationId xmlns:a16="http://schemas.microsoft.com/office/drawing/2014/main" id="{DBE4DAAC-D3AA-4C03-8635-E677788322CA}"/>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2" name="Oval 27">
              <a:extLst>
                <a:ext uri="{FF2B5EF4-FFF2-40B4-BE49-F238E27FC236}">
                  <a16:creationId xmlns:a16="http://schemas.microsoft.com/office/drawing/2014/main" id="{503A22F7-588D-4C3B-990F-521D103C8785}"/>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3" name="Oval 28">
              <a:extLst>
                <a:ext uri="{FF2B5EF4-FFF2-40B4-BE49-F238E27FC236}">
                  <a16:creationId xmlns:a16="http://schemas.microsoft.com/office/drawing/2014/main" id="{DB14B947-3B24-4D3C-8BA6-1CDE3B23E877}"/>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4" name="Oval 29">
              <a:extLst>
                <a:ext uri="{FF2B5EF4-FFF2-40B4-BE49-F238E27FC236}">
                  <a16:creationId xmlns:a16="http://schemas.microsoft.com/office/drawing/2014/main" id="{EC52A3D0-6BC6-4E5D-88F2-AA4F423555B2}"/>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52" name="TextBox 51">
            <a:extLst>
              <a:ext uri="{FF2B5EF4-FFF2-40B4-BE49-F238E27FC236}">
                <a16:creationId xmlns:a16="http://schemas.microsoft.com/office/drawing/2014/main" id="{0D7C9433-5674-4BC9-A282-6D982E5B3065}"/>
              </a:ext>
            </a:extLst>
          </p:cNvPr>
          <p:cNvSpPr txBox="1"/>
          <p:nvPr/>
        </p:nvSpPr>
        <p:spPr>
          <a:xfrm>
            <a:off x="4877373" y="3499157"/>
            <a:ext cx="65" cy="276999"/>
          </a:xfrm>
          <a:prstGeom prst="rect">
            <a:avLst/>
          </a:prstGeom>
          <a:noFill/>
        </p:spPr>
        <p:txBody>
          <a:bodyPr wrap="none" lIns="0" tIns="0" rIns="0" bIns="0" rtlCol="0">
            <a:spAutoFit/>
          </a:bodyPr>
          <a:lstStyle/>
          <a:p>
            <a:endParaRPr lang="en-US" dirty="0"/>
          </a:p>
        </p:txBody>
      </p:sp>
      <p:pic>
        <p:nvPicPr>
          <p:cNvPr id="3" name="Picture 2"/>
          <p:cNvPicPr>
            <a:picLocks noChangeAspect="1"/>
          </p:cNvPicPr>
          <p:nvPr/>
        </p:nvPicPr>
        <p:blipFill>
          <a:blip r:embed="rId3"/>
          <a:stretch>
            <a:fillRect/>
          </a:stretch>
        </p:blipFill>
        <p:spPr>
          <a:xfrm>
            <a:off x="208440" y="1764112"/>
            <a:ext cx="4881106" cy="3752850"/>
          </a:xfrm>
          <a:prstGeom prst="rect">
            <a:avLst/>
          </a:prstGeom>
        </p:spPr>
      </p:pic>
      <p:sp>
        <p:nvSpPr>
          <p:cNvPr id="4" name="AutoShape 2" descr="Lithium-Ion State of Charge (SoC) measurement - Coulomb Counter method - OCV"/>
          <p:cNvSpPr>
            <a:spLocks noChangeAspect="1" noChangeArrowheads="1"/>
          </p:cNvSpPr>
          <p:nvPr/>
        </p:nvSpPr>
        <p:spPr bwMode="auto">
          <a:xfrm>
            <a:off x="63500" y="-13652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mc:AlternateContent xmlns:mc="http://schemas.openxmlformats.org/markup-compatibility/2006" xmlns:a14="http://schemas.microsoft.com/office/drawing/2010/main">
        <mc:Choice Requires="a14">
          <p:sp>
            <p:nvSpPr>
              <p:cNvPr id="6" name="Rectangle 5"/>
              <p:cNvSpPr/>
              <p:nvPr/>
            </p:nvSpPr>
            <p:spPr>
              <a:xfrm>
                <a:off x="6269706" y="5482675"/>
                <a:ext cx="2135264" cy="717889"/>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𝑆𝑂𝐶</m:t>
                      </m:r>
                      <m:r>
                        <a:rPr lang="en-US" i="0">
                          <a:latin typeface="Cambria Math" panose="02040503050406030204" pitchFamily="18" charset="0"/>
                        </a:rPr>
                        <m:t>=</m:t>
                      </m:r>
                      <m:r>
                        <a:rPr lang="en-US" i="0">
                          <a:latin typeface="Cambria Math" panose="02040503050406030204" pitchFamily="18" charset="0"/>
                        </a:rPr>
                        <m:t>1</m:t>
                      </m:r>
                      <m:r>
                        <a:rPr lang="en-US" i="0">
                          <a:latin typeface="Cambria Math" panose="02040503050406030204" pitchFamily="18" charset="0"/>
                        </a:rPr>
                        <m:t>− </m:t>
                      </m:r>
                      <m:f>
                        <m:fPr>
                          <m:ctrlPr>
                            <a:rPr lang="en-US" i="1">
                              <a:latin typeface="Cambria Math" panose="02040503050406030204" pitchFamily="18" charset="0"/>
                            </a:rPr>
                          </m:ctrlPr>
                        </m:fPr>
                        <m:num>
                          <m:nary>
                            <m:naryPr>
                              <m:subHide m:val="on"/>
                              <m:supHide m:val="on"/>
                              <m:ctrlPr>
                                <a:rPr lang="en-US" i="1">
                                  <a:latin typeface="Cambria Math" panose="02040503050406030204" pitchFamily="18" charset="0"/>
                                </a:rPr>
                              </m:ctrlPr>
                            </m:naryPr>
                            <m:sub/>
                            <m:sup/>
                            <m:e>
                              <m:r>
                                <a:rPr lang="en-US" i="1">
                                  <a:latin typeface="Cambria Math" panose="02040503050406030204" pitchFamily="18" charset="0"/>
                                </a:rPr>
                                <m:t>𝑖</m:t>
                              </m:r>
                              <m:r>
                                <a:rPr lang="en-US" i="0">
                                  <a:latin typeface="Cambria Math" panose="02040503050406030204" pitchFamily="18" charset="0"/>
                                </a:rPr>
                                <m:t>.</m:t>
                              </m:r>
                              <m:r>
                                <a:rPr lang="en-US" i="1" smtClean="0">
                                  <a:latin typeface="Cambria Math" panose="02040503050406030204" pitchFamily="18" charset="0"/>
                                  <a:ea typeface="Cambria Math" panose="02040503050406030204" pitchFamily="18" charset="0"/>
                                </a:rPr>
                                <m:t>𝜂</m:t>
                              </m:r>
                              <m:r>
                                <a:rPr lang="en-US" i="1">
                                  <a:latin typeface="Cambria Math" panose="02040503050406030204" pitchFamily="18" charset="0"/>
                                </a:rPr>
                                <m:t>𝑑𝑡</m:t>
                              </m:r>
                            </m:e>
                          </m:nary>
                        </m:num>
                        <m:den>
                          <m:sSub>
                            <m:sSubPr>
                              <m:ctrlPr>
                                <a:rPr lang="en-US" i="1">
                                  <a:latin typeface="Cambria Math" panose="02040503050406030204" pitchFamily="18" charset="0"/>
                                </a:rPr>
                              </m:ctrlPr>
                            </m:sSubPr>
                            <m:e>
                              <m:r>
                                <a:rPr lang="en-US" i="1">
                                  <a:latin typeface="Cambria Math" panose="02040503050406030204" pitchFamily="18" charset="0"/>
                                </a:rPr>
                                <m:t>𝐶</m:t>
                              </m:r>
                            </m:e>
                            <m:sub>
                              <m:r>
                                <a:rPr lang="en-US" i="1">
                                  <a:latin typeface="Cambria Math" panose="02040503050406030204" pitchFamily="18" charset="0"/>
                                </a:rPr>
                                <m:t>𝑛</m:t>
                              </m:r>
                            </m:sub>
                          </m:sSub>
                        </m:den>
                      </m:f>
                    </m:oMath>
                  </m:oMathPara>
                </a14:m>
                <a:endParaRPr lang="en-US" dirty="0"/>
              </a:p>
            </p:txBody>
          </p:sp>
        </mc:Choice>
        <mc:Fallback xmlns="">
          <p:sp>
            <p:nvSpPr>
              <p:cNvPr id="6" name="Rectangle 5"/>
              <p:cNvSpPr>
                <a:spLocks noRot="1" noChangeAspect="1" noMove="1" noResize="1" noEditPoints="1" noAdjustHandles="1" noChangeArrowheads="1" noChangeShapeType="1" noTextEdit="1"/>
              </p:cNvSpPr>
              <p:nvPr/>
            </p:nvSpPr>
            <p:spPr>
              <a:xfrm>
                <a:off x="6269706" y="5482675"/>
                <a:ext cx="2135264" cy="717889"/>
              </a:xfrm>
              <a:prstGeom prst="rect">
                <a:avLst/>
              </a:prstGeom>
              <a:blipFill rotWithShape="0">
                <a:blip r:embed="rId4"/>
                <a:stretch>
                  <a:fillRect/>
                </a:stretch>
              </a:blipFill>
            </p:spPr>
            <p:txBody>
              <a:bodyPr/>
              <a:lstStyle/>
              <a:p>
                <a:r>
                  <a:rPr lang="fa-IR">
                    <a:noFill/>
                  </a:rPr>
                  <a:t> </a:t>
                </a:r>
              </a:p>
            </p:txBody>
          </p:sp>
        </mc:Fallback>
      </mc:AlternateContent>
      <p:pic>
        <p:nvPicPr>
          <p:cNvPr id="9" name="Picture 8"/>
          <p:cNvPicPr>
            <a:picLocks noChangeAspect="1"/>
          </p:cNvPicPr>
          <p:nvPr/>
        </p:nvPicPr>
        <p:blipFill>
          <a:blip r:embed="rId5"/>
          <a:stretch>
            <a:fillRect/>
          </a:stretch>
        </p:blipFill>
        <p:spPr>
          <a:xfrm>
            <a:off x="5871097" y="4038276"/>
            <a:ext cx="2905532" cy="1286055"/>
          </a:xfrm>
          <a:prstGeom prst="rect">
            <a:avLst/>
          </a:prstGeom>
        </p:spPr>
      </p:pic>
      <p:sp>
        <p:nvSpPr>
          <p:cNvPr id="28" name="Rounded Rectangle 175">
            <a:extLst>
              <a:ext uri="{FF2B5EF4-FFF2-40B4-BE49-F238E27FC236}">
                <a16:creationId xmlns:a16="http://schemas.microsoft.com/office/drawing/2014/main" id="{522A954B-B2D4-4C05-9517-FEA90B41B72C}"/>
              </a:ext>
            </a:extLst>
          </p:cNvPr>
          <p:cNvSpPr/>
          <p:nvPr/>
        </p:nvSpPr>
        <p:spPr bwMode="auto">
          <a:xfrm>
            <a:off x="6858000" y="971946"/>
            <a:ext cx="23890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fontAlgn="base">
              <a:spcBef>
                <a:spcPct val="0"/>
              </a:spcBef>
              <a:spcAft>
                <a:spcPct val="0"/>
              </a:spcAft>
              <a:defRPr/>
            </a:pPr>
            <a:r>
              <a:rPr lang="fa-IR" sz="2200" b="1" kern="0" dirty="0">
                <a:solidFill>
                  <a:srgbClr val="FFFFFF"/>
                </a:solidFill>
                <a:latin typeface="Times New Roman" panose="02020603050405020304" pitchFamily="18" charset="0"/>
                <a:cs typeface="B Nazanin" pitchFamily="2" charset="-78"/>
              </a:rPr>
              <a:t>سیستم مدیریت باتری</a:t>
            </a:r>
          </a:p>
        </p:txBody>
      </p:sp>
      <p:sp>
        <p:nvSpPr>
          <p:cNvPr id="29" name="AutoShape 12" descr="5 Things That Affect Your Charging Speed | EVgo">
            <a:extLst>
              <a:ext uri="{FF2B5EF4-FFF2-40B4-BE49-F238E27FC236}">
                <a16:creationId xmlns:a16="http://schemas.microsoft.com/office/drawing/2014/main" id="{DA040FC8-D3D2-49BC-B847-070597E04B15}"/>
              </a:ext>
            </a:extLst>
          </p:cNvPr>
          <p:cNvSpPr>
            <a:spLocks noChangeAspect="1" noChangeArrowheads="1"/>
          </p:cNvSpPr>
          <p:nvPr/>
        </p:nvSpPr>
        <p:spPr bwMode="auto">
          <a:xfrm>
            <a:off x="63500" y="-13652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3" name="AutoShape 2" descr="What is the Depth of Discharge (DoD) Estimation of a Lithium Ion Battery?">
            <a:extLst>
              <a:ext uri="{FF2B5EF4-FFF2-40B4-BE49-F238E27FC236}">
                <a16:creationId xmlns:a16="http://schemas.microsoft.com/office/drawing/2014/main" id="{ED16E281-C645-4E9E-AD14-F5ED1803F8E2}"/>
              </a:ext>
            </a:extLst>
          </p:cNvPr>
          <p:cNvSpPr>
            <a:spLocks noChangeAspect="1" noChangeArrowheads="1"/>
          </p:cNvSpPr>
          <p:nvPr/>
        </p:nvSpPr>
        <p:spPr bwMode="auto">
          <a:xfrm>
            <a:off x="215900" y="1587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4" name="AutoShape 10">
            <a:extLst>
              <a:ext uri="{FF2B5EF4-FFF2-40B4-BE49-F238E27FC236}">
                <a16:creationId xmlns:a16="http://schemas.microsoft.com/office/drawing/2014/main" id="{9343FB8D-A833-4C53-BE58-7413121483AB}"/>
              </a:ext>
            </a:extLst>
          </p:cNvPr>
          <p:cNvSpPr>
            <a:spLocks noChangeArrowheads="1"/>
          </p:cNvSpPr>
          <p:nvPr/>
        </p:nvSpPr>
        <p:spPr bwMode="gray">
          <a:xfrm flipH="1">
            <a:off x="6244699" y="57140"/>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5" name="AutoShape 3">
            <a:extLst>
              <a:ext uri="{FF2B5EF4-FFF2-40B4-BE49-F238E27FC236}">
                <a16:creationId xmlns:a16="http://schemas.microsoft.com/office/drawing/2014/main" id="{C7EEE27E-0227-4203-B443-0AF90AAE7FB8}"/>
              </a:ext>
            </a:extLst>
          </p:cNvPr>
          <p:cNvSpPr>
            <a:spLocks noChangeArrowheads="1"/>
          </p:cNvSpPr>
          <p:nvPr/>
        </p:nvSpPr>
        <p:spPr bwMode="gray">
          <a:xfrm flipH="1">
            <a:off x="4188613" y="57140"/>
            <a:ext cx="2056086"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6" name="AutoShape 3">
            <a:extLst>
              <a:ext uri="{FF2B5EF4-FFF2-40B4-BE49-F238E27FC236}">
                <a16:creationId xmlns:a16="http://schemas.microsoft.com/office/drawing/2014/main" id="{89E4BB67-69A3-4583-A734-D3D64F1BF5A4}"/>
              </a:ext>
            </a:extLst>
          </p:cNvPr>
          <p:cNvSpPr>
            <a:spLocks noChangeArrowheads="1"/>
          </p:cNvSpPr>
          <p:nvPr/>
        </p:nvSpPr>
        <p:spPr bwMode="gray">
          <a:xfrm flipH="1">
            <a:off x="2132529" y="57140"/>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7" name="AutoShape 3">
            <a:extLst>
              <a:ext uri="{FF2B5EF4-FFF2-40B4-BE49-F238E27FC236}">
                <a16:creationId xmlns:a16="http://schemas.microsoft.com/office/drawing/2014/main" id="{9DFE82B6-F631-4974-9D9E-6845493803BB}"/>
              </a:ext>
            </a:extLst>
          </p:cNvPr>
          <p:cNvSpPr>
            <a:spLocks noChangeArrowheads="1"/>
          </p:cNvSpPr>
          <p:nvPr/>
        </p:nvSpPr>
        <p:spPr bwMode="gray">
          <a:xfrm flipH="1">
            <a:off x="161662" y="57140"/>
            <a:ext cx="1970868"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5" name="Rectangle 44">
            <a:extLst>
              <a:ext uri="{FF2B5EF4-FFF2-40B4-BE49-F238E27FC236}">
                <a16:creationId xmlns:a16="http://schemas.microsoft.com/office/drawing/2014/main" id="{044DA41C-2955-4D64-963D-78A5B342086E}"/>
              </a:ext>
            </a:extLst>
          </p:cNvPr>
          <p:cNvSpPr/>
          <p:nvPr/>
        </p:nvSpPr>
        <p:spPr>
          <a:xfrm>
            <a:off x="431672" y="189466"/>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6" name="Rectangle 45">
            <a:extLst>
              <a:ext uri="{FF2B5EF4-FFF2-40B4-BE49-F238E27FC236}">
                <a16:creationId xmlns:a16="http://schemas.microsoft.com/office/drawing/2014/main" id="{7DF61ADD-3B33-4D1D-B698-10C1117A7588}"/>
              </a:ext>
            </a:extLst>
          </p:cNvPr>
          <p:cNvSpPr/>
          <p:nvPr/>
        </p:nvSpPr>
        <p:spPr>
          <a:xfrm>
            <a:off x="2355191" y="66356"/>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7" name="Rectangle 46">
            <a:extLst>
              <a:ext uri="{FF2B5EF4-FFF2-40B4-BE49-F238E27FC236}">
                <a16:creationId xmlns:a16="http://schemas.microsoft.com/office/drawing/2014/main" id="{9B442CD5-1A8F-441D-BAA4-97391F725306}"/>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8" name="Rectangle 47">
            <a:extLst>
              <a:ext uri="{FF2B5EF4-FFF2-40B4-BE49-F238E27FC236}">
                <a16:creationId xmlns:a16="http://schemas.microsoft.com/office/drawing/2014/main" id="{54BB3214-FEBC-45E5-8FC3-4D1484695B06}"/>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pic>
        <p:nvPicPr>
          <p:cNvPr id="49" name="Picture 48" descr="پرونده:Azad University logo.png - ویکی‌پدیا، دانشنامهٔ آزاد">
            <a:extLst>
              <a:ext uri="{FF2B5EF4-FFF2-40B4-BE49-F238E27FC236}">
                <a16:creationId xmlns:a16="http://schemas.microsoft.com/office/drawing/2014/main" id="{4F35BFF9-43DF-43B3-A58D-860E7E707AA3}"/>
              </a:ext>
            </a:extLst>
          </p:cNvPr>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64" name="TextBox 63">
            <a:extLst>
              <a:ext uri="{FF2B5EF4-FFF2-40B4-BE49-F238E27FC236}">
                <a16:creationId xmlns:a16="http://schemas.microsoft.com/office/drawing/2014/main" id="{00F5D181-501B-43BE-8881-1E121279D569}"/>
              </a:ext>
            </a:extLst>
          </p:cNvPr>
          <p:cNvSpPr txBox="1"/>
          <p:nvPr/>
        </p:nvSpPr>
        <p:spPr>
          <a:xfrm>
            <a:off x="320146" y="934180"/>
            <a:ext cx="3717685" cy="369332"/>
          </a:xfrm>
          <a:prstGeom prst="rect">
            <a:avLst/>
          </a:prstGeom>
          <a:noFill/>
        </p:spPr>
        <p:txBody>
          <a:bodyPr wrap="none" rtlCol="0">
            <a:spAutoFit/>
          </a:bodyPr>
          <a:lstStyle/>
          <a:p>
            <a:pPr algn="r" rtl="1" fontAlgn="base">
              <a:spcBef>
                <a:spcPct val="0"/>
              </a:spcBef>
              <a:spcAft>
                <a:spcPct val="0"/>
              </a:spcAft>
            </a:pPr>
            <a:r>
              <a:rPr lang="fa-IR" b="1" dirty="0">
                <a:cs typeface="B Nazanin" panose="00000400000000000000" pitchFamily="2" charset="-78"/>
              </a:rPr>
              <a:t>روش های تخمین وضعیت شارژ باتری (</a:t>
            </a:r>
            <a:r>
              <a:rPr lang="en-US" b="1" i="1" dirty="0">
                <a:latin typeface="Times New Roman" panose="02020603050405020304" pitchFamily="18" charset="0"/>
                <a:cs typeface="Times New Roman" panose="02020603050405020304" pitchFamily="18" charset="0"/>
              </a:rPr>
              <a:t>SOC</a:t>
            </a:r>
            <a:r>
              <a:rPr lang="fa-IR" b="1" dirty="0">
                <a:cs typeface="B Nazanin" panose="00000400000000000000" pitchFamily="2" charset="-78"/>
              </a:rPr>
              <a:t>)</a:t>
            </a:r>
            <a:endParaRPr lang="en-US" b="1" dirty="0">
              <a:solidFill>
                <a:srgbClr val="000000"/>
              </a:solidFill>
              <a:latin typeface="Times New Roman" panose="02020603050405020304" pitchFamily="18" charset="0"/>
              <a:cs typeface="B Nazanin" pitchFamily="2" charset="-78"/>
            </a:endParaRPr>
          </a:p>
        </p:txBody>
      </p:sp>
      <p:sp>
        <p:nvSpPr>
          <p:cNvPr id="65" name="TextBox 64">
            <a:extLst>
              <a:ext uri="{FF2B5EF4-FFF2-40B4-BE49-F238E27FC236}">
                <a16:creationId xmlns:a16="http://schemas.microsoft.com/office/drawing/2014/main" id="{848B3226-069D-4ECD-BE80-CD925D666525}"/>
              </a:ext>
            </a:extLst>
          </p:cNvPr>
          <p:cNvSpPr txBox="1"/>
          <p:nvPr/>
        </p:nvSpPr>
        <p:spPr>
          <a:xfrm>
            <a:off x="1104598" y="5754989"/>
            <a:ext cx="3230372" cy="369332"/>
          </a:xfrm>
          <a:prstGeom prst="rect">
            <a:avLst/>
          </a:prstGeom>
          <a:noFill/>
        </p:spPr>
        <p:txBody>
          <a:bodyPr wrap="none" rtlCol="0">
            <a:spAutoFit/>
          </a:bodyPr>
          <a:lstStyle/>
          <a:p>
            <a:pPr algn="r" rtl="1" fontAlgn="base">
              <a:spcBef>
                <a:spcPct val="0"/>
              </a:spcBef>
              <a:spcAft>
                <a:spcPct val="0"/>
              </a:spcAft>
            </a:pPr>
            <a:r>
              <a:rPr lang="fa-IR" dirty="0">
                <a:cs typeface="B Lotus" panose="00000400000000000000" pitchFamily="2" charset="-78"/>
              </a:rPr>
              <a:t>تخمین </a:t>
            </a:r>
            <a:r>
              <a:rPr lang="en-US" dirty="0">
                <a:cs typeface="B Lotus" panose="00000400000000000000" pitchFamily="2" charset="-78"/>
              </a:rPr>
              <a:t>SOC</a:t>
            </a:r>
            <a:r>
              <a:rPr lang="fa-IR" dirty="0">
                <a:cs typeface="B Lotus" panose="00000400000000000000" pitchFamily="2" charset="-78"/>
              </a:rPr>
              <a:t> بر اساس شمارش </a:t>
            </a:r>
            <a:r>
              <a:rPr lang="fa-IR" dirty="0" err="1">
                <a:cs typeface="B Lotus" panose="00000400000000000000" pitchFamily="2" charset="-78"/>
              </a:rPr>
              <a:t>کولن</a:t>
            </a:r>
            <a:r>
              <a:rPr lang="fa-IR" dirty="0">
                <a:cs typeface="B Lotus" panose="00000400000000000000" pitchFamily="2" charset="-78"/>
              </a:rPr>
              <a:t> </a:t>
            </a:r>
            <a:r>
              <a:rPr lang="fa-IR" dirty="0">
                <a:solidFill>
                  <a:srgbClr val="B9EDFF"/>
                </a:solidFill>
                <a:cs typeface="B Lotus" panose="00000400000000000000" pitchFamily="2" charset="-78"/>
              </a:rPr>
              <a:t>[1]</a:t>
            </a:r>
            <a:r>
              <a:rPr lang="fa-IR" dirty="0">
                <a:cs typeface="B Lotus" panose="00000400000000000000" pitchFamily="2" charset="-78"/>
              </a:rPr>
              <a:t>.</a:t>
            </a:r>
            <a:endParaRPr lang="en-US" dirty="0">
              <a:solidFill>
                <a:srgbClr val="B9EDFF"/>
              </a:solidFill>
              <a:cs typeface="B Lotus" panose="00000400000000000000" pitchFamily="2" charset="-78"/>
            </a:endParaRPr>
          </a:p>
        </p:txBody>
      </p:sp>
      <p:sp>
        <p:nvSpPr>
          <p:cNvPr id="31"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62</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360391363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AutoShape 8">
            <a:extLst>
              <a:ext uri="{FF2B5EF4-FFF2-40B4-BE49-F238E27FC236}">
                <a16:creationId xmlns:a16="http://schemas.microsoft.com/office/drawing/2014/main" id="{CF9E5B87-43A1-4646-AE69-F01C6BAFAD06}"/>
              </a:ext>
            </a:extLst>
          </p:cNvPr>
          <p:cNvSpPr>
            <a:spLocks noChangeAspect="1" noChangeArrowheads="1"/>
          </p:cNvSpPr>
          <p:nvPr/>
        </p:nvSpPr>
        <p:spPr bwMode="gray">
          <a:xfrm>
            <a:off x="6477000" y="2514600"/>
            <a:ext cx="230346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cs typeface="B Nazanin" panose="00000400000000000000" pitchFamily="2" charset="-78"/>
              </a:rPr>
              <a:t>ولتاژ مدار باز (</a:t>
            </a:r>
            <a:r>
              <a:rPr lang="en-US" b="1" i="1" dirty="0">
                <a:latin typeface="Times New Roman" panose="02020603050405020304" pitchFamily="18" charset="0"/>
                <a:cs typeface="Times New Roman" panose="02020603050405020304" pitchFamily="18" charset="0"/>
              </a:rPr>
              <a:t>OCV</a:t>
            </a:r>
            <a:r>
              <a:rPr lang="fa-IR" b="1" dirty="0">
                <a:cs typeface="B Nazanin" panose="00000400000000000000" pitchFamily="2" charset="-78"/>
              </a:rPr>
              <a:t>)</a:t>
            </a:r>
            <a:endParaRPr lang="en-US" b="1" dirty="0">
              <a:solidFill>
                <a:srgbClr val="000000"/>
              </a:solidFill>
              <a:latin typeface="Times New Roman" panose="02020603050405020304" pitchFamily="18" charset="0"/>
              <a:cs typeface="B Nazanin" pitchFamily="2" charset="-78"/>
            </a:endParaRPr>
          </a:p>
        </p:txBody>
      </p:sp>
      <p:grpSp>
        <p:nvGrpSpPr>
          <p:cNvPr id="38" name="Group 23">
            <a:extLst>
              <a:ext uri="{FF2B5EF4-FFF2-40B4-BE49-F238E27FC236}">
                <a16:creationId xmlns:a16="http://schemas.microsoft.com/office/drawing/2014/main" id="{A77ECBC8-8907-49C6-B868-8715395CD4AB}"/>
              </a:ext>
            </a:extLst>
          </p:cNvPr>
          <p:cNvGrpSpPr>
            <a:grpSpLocks noChangeAspect="1"/>
          </p:cNvGrpSpPr>
          <p:nvPr/>
        </p:nvGrpSpPr>
        <p:grpSpPr bwMode="auto">
          <a:xfrm>
            <a:off x="8737600" y="2590800"/>
            <a:ext cx="381000" cy="381000"/>
            <a:chOff x="2078" y="1680"/>
            <a:chExt cx="1615" cy="1615"/>
          </a:xfrm>
        </p:grpSpPr>
        <p:sp>
          <p:nvSpPr>
            <p:cNvPr id="39" name="Oval 24">
              <a:extLst>
                <a:ext uri="{FF2B5EF4-FFF2-40B4-BE49-F238E27FC236}">
                  <a16:creationId xmlns:a16="http://schemas.microsoft.com/office/drawing/2014/main" id="{1501B9F0-1BD0-4587-A5DA-8504002448CD}"/>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0" name="Oval 25">
              <a:extLst>
                <a:ext uri="{FF2B5EF4-FFF2-40B4-BE49-F238E27FC236}">
                  <a16:creationId xmlns:a16="http://schemas.microsoft.com/office/drawing/2014/main" id="{909C959D-95E6-47AB-BA03-A36E5558C646}"/>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1" name="Oval 26">
              <a:extLst>
                <a:ext uri="{FF2B5EF4-FFF2-40B4-BE49-F238E27FC236}">
                  <a16:creationId xmlns:a16="http://schemas.microsoft.com/office/drawing/2014/main" id="{DBE4DAAC-D3AA-4C03-8635-E677788322CA}"/>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2" name="Oval 27">
              <a:extLst>
                <a:ext uri="{FF2B5EF4-FFF2-40B4-BE49-F238E27FC236}">
                  <a16:creationId xmlns:a16="http://schemas.microsoft.com/office/drawing/2014/main" id="{503A22F7-588D-4C3B-990F-521D103C8785}"/>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3" name="Oval 28">
              <a:extLst>
                <a:ext uri="{FF2B5EF4-FFF2-40B4-BE49-F238E27FC236}">
                  <a16:creationId xmlns:a16="http://schemas.microsoft.com/office/drawing/2014/main" id="{DB14B947-3B24-4D3C-8BA6-1CDE3B23E877}"/>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4" name="Oval 29">
              <a:extLst>
                <a:ext uri="{FF2B5EF4-FFF2-40B4-BE49-F238E27FC236}">
                  <a16:creationId xmlns:a16="http://schemas.microsoft.com/office/drawing/2014/main" id="{EC52A3D0-6BC6-4E5D-88F2-AA4F423555B2}"/>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52" name="TextBox 51">
            <a:extLst>
              <a:ext uri="{FF2B5EF4-FFF2-40B4-BE49-F238E27FC236}">
                <a16:creationId xmlns:a16="http://schemas.microsoft.com/office/drawing/2014/main" id="{0D7C9433-5674-4BC9-A282-6D982E5B3065}"/>
              </a:ext>
            </a:extLst>
          </p:cNvPr>
          <p:cNvSpPr txBox="1"/>
          <p:nvPr/>
        </p:nvSpPr>
        <p:spPr>
          <a:xfrm>
            <a:off x="4855882" y="2895600"/>
            <a:ext cx="65" cy="276999"/>
          </a:xfrm>
          <a:prstGeom prst="rect">
            <a:avLst/>
          </a:prstGeom>
          <a:noFill/>
        </p:spPr>
        <p:txBody>
          <a:bodyPr wrap="none" lIns="0" tIns="0" rIns="0" bIns="0" rtlCol="0">
            <a:spAutoFit/>
          </a:bodyPr>
          <a:lstStyle/>
          <a:p>
            <a:endParaRPr lang="en-US" dirty="0"/>
          </a:p>
        </p:txBody>
      </p:sp>
      <p:sp>
        <p:nvSpPr>
          <p:cNvPr id="24" name="TextBox 23"/>
          <p:cNvSpPr txBox="1"/>
          <p:nvPr/>
        </p:nvSpPr>
        <p:spPr>
          <a:xfrm>
            <a:off x="320146" y="934180"/>
            <a:ext cx="3717685" cy="369332"/>
          </a:xfrm>
          <a:prstGeom prst="rect">
            <a:avLst/>
          </a:prstGeom>
          <a:noFill/>
        </p:spPr>
        <p:txBody>
          <a:bodyPr wrap="none" rtlCol="0">
            <a:spAutoFit/>
          </a:bodyPr>
          <a:lstStyle/>
          <a:p>
            <a:pPr algn="r" rtl="1" fontAlgn="base">
              <a:spcBef>
                <a:spcPct val="0"/>
              </a:spcBef>
              <a:spcAft>
                <a:spcPct val="0"/>
              </a:spcAft>
            </a:pPr>
            <a:r>
              <a:rPr lang="fa-IR" b="1" dirty="0">
                <a:cs typeface="B Nazanin" panose="00000400000000000000" pitchFamily="2" charset="-78"/>
              </a:rPr>
              <a:t>روش های تخمین وضعیت شارژ باتری (</a:t>
            </a:r>
            <a:r>
              <a:rPr lang="en-US" b="1" i="1" dirty="0">
                <a:latin typeface="Times New Roman" panose="02020603050405020304" pitchFamily="18" charset="0"/>
                <a:cs typeface="Times New Roman" panose="02020603050405020304" pitchFamily="18" charset="0"/>
              </a:rPr>
              <a:t>SOC</a:t>
            </a:r>
            <a:r>
              <a:rPr lang="fa-IR" b="1" dirty="0">
                <a:cs typeface="B Nazanin" panose="00000400000000000000" pitchFamily="2" charset="-78"/>
              </a:rPr>
              <a:t>)</a:t>
            </a:r>
            <a:endParaRPr lang="en-US" b="1" dirty="0">
              <a:solidFill>
                <a:srgbClr val="000000"/>
              </a:solidFill>
              <a:latin typeface="Times New Roman" panose="02020603050405020304" pitchFamily="18" charset="0"/>
              <a:cs typeface="B Nazanin" pitchFamily="2" charset="-78"/>
            </a:endParaRPr>
          </a:p>
        </p:txBody>
      </p:sp>
      <p:pic>
        <p:nvPicPr>
          <p:cNvPr id="3" name="Picture 2"/>
          <p:cNvPicPr>
            <a:picLocks noChangeAspect="1"/>
          </p:cNvPicPr>
          <p:nvPr/>
        </p:nvPicPr>
        <p:blipFill>
          <a:blip r:embed="rId3"/>
          <a:stretch>
            <a:fillRect/>
          </a:stretch>
        </p:blipFill>
        <p:spPr>
          <a:xfrm>
            <a:off x="6269607" y="3505200"/>
            <a:ext cx="1841042" cy="1893992"/>
          </a:xfrm>
          <a:prstGeom prst="rect">
            <a:avLst/>
          </a:prstGeom>
        </p:spPr>
      </p:pic>
      <p:sp>
        <p:nvSpPr>
          <p:cNvPr id="25" name="Rounded Rectangle 175">
            <a:extLst>
              <a:ext uri="{FF2B5EF4-FFF2-40B4-BE49-F238E27FC236}">
                <a16:creationId xmlns:a16="http://schemas.microsoft.com/office/drawing/2014/main" id="{B0A9F86E-7CF0-432E-AA46-04AFCEFE037D}"/>
              </a:ext>
            </a:extLst>
          </p:cNvPr>
          <p:cNvSpPr/>
          <p:nvPr/>
        </p:nvSpPr>
        <p:spPr bwMode="auto">
          <a:xfrm>
            <a:off x="6858000" y="971946"/>
            <a:ext cx="23890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fontAlgn="base">
              <a:spcBef>
                <a:spcPct val="0"/>
              </a:spcBef>
              <a:spcAft>
                <a:spcPct val="0"/>
              </a:spcAft>
              <a:defRPr/>
            </a:pPr>
            <a:r>
              <a:rPr lang="fa-IR" sz="2200" b="1" kern="0" dirty="0">
                <a:solidFill>
                  <a:srgbClr val="FFFFFF"/>
                </a:solidFill>
                <a:latin typeface="Times New Roman" panose="02020603050405020304" pitchFamily="18" charset="0"/>
                <a:cs typeface="B Nazanin" pitchFamily="2" charset="-78"/>
              </a:rPr>
              <a:t>سیستم مدیریت باتری</a:t>
            </a:r>
          </a:p>
        </p:txBody>
      </p:sp>
      <p:sp>
        <p:nvSpPr>
          <p:cNvPr id="26" name="AutoShape 12" descr="5 Things That Affect Your Charging Speed | EVgo">
            <a:extLst>
              <a:ext uri="{FF2B5EF4-FFF2-40B4-BE49-F238E27FC236}">
                <a16:creationId xmlns:a16="http://schemas.microsoft.com/office/drawing/2014/main" id="{0E95D3DA-FDB6-4FE2-AAEB-3AB05E0ED1A3}"/>
              </a:ext>
            </a:extLst>
          </p:cNvPr>
          <p:cNvSpPr>
            <a:spLocks noChangeAspect="1" noChangeArrowheads="1"/>
          </p:cNvSpPr>
          <p:nvPr/>
        </p:nvSpPr>
        <p:spPr bwMode="auto">
          <a:xfrm>
            <a:off x="63500" y="-13652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7" name="AutoShape 2" descr="What is the Depth of Discharge (DoD) Estimation of a Lithium Ion Battery?">
            <a:extLst>
              <a:ext uri="{FF2B5EF4-FFF2-40B4-BE49-F238E27FC236}">
                <a16:creationId xmlns:a16="http://schemas.microsoft.com/office/drawing/2014/main" id="{8D1E0A22-85B7-4ADB-A481-FA35F1D222B4}"/>
              </a:ext>
            </a:extLst>
          </p:cNvPr>
          <p:cNvSpPr>
            <a:spLocks noChangeAspect="1" noChangeArrowheads="1"/>
          </p:cNvSpPr>
          <p:nvPr/>
        </p:nvSpPr>
        <p:spPr bwMode="auto">
          <a:xfrm>
            <a:off x="215900" y="1587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8" name="AutoShape 10">
            <a:extLst>
              <a:ext uri="{FF2B5EF4-FFF2-40B4-BE49-F238E27FC236}">
                <a16:creationId xmlns:a16="http://schemas.microsoft.com/office/drawing/2014/main" id="{AEBA6AC3-ACC4-4CDF-85DB-632B7198D7FE}"/>
              </a:ext>
            </a:extLst>
          </p:cNvPr>
          <p:cNvSpPr>
            <a:spLocks noChangeArrowheads="1"/>
          </p:cNvSpPr>
          <p:nvPr/>
        </p:nvSpPr>
        <p:spPr bwMode="gray">
          <a:xfrm flipH="1">
            <a:off x="6244699" y="57140"/>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9" name="AutoShape 3">
            <a:extLst>
              <a:ext uri="{FF2B5EF4-FFF2-40B4-BE49-F238E27FC236}">
                <a16:creationId xmlns:a16="http://schemas.microsoft.com/office/drawing/2014/main" id="{42693DFD-3480-4F7A-AD10-E4259BDB5FD8}"/>
              </a:ext>
            </a:extLst>
          </p:cNvPr>
          <p:cNvSpPr>
            <a:spLocks noChangeArrowheads="1"/>
          </p:cNvSpPr>
          <p:nvPr/>
        </p:nvSpPr>
        <p:spPr bwMode="gray">
          <a:xfrm flipH="1">
            <a:off x="4188613" y="57140"/>
            <a:ext cx="2056086"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2" name="AutoShape 3">
            <a:extLst>
              <a:ext uri="{FF2B5EF4-FFF2-40B4-BE49-F238E27FC236}">
                <a16:creationId xmlns:a16="http://schemas.microsoft.com/office/drawing/2014/main" id="{AA1E5CE9-3038-43CE-8A56-960100E579DF}"/>
              </a:ext>
            </a:extLst>
          </p:cNvPr>
          <p:cNvSpPr>
            <a:spLocks noChangeArrowheads="1"/>
          </p:cNvSpPr>
          <p:nvPr/>
        </p:nvSpPr>
        <p:spPr bwMode="gray">
          <a:xfrm flipH="1">
            <a:off x="2132529" y="57140"/>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3" name="AutoShape 3">
            <a:extLst>
              <a:ext uri="{FF2B5EF4-FFF2-40B4-BE49-F238E27FC236}">
                <a16:creationId xmlns:a16="http://schemas.microsoft.com/office/drawing/2014/main" id="{0B0A0D4A-F5BD-40F7-94C7-288844499923}"/>
              </a:ext>
            </a:extLst>
          </p:cNvPr>
          <p:cNvSpPr>
            <a:spLocks noChangeArrowheads="1"/>
          </p:cNvSpPr>
          <p:nvPr/>
        </p:nvSpPr>
        <p:spPr bwMode="gray">
          <a:xfrm flipH="1">
            <a:off x="161662" y="57140"/>
            <a:ext cx="1970868"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4" name="Rectangle 33">
            <a:extLst>
              <a:ext uri="{FF2B5EF4-FFF2-40B4-BE49-F238E27FC236}">
                <a16:creationId xmlns:a16="http://schemas.microsoft.com/office/drawing/2014/main" id="{212830D6-2ED2-4407-AE97-06E3B18D3B95}"/>
              </a:ext>
            </a:extLst>
          </p:cNvPr>
          <p:cNvSpPr/>
          <p:nvPr/>
        </p:nvSpPr>
        <p:spPr>
          <a:xfrm>
            <a:off x="431672" y="189466"/>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5" name="Rectangle 34">
            <a:extLst>
              <a:ext uri="{FF2B5EF4-FFF2-40B4-BE49-F238E27FC236}">
                <a16:creationId xmlns:a16="http://schemas.microsoft.com/office/drawing/2014/main" id="{0F116B75-4B6F-4ACF-ACC9-B05EFD88E56D}"/>
              </a:ext>
            </a:extLst>
          </p:cNvPr>
          <p:cNvSpPr/>
          <p:nvPr/>
        </p:nvSpPr>
        <p:spPr>
          <a:xfrm>
            <a:off x="2355191" y="66356"/>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6" name="Rectangle 35">
            <a:extLst>
              <a:ext uri="{FF2B5EF4-FFF2-40B4-BE49-F238E27FC236}">
                <a16:creationId xmlns:a16="http://schemas.microsoft.com/office/drawing/2014/main" id="{718F4A34-B33A-4C4D-B937-20ACD46108E9}"/>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7" name="Rectangle 36">
            <a:extLst>
              <a:ext uri="{FF2B5EF4-FFF2-40B4-BE49-F238E27FC236}">
                <a16:creationId xmlns:a16="http://schemas.microsoft.com/office/drawing/2014/main" id="{38231380-D284-47B7-8807-DD698AA4AAA7}"/>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pic>
        <p:nvPicPr>
          <p:cNvPr id="45" name="Picture 44" descr="پرونده:Azad University logo.png - ویکی‌پدیا، دانشنامهٔ آزاد">
            <a:extLst>
              <a:ext uri="{FF2B5EF4-FFF2-40B4-BE49-F238E27FC236}">
                <a16:creationId xmlns:a16="http://schemas.microsoft.com/office/drawing/2014/main" id="{2AEE2930-8E3A-4897-9A34-A5ACD1D5820A}"/>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48" name="TextBox 47">
            <a:extLst>
              <a:ext uri="{FF2B5EF4-FFF2-40B4-BE49-F238E27FC236}">
                <a16:creationId xmlns:a16="http://schemas.microsoft.com/office/drawing/2014/main" id="{8F6CBAFA-95C7-46DC-A05B-FEA9F2BF6ED2}"/>
              </a:ext>
            </a:extLst>
          </p:cNvPr>
          <p:cNvSpPr txBox="1"/>
          <p:nvPr/>
        </p:nvSpPr>
        <p:spPr>
          <a:xfrm>
            <a:off x="1746892" y="5867400"/>
            <a:ext cx="3267241" cy="369332"/>
          </a:xfrm>
          <a:prstGeom prst="rect">
            <a:avLst/>
          </a:prstGeom>
          <a:noFill/>
        </p:spPr>
        <p:txBody>
          <a:bodyPr wrap="none" rtlCol="0">
            <a:spAutoFit/>
          </a:bodyPr>
          <a:lstStyle/>
          <a:p>
            <a:pPr algn="r" rtl="1" fontAlgn="base">
              <a:spcBef>
                <a:spcPct val="0"/>
              </a:spcBef>
              <a:spcAft>
                <a:spcPct val="0"/>
              </a:spcAft>
            </a:pPr>
            <a:r>
              <a:rPr lang="fa-IR" dirty="0">
                <a:cs typeface="B Lotus" panose="00000400000000000000" pitchFamily="2" charset="-78"/>
              </a:rPr>
              <a:t>نمودار </a:t>
            </a:r>
            <a:r>
              <a:rPr lang="en-US" dirty="0">
                <a:cs typeface="B Lotus" panose="00000400000000000000" pitchFamily="2" charset="-78"/>
              </a:rPr>
              <a:t> SOC/OCV</a:t>
            </a:r>
            <a:r>
              <a:rPr lang="fa-IR" dirty="0">
                <a:cs typeface="B Lotus" panose="00000400000000000000" pitchFamily="2" charset="-78"/>
              </a:rPr>
              <a:t>یک نمونه باتری </a:t>
            </a:r>
            <a:r>
              <a:rPr lang="fa-IR" dirty="0">
                <a:solidFill>
                  <a:srgbClr val="B9EDFF"/>
                </a:solidFill>
                <a:cs typeface="B Lotus" panose="00000400000000000000" pitchFamily="2" charset="-78"/>
              </a:rPr>
              <a:t>[1]</a:t>
            </a:r>
            <a:r>
              <a:rPr lang="fa-IR" dirty="0">
                <a:cs typeface="B Lotus" panose="00000400000000000000" pitchFamily="2" charset="-78"/>
              </a:rPr>
              <a:t>.</a:t>
            </a:r>
            <a:endParaRPr lang="en-US" dirty="0">
              <a:solidFill>
                <a:srgbClr val="B9EDFF"/>
              </a:solidFill>
              <a:cs typeface="B Lotus" panose="00000400000000000000" pitchFamily="2" charset="-78"/>
            </a:endParaRPr>
          </a:p>
        </p:txBody>
      </p:sp>
      <p:sp>
        <p:nvSpPr>
          <p:cNvPr id="30"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63</a:t>
            </a:fld>
            <a:endParaRPr lang="fa-IR" sz="1800" dirty="0">
              <a:solidFill>
                <a:schemeClr val="tx1"/>
              </a:solidFill>
              <a:cs typeface="B Lotus" panose="00000400000000000000" pitchFamily="2" charset="-78"/>
            </a:endParaRPr>
          </a:p>
        </p:txBody>
      </p:sp>
      <p:pic>
        <p:nvPicPr>
          <p:cNvPr id="2" name="Picture 1"/>
          <p:cNvPicPr>
            <a:picLocks noChangeAspect="1"/>
          </p:cNvPicPr>
          <p:nvPr/>
        </p:nvPicPr>
        <p:blipFill>
          <a:blip r:embed="rId5"/>
          <a:stretch>
            <a:fillRect/>
          </a:stretch>
        </p:blipFill>
        <p:spPr>
          <a:xfrm>
            <a:off x="161662" y="1303512"/>
            <a:ext cx="5956300" cy="4554470"/>
          </a:xfrm>
          <a:prstGeom prst="rect">
            <a:avLst/>
          </a:prstGeom>
        </p:spPr>
      </p:pic>
    </p:spTree>
    <p:extLst>
      <p:ext uri="{BB962C8B-B14F-4D97-AF65-F5344CB8AC3E}">
        <p14:creationId xmlns:p14="http://schemas.microsoft.com/office/powerpoint/2010/main" val="15963299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TextBox 51">
            <a:extLst>
              <a:ext uri="{FF2B5EF4-FFF2-40B4-BE49-F238E27FC236}">
                <a16:creationId xmlns:a16="http://schemas.microsoft.com/office/drawing/2014/main" id="{0D7C9433-5674-4BC9-A282-6D982E5B3065}"/>
              </a:ext>
            </a:extLst>
          </p:cNvPr>
          <p:cNvSpPr txBox="1"/>
          <p:nvPr/>
        </p:nvSpPr>
        <p:spPr>
          <a:xfrm>
            <a:off x="4883132" y="3660199"/>
            <a:ext cx="65" cy="276999"/>
          </a:xfrm>
          <a:prstGeom prst="rect">
            <a:avLst/>
          </a:prstGeom>
          <a:noFill/>
        </p:spPr>
        <p:txBody>
          <a:bodyPr wrap="none" lIns="0" tIns="0" rIns="0" bIns="0" rtlCol="0">
            <a:spAutoFit/>
          </a:bodyPr>
          <a:lstStyle/>
          <a:p>
            <a:endParaRPr lang="en-US" dirty="0"/>
          </a:p>
        </p:txBody>
      </p:sp>
      <p:sp>
        <p:nvSpPr>
          <p:cNvPr id="4" name="AutoShape 2" descr="Lithium-Ion State of Charge (SoC) measurement - Coulomb Counter method - OCV"/>
          <p:cNvSpPr>
            <a:spLocks noChangeAspect="1" noChangeArrowheads="1"/>
          </p:cNvSpPr>
          <p:nvPr/>
        </p:nvSpPr>
        <p:spPr bwMode="auto">
          <a:xfrm>
            <a:off x="63500" y="-13652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 name="AutoShape 2" descr="Lithium-ion Battery Internal Resistance Testing | Manufacturing &amp;  Inspection | Hioki"/>
          <p:cNvSpPr>
            <a:spLocks noChangeAspect="1" noChangeArrowheads="1"/>
          </p:cNvSpPr>
          <p:nvPr/>
        </p:nvSpPr>
        <p:spPr bwMode="auto">
          <a:xfrm>
            <a:off x="215900" y="1587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5" name="Picture 4"/>
          <p:cNvPicPr>
            <a:picLocks noChangeAspect="1"/>
          </p:cNvPicPr>
          <p:nvPr/>
        </p:nvPicPr>
        <p:blipFill>
          <a:blip r:embed="rId3"/>
          <a:stretch>
            <a:fillRect/>
          </a:stretch>
        </p:blipFill>
        <p:spPr>
          <a:xfrm>
            <a:off x="63500" y="1303512"/>
            <a:ext cx="6238176" cy="5024121"/>
          </a:xfrm>
          <a:prstGeom prst="rect">
            <a:avLst/>
          </a:prstGeom>
        </p:spPr>
      </p:pic>
      <p:sp>
        <p:nvSpPr>
          <p:cNvPr id="27" name="AutoShape 2" descr="Lithium-Ion State of Charge (SoC) measurement - Coulomb Counter method - OCV">
            <a:extLst>
              <a:ext uri="{FF2B5EF4-FFF2-40B4-BE49-F238E27FC236}">
                <a16:creationId xmlns:a16="http://schemas.microsoft.com/office/drawing/2014/main" id="{B70C6DFB-1A02-4744-A983-E9910E9867E6}"/>
              </a:ext>
            </a:extLst>
          </p:cNvPr>
          <p:cNvSpPr>
            <a:spLocks noChangeAspect="1" noChangeArrowheads="1"/>
          </p:cNvSpPr>
          <p:nvPr/>
        </p:nvSpPr>
        <p:spPr bwMode="auto">
          <a:xfrm>
            <a:off x="63500" y="-13652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28" name="Rounded Rectangle 175">
            <a:extLst>
              <a:ext uri="{FF2B5EF4-FFF2-40B4-BE49-F238E27FC236}">
                <a16:creationId xmlns:a16="http://schemas.microsoft.com/office/drawing/2014/main" id="{32885676-30C8-4DEE-B74C-88FB1B127E46}"/>
              </a:ext>
            </a:extLst>
          </p:cNvPr>
          <p:cNvSpPr/>
          <p:nvPr/>
        </p:nvSpPr>
        <p:spPr bwMode="auto">
          <a:xfrm>
            <a:off x="6858000" y="971946"/>
            <a:ext cx="23890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fontAlgn="base">
              <a:spcBef>
                <a:spcPct val="0"/>
              </a:spcBef>
              <a:spcAft>
                <a:spcPct val="0"/>
              </a:spcAft>
              <a:defRPr/>
            </a:pPr>
            <a:r>
              <a:rPr lang="fa-IR" sz="2200" b="1" kern="0" dirty="0">
                <a:solidFill>
                  <a:srgbClr val="FFFFFF"/>
                </a:solidFill>
                <a:latin typeface="Times New Roman" panose="02020603050405020304" pitchFamily="18" charset="0"/>
                <a:cs typeface="B Nazanin" pitchFamily="2" charset="-78"/>
              </a:rPr>
              <a:t>سیستم مدیریت باتری</a:t>
            </a:r>
          </a:p>
        </p:txBody>
      </p:sp>
      <p:sp>
        <p:nvSpPr>
          <p:cNvPr id="29" name="AutoShape 12" descr="5 Things That Affect Your Charging Speed | EVgo">
            <a:extLst>
              <a:ext uri="{FF2B5EF4-FFF2-40B4-BE49-F238E27FC236}">
                <a16:creationId xmlns:a16="http://schemas.microsoft.com/office/drawing/2014/main" id="{25333ABC-CE3B-4D84-8828-12F19CA94138}"/>
              </a:ext>
            </a:extLst>
          </p:cNvPr>
          <p:cNvSpPr>
            <a:spLocks noChangeAspect="1" noChangeArrowheads="1"/>
          </p:cNvSpPr>
          <p:nvPr/>
        </p:nvSpPr>
        <p:spPr bwMode="auto">
          <a:xfrm>
            <a:off x="63500" y="-13652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2" name="AutoShape 2" descr="What is the Depth of Discharge (DoD) Estimation of a Lithium Ion Battery?">
            <a:extLst>
              <a:ext uri="{FF2B5EF4-FFF2-40B4-BE49-F238E27FC236}">
                <a16:creationId xmlns:a16="http://schemas.microsoft.com/office/drawing/2014/main" id="{3E06600B-A8F7-4969-8D15-D641A6B512E5}"/>
              </a:ext>
            </a:extLst>
          </p:cNvPr>
          <p:cNvSpPr>
            <a:spLocks noChangeAspect="1" noChangeArrowheads="1"/>
          </p:cNvSpPr>
          <p:nvPr/>
        </p:nvSpPr>
        <p:spPr bwMode="auto">
          <a:xfrm>
            <a:off x="215900" y="1587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3" name="AutoShape 10">
            <a:extLst>
              <a:ext uri="{FF2B5EF4-FFF2-40B4-BE49-F238E27FC236}">
                <a16:creationId xmlns:a16="http://schemas.microsoft.com/office/drawing/2014/main" id="{06F59F1F-331F-4DA4-817A-701F3E87A87E}"/>
              </a:ext>
            </a:extLst>
          </p:cNvPr>
          <p:cNvSpPr>
            <a:spLocks noChangeArrowheads="1"/>
          </p:cNvSpPr>
          <p:nvPr/>
        </p:nvSpPr>
        <p:spPr bwMode="gray">
          <a:xfrm flipH="1">
            <a:off x="6244699" y="57140"/>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4" name="AutoShape 3">
            <a:extLst>
              <a:ext uri="{FF2B5EF4-FFF2-40B4-BE49-F238E27FC236}">
                <a16:creationId xmlns:a16="http://schemas.microsoft.com/office/drawing/2014/main" id="{3C314289-9097-4E98-80D5-E76C61F61573}"/>
              </a:ext>
            </a:extLst>
          </p:cNvPr>
          <p:cNvSpPr>
            <a:spLocks noChangeArrowheads="1"/>
          </p:cNvSpPr>
          <p:nvPr/>
        </p:nvSpPr>
        <p:spPr bwMode="gray">
          <a:xfrm flipH="1">
            <a:off x="4188613" y="57140"/>
            <a:ext cx="2056086"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5" name="AutoShape 3">
            <a:extLst>
              <a:ext uri="{FF2B5EF4-FFF2-40B4-BE49-F238E27FC236}">
                <a16:creationId xmlns:a16="http://schemas.microsoft.com/office/drawing/2014/main" id="{96AFC566-52A9-4352-8643-4061376F0B03}"/>
              </a:ext>
            </a:extLst>
          </p:cNvPr>
          <p:cNvSpPr>
            <a:spLocks noChangeArrowheads="1"/>
          </p:cNvSpPr>
          <p:nvPr/>
        </p:nvSpPr>
        <p:spPr bwMode="gray">
          <a:xfrm flipH="1">
            <a:off x="2132529" y="57140"/>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6" name="AutoShape 3">
            <a:extLst>
              <a:ext uri="{FF2B5EF4-FFF2-40B4-BE49-F238E27FC236}">
                <a16:creationId xmlns:a16="http://schemas.microsoft.com/office/drawing/2014/main" id="{C8EE1CC3-8069-4DB7-980E-00B48DFEEBB5}"/>
              </a:ext>
            </a:extLst>
          </p:cNvPr>
          <p:cNvSpPr>
            <a:spLocks noChangeArrowheads="1"/>
          </p:cNvSpPr>
          <p:nvPr/>
        </p:nvSpPr>
        <p:spPr bwMode="gray">
          <a:xfrm flipH="1">
            <a:off x="161662" y="57140"/>
            <a:ext cx="1970868"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7" name="Rectangle 36">
            <a:extLst>
              <a:ext uri="{FF2B5EF4-FFF2-40B4-BE49-F238E27FC236}">
                <a16:creationId xmlns:a16="http://schemas.microsoft.com/office/drawing/2014/main" id="{23D3162C-E04A-43B8-B0EC-4CD4DAF8F701}"/>
              </a:ext>
            </a:extLst>
          </p:cNvPr>
          <p:cNvSpPr/>
          <p:nvPr/>
        </p:nvSpPr>
        <p:spPr>
          <a:xfrm>
            <a:off x="431672" y="189466"/>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5" name="Rectangle 44">
            <a:extLst>
              <a:ext uri="{FF2B5EF4-FFF2-40B4-BE49-F238E27FC236}">
                <a16:creationId xmlns:a16="http://schemas.microsoft.com/office/drawing/2014/main" id="{42D142D5-65DE-496F-8FC5-EC401D53DA29}"/>
              </a:ext>
            </a:extLst>
          </p:cNvPr>
          <p:cNvSpPr/>
          <p:nvPr/>
        </p:nvSpPr>
        <p:spPr>
          <a:xfrm>
            <a:off x="2355191" y="66356"/>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6" name="Rectangle 45">
            <a:extLst>
              <a:ext uri="{FF2B5EF4-FFF2-40B4-BE49-F238E27FC236}">
                <a16:creationId xmlns:a16="http://schemas.microsoft.com/office/drawing/2014/main" id="{796D06F0-D8E6-4E84-9854-A9DE23F4D0CD}"/>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7" name="Rectangle 46">
            <a:extLst>
              <a:ext uri="{FF2B5EF4-FFF2-40B4-BE49-F238E27FC236}">
                <a16:creationId xmlns:a16="http://schemas.microsoft.com/office/drawing/2014/main" id="{7A40CFFB-68C7-410B-84C1-B7CF46C17C9B}"/>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pic>
        <p:nvPicPr>
          <p:cNvPr id="48" name="Picture 47" descr="پرونده:Azad University logo.png - ویکی‌پدیا، دانشنامهٔ آزاد">
            <a:extLst>
              <a:ext uri="{FF2B5EF4-FFF2-40B4-BE49-F238E27FC236}">
                <a16:creationId xmlns:a16="http://schemas.microsoft.com/office/drawing/2014/main" id="{E8E26B7E-4943-4452-A8C3-5DFBCB9CE7BE}"/>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50" name="TextBox 49">
            <a:extLst>
              <a:ext uri="{FF2B5EF4-FFF2-40B4-BE49-F238E27FC236}">
                <a16:creationId xmlns:a16="http://schemas.microsoft.com/office/drawing/2014/main" id="{A9502E4B-C172-463C-8653-0651C349F4E8}"/>
              </a:ext>
            </a:extLst>
          </p:cNvPr>
          <p:cNvSpPr txBox="1"/>
          <p:nvPr/>
        </p:nvSpPr>
        <p:spPr>
          <a:xfrm>
            <a:off x="320146" y="934180"/>
            <a:ext cx="3717685" cy="369332"/>
          </a:xfrm>
          <a:prstGeom prst="rect">
            <a:avLst/>
          </a:prstGeom>
          <a:noFill/>
        </p:spPr>
        <p:txBody>
          <a:bodyPr wrap="none" rtlCol="0">
            <a:spAutoFit/>
          </a:bodyPr>
          <a:lstStyle/>
          <a:p>
            <a:pPr algn="r" rtl="1" fontAlgn="base">
              <a:spcBef>
                <a:spcPct val="0"/>
              </a:spcBef>
              <a:spcAft>
                <a:spcPct val="0"/>
              </a:spcAft>
            </a:pPr>
            <a:r>
              <a:rPr lang="fa-IR" b="1" dirty="0">
                <a:cs typeface="B Nazanin" panose="00000400000000000000" pitchFamily="2" charset="-78"/>
              </a:rPr>
              <a:t>روش های تخمین وضعیت شارژ باتری (</a:t>
            </a:r>
            <a:r>
              <a:rPr lang="en-US" b="1" i="1" dirty="0">
                <a:latin typeface="Times New Roman" panose="02020603050405020304" pitchFamily="18" charset="0"/>
                <a:cs typeface="Times New Roman" panose="02020603050405020304" pitchFamily="18" charset="0"/>
              </a:rPr>
              <a:t>SOC</a:t>
            </a:r>
            <a:r>
              <a:rPr lang="fa-IR" b="1" dirty="0">
                <a:cs typeface="B Nazanin" panose="00000400000000000000" pitchFamily="2" charset="-78"/>
              </a:rPr>
              <a:t>)</a:t>
            </a:r>
            <a:endParaRPr lang="en-US" b="1" dirty="0">
              <a:solidFill>
                <a:srgbClr val="000000"/>
              </a:solidFill>
              <a:latin typeface="Times New Roman" panose="02020603050405020304" pitchFamily="18" charset="0"/>
              <a:cs typeface="B Nazanin" pitchFamily="2" charset="-78"/>
            </a:endParaRPr>
          </a:p>
        </p:txBody>
      </p:sp>
      <p:sp>
        <p:nvSpPr>
          <p:cNvPr id="51" name="TextBox 50">
            <a:extLst>
              <a:ext uri="{FF2B5EF4-FFF2-40B4-BE49-F238E27FC236}">
                <a16:creationId xmlns:a16="http://schemas.microsoft.com/office/drawing/2014/main" id="{276660C7-12E0-496C-9DDE-89D8F2D4D4AF}"/>
              </a:ext>
            </a:extLst>
          </p:cNvPr>
          <p:cNvSpPr txBox="1"/>
          <p:nvPr/>
        </p:nvSpPr>
        <p:spPr>
          <a:xfrm>
            <a:off x="1062597" y="6223484"/>
            <a:ext cx="4618572" cy="369332"/>
          </a:xfrm>
          <a:prstGeom prst="rect">
            <a:avLst/>
          </a:prstGeom>
          <a:noFill/>
        </p:spPr>
        <p:txBody>
          <a:bodyPr wrap="none" rtlCol="0">
            <a:spAutoFit/>
          </a:bodyPr>
          <a:lstStyle/>
          <a:p>
            <a:pPr algn="r" rtl="1" fontAlgn="base">
              <a:spcBef>
                <a:spcPct val="0"/>
              </a:spcBef>
              <a:spcAft>
                <a:spcPct val="0"/>
              </a:spcAft>
            </a:pPr>
            <a:r>
              <a:rPr lang="fa-IR" dirty="0">
                <a:cs typeface="B Lotus" panose="00000400000000000000" pitchFamily="2" charset="-78"/>
              </a:rPr>
              <a:t>استخراج خواص الکتریکی باتری توسط نمودار پاسخ پالس </a:t>
            </a:r>
            <a:r>
              <a:rPr lang="fa-IR" dirty="0">
                <a:solidFill>
                  <a:srgbClr val="B9EDFF"/>
                </a:solidFill>
                <a:cs typeface="B Lotus" panose="00000400000000000000" pitchFamily="2" charset="-78"/>
              </a:rPr>
              <a:t>[1]</a:t>
            </a:r>
            <a:r>
              <a:rPr lang="fa-IR" dirty="0">
                <a:cs typeface="B Lotus" panose="00000400000000000000" pitchFamily="2" charset="-78"/>
              </a:rPr>
              <a:t>.</a:t>
            </a:r>
            <a:endParaRPr lang="en-US" dirty="0">
              <a:solidFill>
                <a:srgbClr val="B9EDFF"/>
              </a:solidFill>
              <a:cs typeface="B Lotus" panose="00000400000000000000" pitchFamily="2" charset="-78"/>
            </a:endParaRPr>
          </a:p>
        </p:txBody>
      </p:sp>
      <p:sp>
        <p:nvSpPr>
          <p:cNvPr id="30" name="AutoShape 8">
            <a:extLst>
              <a:ext uri="{FF2B5EF4-FFF2-40B4-BE49-F238E27FC236}">
                <a16:creationId xmlns:a16="http://schemas.microsoft.com/office/drawing/2014/main" id="{CF9E5B87-43A1-4646-AE69-F01C6BAFAD06}"/>
              </a:ext>
            </a:extLst>
          </p:cNvPr>
          <p:cNvSpPr>
            <a:spLocks noChangeAspect="1" noChangeArrowheads="1"/>
          </p:cNvSpPr>
          <p:nvPr/>
        </p:nvSpPr>
        <p:spPr bwMode="gray">
          <a:xfrm>
            <a:off x="6494325" y="1866180"/>
            <a:ext cx="230346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solidFill>
                  <a:srgbClr val="000000"/>
                </a:solidFill>
                <a:latin typeface="Times New Roman" panose="02020603050405020304" pitchFamily="18" charset="0"/>
                <a:cs typeface="B Nazanin" pitchFamily="2" charset="-78"/>
              </a:rPr>
              <a:t>مبتنی بر مدل</a:t>
            </a:r>
            <a:endParaRPr lang="en-US" b="1" dirty="0">
              <a:solidFill>
                <a:srgbClr val="000000"/>
              </a:solidFill>
              <a:latin typeface="Times New Roman" panose="02020603050405020304" pitchFamily="18" charset="0"/>
              <a:cs typeface="B Nazanin" pitchFamily="2" charset="-78"/>
            </a:endParaRPr>
          </a:p>
        </p:txBody>
      </p:sp>
      <p:grpSp>
        <p:nvGrpSpPr>
          <p:cNvPr id="31" name="Group 23">
            <a:extLst>
              <a:ext uri="{FF2B5EF4-FFF2-40B4-BE49-F238E27FC236}">
                <a16:creationId xmlns:a16="http://schemas.microsoft.com/office/drawing/2014/main" id="{A77ECBC8-8907-49C6-B868-8715395CD4AB}"/>
              </a:ext>
            </a:extLst>
          </p:cNvPr>
          <p:cNvGrpSpPr>
            <a:grpSpLocks noChangeAspect="1"/>
          </p:cNvGrpSpPr>
          <p:nvPr/>
        </p:nvGrpSpPr>
        <p:grpSpPr bwMode="auto">
          <a:xfrm>
            <a:off x="8754925" y="1942380"/>
            <a:ext cx="381000" cy="381000"/>
            <a:chOff x="2078" y="1680"/>
            <a:chExt cx="1615" cy="1615"/>
          </a:xfrm>
        </p:grpSpPr>
        <p:sp>
          <p:nvSpPr>
            <p:cNvPr id="53" name="Oval 24">
              <a:extLst>
                <a:ext uri="{FF2B5EF4-FFF2-40B4-BE49-F238E27FC236}">
                  <a16:creationId xmlns:a16="http://schemas.microsoft.com/office/drawing/2014/main" id="{1501B9F0-1BD0-4587-A5DA-8504002448CD}"/>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54" name="Oval 25">
              <a:extLst>
                <a:ext uri="{FF2B5EF4-FFF2-40B4-BE49-F238E27FC236}">
                  <a16:creationId xmlns:a16="http://schemas.microsoft.com/office/drawing/2014/main" id="{909C959D-95E6-47AB-BA03-A36E5558C646}"/>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55" name="Oval 26">
              <a:extLst>
                <a:ext uri="{FF2B5EF4-FFF2-40B4-BE49-F238E27FC236}">
                  <a16:creationId xmlns:a16="http://schemas.microsoft.com/office/drawing/2014/main" id="{DBE4DAAC-D3AA-4C03-8635-E677788322CA}"/>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56" name="Oval 27">
              <a:extLst>
                <a:ext uri="{FF2B5EF4-FFF2-40B4-BE49-F238E27FC236}">
                  <a16:creationId xmlns:a16="http://schemas.microsoft.com/office/drawing/2014/main" id="{503A22F7-588D-4C3B-990F-521D103C8785}"/>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57" name="Oval 28">
              <a:extLst>
                <a:ext uri="{FF2B5EF4-FFF2-40B4-BE49-F238E27FC236}">
                  <a16:creationId xmlns:a16="http://schemas.microsoft.com/office/drawing/2014/main" id="{DB14B947-3B24-4D3C-8BA6-1CDE3B23E877}"/>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58" name="Oval 29">
              <a:extLst>
                <a:ext uri="{FF2B5EF4-FFF2-40B4-BE49-F238E27FC236}">
                  <a16:creationId xmlns:a16="http://schemas.microsoft.com/office/drawing/2014/main" id="{EC52A3D0-6BC6-4E5D-88F2-AA4F423555B2}"/>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38"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64</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240642786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AutoShape 8">
            <a:extLst>
              <a:ext uri="{FF2B5EF4-FFF2-40B4-BE49-F238E27FC236}">
                <a16:creationId xmlns:a16="http://schemas.microsoft.com/office/drawing/2014/main" id="{CF9E5B87-43A1-4646-AE69-F01C6BAFAD06}"/>
              </a:ext>
            </a:extLst>
          </p:cNvPr>
          <p:cNvSpPr>
            <a:spLocks noChangeAspect="1" noChangeArrowheads="1"/>
          </p:cNvSpPr>
          <p:nvPr/>
        </p:nvSpPr>
        <p:spPr bwMode="gray">
          <a:xfrm>
            <a:off x="6078535" y="2210332"/>
            <a:ext cx="2303465" cy="508000"/>
          </a:xfrm>
          <a:prstGeom prst="roundRect">
            <a:avLst>
              <a:gd name="adj" fmla="val 50000"/>
            </a:avLst>
          </a:prstGeom>
          <a:gradFill flip="none" rotWithShape="1">
            <a:gsLst>
              <a:gs pos="0">
                <a:srgbClr val="B7E7FF">
                  <a:gamma/>
                  <a:tint val="0"/>
                  <a:invGamma/>
                </a:srgbClr>
              </a:gs>
              <a:gs pos="100000">
                <a:srgbClr val="B7E7FF"/>
              </a:gs>
            </a:gsLst>
            <a:lin ang="10800000" scaled="1"/>
            <a:tileRect/>
          </a:gradFill>
          <a:ln w="28575" algn="ctr">
            <a:solidFill>
              <a:srgbClr val="C4E59F"/>
            </a:solidFill>
            <a:round/>
            <a:headEnd/>
            <a:tailEnd/>
          </a:ln>
          <a:effectLst/>
        </p:spPr>
        <p:txBody>
          <a:bodyPr wrap="none" anchor="ctr"/>
          <a:lstStyle/>
          <a:p>
            <a:pPr algn="r" rtl="1" fontAlgn="base">
              <a:spcBef>
                <a:spcPct val="0"/>
              </a:spcBef>
              <a:spcAft>
                <a:spcPct val="0"/>
              </a:spcAft>
            </a:pPr>
            <a:r>
              <a:rPr lang="fa-IR" b="1" dirty="0">
                <a:solidFill>
                  <a:srgbClr val="000000"/>
                </a:solidFill>
                <a:latin typeface="Times New Roman" panose="02020603050405020304" pitchFamily="18" charset="0"/>
                <a:cs typeface="B Nazanin" pitchFamily="2" charset="-78"/>
              </a:rPr>
              <a:t>مبتنی بر مدل</a:t>
            </a:r>
            <a:endParaRPr lang="en-US" b="1" dirty="0">
              <a:solidFill>
                <a:srgbClr val="000000"/>
              </a:solidFill>
              <a:latin typeface="Times New Roman" panose="02020603050405020304" pitchFamily="18" charset="0"/>
              <a:cs typeface="B Nazanin" pitchFamily="2" charset="-78"/>
            </a:endParaRPr>
          </a:p>
        </p:txBody>
      </p:sp>
      <p:grpSp>
        <p:nvGrpSpPr>
          <p:cNvPr id="38" name="Group 23">
            <a:extLst>
              <a:ext uri="{FF2B5EF4-FFF2-40B4-BE49-F238E27FC236}">
                <a16:creationId xmlns:a16="http://schemas.microsoft.com/office/drawing/2014/main" id="{A77ECBC8-8907-49C6-B868-8715395CD4AB}"/>
              </a:ext>
            </a:extLst>
          </p:cNvPr>
          <p:cNvGrpSpPr>
            <a:grpSpLocks noChangeAspect="1"/>
          </p:cNvGrpSpPr>
          <p:nvPr/>
        </p:nvGrpSpPr>
        <p:grpSpPr bwMode="auto">
          <a:xfrm>
            <a:off x="8339135" y="2286532"/>
            <a:ext cx="381000" cy="381000"/>
            <a:chOff x="2078" y="1680"/>
            <a:chExt cx="1615" cy="1615"/>
          </a:xfrm>
        </p:grpSpPr>
        <p:sp>
          <p:nvSpPr>
            <p:cNvPr id="39" name="Oval 24">
              <a:extLst>
                <a:ext uri="{FF2B5EF4-FFF2-40B4-BE49-F238E27FC236}">
                  <a16:creationId xmlns:a16="http://schemas.microsoft.com/office/drawing/2014/main" id="{1501B9F0-1BD0-4587-A5DA-8504002448CD}"/>
                </a:ext>
              </a:extLst>
            </p:cNvPr>
            <p:cNvSpPr>
              <a:spLocks noChangeArrowheads="1"/>
            </p:cNvSpPr>
            <p:nvPr/>
          </p:nvSpPr>
          <p:spPr bwMode="gray">
            <a:xfrm>
              <a:off x="2078" y="1680"/>
              <a:ext cx="1615" cy="1615"/>
            </a:xfrm>
            <a:prstGeom prst="ellipse">
              <a:avLst/>
            </a:prstGeom>
            <a:gradFill rotWithShape="1">
              <a:gsLst>
                <a:gs pos="0">
                  <a:srgbClr val="FFFFFF">
                    <a:gamma/>
                    <a:shade val="46275"/>
                    <a:invGamma/>
                  </a:srgbClr>
                </a:gs>
                <a:gs pos="50000">
                  <a:srgbClr val="FFFFFF"/>
                </a:gs>
                <a:gs pos="100000">
                  <a:srgbClr val="FFFFFF">
                    <a:gamma/>
                    <a:shade val="46275"/>
                    <a:invGamma/>
                  </a:srgbClr>
                </a:gs>
              </a:gsLst>
              <a:lin ang="5400000" scaled="1"/>
            </a:gradFill>
            <a:ln w="57150"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0" name="Oval 25">
              <a:extLst>
                <a:ext uri="{FF2B5EF4-FFF2-40B4-BE49-F238E27FC236}">
                  <a16:creationId xmlns:a16="http://schemas.microsoft.com/office/drawing/2014/main" id="{909C959D-95E6-47AB-BA03-A36E5558C646}"/>
                </a:ext>
              </a:extLst>
            </p:cNvPr>
            <p:cNvSpPr>
              <a:spLocks noChangeArrowheads="1"/>
            </p:cNvSpPr>
            <p:nvPr/>
          </p:nvSpPr>
          <p:spPr bwMode="gray">
            <a:xfrm>
              <a:off x="2170" y="1771"/>
              <a:ext cx="1430" cy="1430"/>
            </a:xfrm>
            <a:prstGeom prst="ellipse">
              <a:avLst/>
            </a:prstGeom>
            <a:gradFill rotWithShape="1">
              <a:gsLst>
                <a:gs pos="0">
                  <a:srgbClr val="FFFFFF">
                    <a:gamma/>
                    <a:shade val="63529"/>
                    <a:invGamma/>
                  </a:srgbClr>
                </a:gs>
                <a:gs pos="50000">
                  <a:srgbClr val="FFFFFF"/>
                </a:gs>
                <a:gs pos="100000">
                  <a:srgbClr val="FFFFFF">
                    <a:gamma/>
                    <a:shade val="63529"/>
                    <a:invGamma/>
                  </a:srgbClr>
                </a:gs>
              </a:gsLst>
              <a:lin ang="0" scaled="1"/>
            </a:gradFill>
            <a:ln w="9525" algn="ctr">
              <a:noFill/>
              <a:round/>
              <a:headEnd/>
              <a:tailEnd/>
            </a:ln>
            <a:effectLst/>
          </p:spPr>
          <p:txBody>
            <a:bodyPr wrap="none"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1" name="Oval 26">
              <a:extLst>
                <a:ext uri="{FF2B5EF4-FFF2-40B4-BE49-F238E27FC236}">
                  <a16:creationId xmlns:a16="http://schemas.microsoft.com/office/drawing/2014/main" id="{DBE4DAAC-D3AA-4C03-8635-E677788322CA}"/>
                </a:ext>
              </a:extLst>
            </p:cNvPr>
            <p:cNvSpPr>
              <a:spLocks noChangeArrowheads="1"/>
            </p:cNvSpPr>
            <p:nvPr/>
          </p:nvSpPr>
          <p:spPr bwMode="gray">
            <a:xfrm>
              <a:off x="2254" y="1856"/>
              <a:ext cx="1262" cy="1264"/>
            </a:xfrm>
            <a:prstGeom prst="ellipse">
              <a:avLst/>
            </a:prstGeom>
            <a:gradFill rotWithShape="1">
              <a:gsLst>
                <a:gs pos="0">
                  <a:srgbClr val="8AD4CD">
                    <a:gamma/>
                    <a:tint val="0"/>
                    <a:invGamma/>
                  </a:srgbClr>
                </a:gs>
                <a:gs pos="50000">
                  <a:srgbClr val="8AD4CD"/>
                </a:gs>
                <a:gs pos="100000">
                  <a:srgbClr val="8AD4CD">
                    <a:gamma/>
                    <a:tint val="0"/>
                    <a:invGamma/>
                  </a:srgbClr>
                </a:gs>
              </a:gsLst>
              <a:lin ang="27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2" name="Oval 27">
              <a:extLst>
                <a:ext uri="{FF2B5EF4-FFF2-40B4-BE49-F238E27FC236}">
                  <a16:creationId xmlns:a16="http://schemas.microsoft.com/office/drawing/2014/main" id="{503A22F7-588D-4C3B-990F-521D103C8785}"/>
                </a:ext>
              </a:extLst>
            </p:cNvPr>
            <p:cNvSpPr>
              <a:spLocks noChangeArrowheads="1"/>
            </p:cNvSpPr>
            <p:nvPr/>
          </p:nvSpPr>
          <p:spPr bwMode="gray">
            <a:xfrm>
              <a:off x="2254" y="1856"/>
              <a:ext cx="1262" cy="1264"/>
            </a:xfrm>
            <a:prstGeom prst="ellipse">
              <a:avLst/>
            </a:prstGeom>
            <a:gradFill rotWithShape="1">
              <a:gsLst>
                <a:gs pos="0">
                  <a:srgbClr val="21B3E1"/>
                </a:gs>
                <a:gs pos="100000">
                  <a:srgbClr val="21B3E1">
                    <a:gamma/>
                    <a:shade val="46275"/>
                    <a:invGamma/>
                  </a:srgbClr>
                </a:gs>
              </a:gsLst>
              <a:lin ang="5400000" scaled="1"/>
            </a:gradFill>
            <a:ln w="38100" algn="ctr">
              <a:noFill/>
              <a:round/>
              <a:headEnd/>
              <a:tailEnd/>
            </a:ln>
            <a:effectLst/>
          </p:spPr>
          <p:txBody>
            <a:bodyPr wrap="non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3" name="Oval 28">
              <a:extLst>
                <a:ext uri="{FF2B5EF4-FFF2-40B4-BE49-F238E27FC236}">
                  <a16:creationId xmlns:a16="http://schemas.microsoft.com/office/drawing/2014/main" id="{DB14B947-3B24-4D3C-8BA6-1CDE3B23E877}"/>
                </a:ext>
              </a:extLst>
            </p:cNvPr>
            <p:cNvSpPr>
              <a:spLocks noChangeArrowheads="1"/>
            </p:cNvSpPr>
            <p:nvPr/>
          </p:nvSpPr>
          <p:spPr bwMode="gray">
            <a:xfrm>
              <a:off x="2337" y="1939"/>
              <a:ext cx="1096" cy="1098"/>
            </a:xfrm>
            <a:prstGeom prst="ellipse">
              <a:avLst/>
            </a:prstGeom>
            <a:gradFill rotWithShape="1">
              <a:gsLst>
                <a:gs pos="0">
                  <a:srgbClr val="8AD4CD">
                    <a:gamma/>
                    <a:shade val="54118"/>
                    <a:invGamma/>
                  </a:srgbClr>
                </a:gs>
                <a:gs pos="50000">
                  <a:srgbClr val="8AD4CD"/>
                </a:gs>
                <a:gs pos="100000">
                  <a:srgbClr val="8AD4CD">
                    <a:gamma/>
                    <a:shade val="54118"/>
                    <a:invGamma/>
                  </a:srgbClr>
                </a:gs>
              </a:gsLst>
              <a:lin ang="189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sp>
          <p:nvSpPr>
            <p:cNvPr id="44" name="Oval 29">
              <a:extLst>
                <a:ext uri="{FF2B5EF4-FFF2-40B4-BE49-F238E27FC236}">
                  <a16:creationId xmlns:a16="http://schemas.microsoft.com/office/drawing/2014/main" id="{EC52A3D0-6BC6-4E5D-88F2-AA4F423555B2}"/>
                </a:ext>
              </a:extLst>
            </p:cNvPr>
            <p:cNvSpPr>
              <a:spLocks noChangeArrowheads="1"/>
            </p:cNvSpPr>
            <p:nvPr/>
          </p:nvSpPr>
          <p:spPr bwMode="gray">
            <a:xfrm>
              <a:off x="2337" y="1939"/>
              <a:ext cx="1096" cy="1098"/>
            </a:xfrm>
            <a:prstGeom prst="ellipse">
              <a:avLst/>
            </a:prstGeom>
            <a:gradFill rotWithShape="1">
              <a:gsLst>
                <a:gs pos="0">
                  <a:srgbClr val="21B3E1"/>
                </a:gs>
                <a:gs pos="100000">
                  <a:srgbClr val="21B3E1">
                    <a:gamma/>
                    <a:shade val="48627"/>
                    <a:invGamma/>
                  </a:srgbClr>
                </a:gs>
              </a:gsLst>
              <a:lin ang="2700000" scaled="1"/>
            </a:gradFill>
            <a:ln w="38100" algn="ctr">
              <a:noFill/>
              <a:round/>
              <a:headEnd/>
              <a:tailEnd/>
            </a:ln>
            <a:effectLst/>
          </p:spPr>
          <p:txBody>
            <a:bodyPr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latin typeface="Arial" pitchFamily="34" charset="0"/>
              </a:endParaRPr>
            </a:p>
          </p:txBody>
        </p:sp>
      </p:grpSp>
      <p:sp>
        <p:nvSpPr>
          <p:cNvPr id="52" name="TextBox 51">
            <a:extLst>
              <a:ext uri="{FF2B5EF4-FFF2-40B4-BE49-F238E27FC236}">
                <a16:creationId xmlns:a16="http://schemas.microsoft.com/office/drawing/2014/main" id="{0D7C9433-5674-4BC9-A282-6D982E5B3065}"/>
              </a:ext>
            </a:extLst>
          </p:cNvPr>
          <p:cNvSpPr txBox="1"/>
          <p:nvPr/>
        </p:nvSpPr>
        <p:spPr>
          <a:xfrm>
            <a:off x="4855882" y="2895600"/>
            <a:ext cx="65" cy="276999"/>
          </a:xfrm>
          <a:prstGeom prst="rect">
            <a:avLst/>
          </a:prstGeom>
          <a:noFill/>
        </p:spPr>
        <p:txBody>
          <a:bodyPr wrap="none" lIns="0" tIns="0" rIns="0" bIns="0" rtlCol="0">
            <a:spAutoFit/>
          </a:bodyPr>
          <a:lstStyle/>
          <a:p>
            <a:endParaRPr lang="en-US" dirty="0"/>
          </a:p>
        </p:txBody>
      </p:sp>
      <p:sp>
        <p:nvSpPr>
          <p:cNvPr id="4" name="AutoShape 2" descr="Lithium-Ion State of Charge (SoC) measurement - Coulomb Counter method - OCV"/>
          <p:cNvSpPr>
            <a:spLocks noChangeAspect="1" noChangeArrowheads="1"/>
          </p:cNvSpPr>
          <p:nvPr/>
        </p:nvSpPr>
        <p:spPr bwMode="auto">
          <a:xfrm>
            <a:off x="63500" y="-13652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 name="AutoShape 2" descr="Lithium-ion Battery Internal Resistance Testing | Manufacturing &amp;  Inspection | Hioki"/>
          <p:cNvSpPr>
            <a:spLocks noChangeAspect="1" noChangeArrowheads="1"/>
          </p:cNvSpPr>
          <p:nvPr/>
        </p:nvSpPr>
        <p:spPr bwMode="auto">
          <a:xfrm>
            <a:off x="215900" y="1587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26" name="Picture 25"/>
          <p:cNvPicPr/>
          <p:nvPr/>
        </p:nvPicPr>
        <p:blipFill rotWithShape="1">
          <a:blip r:embed="rId3">
            <a:extLst>
              <a:ext uri="{28A0092B-C50C-407E-A947-70E740481C1C}">
                <a14:useLocalDpi xmlns:a14="http://schemas.microsoft.com/office/drawing/2010/main" val="0"/>
              </a:ext>
            </a:extLst>
          </a:blip>
          <a:srcRect t="-1" b="1775"/>
          <a:stretch/>
        </p:blipFill>
        <p:spPr>
          <a:xfrm>
            <a:off x="134768" y="1321441"/>
            <a:ext cx="4876800" cy="2619652"/>
          </a:xfrm>
          <a:prstGeom prst="rect">
            <a:avLst/>
          </a:prstGeom>
        </p:spPr>
      </p:pic>
      <p:sp>
        <p:nvSpPr>
          <p:cNvPr id="3" name="Rectangle 2"/>
          <p:cNvSpPr/>
          <p:nvPr/>
        </p:nvSpPr>
        <p:spPr>
          <a:xfrm>
            <a:off x="1104643" y="3912241"/>
            <a:ext cx="2959465" cy="369332"/>
          </a:xfrm>
          <a:prstGeom prst="rect">
            <a:avLst/>
          </a:prstGeom>
        </p:spPr>
        <p:txBody>
          <a:bodyPr wrap="none">
            <a:spAutoFit/>
          </a:bodyPr>
          <a:lstStyle/>
          <a:p>
            <a:pPr algn="ctr" rtl="1"/>
            <a:r>
              <a:rPr lang="fa-IR" dirty="0" err="1">
                <a:latin typeface="Times New Roman" panose="02020603050405020304" pitchFamily="18" charset="0"/>
                <a:ea typeface="Calibri" panose="020F0502020204030204" pitchFamily="34" charset="0"/>
                <a:cs typeface="B Lotus" panose="00000400000000000000" pitchFamily="2" charset="-78"/>
              </a:rPr>
              <a:t>مشخصه‌یابی</a:t>
            </a:r>
            <a:r>
              <a:rPr lang="fa-IR" dirty="0">
                <a:latin typeface="Times New Roman" panose="02020603050405020304" pitchFamily="18" charset="0"/>
                <a:ea typeface="Calibri" panose="020F0502020204030204" pitchFamily="34" charset="0"/>
                <a:cs typeface="B Lotus" panose="00000400000000000000" pitchFamily="2" charset="-78"/>
              </a:rPr>
              <a:t> ترکیبی با پالس پرتوان </a:t>
            </a:r>
            <a:r>
              <a:rPr lang="fa-IR" dirty="0">
                <a:solidFill>
                  <a:srgbClr val="B9EDFF"/>
                </a:solidFill>
                <a:latin typeface="Times New Roman" panose="02020603050405020304" pitchFamily="18" charset="0"/>
                <a:ea typeface="Calibri" panose="020F0502020204030204" pitchFamily="34" charset="0"/>
                <a:cs typeface="B Lotus" panose="00000400000000000000" pitchFamily="2" charset="-78"/>
              </a:rPr>
              <a:t>[1]</a:t>
            </a:r>
            <a:r>
              <a:rPr lang="fa-IR" dirty="0">
                <a:latin typeface="Times New Roman" panose="02020603050405020304" pitchFamily="18" charset="0"/>
                <a:ea typeface="Calibri" panose="020F0502020204030204" pitchFamily="34" charset="0"/>
                <a:cs typeface="B Lotus" panose="00000400000000000000" pitchFamily="2" charset="-78"/>
              </a:rPr>
              <a:t>.</a:t>
            </a:r>
            <a:endParaRPr lang="en-US" dirty="0"/>
          </a:p>
        </p:txBody>
      </p:sp>
      <p:pic>
        <p:nvPicPr>
          <p:cNvPr id="27" name="Picture 26"/>
          <p:cNvPicPr/>
          <p:nvPr/>
        </p:nvPicPr>
        <p:blipFill>
          <a:blip r:embed="rId4">
            <a:extLst>
              <a:ext uri="{28A0092B-C50C-407E-A947-70E740481C1C}">
                <a14:useLocalDpi xmlns:a14="http://schemas.microsoft.com/office/drawing/2010/main" val="0"/>
              </a:ext>
            </a:extLst>
          </a:blip>
          <a:stretch>
            <a:fillRect/>
          </a:stretch>
        </p:blipFill>
        <p:spPr>
          <a:xfrm>
            <a:off x="477668" y="4297193"/>
            <a:ext cx="4191000" cy="2133600"/>
          </a:xfrm>
          <a:prstGeom prst="rect">
            <a:avLst/>
          </a:prstGeom>
        </p:spPr>
      </p:pic>
      <p:sp>
        <p:nvSpPr>
          <p:cNvPr id="28" name="Rectangle 27"/>
          <p:cNvSpPr/>
          <p:nvPr/>
        </p:nvSpPr>
        <p:spPr>
          <a:xfrm>
            <a:off x="520700" y="6417561"/>
            <a:ext cx="3885734" cy="369332"/>
          </a:xfrm>
          <a:prstGeom prst="rect">
            <a:avLst/>
          </a:prstGeom>
        </p:spPr>
        <p:txBody>
          <a:bodyPr wrap="square">
            <a:spAutoFit/>
          </a:bodyPr>
          <a:lstStyle/>
          <a:p>
            <a:pPr algn="ctr" rtl="1"/>
            <a:r>
              <a:rPr lang="fa-IR" dirty="0">
                <a:latin typeface="Times New Roman" panose="02020603050405020304" pitchFamily="18" charset="0"/>
                <a:ea typeface="Calibri" panose="020F0502020204030204" pitchFamily="34" charset="0"/>
                <a:cs typeface="B Lotus" panose="00000400000000000000" pitchFamily="2" charset="-78"/>
              </a:rPr>
              <a:t>نمودار </a:t>
            </a:r>
            <a:r>
              <a:rPr lang="en-US" dirty="0">
                <a:latin typeface="Times New Roman" panose="02020603050405020304" pitchFamily="18" charset="0"/>
                <a:ea typeface="Calibri" panose="020F0502020204030204" pitchFamily="34" charset="0"/>
                <a:cs typeface="B Lotus" panose="00000400000000000000" pitchFamily="2" charset="-78"/>
              </a:rPr>
              <a:t>SOC/OCV</a:t>
            </a:r>
            <a:r>
              <a:rPr lang="fa-IR" dirty="0">
                <a:latin typeface="Times New Roman" panose="02020603050405020304" pitchFamily="18" charset="0"/>
                <a:ea typeface="Calibri" panose="020F0502020204030204" pitchFamily="34" charset="0"/>
                <a:cs typeface="B Lotus" panose="00000400000000000000" pitchFamily="2" charset="-78"/>
              </a:rPr>
              <a:t> در دماهای مختلف </a:t>
            </a:r>
            <a:r>
              <a:rPr lang="fa-IR" dirty="0">
                <a:solidFill>
                  <a:srgbClr val="B9EDFF"/>
                </a:solidFill>
                <a:latin typeface="Times New Roman" panose="02020603050405020304" pitchFamily="18" charset="0"/>
                <a:ea typeface="Calibri" panose="020F0502020204030204" pitchFamily="34" charset="0"/>
                <a:cs typeface="B Lotus" panose="00000400000000000000" pitchFamily="2" charset="-78"/>
              </a:rPr>
              <a:t>[1]</a:t>
            </a:r>
            <a:r>
              <a:rPr lang="fa-IR" dirty="0">
                <a:latin typeface="Times New Roman" panose="02020603050405020304" pitchFamily="18" charset="0"/>
                <a:ea typeface="Calibri" panose="020F0502020204030204" pitchFamily="34" charset="0"/>
                <a:cs typeface="B Lotus" panose="00000400000000000000" pitchFamily="2" charset="-78"/>
              </a:rPr>
              <a:t>.</a:t>
            </a:r>
            <a:endParaRPr lang="en-US" dirty="0"/>
          </a:p>
        </p:txBody>
      </p:sp>
      <p:pic>
        <p:nvPicPr>
          <p:cNvPr id="7" name="Picture 6"/>
          <p:cNvPicPr>
            <a:picLocks noChangeAspect="1"/>
          </p:cNvPicPr>
          <p:nvPr/>
        </p:nvPicPr>
        <p:blipFill>
          <a:blip r:embed="rId5"/>
          <a:stretch>
            <a:fillRect/>
          </a:stretch>
        </p:blipFill>
        <p:spPr>
          <a:xfrm>
            <a:off x="5686179" y="2893986"/>
            <a:ext cx="3191121" cy="1832461"/>
          </a:xfrm>
          <a:prstGeom prst="rect">
            <a:avLst/>
          </a:prstGeom>
        </p:spPr>
      </p:pic>
      <p:sp>
        <p:nvSpPr>
          <p:cNvPr id="32" name="AutoShape 2" descr="Lithium-Ion State of Charge (SoC) measurement - Coulomb Counter method - OCV">
            <a:extLst>
              <a:ext uri="{FF2B5EF4-FFF2-40B4-BE49-F238E27FC236}">
                <a16:creationId xmlns:a16="http://schemas.microsoft.com/office/drawing/2014/main" id="{6A548917-3C9E-45D6-A811-9781D884A2F1}"/>
              </a:ext>
            </a:extLst>
          </p:cNvPr>
          <p:cNvSpPr>
            <a:spLocks noChangeAspect="1" noChangeArrowheads="1"/>
          </p:cNvSpPr>
          <p:nvPr/>
        </p:nvSpPr>
        <p:spPr bwMode="auto">
          <a:xfrm>
            <a:off x="63500" y="-13652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3" name="AutoShape 2" descr="Lithium-ion Battery Internal Resistance Testing | Manufacturing &amp;  Inspection | Hioki">
            <a:extLst>
              <a:ext uri="{FF2B5EF4-FFF2-40B4-BE49-F238E27FC236}">
                <a16:creationId xmlns:a16="http://schemas.microsoft.com/office/drawing/2014/main" id="{4BA4AC28-1458-4CBE-A989-D0D4811D6F3B}"/>
              </a:ext>
            </a:extLst>
          </p:cNvPr>
          <p:cNvSpPr>
            <a:spLocks noChangeAspect="1" noChangeArrowheads="1"/>
          </p:cNvSpPr>
          <p:nvPr/>
        </p:nvSpPr>
        <p:spPr bwMode="auto">
          <a:xfrm>
            <a:off x="215900" y="1587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4" name="AutoShape 2" descr="Lithium-Ion State of Charge (SoC) measurement - Coulomb Counter method - OCV">
            <a:extLst>
              <a:ext uri="{FF2B5EF4-FFF2-40B4-BE49-F238E27FC236}">
                <a16:creationId xmlns:a16="http://schemas.microsoft.com/office/drawing/2014/main" id="{85BFF5CC-8780-4C7F-AD41-C610979AB89A}"/>
              </a:ext>
            </a:extLst>
          </p:cNvPr>
          <p:cNvSpPr>
            <a:spLocks noChangeAspect="1" noChangeArrowheads="1"/>
          </p:cNvSpPr>
          <p:nvPr/>
        </p:nvSpPr>
        <p:spPr bwMode="auto">
          <a:xfrm>
            <a:off x="63500" y="-13652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5" name="Rounded Rectangle 175">
            <a:extLst>
              <a:ext uri="{FF2B5EF4-FFF2-40B4-BE49-F238E27FC236}">
                <a16:creationId xmlns:a16="http://schemas.microsoft.com/office/drawing/2014/main" id="{D8E27344-2AB1-4A61-B14B-D9C7962F785E}"/>
              </a:ext>
            </a:extLst>
          </p:cNvPr>
          <p:cNvSpPr/>
          <p:nvPr/>
        </p:nvSpPr>
        <p:spPr bwMode="auto">
          <a:xfrm>
            <a:off x="6858000" y="971946"/>
            <a:ext cx="23890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fontAlgn="base">
              <a:spcBef>
                <a:spcPct val="0"/>
              </a:spcBef>
              <a:spcAft>
                <a:spcPct val="0"/>
              </a:spcAft>
              <a:defRPr/>
            </a:pPr>
            <a:r>
              <a:rPr lang="fa-IR" sz="2200" b="1" kern="0" dirty="0">
                <a:solidFill>
                  <a:srgbClr val="FFFFFF"/>
                </a:solidFill>
                <a:latin typeface="Times New Roman" panose="02020603050405020304" pitchFamily="18" charset="0"/>
                <a:cs typeface="B Nazanin" pitchFamily="2" charset="-78"/>
              </a:rPr>
              <a:t>سیستم مدیریت باتری</a:t>
            </a:r>
          </a:p>
        </p:txBody>
      </p:sp>
      <p:sp>
        <p:nvSpPr>
          <p:cNvPr id="36" name="AutoShape 12" descr="5 Things That Affect Your Charging Speed | EVgo">
            <a:extLst>
              <a:ext uri="{FF2B5EF4-FFF2-40B4-BE49-F238E27FC236}">
                <a16:creationId xmlns:a16="http://schemas.microsoft.com/office/drawing/2014/main" id="{3C8FD39E-D0A5-47C7-8912-540FCB6E5A36}"/>
              </a:ext>
            </a:extLst>
          </p:cNvPr>
          <p:cNvSpPr>
            <a:spLocks noChangeAspect="1" noChangeArrowheads="1"/>
          </p:cNvSpPr>
          <p:nvPr/>
        </p:nvSpPr>
        <p:spPr bwMode="auto">
          <a:xfrm>
            <a:off x="63500" y="-13652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37" name="AutoShape 2" descr="What is the Depth of Discharge (DoD) Estimation of a Lithium Ion Battery?">
            <a:extLst>
              <a:ext uri="{FF2B5EF4-FFF2-40B4-BE49-F238E27FC236}">
                <a16:creationId xmlns:a16="http://schemas.microsoft.com/office/drawing/2014/main" id="{C039CC4D-0D66-496A-9EBE-F7BFD36609D5}"/>
              </a:ext>
            </a:extLst>
          </p:cNvPr>
          <p:cNvSpPr>
            <a:spLocks noChangeAspect="1" noChangeArrowheads="1"/>
          </p:cNvSpPr>
          <p:nvPr/>
        </p:nvSpPr>
        <p:spPr bwMode="auto">
          <a:xfrm>
            <a:off x="215900" y="1587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45" name="AutoShape 10">
            <a:extLst>
              <a:ext uri="{FF2B5EF4-FFF2-40B4-BE49-F238E27FC236}">
                <a16:creationId xmlns:a16="http://schemas.microsoft.com/office/drawing/2014/main" id="{96E6A76C-5024-445C-8373-4A127C8598B1}"/>
              </a:ext>
            </a:extLst>
          </p:cNvPr>
          <p:cNvSpPr>
            <a:spLocks noChangeArrowheads="1"/>
          </p:cNvSpPr>
          <p:nvPr/>
        </p:nvSpPr>
        <p:spPr bwMode="gray">
          <a:xfrm flipH="1">
            <a:off x="6244699" y="57140"/>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46" name="AutoShape 3">
            <a:extLst>
              <a:ext uri="{FF2B5EF4-FFF2-40B4-BE49-F238E27FC236}">
                <a16:creationId xmlns:a16="http://schemas.microsoft.com/office/drawing/2014/main" id="{5897B420-8EC3-4623-B9CD-873BD50E14B7}"/>
              </a:ext>
            </a:extLst>
          </p:cNvPr>
          <p:cNvSpPr>
            <a:spLocks noChangeArrowheads="1"/>
          </p:cNvSpPr>
          <p:nvPr/>
        </p:nvSpPr>
        <p:spPr bwMode="gray">
          <a:xfrm flipH="1">
            <a:off x="4188613" y="57140"/>
            <a:ext cx="2056086"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47" name="AutoShape 3">
            <a:extLst>
              <a:ext uri="{FF2B5EF4-FFF2-40B4-BE49-F238E27FC236}">
                <a16:creationId xmlns:a16="http://schemas.microsoft.com/office/drawing/2014/main" id="{29058428-9548-4415-A786-99DB42D1499B}"/>
              </a:ext>
            </a:extLst>
          </p:cNvPr>
          <p:cNvSpPr>
            <a:spLocks noChangeArrowheads="1"/>
          </p:cNvSpPr>
          <p:nvPr/>
        </p:nvSpPr>
        <p:spPr bwMode="gray">
          <a:xfrm flipH="1">
            <a:off x="2132529" y="57140"/>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8" name="AutoShape 3">
            <a:extLst>
              <a:ext uri="{FF2B5EF4-FFF2-40B4-BE49-F238E27FC236}">
                <a16:creationId xmlns:a16="http://schemas.microsoft.com/office/drawing/2014/main" id="{C71EB997-3681-42CE-8D12-DC0BC893643A}"/>
              </a:ext>
            </a:extLst>
          </p:cNvPr>
          <p:cNvSpPr>
            <a:spLocks noChangeArrowheads="1"/>
          </p:cNvSpPr>
          <p:nvPr/>
        </p:nvSpPr>
        <p:spPr bwMode="gray">
          <a:xfrm flipH="1">
            <a:off x="161662" y="57140"/>
            <a:ext cx="1970868"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9" name="Rectangle 48">
            <a:extLst>
              <a:ext uri="{FF2B5EF4-FFF2-40B4-BE49-F238E27FC236}">
                <a16:creationId xmlns:a16="http://schemas.microsoft.com/office/drawing/2014/main" id="{C48087A2-0F0F-40A0-A837-05942D40B928}"/>
              </a:ext>
            </a:extLst>
          </p:cNvPr>
          <p:cNvSpPr/>
          <p:nvPr/>
        </p:nvSpPr>
        <p:spPr>
          <a:xfrm>
            <a:off x="431672" y="189466"/>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50" name="Rectangle 49">
            <a:extLst>
              <a:ext uri="{FF2B5EF4-FFF2-40B4-BE49-F238E27FC236}">
                <a16:creationId xmlns:a16="http://schemas.microsoft.com/office/drawing/2014/main" id="{029B7FF5-A50E-4253-B09E-E39EEA90B68F}"/>
              </a:ext>
            </a:extLst>
          </p:cNvPr>
          <p:cNvSpPr/>
          <p:nvPr/>
        </p:nvSpPr>
        <p:spPr>
          <a:xfrm>
            <a:off x="2355191" y="66356"/>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51" name="Rectangle 50">
            <a:extLst>
              <a:ext uri="{FF2B5EF4-FFF2-40B4-BE49-F238E27FC236}">
                <a16:creationId xmlns:a16="http://schemas.microsoft.com/office/drawing/2014/main" id="{F2576E55-27E7-4A07-95C2-3356380EB505}"/>
              </a:ext>
            </a:extLst>
          </p:cNvPr>
          <p:cNvSpPr/>
          <p:nvPr/>
        </p:nvSpPr>
        <p:spPr>
          <a:xfrm>
            <a:off x="4495138" y="91457"/>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53" name="Rectangle 52">
            <a:extLst>
              <a:ext uri="{FF2B5EF4-FFF2-40B4-BE49-F238E27FC236}">
                <a16:creationId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pic>
        <p:nvPicPr>
          <p:cNvPr id="54" name="Picture 53" descr="پرونده:Azad University logo.png - ویکی‌پدیا، دانشنامهٔ آزاد">
            <a:extLst>
              <a:ext uri="{FF2B5EF4-FFF2-40B4-BE49-F238E27FC236}">
                <a16:creationId xmlns:a16="http://schemas.microsoft.com/office/drawing/2014/main" id="{FA988D60-670C-406B-B8FB-D5A0053424E9}"/>
              </a:ext>
            </a:extLst>
          </p:cNvPr>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56" name="TextBox 55">
            <a:extLst>
              <a:ext uri="{FF2B5EF4-FFF2-40B4-BE49-F238E27FC236}">
                <a16:creationId xmlns:a16="http://schemas.microsoft.com/office/drawing/2014/main" id="{790F494B-120B-467C-BEB7-DD550B770790}"/>
              </a:ext>
            </a:extLst>
          </p:cNvPr>
          <p:cNvSpPr txBox="1"/>
          <p:nvPr/>
        </p:nvSpPr>
        <p:spPr>
          <a:xfrm>
            <a:off x="320146" y="934180"/>
            <a:ext cx="3717685" cy="369332"/>
          </a:xfrm>
          <a:prstGeom prst="rect">
            <a:avLst/>
          </a:prstGeom>
          <a:noFill/>
        </p:spPr>
        <p:txBody>
          <a:bodyPr wrap="none" rtlCol="0">
            <a:spAutoFit/>
          </a:bodyPr>
          <a:lstStyle/>
          <a:p>
            <a:pPr algn="r" rtl="1" fontAlgn="base">
              <a:spcBef>
                <a:spcPct val="0"/>
              </a:spcBef>
              <a:spcAft>
                <a:spcPct val="0"/>
              </a:spcAft>
            </a:pPr>
            <a:r>
              <a:rPr lang="fa-IR" b="1" dirty="0">
                <a:cs typeface="B Nazanin" panose="00000400000000000000" pitchFamily="2" charset="-78"/>
              </a:rPr>
              <a:t>روش های تخمین وضعیت شارژ باتری (</a:t>
            </a:r>
            <a:r>
              <a:rPr lang="en-US" b="1" i="1" dirty="0">
                <a:latin typeface="Times New Roman" panose="02020603050405020304" pitchFamily="18" charset="0"/>
                <a:cs typeface="Times New Roman" panose="02020603050405020304" pitchFamily="18" charset="0"/>
              </a:rPr>
              <a:t>SOC</a:t>
            </a:r>
            <a:r>
              <a:rPr lang="fa-IR" b="1" dirty="0">
                <a:cs typeface="B Nazanin" panose="00000400000000000000" pitchFamily="2" charset="-78"/>
              </a:rPr>
              <a:t>)</a:t>
            </a:r>
            <a:endParaRPr lang="en-US" b="1" dirty="0">
              <a:solidFill>
                <a:srgbClr val="000000"/>
              </a:solidFill>
              <a:latin typeface="Times New Roman" panose="02020603050405020304" pitchFamily="18" charset="0"/>
              <a:cs typeface="B Nazanin" pitchFamily="2" charset="-78"/>
            </a:endParaRPr>
          </a:p>
        </p:txBody>
      </p:sp>
      <p:sp>
        <p:nvSpPr>
          <p:cNvPr id="2" name="Slide Number Placeholder 1"/>
          <p:cNvSpPr>
            <a:spLocks noGrp="1"/>
          </p:cNvSpPr>
          <p:nvPr>
            <p:ph type="sldNum" sz="quarter" idx="12"/>
          </p:nvPr>
        </p:nvSpPr>
        <p:spPr/>
        <p:txBody>
          <a:bodyPr/>
          <a:lstStyle/>
          <a:p>
            <a:fld id="{7FC2E40A-4446-4E2B-B9AD-16F559E28E02}" type="slidenum">
              <a:rPr lang="en-US" smtClean="0"/>
              <a:t>65</a:t>
            </a:fld>
            <a:endParaRPr lang="en-US"/>
          </a:p>
        </p:txBody>
      </p:sp>
      <p:sp>
        <p:nvSpPr>
          <p:cNvPr id="55"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65</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3721066619"/>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 name="Picture 29" descr="پرونده:Azad University logo.png - ویکی‌پدیا، دانشنامهٔ آزاد">
            <a:extLst>
              <a:ext uri="{FF2B5EF4-FFF2-40B4-BE49-F238E27FC236}">
                <a16:creationId xmlns:a16="http://schemas.microsoft.com/office/drawing/2014/main" id="{B260B773-F2C5-485B-BA12-93452E166218}"/>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6" name="TextBox 25">
            <a:extLst>
              <a:ext uri="{FF2B5EF4-FFF2-40B4-BE49-F238E27FC236}">
                <a16:creationId xmlns:a16="http://schemas.microsoft.com/office/drawing/2014/main" id="{90C43403-B77E-474E-A638-C5BD6540DB40}"/>
              </a:ext>
            </a:extLst>
          </p:cNvPr>
          <p:cNvSpPr txBox="1"/>
          <p:nvPr/>
        </p:nvSpPr>
        <p:spPr>
          <a:xfrm>
            <a:off x="2648411" y="686668"/>
            <a:ext cx="65" cy="276999"/>
          </a:xfrm>
          <a:prstGeom prst="rect">
            <a:avLst/>
          </a:prstGeom>
          <a:noFill/>
        </p:spPr>
        <p:txBody>
          <a:bodyPr wrap="none" lIns="0" tIns="0" rIns="0" bIns="0" rtlCol="0">
            <a:spAutoFit/>
          </a:bodyPr>
          <a:lstStyle/>
          <a:p>
            <a:endParaRPr lang="en-US" dirty="0"/>
          </a:p>
        </p:txBody>
      </p:sp>
      <p:sp>
        <p:nvSpPr>
          <p:cNvPr id="19" name="Text Box 151"/>
          <p:cNvSpPr txBox="1"/>
          <p:nvPr/>
        </p:nvSpPr>
        <p:spPr>
          <a:xfrm>
            <a:off x="190501" y="6477000"/>
            <a:ext cx="8686799" cy="184666"/>
          </a:xfrm>
          <a:prstGeom prst="rect">
            <a:avLst/>
          </a:prstGeom>
          <a:solidFill>
            <a:prstClr val="white"/>
          </a:solidFill>
          <a:ln>
            <a:noFill/>
          </a:ln>
          <a:effectLst/>
        </p:spPr>
        <p:txBody>
          <a:bodyPr rot="0" spcFirstLastPara="0" vert="horz" wrap="square" lIns="0" tIns="0" rIns="0" bIns="0" numCol="1" spcCol="0" rtlCol="0" fromWordArt="0" anchor="t" anchorCtr="0" forceAA="0" compatLnSpc="1">
            <a:prstTxWarp prst="textNoShape">
              <a:avLst/>
            </a:prstTxWarp>
            <a:spAutoFit/>
          </a:bodyPr>
          <a:lstStyle/>
          <a:p>
            <a:pPr algn="ctr" rtl="1">
              <a:spcAft>
                <a:spcPts val="1000"/>
              </a:spcAft>
            </a:pPr>
            <a:r>
              <a:rPr lang="fa-IR" sz="1200" dirty="0">
                <a:latin typeface="Times New Roman" panose="02020603050405020304" pitchFamily="18" charset="0"/>
                <a:ea typeface="Calibri" panose="020F0502020204030204" pitchFamily="34" charset="0"/>
                <a:cs typeface="B Lotus" panose="00000400000000000000" pitchFamily="2" charset="-78"/>
              </a:rPr>
              <a:t>توزیع </a:t>
            </a:r>
            <a:r>
              <a:rPr lang="en-US" sz="1200" dirty="0">
                <a:latin typeface="Times New Roman" panose="02020603050405020304" pitchFamily="18" charset="0"/>
                <a:ea typeface="Calibri" panose="020F0502020204030204" pitchFamily="34" charset="0"/>
                <a:cs typeface="B Lotus" panose="00000400000000000000" pitchFamily="2" charset="-78"/>
              </a:rPr>
              <a:t>SOC</a:t>
            </a:r>
            <a:r>
              <a:rPr lang="fa-IR" sz="1200" dirty="0">
                <a:latin typeface="Times New Roman" panose="02020603050405020304" pitchFamily="18" charset="0"/>
                <a:ea typeface="Calibri" panose="020F0502020204030204" pitchFamily="34" charset="0"/>
                <a:cs typeface="B Lotus" panose="00000400000000000000" pitchFamily="2" charset="-78"/>
              </a:rPr>
              <a:t> و نتایج پیاده سازی عملی روش‌های همسان‌سازی روش آستانه ثابت (الف)، دسته‌بندی </a:t>
            </a:r>
            <a:r>
              <a:rPr lang="en-US" sz="1200" dirty="0">
                <a:latin typeface="Times New Roman" panose="02020603050405020304" pitchFamily="18" charset="0"/>
                <a:ea typeface="Calibri" panose="020F0502020204030204" pitchFamily="34" charset="0"/>
                <a:cs typeface="B Lotus" panose="00000400000000000000" pitchFamily="2" charset="-78"/>
              </a:rPr>
              <a:t>k-mean</a:t>
            </a:r>
            <a:r>
              <a:rPr lang="fa-IR" sz="1200" dirty="0">
                <a:latin typeface="Times New Roman" panose="02020603050405020304" pitchFamily="18" charset="0"/>
                <a:ea typeface="Calibri" panose="020F0502020204030204" pitchFamily="34" charset="0"/>
                <a:cs typeface="B Lotus" panose="00000400000000000000" pitchFamily="2" charset="-78"/>
              </a:rPr>
              <a:t> بدون </a:t>
            </a:r>
            <a:r>
              <a:rPr lang="en-US" sz="1200" dirty="0">
                <a:latin typeface="Times New Roman" panose="02020603050405020304" pitchFamily="18" charset="0"/>
                <a:ea typeface="Calibri" panose="020F0502020204030204" pitchFamily="34" charset="0"/>
                <a:cs typeface="B Lotus" panose="00000400000000000000" pitchFamily="2" charset="-78"/>
              </a:rPr>
              <a:t>GA</a:t>
            </a:r>
            <a:r>
              <a:rPr lang="fa-IR" sz="1200" dirty="0">
                <a:latin typeface="Times New Roman" panose="02020603050405020304" pitchFamily="18" charset="0"/>
                <a:ea typeface="Calibri" panose="020F0502020204030204" pitchFamily="34" charset="0"/>
                <a:cs typeface="B Lotus" panose="00000400000000000000" pitchFamily="2" charset="-78"/>
              </a:rPr>
              <a:t>(ب)، خوشه‌بندی </a:t>
            </a:r>
            <a:r>
              <a:rPr lang="en-US" sz="1200" dirty="0">
                <a:latin typeface="Times New Roman" panose="02020603050405020304" pitchFamily="18" charset="0"/>
                <a:ea typeface="Calibri" panose="020F0502020204030204" pitchFamily="34" charset="0"/>
                <a:cs typeface="B Lotus" panose="00000400000000000000" pitchFamily="2" charset="-78"/>
              </a:rPr>
              <a:t>k-mean</a:t>
            </a:r>
            <a:r>
              <a:rPr lang="fa-IR" sz="1200" dirty="0">
                <a:latin typeface="Times New Roman" panose="02020603050405020304" pitchFamily="18" charset="0"/>
                <a:ea typeface="Calibri" panose="020F0502020204030204" pitchFamily="34" charset="0"/>
                <a:cs typeface="B Lotus" panose="00000400000000000000" pitchFamily="2" charset="-78"/>
              </a:rPr>
              <a:t> همراه با </a:t>
            </a:r>
            <a:r>
              <a:rPr lang="en-US" sz="1200" dirty="0">
                <a:latin typeface="Times New Roman" panose="02020603050405020304" pitchFamily="18" charset="0"/>
                <a:ea typeface="Calibri" panose="020F0502020204030204" pitchFamily="34" charset="0"/>
                <a:cs typeface="B Lotus" panose="00000400000000000000" pitchFamily="2" charset="-78"/>
              </a:rPr>
              <a:t>GA </a:t>
            </a:r>
            <a:r>
              <a:rPr lang="fa-IR" sz="1200" dirty="0">
                <a:latin typeface="Times New Roman" panose="02020603050405020304" pitchFamily="18" charset="0"/>
                <a:ea typeface="Calibri" panose="020F0502020204030204" pitchFamily="34" charset="0"/>
                <a:cs typeface="B Lotus" panose="00000400000000000000" pitchFamily="2" charset="-78"/>
              </a:rPr>
              <a:t> (ج) </a:t>
            </a:r>
            <a:r>
              <a:rPr lang="fa-IR" sz="1200" dirty="0">
                <a:solidFill>
                  <a:srgbClr val="5B9BD5"/>
                </a:solidFill>
                <a:latin typeface="Times New Roman" panose="02020603050405020304" pitchFamily="18" charset="0"/>
                <a:ea typeface="Calibri" panose="020F0502020204030204" pitchFamily="34" charset="0"/>
                <a:cs typeface="B Lotus" panose="00000400000000000000" pitchFamily="2" charset="-78"/>
              </a:rPr>
              <a:t>[1].</a:t>
            </a:r>
            <a:endParaRPr lang="en-US" sz="1200" i="0" dirty="0">
              <a:solidFill>
                <a:srgbClr val="262626"/>
              </a:solidFill>
              <a:effectLst/>
              <a:latin typeface="Times New Roman" panose="02020603050405020304" pitchFamily="18" charset="0"/>
              <a:ea typeface="Calibri" panose="020F0502020204030204" pitchFamily="34" charset="0"/>
              <a:cs typeface="B Lotus" panose="00000400000000000000" pitchFamily="2" charset="-78"/>
            </a:endParaRPr>
          </a:p>
        </p:txBody>
      </p:sp>
      <p:grpSp>
        <p:nvGrpSpPr>
          <p:cNvPr id="2" name="Group 1"/>
          <p:cNvGrpSpPr/>
          <p:nvPr/>
        </p:nvGrpSpPr>
        <p:grpSpPr>
          <a:xfrm>
            <a:off x="443114" y="847401"/>
            <a:ext cx="8153400" cy="5414358"/>
            <a:chOff x="1562354" y="1116935"/>
            <a:chExt cx="5157216" cy="5298794"/>
          </a:xfrm>
        </p:grpSpPr>
        <p:pic>
          <p:nvPicPr>
            <p:cNvPr id="18" name="Picture 17"/>
            <p:cNvPicPr/>
            <p:nvPr/>
          </p:nvPicPr>
          <p:blipFill rotWithShape="1">
            <a:blip r:embed="rId4" cstate="print">
              <a:extLst>
                <a:ext uri="{28A0092B-C50C-407E-A947-70E740481C1C}">
                  <a14:useLocalDpi xmlns:a14="http://schemas.microsoft.com/office/drawing/2010/main" val="0"/>
                </a:ext>
              </a:extLst>
            </a:blip>
            <a:srcRect l="-325" t="25282" b="49834"/>
            <a:stretch/>
          </p:blipFill>
          <p:spPr>
            <a:xfrm>
              <a:off x="1562354" y="1116935"/>
              <a:ext cx="5157216" cy="1755648"/>
            </a:xfrm>
            <a:prstGeom prst="rect">
              <a:avLst/>
            </a:prstGeom>
          </p:spPr>
        </p:pic>
        <p:pic>
          <p:nvPicPr>
            <p:cNvPr id="20" name="Picture 19"/>
            <p:cNvPicPr/>
            <p:nvPr/>
          </p:nvPicPr>
          <p:blipFill rotWithShape="1">
            <a:blip r:embed="rId4" cstate="print">
              <a:extLst>
                <a:ext uri="{28A0092B-C50C-407E-A947-70E740481C1C}">
                  <a14:useLocalDpi xmlns:a14="http://schemas.microsoft.com/office/drawing/2010/main" val="0"/>
                </a:ext>
              </a:extLst>
            </a:blip>
            <a:srcRect l="-528" t="50594" b="24880"/>
            <a:stretch/>
          </p:blipFill>
          <p:spPr>
            <a:xfrm>
              <a:off x="1562354" y="2869094"/>
              <a:ext cx="5157216" cy="1755648"/>
            </a:xfrm>
            <a:prstGeom prst="rect">
              <a:avLst/>
            </a:prstGeom>
          </p:spPr>
        </p:pic>
        <p:pic>
          <p:nvPicPr>
            <p:cNvPr id="21" name="Picture 20"/>
            <p:cNvPicPr/>
            <p:nvPr/>
          </p:nvPicPr>
          <p:blipFill rotWithShape="1">
            <a:blip r:embed="rId4" cstate="print">
              <a:extLst>
                <a:ext uri="{28A0092B-C50C-407E-A947-70E740481C1C}">
                  <a14:useLocalDpi xmlns:a14="http://schemas.microsoft.com/office/drawing/2010/main" val="0"/>
                </a:ext>
              </a:extLst>
            </a:blip>
            <a:srcRect t="75966"/>
            <a:stretch/>
          </p:blipFill>
          <p:spPr>
            <a:xfrm>
              <a:off x="1562354" y="4624742"/>
              <a:ext cx="5157216" cy="1755648"/>
            </a:xfrm>
            <a:prstGeom prst="rect">
              <a:avLst/>
            </a:prstGeom>
          </p:spPr>
        </p:pic>
        <p:pic>
          <p:nvPicPr>
            <p:cNvPr id="23" name="Picture 22"/>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52037" y="2691265"/>
              <a:ext cx="288925" cy="173347"/>
            </a:xfrm>
            <a:prstGeom prst="rect">
              <a:avLst/>
            </a:prstGeom>
          </p:spPr>
        </p:pic>
        <p:pic>
          <p:nvPicPr>
            <p:cNvPr id="24" name="Picture 23"/>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852037" y="4480628"/>
              <a:ext cx="233045" cy="162552"/>
            </a:xfrm>
            <a:prstGeom prst="rect">
              <a:avLst/>
            </a:prstGeom>
          </p:spPr>
        </p:pic>
        <p:pic>
          <p:nvPicPr>
            <p:cNvPr id="25" name="Picture 24"/>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862831" y="6257621"/>
              <a:ext cx="211455" cy="158108"/>
            </a:xfrm>
            <a:prstGeom prst="rect">
              <a:avLst/>
            </a:prstGeom>
          </p:spPr>
        </p:pic>
      </p:grpSp>
      <p:sp>
        <p:nvSpPr>
          <p:cNvPr id="28" name="AutoShape 3"/>
          <p:cNvSpPr>
            <a:spLocks noChangeArrowheads="1"/>
          </p:cNvSpPr>
          <p:nvPr/>
        </p:nvSpPr>
        <p:spPr bwMode="gray">
          <a:xfrm flipH="1">
            <a:off x="2190754"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9" name="AutoShape 3"/>
          <p:cNvSpPr>
            <a:spLocks noChangeArrowheads="1"/>
          </p:cNvSpPr>
          <p:nvPr/>
        </p:nvSpPr>
        <p:spPr bwMode="gray">
          <a:xfrm flipH="1">
            <a:off x="148662" y="55997"/>
            <a:ext cx="2057400" cy="649224"/>
          </a:xfrm>
          <a:prstGeom prst="chevron">
            <a:avLst>
              <a:gd name="adj" fmla="val 17009"/>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1" name="Rectangle 30"/>
          <p:cNvSpPr/>
          <p:nvPr/>
        </p:nvSpPr>
        <p:spPr>
          <a:xfrm>
            <a:off x="418672" y="193150"/>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2" name="Rectangle 31"/>
          <p:cNvSpPr/>
          <p:nvPr/>
        </p:nvSpPr>
        <p:spPr>
          <a:xfrm>
            <a:off x="2393380" y="7004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3" name="AutoShape 10">
            <a:extLst>
              <a:ext uri="{FF2B5EF4-FFF2-40B4-BE49-F238E27FC236}">
                <a16:creationId xmlns:a16="http://schemas.microsoft.com/office/drawing/2014/main" id="{96E6A76C-5024-445C-8373-4A127C8598B1}"/>
              </a:ext>
            </a:extLst>
          </p:cNvPr>
          <p:cNvSpPr>
            <a:spLocks noChangeArrowheads="1"/>
          </p:cNvSpPr>
          <p:nvPr/>
        </p:nvSpPr>
        <p:spPr bwMode="gray">
          <a:xfrm flipH="1">
            <a:off x="6244699" y="55997"/>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4" name="Rectangle 33">
            <a:extLst>
              <a:ext uri="{FF2B5EF4-FFF2-40B4-BE49-F238E27FC236}">
                <a16:creationId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35" name="AutoShape 3">
            <a:extLst>
              <a:ext uri="{FF2B5EF4-FFF2-40B4-BE49-F238E27FC236}">
                <a16:creationId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6" name="Rectangle 35">
            <a:extLst>
              <a:ext uri="{FF2B5EF4-FFF2-40B4-BE49-F238E27FC236}">
                <a16:creationId xmlns:a16="http://schemas.microsoft.com/office/drawing/2014/main" id="{AC165A2D-60D3-440C-A112-7B419F7E72B2}"/>
              </a:ext>
            </a:extLst>
          </p:cNvPr>
          <p:cNvSpPr/>
          <p:nvPr/>
        </p:nvSpPr>
        <p:spPr>
          <a:xfrm>
            <a:off x="4525250"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2"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66</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389824481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4" name="Picture 163"/>
          <p:cNvPicPr/>
          <p:nvPr/>
        </p:nvPicPr>
        <p:blipFill>
          <a:blip r:embed="rId3">
            <a:extLst>
              <a:ext uri="{28A0092B-C50C-407E-A947-70E740481C1C}">
                <a14:useLocalDpi xmlns:a14="http://schemas.microsoft.com/office/drawing/2010/main" val="0"/>
              </a:ext>
            </a:extLst>
          </a:blip>
          <a:stretch>
            <a:fillRect/>
          </a:stretch>
        </p:blipFill>
        <p:spPr bwMode="auto">
          <a:xfrm>
            <a:off x="685800" y="1732935"/>
            <a:ext cx="7620000" cy="4202235"/>
          </a:xfrm>
          <a:prstGeom prst="rect">
            <a:avLst/>
          </a:prstGeom>
          <a:noFill/>
          <a:ln>
            <a:noFill/>
          </a:ln>
        </p:spPr>
      </p:pic>
      <p:sp>
        <p:nvSpPr>
          <p:cNvPr id="3" name="Rectangle 2"/>
          <p:cNvSpPr/>
          <p:nvPr/>
        </p:nvSpPr>
        <p:spPr>
          <a:xfrm>
            <a:off x="2224795" y="6070382"/>
            <a:ext cx="4011034" cy="369332"/>
          </a:xfrm>
          <a:prstGeom prst="rect">
            <a:avLst/>
          </a:prstGeom>
        </p:spPr>
        <p:txBody>
          <a:bodyPr wrap="none">
            <a:spAutoFit/>
          </a:bodyPr>
          <a:lstStyle/>
          <a:p>
            <a:pPr algn="ctr" rtl="1" fontAlgn="base">
              <a:spcBef>
                <a:spcPct val="0"/>
              </a:spcBef>
              <a:spcAft>
                <a:spcPct val="0"/>
              </a:spcAft>
            </a:pPr>
            <a:r>
              <a:rPr lang="fa-IR" dirty="0">
                <a:latin typeface="Times New Roman" panose="02020603050405020304" pitchFamily="18" charset="0"/>
                <a:ea typeface="Calibri" panose="020F0502020204030204" pitchFamily="34" charset="0"/>
                <a:cs typeface="B Lotus" panose="00000400000000000000" pitchFamily="2" charset="-78"/>
              </a:rPr>
              <a:t>شکل 5 </a:t>
            </a:r>
            <a:r>
              <a:rPr lang="fa-IR" dirty="0">
                <a:latin typeface="Times New Roman" panose="02020603050405020304" pitchFamily="18" charset="0"/>
                <a:cs typeface="B Lotus" panose="00000400000000000000" pitchFamily="2" charset="-78"/>
              </a:rPr>
              <a:t>شماتیک دیاگرام همسان سازی سلول به سلول.</a:t>
            </a:r>
            <a:endParaRPr lang="en-US" dirty="0">
              <a:latin typeface="Times New Roman" panose="02020603050405020304" pitchFamily="18" charset="0"/>
              <a:cs typeface="B Lotus" panose="00000400000000000000" pitchFamily="2" charset="-78"/>
            </a:endParaRPr>
          </a:p>
        </p:txBody>
      </p:sp>
      <p:sp>
        <p:nvSpPr>
          <p:cNvPr id="15" name="Rounded Rectangle 175">
            <a:extLst>
              <a:ext uri="{FF2B5EF4-FFF2-40B4-BE49-F238E27FC236}">
                <a16:creationId xmlns:a16="http://schemas.microsoft.com/office/drawing/2014/main" id="{D8E27344-2AB1-4A61-B14B-D9C7962F785E}"/>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2000" b="1" dirty="0">
              <a:solidFill>
                <a:srgbClr val="FFFFFF"/>
              </a:solidFill>
              <a:latin typeface="Times New Roman" panose="02020603050405020304" pitchFamily="18" charset="0"/>
              <a:cs typeface="B Nazanin" panose="00000400000000000000" pitchFamily="2" charset="-78"/>
            </a:endParaRPr>
          </a:p>
        </p:txBody>
      </p:sp>
      <p:pic>
        <p:nvPicPr>
          <p:cNvPr id="17" name="Picture 16" descr="پرونده:Azad University logo.png - ویکی‌پدیا، دانشنامهٔ آزاد">
            <a:extLst>
              <a:ext uri="{FF2B5EF4-FFF2-40B4-BE49-F238E27FC236}">
                <a16:creationId xmlns:a16="http://schemas.microsoft.com/office/drawing/2014/main"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18" name="AutoShape 10">
            <a:extLst>
              <a:ext uri="{FF2B5EF4-FFF2-40B4-BE49-F238E27FC236}">
                <a16:creationId xmlns:a16="http://schemas.microsoft.com/office/drawing/2014/main" id="{96E6A76C-5024-445C-8373-4A127C8598B1}"/>
              </a:ext>
            </a:extLst>
          </p:cNvPr>
          <p:cNvSpPr>
            <a:spLocks noChangeArrowheads="1"/>
          </p:cNvSpPr>
          <p:nvPr/>
        </p:nvSpPr>
        <p:spPr bwMode="gray">
          <a:xfrm flipH="1">
            <a:off x="6244699" y="57140"/>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4" name="AutoShape 3">
            <a:extLst>
              <a:ext uri="{FF2B5EF4-FFF2-40B4-BE49-F238E27FC236}">
                <a16:creationId xmlns:a16="http://schemas.microsoft.com/office/drawing/2014/main" id="{C71EB997-3681-42CE-8D12-DC0BC893643A}"/>
              </a:ext>
            </a:extLst>
          </p:cNvPr>
          <p:cNvSpPr>
            <a:spLocks noChangeArrowheads="1"/>
          </p:cNvSpPr>
          <p:nvPr/>
        </p:nvSpPr>
        <p:spPr bwMode="gray">
          <a:xfrm flipH="1">
            <a:off x="161662" y="57140"/>
            <a:ext cx="1970868"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5" name="Rectangle 24">
            <a:extLst>
              <a:ext uri="{FF2B5EF4-FFF2-40B4-BE49-F238E27FC236}">
                <a16:creationId xmlns:a16="http://schemas.microsoft.com/office/drawing/2014/main" id="{C48087A2-0F0F-40A0-A837-05942D40B928}"/>
              </a:ext>
            </a:extLst>
          </p:cNvPr>
          <p:cNvSpPr/>
          <p:nvPr/>
        </p:nvSpPr>
        <p:spPr>
          <a:xfrm>
            <a:off x="431672" y="189466"/>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6" name="Rectangle 25">
            <a:extLst>
              <a:ext uri="{FF2B5EF4-FFF2-40B4-BE49-F238E27FC236}">
                <a16:creationId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27" name="AutoShape 10">
            <a:extLst>
              <a:ext uri="{FF2B5EF4-FFF2-40B4-BE49-F238E27FC236}">
                <a16:creationId xmlns:a16="http://schemas.microsoft.com/office/drawing/2014/main" id="{50B159E1-0AA0-4C32-86C7-52F5C5E0D242}"/>
              </a:ext>
            </a:extLst>
          </p:cNvPr>
          <p:cNvSpPr>
            <a:spLocks noChangeArrowheads="1"/>
          </p:cNvSpPr>
          <p:nvPr/>
        </p:nvSpPr>
        <p:spPr bwMode="gray">
          <a:xfrm flipH="1">
            <a:off x="2105458" y="54854"/>
            <a:ext cx="2137301" cy="651510"/>
          </a:xfrm>
          <a:prstGeom prst="chevron">
            <a:avLst>
              <a:gd name="adj" fmla="val 17842"/>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8" name="AutoShape 3">
            <a:extLst>
              <a:ext uri="{FF2B5EF4-FFF2-40B4-BE49-F238E27FC236}">
                <a16:creationId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9" name="Rectangle 28">
            <a:extLst>
              <a:ext uri="{FF2B5EF4-FFF2-40B4-BE49-F238E27FC236}">
                <a16:creationId xmlns:a16="http://schemas.microsoft.com/office/drawing/2014/main" id="{4DE55AA0-934E-4757-A2D4-1C4E49036DCD}"/>
              </a:ext>
            </a:extLst>
          </p:cNvPr>
          <p:cNvSpPr/>
          <p:nvPr/>
        </p:nvSpPr>
        <p:spPr>
          <a:xfrm>
            <a:off x="2402046" y="6407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2" name="Rectangle 31">
            <a:extLst>
              <a:ext uri="{FF2B5EF4-FFF2-40B4-BE49-F238E27FC236}">
                <a16:creationId xmlns:a16="http://schemas.microsoft.com/office/drawing/2014/main" id="{AC165A2D-60D3-440C-A112-7B419F7E72B2}"/>
              </a:ext>
            </a:extLst>
          </p:cNvPr>
          <p:cNvSpPr/>
          <p:nvPr/>
        </p:nvSpPr>
        <p:spPr>
          <a:xfrm>
            <a:off x="4529582"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3" name="TextBox 32">
            <a:extLst>
              <a:ext uri="{FF2B5EF4-FFF2-40B4-BE49-F238E27FC236}">
                <a16:creationId xmlns:a16="http://schemas.microsoft.com/office/drawing/2014/main" id="{F43469DC-7F5B-471E-BD74-ED709E621F63}"/>
              </a:ext>
            </a:extLst>
          </p:cNvPr>
          <p:cNvSpPr txBox="1"/>
          <p:nvPr/>
        </p:nvSpPr>
        <p:spPr>
          <a:xfrm>
            <a:off x="7741141" y="1726687"/>
            <a:ext cx="1151276" cy="369332"/>
          </a:xfrm>
          <a:prstGeom prst="rect">
            <a:avLst/>
          </a:prstGeom>
          <a:noFill/>
        </p:spPr>
        <p:txBody>
          <a:bodyPr wrap="none" rtlCol="0">
            <a:spAutoFit/>
          </a:bodyPr>
          <a:lstStyle/>
          <a:p>
            <a:pPr algn="r" rtl="1"/>
            <a:r>
              <a:rPr lang="fa-IR" b="1" dirty="0">
                <a:cs typeface="B Nazanin" panose="00000400000000000000" pitchFamily="2" charset="-78"/>
              </a:rPr>
              <a:t>انتقال مجاور</a:t>
            </a:r>
          </a:p>
        </p:txBody>
      </p:sp>
      <p:graphicFrame>
        <p:nvGraphicFramePr>
          <p:cNvPr id="16" name="Table 15"/>
          <p:cNvGraphicFramePr>
            <a:graphicFrameLocks noGrp="1"/>
          </p:cNvGraphicFramePr>
          <p:nvPr>
            <p:extLst/>
          </p:nvPr>
        </p:nvGraphicFramePr>
        <p:xfrm>
          <a:off x="98296" y="1292475"/>
          <a:ext cx="4513526" cy="762000"/>
        </p:xfrm>
        <a:graphic>
          <a:graphicData uri="http://schemas.openxmlformats.org/drawingml/2006/table">
            <a:tbl>
              <a:tblPr rtl="1" firstRow="1" firstCol="1" bandRow="1"/>
              <a:tblGrid>
                <a:gridCol w="1048385">
                  <a:extLst>
                    <a:ext uri="{9D8B030D-6E8A-4147-A177-3AD203B41FA5}">
                      <a16:colId xmlns:a16="http://schemas.microsoft.com/office/drawing/2014/main" val="20001"/>
                    </a:ext>
                  </a:extLst>
                </a:gridCol>
                <a:gridCol w="570548">
                  <a:extLst>
                    <a:ext uri="{9D8B030D-6E8A-4147-A177-3AD203B41FA5}">
                      <a16:colId xmlns:a16="http://schemas.microsoft.com/office/drawing/2014/main" val="20002"/>
                    </a:ext>
                  </a:extLst>
                </a:gridCol>
                <a:gridCol w="618172">
                  <a:extLst>
                    <a:ext uri="{9D8B030D-6E8A-4147-A177-3AD203B41FA5}">
                      <a16:colId xmlns:a16="http://schemas.microsoft.com/office/drawing/2014/main" val="20003"/>
                    </a:ext>
                  </a:extLst>
                </a:gridCol>
                <a:gridCol w="978535">
                  <a:extLst>
                    <a:ext uri="{9D8B030D-6E8A-4147-A177-3AD203B41FA5}">
                      <a16:colId xmlns:a16="http://schemas.microsoft.com/office/drawing/2014/main" val="20004"/>
                    </a:ext>
                  </a:extLst>
                </a:gridCol>
                <a:gridCol w="556260">
                  <a:extLst>
                    <a:ext uri="{9D8B030D-6E8A-4147-A177-3AD203B41FA5}">
                      <a16:colId xmlns:a16="http://schemas.microsoft.com/office/drawing/2014/main" val="20005"/>
                    </a:ext>
                  </a:extLst>
                </a:gridCol>
                <a:gridCol w="741626">
                  <a:extLst>
                    <a:ext uri="{9D8B030D-6E8A-4147-A177-3AD203B41FA5}">
                      <a16:colId xmlns:a16="http://schemas.microsoft.com/office/drawing/2014/main" val="20006"/>
                    </a:ext>
                  </a:extLst>
                </a:gridCol>
              </a:tblGrid>
              <a:tr h="381000">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سادگی</a:t>
                      </a:r>
                      <a:r>
                        <a:rPr lang="fa-IR" sz="1400" i="0" kern="1200" baseline="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 </a:t>
                      </a: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الگوریتم</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راندمان</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dirty="0" err="1">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جانمایی</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صرفه اقتصادی</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سرعت</a:t>
                      </a:r>
                      <a:endParaRPr lang="en-US"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امتیاز</a:t>
                      </a:r>
                      <a:r>
                        <a:rPr lang="fa-IR" sz="1400" i="0" kern="1200" baseline="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 نهایی</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extLst>
                  <a:ext uri="{0D108BD9-81ED-4DB2-BD59-A6C34878D82A}">
                    <a16:rowId xmlns:a16="http://schemas.microsoft.com/office/drawing/2014/main" val="10000"/>
                  </a:ext>
                </a:extLst>
              </a:tr>
              <a:tr h="381000">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5</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1</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5</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1/6</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3/1</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19"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67</a:t>
            </a:fld>
            <a:endParaRPr lang="fa-IR" sz="1800" dirty="0">
              <a:solidFill>
                <a:schemeClr val="tx1"/>
              </a:solidFill>
              <a:cs typeface="B Lotus" panose="00000400000000000000" pitchFamily="2" charset="-78"/>
            </a:endParaRPr>
          </a:p>
        </p:txBody>
      </p:sp>
    </p:spTree>
    <p:extLst>
      <p:ext uri="{BB962C8B-B14F-4D97-AF65-F5344CB8AC3E}">
        <p14:creationId xmlns:p14="http://schemas.microsoft.com/office/powerpoint/2010/main" val="39533532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Picture 14"/>
          <p:cNvPicPr/>
          <p:nvPr/>
        </p:nvPicPr>
        <p:blipFill rotWithShape="1">
          <a:blip r:embed="rId3">
            <a:extLst>
              <a:ext uri="{28A0092B-C50C-407E-A947-70E740481C1C}">
                <a14:useLocalDpi xmlns:a14="http://schemas.microsoft.com/office/drawing/2010/main" val="0"/>
              </a:ext>
            </a:extLst>
          </a:blip>
          <a:srcRect l="7873"/>
          <a:stretch/>
        </p:blipFill>
        <p:spPr bwMode="auto">
          <a:xfrm>
            <a:off x="326604" y="2057400"/>
            <a:ext cx="8283996" cy="4045227"/>
          </a:xfrm>
          <a:prstGeom prst="rect">
            <a:avLst/>
          </a:prstGeom>
          <a:noFill/>
          <a:ln>
            <a:noFill/>
          </a:ln>
          <a:extLst>
            <a:ext uri="{53640926-AAD7-44D8-BBD7-CCE9431645EC}">
              <a14:shadowObscured xmlns:a14="http://schemas.microsoft.com/office/drawing/2010/main"/>
            </a:ext>
          </a:extLst>
        </p:spPr>
      </p:pic>
      <p:sp>
        <p:nvSpPr>
          <p:cNvPr id="18" name="Rounded Rectangle 175">
            <a:extLst>
              <a:ext uri="{FF2B5EF4-FFF2-40B4-BE49-F238E27FC236}">
                <a16:creationId xmlns:a16="http://schemas.microsoft.com/office/drawing/2014/main" id="{D8E27344-2AB1-4A61-B14B-D9C7962F785E}"/>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2000" b="1" dirty="0">
              <a:solidFill>
                <a:srgbClr val="FFFFFF"/>
              </a:solidFill>
              <a:latin typeface="Times New Roman" panose="02020603050405020304" pitchFamily="18" charset="0"/>
              <a:cs typeface="B Nazanin" panose="00000400000000000000" pitchFamily="2" charset="-78"/>
            </a:endParaRPr>
          </a:p>
        </p:txBody>
      </p:sp>
      <p:pic>
        <p:nvPicPr>
          <p:cNvPr id="24" name="Picture 23" descr="پرونده:Azad University logo.png - ویکی‌پدیا، دانشنامهٔ آزاد">
            <a:extLst>
              <a:ext uri="{FF2B5EF4-FFF2-40B4-BE49-F238E27FC236}">
                <a16:creationId xmlns:a16="http://schemas.microsoft.com/office/drawing/2014/main"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25" name="AutoShape 10">
            <a:extLst>
              <a:ext uri="{FF2B5EF4-FFF2-40B4-BE49-F238E27FC236}">
                <a16:creationId xmlns:a16="http://schemas.microsoft.com/office/drawing/2014/main" id="{96E6A76C-5024-445C-8373-4A127C8598B1}"/>
              </a:ext>
            </a:extLst>
          </p:cNvPr>
          <p:cNvSpPr>
            <a:spLocks noChangeArrowheads="1"/>
          </p:cNvSpPr>
          <p:nvPr/>
        </p:nvSpPr>
        <p:spPr bwMode="gray">
          <a:xfrm flipH="1">
            <a:off x="6244699" y="57140"/>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26" name="AutoShape 3">
            <a:extLst>
              <a:ext uri="{FF2B5EF4-FFF2-40B4-BE49-F238E27FC236}">
                <a16:creationId xmlns:a16="http://schemas.microsoft.com/office/drawing/2014/main" id="{C71EB997-3681-42CE-8D12-DC0BC893643A}"/>
              </a:ext>
            </a:extLst>
          </p:cNvPr>
          <p:cNvSpPr>
            <a:spLocks noChangeArrowheads="1"/>
          </p:cNvSpPr>
          <p:nvPr/>
        </p:nvSpPr>
        <p:spPr bwMode="gray">
          <a:xfrm flipH="1">
            <a:off x="161662" y="57140"/>
            <a:ext cx="1970868"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27" name="Rectangle 26">
            <a:extLst>
              <a:ext uri="{FF2B5EF4-FFF2-40B4-BE49-F238E27FC236}">
                <a16:creationId xmlns:a16="http://schemas.microsoft.com/office/drawing/2014/main" id="{C48087A2-0F0F-40A0-A837-05942D40B928}"/>
              </a:ext>
            </a:extLst>
          </p:cNvPr>
          <p:cNvSpPr/>
          <p:nvPr/>
        </p:nvSpPr>
        <p:spPr>
          <a:xfrm>
            <a:off x="431672" y="189466"/>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28" name="Rectangle 27">
            <a:extLst>
              <a:ext uri="{FF2B5EF4-FFF2-40B4-BE49-F238E27FC236}">
                <a16:creationId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29" name="AutoShape 10">
            <a:extLst>
              <a:ext uri="{FF2B5EF4-FFF2-40B4-BE49-F238E27FC236}">
                <a16:creationId xmlns:a16="http://schemas.microsoft.com/office/drawing/2014/main" id="{50B159E1-0AA0-4C32-86C7-52F5C5E0D242}"/>
              </a:ext>
            </a:extLst>
          </p:cNvPr>
          <p:cNvSpPr>
            <a:spLocks noChangeArrowheads="1"/>
          </p:cNvSpPr>
          <p:nvPr/>
        </p:nvSpPr>
        <p:spPr bwMode="gray">
          <a:xfrm flipH="1">
            <a:off x="2105458" y="54854"/>
            <a:ext cx="2137301" cy="651510"/>
          </a:xfrm>
          <a:prstGeom prst="chevron">
            <a:avLst>
              <a:gd name="adj" fmla="val 17842"/>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1" name="AutoShape 3">
            <a:extLst>
              <a:ext uri="{FF2B5EF4-FFF2-40B4-BE49-F238E27FC236}">
                <a16:creationId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2" name="Rectangle 31">
            <a:extLst>
              <a:ext uri="{FF2B5EF4-FFF2-40B4-BE49-F238E27FC236}">
                <a16:creationId xmlns:a16="http://schemas.microsoft.com/office/drawing/2014/main" id="{4DE55AA0-934E-4757-A2D4-1C4E49036DCD}"/>
              </a:ext>
            </a:extLst>
          </p:cNvPr>
          <p:cNvSpPr/>
          <p:nvPr/>
        </p:nvSpPr>
        <p:spPr>
          <a:xfrm>
            <a:off x="2402046" y="6407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3" name="Rectangle 32">
            <a:extLst>
              <a:ext uri="{FF2B5EF4-FFF2-40B4-BE49-F238E27FC236}">
                <a16:creationId xmlns:a16="http://schemas.microsoft.com/office/drawing/2014/main" id="{AC165A2D-60D3-440C-A112-7B419F7E72B2}"/>
              </a:ext>
            </a:extLst>
          </p:cNvPr>
          <p:cNvSpPr/>
          <p:nvPr/>
        </p:nvSpPr>
        <p:spPr>
          <a:xfrm>
            <a:off x="4529582"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4" name="TextBox 33">
            <a:extLst>
              <a:ext uri="{FF2B5EF4-FFF2-40B4-BE49-F238E27FC236}">
                <a16:creationId xmlns:a16="http://schemas.microsoft.com/office/drawing/2014/main" id="{F43469DC-7F5B-471E-BD74-ED709E621F63}"/>
              </a:ext>
            </a:extLst>
          </p:cNvPr>
          <p:cNvSpPr txBox="1"/>
          <p:nvPr/>
        </p:nvSpPr>
        <p:spPr>
          <a:xfrm>
            <a:off x="7404509" y="1726687"/>
            <a:ext cx="1487908" cy="369332"/>
          </a:xfrm>
          <a:prstGeom prst="rect">
            <a:avLst/>
          </a:prstGeom>
          <a:noFill/>
        </p:spPr>
        <p:txBody>
          <a:bodyPr wrap="none" rtlCol="0">
            <a:spAutoFit/>
          </a:bodyPr>
          <a:lstStyle/>
          <a:p>
            <a:pPr algn="r" rtl="1"/>
            <a:r>
              <a:rPr lang="fa-IR" b="1" dirty="0">
                <a:cs typeface="B Nazanin" panose="00000400000000000000" pitchFamily="2" charset="-78"/>
              </a:rPr>
              <a:t>انتقال غیر مجاور</a:t>
            </a:r>
          </a:p>
        </p:txBody>
      </p:sp>
      <p:sp>
        <p:nvSpPr>
          <p:cNvPr id="35" name="Rectangle 34"/>
          <p:cNvSpPr/>
          <p:nvPr/>
        </p:nvSpPr>
        <p:spPr>
          <a:xfrm>
            <a:off x="2652245" y="6102627"/>
            <a:ext cx="3839514" cy="369332"/>
          </a:xfrm>
          <a:prstGeom prst="rect">
            <a:avLst/>
          </a:prstGeom>
        </p:spPr>
        <p:txBody>
          <a:bodyPr wrap="none">
            <a:spAutoFit/>
          </a:bodyPr>
          <a:lstStyle/>
          <a:p>
            <a:pPr algn="ctr" rtl="1" fontAlgn="base">
              <a:spcBef>
                <a:spcPct val="0"/>
              </a:spcBef>
              <a:spcAft>
                <a:spcPct val="0"/>
              </a:spcAft>
            </a:pPr>
            <a:r>
              <a:rPr lang="fa-IR" dirty="0">
                <a:latin typeface="Times New Roman" panose="02020603050405020304" pitchFamily="18" charset="0"/>
                <a:ea typeface="Calibri" panose="020F0502020204030204" pitchFamily="34" charset="0"/>
                <a:cs typeface="B Lotus" panose="00000400000000000000" pitchFamily="2" charset="-78"/>
              </a:rPr>
              <a:t>شکل 6 </a:t>
            </a:r>
            <a:r>
              <a:rPr lang="fa-IR" dirty="0">
                <a:latin typeface="Times New Roman" panose="02020603050405020304" pitchFamily="18" charset="0"/>
                <a:cs typeface="B Lotus" panose="00000400000000000000" pitchFamily="2" charset="-78"/>
              </a:rPr>
              <a:t>شماتیک دیاگرام همسان سازی سلول و پک.</a:t>
            </a:r>
            <a:endParaRPr lang="en-US" b="1" dirty="0">
              <a:solidFill>
                <a:srgbClr val="000000"/>
              </a:solidFill>
              <a:latin typeface="Times New Roman" panose="02020603050405020304" pitchFamily="18" charset="0"/>
              <a:cs typeface="B Nazanin" pitchFamily="2" charset="-78"/>
            </a:endParaRPr>
          </a:p>
        </p:txBody>
      </p:sp>
      <p:sp>
        <p:nvSpPr>
          <p:cNvPr id="17"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68</a:t>
            </a:fld>
            <a:endParaRPr lang="fa-IR" sz="1800" dirty="0">
              <a:solidFill>
                <a:schemeClr val="tx1"/>
              </a:solidFill>
              <a:cs typeface="B Lotus" panose="00000400000000000000" pitchFamily="2" charset="-78"/>
            </a:endParaRPr>
          </a:p>
        </p:txBody>
      </p:sp>
      <p:graphicFrame>
        <p:nvGraphicFramePr>
          <p:cNvPr id="20" name="Table 19"/>
          <p:cNvGraphicFramePr>
            <a:graphicFrameLocks noGrp="1"/>
          </p:cNvGraphicFramePr>
          <p:nvPr>
            <p:extLst/>
          </p:nvPr>
        </p:nvGraphicFramePr>
        <p:xfrm>
          <a:off x="98296" y="1292475"/>
          <a:ext cx="4513526" cy="762000"/>
        </p:xfrm>
        <a:graphic>
          <a:graphicData uri="http://schemas.openxmlformats.org/drawingml/2006/table">
            <a:tbl>
              <a:tblPr rtl="1" firstRow="1" firstCol="1" bandRow="1"/>
              <a:tblGrid>
                <a:gridCol w="1048385">
                  <a:extLst>
                    <a:ext uri="{9D8B030D-6E8A-4147-A177-3AD203B41FA5}">
                      <a16:colId xmlns:a16="http://schemas.microsoft.com/office/drawing/2014/main" val="20001"/>
                    </a:ext>
                  </a:extLst>
                </a:gridCol>
                <a:gridCol w="570548">
                  <a:extLst>
                    <a:ext uri="{9D8B030D-6E8A-4147-A177-3AD203B41FA5}">
                      <a16:colId xmlns:a16="http://schemas.microsoft.com/office/drawing/2014/main" val="20002"/>
                    </a:ext>
                  </a:extLst>
                </a:gridCol>
                <a:gridCol w="618172">
                  <a:extLst>
                    <a:ext uri="{9D8B030D-6E8A-4147-A177-3AD203B41FA5}">
                      <a16:colId xmlns:a16="http://schemas.microsoft.com/office/drawing/2014/main" val="20003"/>
                    </a:ext>
                  </a:extLst>
                </a:gridCol>
                <a:gridCol w="978535">
                  <a:extLst>
                    <a:ext uri="{9D8B030D-6E8A-4147-A177-3AD203B41FA5}">
                      <a16:colId xmlns:a16="http://schemas.microsoft.com/office/drawing/2014/main" val="20004"/>
                    </a:ext>
                  </a:extLst>
                </a:gridCol>
                <a:gridCol w="556260">
                  <a:extLst>
                    <a:ext uri="{9D8B030D-6E8A-4147-A177-3AD203B41FA5}">
                      <a16:colId xmlns:a16="http://schemas.microsoft.com/office/drawing/2014/main" val="20005"/>
                    </a:ext>
                  </a:extLst>
                </a:gridCol>
                <a:gridCol w="741626">
                  <a:extLst>
                    <a:ext uri="{9D8B030D-6E8A-4147-A177-3AD203B41FA5}">
                      <a16:colId xmlns:a16="http://schemas.microsoft.com/office/drawing/2014/main" val="20006"/>
                    </a:ext>
                  </a:extLst>
                </a:gridCol>
              </a:tblGrid>
              <a:tr h="381000">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سادگی</a:t>
                      </a:r>
                      <a:r>
                        <a:rPr lang="fa-IR" sz="1400" i="0" kern="1200" baseline="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 </a:t>
                      </a: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الگوریتم</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راندمان</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dirty="0" err="1">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جانمایی</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صرفه اقتصادی</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سرعت</a:t>
                      </a:r>
                      <a:endParaRPr lang="en-US"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امتیاز</a:t>
                      </a:r>
                      <a:r>
                        <a:rPr lang="fa-IR" sz="1400" i="0" kern="1200" baseline="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 نهایی</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extLst>
                  <a:ext uri="{0D108BD9-81ED-4DB2-BD59-A6C34878D82A}">
                    <a16:rowId xmlns:a16="http://schemas.microsoft.com/office/drawing/2014/main" val="10000"/>
                  </a:ext>
                </a:extLst>
              </a:tr>
              <a:tr h="381000">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1</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4</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2/5</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1</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3/9</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2/5</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21" name="TextBox 20">
            <a:extLst>
              <a:ext uri="{FF2B5EF4-FFF2-40B4-BE49-F238E27FC236}">
                <a16:creationId xmlns:a16="http://schemas.microsoft.com/office/drawing/2014/main" id="{F43469DC-7F5B-471E-BD74-ED709E621F63}"/>
              </a:ext>
            </a:extLst>
          </p:cNvPr>
          <p:cNvSpPr txBox="1"/>
          <p:nvPr/>
        </p:nvSpPr>
        <p:spPr>
          <a:xfrm>
            <a:off x="4608424" y="1326578"/>
            <a:ext cx="1568057" cy="769441"/>
          </a:xfrm>
          <a:prstGeom prst="rect">
            <a:avLst/>
          </a:prstGeom>
          <a:noFill/>
        </p:spPr>
        <p:txBody>
          <a:bodyPr wrap="none" rtlCol="0">
            <a:spAutoFit/>
          </a:bodyPr>
          <a:lstStyle/>
          <a:p>
            <a:pPr algn="r" rtl="1"/>
            <a:r>
              <a:rPr lang="fa-IR" sz="1100" b="1" dirty="0">
                <a:cs typeface="B Nazanin" panose="00000400000000000000" pitchFamily="2" charset="-78"/>
              </a:rPr>
              <a:t>داده ورود جهت ارزیابی:</a:t>
            </a:r>
          </a:p>
          <a:p>
            <a:pPr marL="171450" indent="-171450" algn="r" rtl="1">
              <a:buFont typeface="Arial" panose="020B0604020202020204" pitchFamily="34" charset="0"/>
              <a:buChar char="•"/>
            </a:pPr>
            <a:r>
              <a:rPr lang="fa-IR" sz="1100" dirty="0">
                <a:cs typeface="B Nazanin" panose="00000400000000000000" pitchFamily="2" charset="-78"/>
              </a:rPr>
              <a:t>12 سلول سری 3/1 </a:t>
            </a:r>
            <a:r>
              <a:rPr lang="en-US" sz="1100" dirty="0">
                <a:cs typeface="B Nazanin" panose="00000400000000000000" pitchFamily="2" charset="-78"/>
              </a:rPr>
              <a:t>Ah</a:t>
            </a:r>
            <a:endParaRPr lang="fa-IR" sz="1100" dirty="0">
              <a:cs typeface="B Nazanin" panose="00000400000000000000" pitchFamily="2" charset="-78"/>
            </a:endParaRPr>
          </a:p>
          <a:p>
            <a:pPr marL="171450" indent="-171450" algn="r" rtl="1">
              <a:buFont typeface="Arial" panose="020B0604020202020204" pitchFamily="34" charset="0"/>
              <a:buChar char="•"/>
            </a:pPr>
            <a:r>
              <a:rPr lang="fa-IR" sz="1100" dirty="0">
                <a:cs typeface="B Nazanin" panose="00000400000000000000" pitchFamily="2" charset="-78"/>
              </a:rPr>
              <a:t>جریان همسان سازی 0/5 </a:t>
            </a:r>
            <a:r>
              <a:rPr lang="en-US" sz="1100" dirty="0">
                <a:cs typeface="B Nazanin" panose="00000400000000000000" pitchFamily="2" charset="-78"/>
              </a:rPr>
              <a:t>A</a:t>
            </a:r>
          </a:p>
          <a:p>
            <a:pPr marL="171450" indent="-171450" algn="r" rtl="1">
              <a:buFont typeface="Arial" panose="020B0604020202020204" pitchFamily="34" charset="0"/>
              <a:buChar char="•"/>
            </a:pPr>
            <a:endParaRPr lang="fa-IR" sz="1100" dirty="0">
              <a:cs typeface="B Nazanin" panose="00000400000000000000" pitchFamily="2" charset="-78"/>
            </a:endParaRPr>
          </a:p>
        </p:txBody>
      </p:sp>
    </p:spTree>
    <p:extLst>
      <p:ext uri="{BB962C8B-B14F-4D97-AF65-F5344CB8AC3E}">
        <p14:creationId xmlns:p14="http://schemas.microsoft.com/office/powerpoint/2010/main" val="264469312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Picture 14"/>
          <p:cNvPicPr/>
          <p:nvPr/>
        </p:nvPicPr>
        <p:blipFill>
          <a:blip r:embed="rId3">
            <a:extLst>
              <a:ext uri="{28A0092B-C50C-407E-A947-70E740481C1C}">
                <a14:useLocalDpi xmlns:a14="http://schemas.microsoft.com/office/drawing/2010/main" val="0"/>
              </a:ext>
            </a:extLst>
          </a:blip>
          <a:stretch>
            <a:fillRect/>
          </a:stretch>
        </p:blipFill>
        <p:spPr bwMode="auto">
          <a:xfrm>
            <a:off x="457200" y="2054475"/>
            <a:ext cx="7924800" cy="3916079"/>
          </a:xfrm>
          <a:prstGeom prst="rect">
            <a:avLst/>
          </a:prstGeom>
          <a:noFill/>
          <a:ln>
            <a:noFill/>
          </a:ln>
        </p:spPr>
      </p:pic>
      <p:sp>
        <p:nvSpPr>
          <p:cNvPr id="34" name="Rounded Rectangle 175">
            <a:extLst>
              <a:ext uri="{FF2B5EF4-FFF2-40B4-BE49-F238E27FC236}">
                <a16:creationId xmlns:a16="http://schemas.microsoft.com/office/drawing/2014/main" id="{D8E27344-2AB1-4A61-B14B-D9C7962F785E}"/>
              </a:ext>
            </a:extLst>
          </p:cNvPr>
          <p:cNvSpPr/>
          <p:nvPr/>
        </p:nvSpPr>
        <p:spPr bwMode="auto">
          <a:xfrm>
            <a:off x="6324600" y="1066930"/>
            <a:ext cx="2922494" cy="418072"/>
          </a:xfrm>
          <a:prstGeom prst="roundRect">
            <a:avLst/>
          </a:prstGeom>
          <a:solidFill>
            <a:srgbClr val="3D81BF">
              <a:lumMod val="75000"/>
            </a:srgbClr>
          </a:solidFill>
          <a:ln w="9525" cap="flat" cmpd="sng" algn="ctr">
            <a:solidFill>
              <a:srgbClr val="000000"/>
            </a:solidFill>
            <a:prstDash val="solid"/>
            <a:round/>
            <a:headEnd type="none" w="med" len="med"/>
            <a:tailEnd type="none" w="med" len="med"/>
          </a:ln>
          <a:effectLst>
            <a:reflection blurRad="6350" stA="50000" endA="300" endPos="55000" dir="5400000" sy="-100000" algn="bl" rotWithShape="0"/>
          </a:effectLst>
          <a:scene3d>
            <a:camera prst="isometricOffAxis2Left"/>
            <a:lightRig rig="threePt" dir="t"/>
          </a:scene3d>
        </p:spPr>
        <p:txBody>
          <a:bodyPr vert="horz" wrap="square" lIns="91440" tIns="45720" rIns="91440" bIns="45720" numCol="1" rtlCol="0" anchor="t" anchorCtr="0" compatLnSpc="1">
            <a:prstTxWarp prst="textNoShape">
              <a:avLst/>
            </a:prstTxWarp>
          </a:bodyPr>
          <a:lstStyle/>
          <a:p>
            <a:pPr lvl="0" algn="ctr" rtl="1" fontAlgn="base">
              <a:spcBef>
                <a:spcPct val="0"/>
              </a:spcBef>
              <a:spcAft>
                <a:spcPct val="0"/>
              </a:spcAft>
            </a:pPr>
            <a:r>
              <a:rPr lang="fa-IR" sz="20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2000" b="1" dirty="0">
              <a:solidFill>
                <a:srgbClr val="FFFFFF"/>
              </a:solidFill>
              <a:latin typeface="Times New Roman" panose="02020603050405020304" pitchFamily="18" charset="0"/>
              <a:cs typeface="B Nazanin" panose="00000400000000000000" pitchFamily="2" charset="-78"/>
            </a:endParaRPr>
          </a:p>
        </p:txBody>
      </p:sp>
      <p:pic>
        <p:nvPicPr>
          <p:cNvPr id="35" name="Picture 34" descr="پرونده:Azad University logo.png - ویکی‌پدیا، دانشنامهٔ آزاد">
            <a:extLst>
              <a:ext uri="{FF2B5EF4-FFF2-40B4-BE49-F238E27FC236}">
                <a16:creationId xmlns:a16="http://schemas.microsoft.com/office/drawing/2014/main" id="{FA988D60-670C-406B-B8FB-D5A0053424E9}"/>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10600" y="0"/>
            <a:ext cx="533400" cy="822959"/>
          </a:xfrm>
          <a:prstGeom prst="rect">
            <a:avLst/>
          </a:prstGeom>
          <a:noFill/>
          <a:ln>
            <a:noFill/>
          </a:ln>
        </p:spPr>
      </p:pic>
      <p:sp>
        <p:nvSpPr>
          <p:cNvPr id="36" name="AutoShape 10">
            <a:extLst>
              <a:ext uri="{FF2B5EF4-FFF2-40B4-BE49-F238E27FC236}">
                <a16:creationId xmlns:a16="http://schemas.microsoft.com/office/drawing/2014/main" id="{96E6A76C-5024-445C-8373-4A127C8598B1}"/>
              </a:ext>
            </a:extLst>
          </p:cNvPr>
          <p:cNvSpPr>
            <a:spLocks noChangeArrowheads="1"/>
          </p:cNvSpPr>
          <p:nvPr/>
        </p:nvSpPr>
        <p:spPr bwMode="gray">
          <a:xfrm flipH="1">
            <a:off x="6244699" y="57140"/>
            <a:ext cx="2137301" cy="649224"/>
          </a:xfrm>
          <a:prstGeom prst="chevron">
            <a:avLst>
              <a:gd name="adj" fmla="val 17842"/>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algn="ctr" fontAlgn="base">
              <a:spcBef>
                <a:spcPct val="0"/>
              </a:spcBef>
              <a:spcAft>
                <a:spcPct val="0"/>
              </a:spcAft>
            </a:pPr>
            <a:endParaRPr lang="en-US" kern="0">
              <a:solidFill>
                <a:srgbClr val="3D81BF"/>
              </a:solidFill>
            </a:endParaRPr>
          </a:p>
        </p:txBody>
      </p:sp>
      <p:sp>
        <p:nvSpPr>
          <p:cNvPr id="37" name="AutoShape 3">
            <a:extLst>
              <a:ext uri="{FF2B5EF4-FFF2-40B4-BE49-F238E27FC236}">
                <a16:creationId xmlns:a16="http://schemas.microsoft.com/office/drawing/2014/main" id="{C71EB997-3681-42CE-8D12-DC0BC893643A}"/>
              </a:ext>
            </a:extLst>
          </p:cNvPr>
          <p:cNvSpPr>
            <a:spLocks noChangeArrowheads="1"/>
          </p:cNvSpPr>
          <p:nvPr/>
        </p:nvSpPr>
        <p:spPr bwMode="gray">
          <a:xfrm flipH="1">
            <a:off x="161662" y="57140"/>
            <a:ext cx="1970868"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38" name="Rectangle 37">
            <a:extLst>
              <a:ext uri="{FF2B5EF4-FFF2-40B4-BE49-F238E27FC236}">
                <a16:creationId xmlns:a16="http://schemas.microsoft.com/office/drawing/2014/main" id="{C48087A2-0F0F-40A0-A837-05942D40B928}"/>
              </a:ext>
            </a:extLst>
          </p:cNvPr>
          <p:cNvSpPr/>
          <p:nvPr/>
        </p:nvSpPr>
        <p:spPr>
          <a:xfrm>
            <a:off x="431672" y="189466"/>
            <a:ext cx="1443038" cy="338554"/>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مقالات اخیر</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39" name="Rectangle 38">
            <a:extLst>
              <a:ext uri="{FF2B5EF4-FFF2-40B4-BE49-F238E27FC236}">
                <a16:creationId xmlns:a16="http://schemas.microsoft.com/office/drawing/2014/main" id="{BF9CF44D-C94F-4B09-AF24-15EACD7BE0F4}"/>
              </a:ext>
            </a:extLst>
          </p:cNvPr>
          <p:cNvSpPr/>
          <p:nvPr/>
        </p:nvSpPr>
        <p:spPr>
          <a:xfrm>
            <a:off x="6499957" y="197162"/>
            <a:ext cx="1626786" cy="323165"/>
          </a:xfrm>
          <a:prstGeom prst="rect">
            <a:avLst/>
          </a:prstGeom>
        </p:spPr>
        <p:txBody>
          <a:bodyPr wrap="square">
            <a:spAutoFit/>
          </a:bodyPr>
          <a:lstStyle/>
          <a:p>
            <a:pPr lvl="0" algn="ctr" fontAlgn="base">
              <a:spcBef>
                <a:spcPct val="0"/>
              </a:spcBef>
              <a:spcAft>
                <a:spcPct val="0"/>
              </a:spcAft>
              <a:defRPr/>
            </a:pPr>
            <a:r>
              <a:rPr lang="fa-IR" sz="1500" b="1" kern="0" dirty="0" err="1">
                <a:solidFill>
                  <a:srgbClr val="FFFFFF"/>
                </a:solidFill>
                <a:latin typeface="Times New Roman" panose="02020603050405020304" pitchFamily="18" charset="0"/>
                <a:cs typeface="B Nazanin" pitchFamily="2" charset="-78"/>
              </a:rPr>
              <a:t>باتریها</a:t>
            </a:r>
            <a:endParaRPr lang="en-US" sz="1500" b="1" kern="0" dirty="0">
              <a:solidFill>
                <a:srgbClr val="FFFFFF"/>
              </a:solidFill>
              <a:latin typeface="Times New Roman" panose="02020603050405020304" pitchFamily="18" charset="0"/>
              <a:cs typeface="B Nazanin" pitchFamily="2" charset="-78"/>
            </a:endParaRPr>
          </a:p>
        </p:txBody>
      </p:sp>
      <p:sp>
        <p:nvSpPr>
          <p:cNvPr id="40" name="AutoShape 10">
            <a:extLst>
              <a:ext uri="{FF2B5EF4-FFF2-40B4-BE49-F238E27FC236}">
                <a16:creationId xmlns:a16="http://schemas.microsoft.com/office/drawing/2014/main" id="{50B159E1-0AA0-4C32-86C7-52F5C5E0D242}"/>
              </a:ext>
            </a:extLst>
          </p:cNvPr>
          <p:cNvSpPr>
            <a:spLocks noChangeArrowheads="1"/>
          </p:cNvSpPr>
          <p:nvPr/>
        </p:nvSpPr>
        <p:spPr bwMode="gray">
          <a:xfrm flipH="1">
            <a:off x="2105458" y="54854"/>
            <a:ext cx="2137301" cy="651510"/>
          </a:xfrm>
          <a:prstGeom prst="chevron">
            <a:avLst>
              <a:gd name="adj" fmla="val 17842"/>
            </a:avLst>
          </a:prstGeom>
          <a:gradFill rotWithShape="1">
            <a:gsLst>
              <a:gs pos="0">
                <a:srgbClr val="3659EC">
                  <a:gamma/>
                  <a:shade val="46275"/>
                  <a:invGamma/>
                </a:srgbClr>
              </a:gs>
              <a:gs pos="50000">
                <a:srgbClr val="3659EC"/>
              </a:gs>
              <a:gs pos="100000">
                <a:srgbClr val="3659EC">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1" name="AutoShape 3">
            <a:extLst>
              <a:ext uri="{FF2B5EF4-FFF2-40B4-BE49-F238E27FC236}">
                <a16:creationId xmlns:a16="http://schemas.microsoft.com/office/drawing/2014/main" id="{DBA5C955-0E66-467E-8B5F-EF4EE5F8F3FA}"/>
              </a:ext>
            </a:extLst>
          </p:cNvPr>
          <p:cNvSpPr>
            <a:spLocks noChangeArrowheads="1"/>
          </p:cNvSpPr>
          <p:nvPr/>
        </p:nvSpPr>
        <p:spPr bwMode="gray">
          <a:xfrm flipH="1">
            <a:off x="4215687" y="54854"/>
            <a:ext cx="2056085" cy="651510"/>
          </a:xfrm>
          <a:prstGeom prst="chevron">
            <a:avLst>
              <a:gd name="adj" fmla="val 17009"/>
            </a:avLst>
          </a:prstGeom>
          <a:gradFill rotWithShape="1">
            <a:gsLst>
              <a:gs pos="0">
                <a:srgbClr val="84B09A">
                  <a:gamma/>
                  <a:shade val="46275"/>
                  <a:invGamma/>
                </a:srgbClr>
              </a:gs>
              <a:gs pos="50000">
                <a:srgbClr val="84B09A"/>
              </a:gs>
              <a:gs pos="100000">
                <a:srgbClr val="84B09A">
                  <a:gamma/>
                  <a:shade val="46275"/>
                  <a:invGamma/>
                </a:srgbClr>
              </a:gs>
            </a:gsLst>
            <a:lin ang="2700000" scaled="1"/>
          </a:gradFill>
          <a:ln w="38100">
            <a:solidFill>
              <a:srgbClr val="EAEAEA"/>
            </a:solidFill>
            <a:miter lim="800000"/>
            <a:headEnd/>
            <a:tailEnd/>
          </a:ln>
          <a:effectLst>
            <a:outerShdw dist="109250" dir="3267739" algn="ctr" rotWithShape="0">
              <a:srgbClr val="333333">
                <a:alpha val="50000"/>
              </a:srgbClr>
            </a:outerShdw>
          </a:effectLst>
        </p:spPr>
        <p:txBody>
          <a:bodyPr wrap="square" anchor="ctr">
            <a:spAutoFit/>
          </a:bodyP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srgbClr val="3D81BF"/>
              </a:solidFill>
              <a:effectLst/>
              <a:uLnTx/>
              <a:uFillTx/>
            </a:endParaRPr>
          </a:p>
        </p:txBody>
      </p:sp>
      <p:sp>
        <p:nvSpPr>
          <p:cNvPr id="42" name="Rectangle 41">
            <a:extLst>
              <a:ext uri="{FF2B5EF4-FFF2-40B4-BE49-F238E27FC236}">
                <a16:creationId xmlns:a16="http://schemas.microsoft.com/office/drawing/2014/main" id="{4DE55AA0-934E-4757-A2D4-1C4E49036DCD}"/>
              </a:ext>
            </a:extLst>
          </p:cNvPr>
          <p:cNvSpPr/>
          <p:nvPr/>
        </p:nvSpPr>
        <p:spPr>
          <a:xfrm>
            <a:off x="2402046" y="64070"/>
            <a:ext cx="1600200"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همسان سازی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3" name="Rectangle 42">
            <a:extLst>
              <a:ext uri="{FF2B5EF4-FFF2-40B4-BE49-F238E27FC236}">
                <a16:creationId xmlns:a16="http://schemas.microsoft.com/office/drawing/2014/main" id="{AC165A2D-60D3-440C-A112-7B419F7E72B2}"/>
              </a:ext>
            </a:extLst>
          </p:cNvPr>
          <p:cNvSpPr/>
          <p:nvPr/>
        </p:nvSpPr>
        <p:spPr>
          <a:xfrm>
            <a:off x="4529582" y="89171"/>
            <a:ext cx="1443038" cy="584775"/>
          </a:xfrm>
          <a:prstGeom prst="rect">
            <a:avLst/>
          </a:prstGeom>
        </p:spPr>
        <p:txBody>
          <a:bodyPr wrap="square">
            <a:spAutoFit/>
          </a:bodyPr>
          <a:lstStyle/>
          <a:p>
            <a:pPr lvl="0" algn="ctr" rtl="1" fontAlgn="base">
              <a:spcBef>
                <a:spcPct val="0"/>
              </a:spcBef>
              <a:spcAft>
                <a:spcPct val="0"/>
              </a:spcAft>
            </a:pPr>
            <a:r>
              <a:rPr lang="fa-IR" sz="1600" b="1" dirty="0">
                <a:solidFill>
                  <a:srgbClr val="FFFFFF"/>
                </a:solidFill>
                <a:latin typeface="Times New Roman" panose="02020603050405020304" pitchFamily="18" charset="0"/>
                <a:cs typeface="B Nazanin" panose="00000400000000000000" pitchFamily="2" charset="-78"/>
              </a:rPr>
              <a:t>سیستم مدیریت باتری</a:t>
            </a:r>
            <a:endParaRPr lang="en-US" sz="1600" b="1" dirty="0">
              <a:solidFill>
                <a:srgbClr val="FFFFFF"/>
              </a:solidFill>
              <a:latin typeface="Times New Roman" panose="02020603050405020304" pitchFamily="18" charset="0"/>
              <a:cs typeface="B Nazanin" panose="00000400000000000000" pitchFamily="2" charset="-78"/>
            </a:endParaRPr>
          </a:p>
        </p:txBody>
      </p:sp>
      <p:sp>
        <p:nvSpPr>
          <p:cNvPr id="44" name="TextBox 43">
            <a:extLst>
              <a:ext uri="{FF2B5EF4-FFF2-40B4-BE49-F238E27FC236}">
                <a16:creationId xmlns:a16="http://schemas.microsoft.com/office/drawing/2014/main" id="{F43469DC-7F5B-471E-BD74-ED709E621F63}"/>
              </a:ext>
            </a:extLst>
          </p:cNvPr>
          <p:cNvSpPr txBox="1"/>
          <p:nvPr/>
        </p:nvSpPr>
        <p:spPr>
          <a:xfrm>
            <a:off x="7055055" y="1726687"/>
            <a:ext cx="1837362" cy="369332"/>
          </a:xfrm>
          <a:prstGeom prst="rect">
            <a:avLst/>
          </a:prstGeom>
          <a:noFill/>
        </p:spPr>
        <p:txBody>
          <a:bodyPr wrap="none" rtlCol="0">
            <a:spAutoFit/>
          </a:bodyPr>
          <a:lstStyle/>
          <a:p>
            <a:pPr algn="r" rtl="1"/>
            <a:r>
              <a:rPr lang="fa-IR" b="1" dirty="0">
                <a:cs typeface="B Nazanin" panose="00000400000000000000" pitchFamily="2" charset="-78"/>
              </a:rPr>
              <a:t>انتقال سلول به سلول</a:t>
            </a:r>
          </a:p>
        </p:txBody>
      </p:sp>
      <p:sp>
        <p:nvSpPr>
          <p:cNvPr id="45" name="Rectangle 44"/>
          <p:cNvSpPr/>
          <p:nvPr/>
        </p:nvSpPr>
        <p:spPr>
          <a:xfrm>
            <a:off x="2414084" y="6188077"/>
            <a:ext cx="4011034" cy="369332"/>
          </a:xfrm>
          <a:prstGeom prst="rect">
            <a:avLst/>
          </a:prstGeom>
        </p:spPr>
        <p:txBody>
          <a:bodyPr wrap="none">
            <a:spAutoFit/>
          </a:bodyPr>
          <a:lstStyle/>
          <a:p>
            <a:pPr algn="ctr" rtl="1" fontAlgn="base">
              <a:spcBef>
                <a:spcPct val="0"/>
              </a:spcBef>
              <a:spcAft>
                <a:spcPct val="0"/>
              </a:spcAft>
            </a:pPr>
            <a:r>
              <a:rPr lang="fa-IR" dirty="0">
                <a:latin typeface="Times New Roman" panose="02020603050405020304" pitchFamily="18" charset="0"/>
                <a:ea typeface="Calibri" panose="020F0502020204030204" pitchFamily="34" charset="0"/>
                <a:cs typeface="B Lotus" panose="00000400000000000000" pitchFamily="2" charset="-78"/>
              </a:rPr>
              <a:t>شکل 7 </a:t>
            </a:r>
            <a:r>
              <a:rPr lang="fa-IR" dirty="0">
                <a:latin typeface="Times New Roman" panose="02020603050405020304" pitchFamily="18" charset="0"/>
                <a:cs typeface="B Lotus" panose="00000400000000000000" pitchFamily="2" charset="-78"/>
              </a:rPr>
              <a:t>شماتیک دیاگرام همسان سازی سلول به سلول.</a:t>
            </a:r>
            <a:endParaRPr lang="en-US" dirty="0">
              <a:latin typeface="Times New Roman" panose="02020603050405020304" pitchFamily="18" charset="0"/>
              <a:cs typeface="B Lotus" panose="00000400000000000000" pitchFamily="2" charset="-78"/>
            </a:endParaRPr>
          </a:p>
        </p:txBody>
      </p:sp>
      <p:sp>
        <p:nvSpPr>
          <p:cNvPr id="17" name="Slide Number Placeholder 3">
            <a:extLst>
              <a:ext uri="{FF2B5EF4-FFF2-40B4-BE49-F238E27FC236}">
                <a16:creationId xmlns:a16="http://schemas.microsoft.com/office/drawing/2014/main" id="{FEFB061F-8AAB-4535-B272-1BA4D5A77191}"/>
              </a:ext>
            </a:extLst>
          </p:cNvPr>
          <p:cNvSpPr txBox="1">
            <a:spLocks/>
          </p:cNvSpPr>
          <p:nvPr/>
        </p:nvSpPr>
        <p:spPr>
          <a:xfrm>
            <a:off x="8965" y="6090313"/>
            <a:ext cx="676835" cy="767687"/>
          </a:xfrm>
          <a:prstGeom prst="rect">
            <a:avLst/>
          </a:prstGeom>
        </p:spPr>
        <p:txBody>
          <a:bodyPr vert="horz" lIns="91440" tIns="45720" rIns="91440" bIns="45720" rtlCol="0" anchor="ctr"/>
          <a:lstStyle>
            <a:defPPr>
              <a:defRPr lang="en-US"/>
            </a:defPPr>
            <a:lvl1pPr marL="0" algn="l" defTabSz="914400" rtl="0" eaLnBrk="1" latinLnBrk="0" hangingPunct="1">
              <a:defRPr sz="1400" b="1" kern="1200">
                <a:solidFill>
                  <a:srgbClr val="FFFFFF"/>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1"/>
            <a:fld id="{E8ADF199-8047-440E-B02B-E80683B392F2}" type="slidenum">
              <a:rPr lang="fa-IR" sz="1800" smtClean="0">
                <a:solidFill>
                  <a:schemeClr val="tx1"/>
                </a:solidFill>
                <a:cs typeface="B Lotus" panose="00000400000000000000" pitchFamily="2" charset="-78"/>
              </a:rPr>
              <a:pPr rtl="1"/>
              <a:t>69</a:t>
            </a:fld>
            <a:endParaRPr lang="fa-IR" sz="1800" dirty="0">
              <a:solidFill>
                <a:schemeClr val="tx1"/>
              </a:solidFill>
              <a:cs typeface="B Lotus" panose="00000400000000000000" pitchFamily="2" charset="-78"/>
            </a:endParaRPr>
          </a:p>
        </p:txBody>
      </p:sp>
      <p:graphicFrame>
        <p:nvGraphicFramePr>
          <p:cNvPr id="18" name="Table 17"/>
          <p:cNvGraphicFramePr>
            <a:graphicFrameLocks noGrp="1"/>
          </p:cNvGraphicFramePr>
          <p:nvPr>
            <p:extLst/>
          </p:nvPr>
        </p:nvGraphicFramePr>
        <p:xfrm>
          <a:off x="98296" y="1292475"/>
          <a:ext cx="4513526" cy="762000"/>
        </p:xfrm>
        <a:graphic>
          <a:graphicData uri="http://schemas.openxmlformats.org/drawingml/2006/table">
            <a:tbl>
              <a:tblPr rtl="1" firstRow="1" firstCol="1" bandRow="1"/>
              <a:tblGrid>
                <a:gridCol w="1048385">
                  <a:extLst>
                    <a:ext uri="{9D8B030D-6E8A-4147-A177-3AD203B41FA5}">
                      <a16:colId xmlns:a16="http://schemas.microsoft.com/office/drawing/2014/main" val="20001"/>
                    </a:ext>
                  </a:extLst>
                </a:gridCol>
                <a:gridCol w="570548">
                  <a:extLst>
                    <a:ext uri="{9D8B030D-6E8A-4147-A177-3AD203B41FA5}">
                      <a16:colId xmlns:a16="http://schemas.microsoft.com/office/drawing/2014/main" val="20002"/>
                    </a:ext>
                  </a:extLst>
                </a:gridCol>
                <a:gridCol w="618172">
                  <a:extLst>
                    <a:ext uri="{9D8B030D-6E8A-4147-A177-3AD203B41FA5}">
                      <a16:colId xmlns:a16="http://schemas.microsoft.com/office/drawing/2014/main" val="20003"/>
                    </a:ext>
                  </a:extLst>
                </a:gridCol>
                <a:gridCol w="978535">
                  <a:extLst>
                    <a:ext uri="{9D8B030D-6E8A-4147-A177-3AD203B41FA5}">
                      <a16:colId xmlns:a16="http://schemas.microsoft.com/office/drawing/2014/main" val="20004"/>
                    </a:ext>
                  </a:extLst>
                </a:gridCol>
                <a:gridCol w="556260">
                  <a:extLst>
                    <a:ext uri="{9D8B030D-6E8A-4147-A177-3AD203B41FA5}">
                      <a16:colId xmlns:a16="http://schemas.microsoft.com/office/drawing/2014/main" val="20005"/>
                    </a:ext>
                  </a:extLst>
                </a:gridCol>
                <a:gridCol w="741626">
                  <a:extLst>
                    <a:ext uri="{9D8B030D-6E8A-4147-A177-3AD203B41FA5}">
                      <a16:colId xmlns:a16="http://schemas.microsoft.com/office/drawing/2014/main" val="20006"/>
                    </a:ext>
                  </a:extLst>
                </a:gridCol>
              </a:tblGrid>
              <a:tr h="381000">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سادگی</a:t>
                      </a:r>
                      <a:r>
                        <a:rPr lang="fa-IR" sz="1400" i="0" kern="1200" baseline="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 </a:t>
                      </a: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الگوریتم</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راندمان</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dirty="0" err="1">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جانمایی</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صرفه اقتصادی</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سرعت</a:t>
                      </a:r>
                      <a:endParaRPr lang="en-US" sz="1400" i="0" kern="120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tc>
                  <a:txBody>
                    <a:bodyPr/>
                    <a:lstStyle/>
                    <a:p>
                      <a:pPr marL="0" marR="0" algn="ctr" defTabSz="914400" rtl="1" eaLnBrk="1" latinLnBrk="0" hangingPunct="1">
                        <a:spcBef>
                          <a:spcPts val="600"/>
                        </a:spcBef>
                        <a:spcAft>
                          <a:spcPts val="600"/>
                        </a:spcAft>
                      </a:pPr>
                      <a:r>
                        <a:rPr lang="fa-IR"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امتیاز</a:t>
                      </a:r>
                      <a:r>
                        <a:rPr lang="fa-IR" sz="1400" i="0" kern="1200" baseline="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rPr>
                        <a:t> نهایی</a:t>
                      </a:r>
                      <a:endParaRPr lang="en-US" sz="1400" i="0" kern="1200" dirty="0">
                        <a:solidFill>
                          <a:schemeClr val="tx1"/>
                        </a:solidFill>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chemeClr val="accent6">
                        <a:lumMod val="60000"/>
                        <a:lumOff val="40000"/>
                      </a:schemeClr>
                    </a:solidFill>
                  </a:tcPr>
                </a:tc>
                <a:extLst>
                  <a:ext uri="{0D108BD9-81ED-4DB2-BD59-A6C34878D82A}">
                    <a16:rowId xmlns:a16="http://schemas.microsoft.com/office/drawing/2014/main" val="10000"/>
                  </a:ext>
                </a:extLst>
              </a:tr>
              <a:tr h="381000">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4</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5</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4</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1/4</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rtl="1">
                        <a:spcBef>
                          <a:spcPts val="600"/>
                        </a:spcBef>
                        <a:spcAft>
                          <a:spcPts val="600"/>
                        </a:spcAft>
                      </a:pPr>
                      <a:r>
                        <a:rPr lang="fa-IR" sz="1400" i="0" dirty="0">
                          <a:effectLst/>
                          <a:latin typeface="Times New Roman" panose="02020603050405020304" pitchFamily="18" charset="0"/>
                          <a:ea typeface="Calibri" panose="020F0502020204030204" pitchFamily="34" charset="0"/>
                          <a:cs typeface="B Lotus" panose="00000400000000000000" pitchFamily="2" charset="-78"/>
                        </a:rPr>
                        <a:t>3/5</a:t>
                      </a:r>
                      <a:endParaRPr lang="en-US" sz="1200" i="1" dirty="0">
                        <a:effectLst/>
                        <a:latin typeface="Times New Roman" panose="02020603050405020304" pitchFamily="18" charset="0"/>
                        <a:ea typeface="Calibri" panose="020F0502020204030204" pitchFamily="34" charset="0"/>
                        <a:cs typeface="B Lotus" panose="00000400000000000000" pitchFamily="2" charset="-78"/>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19" name="TextBox 18">
            <a:extLst>
              <a:ext uri="{FF2B5EF4-FFF2-40B4-BE49-F238E27FC236}">
                <a16:creationId xmlns:a16="http://schemas.microsoft.com/office/drawing/2014/main" id="{F43469DC-7F5B-471E-BD74-ED709E621F63}"/>
              </a:ext>
            </a:extLst>
          </p:cNvPr>
          <p:cNvSpPr txBox="1"/>
          <p:nvPr/>
        </p:nvSpPr>
        <p:spPr>
          <a:xfrm>
            <a:off x="4608424" y="1326578"/>
            <a:ext cx="1568057" cy="769441"/>
          </a:xfrm>
          <a:prstGeom prst="rect">
            <a:avLst/>
          </a:prstGeom>
          <a:noFill/>
        </p:spPr>
        <p:txBody>
          <a:bodyPr wrap="none" rtlCol="0">
            <a:spAutoFit/>
          </a:bodyPr>
          <a:lstStyle/>
          <a:p>
            <a:pPr algn="r" rtl="1"/>
            <a:r>
              <a:rPr lang="fa-IR" sz="1100" b="1" dirty="0">
                <a:cs typeface="B Nazanin" panose="00000400000000000000" pitchFamily="2" charset="-78"/>
              </a:rPr>
              <a:t>داده ورود جهت ارزیابی:</a:t>
            </a:r>
          </a:p>
          <a:p>
            <a:pPr marL="171450" indent="-171450" algn="r" rtl="1">
              <a:buFont typeface="Arial" panose="020B0604020202020204" pitchFamily="34" charset="0"/>
              <a:buChar char="•"/>
            </a:pPr>
            <a:r>
              <a:rPr lang="fa-IR" sz="1100" dirty="0">
                <a:cs typeface="B Nazanin" panose="00000400000000000000" pitchFamily="2" charset="-78"/>
              </a:rPr>
              <a:t>12 سلول سری 3/1 </a:t>
            </a:r>
            <a:r>
              <a:rPr lang="en-US" sz="1100" dirty="0">
                <a:cs typeface="B Nazanin" panose="00000400000000000000" pitchFamily="2" charset="-78"/>
              </a:rPr>
              <a:t>Ah</a:t>
            </a:r>
            <a:endParaRPr lang="fa-IR" sz="1100" dirty="0">
              <a:cs typeface="B Nazanin" panose="00000400000000000000" pitchFamily="2" charset="-78"/>
            </a:endParaRPr>
          </a:p>
          <a:p>
            <a:pPr marL="171450" indent="-171450" algn="r" rtl="1">
              <a:buFont typeface="Arial" panose="020B0604020202020204" pitchFamily="34" charset="0"/>
              <a:buChar char="•"/>
            </a:pPr>
            <a:r>
              <a:rPr lang="fa-IR" sz="1100" dirty="0">
                <a:cs typeface="B Nazanin" panose="00000400000000000000" pitchFamily="2" charset="-78"/>
              </a:rPr>
              <a:t>جریان همسان سازی 0/5 </a:t>
            </a:r>
            <a:r>
              <a:rPr lang="en-US" sz="1100" dirty="0">
                <a:cs typeface="B Nazanin" panose="00000400000000000000" pitchFamily="2" charset="-78"/>
              </a:rPr>
              <a:t>A</a:t>
            </a:r>
          </a:p>
          <a:p>
            <a:pPr marL="171450" indent="-171450" algn="r" rtl="1">
              <a:buFont typeface="Arial" panose="020B0604020202020204" pitchFamily="34" charset="0"/>
              <a:buChar char="•"/>
            </a:pPr>
            <a:endParaRPr lang="fa-IR" sz="1100" dirty="0">
              <a:cs typeface="B Nazanin" panose="00000400000000000000" pitchFamily="2" charset="-78"/>
            </a:endParaRPr>
          </a:p>
        </p:txBody>
      </p:sp>
    </p:spTree>
    <p:extLst>
      <p:ext uri="{BB962C8B-B14F-4D97-AF65-F5344CB8AC3E}">
        <p14:creationId xmlns:p14="http://schemas.microsoft.com/office/powerpoint/2010/main" val="3646387501"/>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_rels/theme2.xml.rels><?xml version="1.0" encoding="UTF-8" standalone="yes"?>
<Relationships xmlns="http://schemas.openxmlformats.org/package/2006/relationships"><Relationship Id="rId1" Type="http://schemas.openxmlformats.org/officeDocument/2006/relationships/image" Target="../media/image2.jpeg"/></Relationships>
</file>

<file path=ppt/theme/theme1.xml><?xml version="1.0" encoding="utf-8"?>
<a:theme xmlns:a="http://schemas.openxmlformats.org/drawingml/2006/main" name="Clarity">
  <a:themeElements>
    <a:clrScheme name="Clarity">
      <a:dk1>
        <a:srgbClr val="292934"/>
      </a:dk1>
      <a:lt1>
        <a:srgbClr val="FFFFFF"/>
      </a:lt1>
      <a:dk2>
        <a:srgbClr val="D2533C"/>
      </a:dk2>
      <a:lt2>
        <a:srgbClr val="F3F2DC"/>
      </a:lt2>
      <a:accent1>
        <a:srgbClr val="93A299"/>
      </a:accent1>
      <a:accent2>
        <a:srgbClr val="AD8F67"/>
      </a:accent2>
      <a:accent3>
        <a:srgbClr val="726056"/>
      </a:accent3>
      <a:accent4>
        <a:srgbClr val="4C5A6A"/>
      </a:accent4>
      <a:accent5>
        <a:srgbClr val="808DA0"/>
      </a:accent5>
      <a:accent6>
        <a:srgbClr val="79463D"/>
      </a:accent6>
      <a:hlink>
        <a:srgbClr val="0000FF"/>
      </a:hlink>
      <a:folHlink>
        <a:srgbClr val="800080"/>
      </a:folHlink>
    </a:clrScheme>
    <a:fontScheme name="Office Classic 2">
      <a:majorFont>
        <a:latin typeface="Arial"/>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larity">
      <a:fillStyleLst>
        <a:solidFill>
          <a:schemeClr val="phClr"/>
        </a:solidFill>
        <a:gradFill rotWithShape="1">
          <a:gsLst>
            <a:gs pos="0">
              <a:schemeClr val="phClr">
                <a:tint val="50000"/>
                <a:shade val="86000"/>
                <a:satMod val="140000"/>
              </a:schemeClr>
            </a:gs>
            <a:gs pos="45000">
              <a:schemeClr val="phClr">
                <a:tint val="48000"/>
                <a:satMod val="150000"/>
              </a:schemeClr>
            </a:gs>
            <a:gs pos="100000">
              <a:schemeClr val="phClr">
                <a:tint val="28000"/>
                <a:satMod val="160000"/>
              </a:schemeClr>
            </a:gs>
          </a:gsLst>
          <a:path path="circle">
            <a:fillToRect l="100000" t="100000" r="100000" b="100000"/>
          </a:path>
        </a:gradFill>
        <a:gradFill rotWithShape="1">
          <a:gsLst>
            <a:gs pos="0">
              <a:schemeClr val="phClr">
                <a:shade val="70000"/>
                <a:satMod val="150000"/>
              </a:schemeClr>
            </a:gs>
            <a:gs pos="34000">
              <a:schemeClr val="phClr">
                <a:shade val="70000"/>
                <a:satMod val="140000"/>
              </a:schemeClr>
            </a:gs>
            <a:gs pos="70000">
              <a:schemeClr val="phClr">
                <a:tint val="100000"/>
                <a:shade val="90000"/>
                <a:satMod val="140000"/>
              </a:schemeClr>
            </a:gs>
            <a:gs pos="100000">
              <a:schemeClr val="phClr">
                <a:tint val="100000"/>
                <a:shade val="100000"/>
                <a:satMod val="100000"/>
              </a:schemeClr>
            </a:gs>
          </a:gsLst>
          <a:path path="circle">
            <a:fillToRect l="100000" t="100000" r="100000" b="100000"/>
          </a:path>
        </a:gradFill>
      </a:fillStyleLst>
      <a:lnStyleLst>
        <a:ln w="9525" cap="flat" cmpd="sng" algn="ctr">
          <a:solidFill>
            <a:schemeClr val="phClr"/>
          </a:solidFill>
          <a:prstDash val="solid"/>
        </a:ln>
        <a:ln w="26425" cap="flat" cmpd="sng" algn="ctr">
          <a:solidFill>
            <a:schemeClr val="phClr"/>
          </a:solidFill>
          <a:prstDash val="solid"/>
        </a:ln>
        <a:ln w="4445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38100" dist="25400" dir="2700000" algn="br" rotWithShape="0">
              <a:srgbClr val="000000">
                <a:alpha val="60000"/>
              </a:srgbClr>
            </a:outerShdw>
          </a:effectLst>
          <a:scene3d>
            <a:camera prst="orthographicFront">
              <a:rot lat="0" lon="0" rev="0"/>
            </a:camera>
            <a:lightRig rig="balanced" dir="t">
              <a:rot lat="0" lon="0" rev="5100000"/>
            </a:lightRig>
          </a:scene3d>
          <a:sp3d contourW="6350">
            <a:bevelT w="29210" h="12700"/>
            <a:contourClr>
              <a:schemeClr val="phClr">
                <a:shade val="30000"/>
                <a:satMod val="130000"/>
              </a:schemeClr>
            </a:contourClr>
          </a:sp3d>
        </a:effectStyle>
      </a:effectStyleLst>
      <a:bgFillStyleLst>
        <a:solidFill>
          <a:schemeClr val="phClr"/>
        </a:solidFill>
        <a:gradFill rotWithShape="1">
          <a:gsLst>
            <a:gs pos="0">
              <a:schemeClr val="phClr">
                <a:tint val="85000"/>
                <a:satMod val="180000"/>
              </a:schemeClr>
            </a:gs>
            <a:gs pos="40000">
              <a:schemeClr val="phClr">
                <a:tint val="95000"/>
                <a:shade val="85000"/>
                <a:satMod val="150000"/>
              </a:schemeClr>
            </a:gs>
            <a:gs pos="100000">
              <a:schemeClr val="phClr">
                <a:shade val="45000"/>
                <a:satMod val="200000"/>
              </a:schemeClr>
            </a:gs>
          </a:gsLst>
          <a:lin ang="5400000" scaled="0"/>
        </a:gradFill>
        <a:blipFill rotWithShape="1">
          <a:blip xmlns:r="http://schemas.openxmlformats.org/officeDocument/2006/relationships" r:embed="rId1">
            <a:duotone>
              <a:schemeClr val="phClr">
                <a:shade val="55000"/>
              </a:schemeClr>
              <a:schemeClr val="phClr">
                <a:tint val="97000"/>
                <a:satMod val="95000"/>
              </a:schemeClr>
            </a:duotone>
          </a:blip>
          <a:tile tx="0" ty="0" sx="70000" sy="70000" flip="none" algn="tl"/>
        </a:blipFill>
      </a:bgFillStyleLst>
    </a:fmtScheme>
  </a:themeElements>
  <a:objectDefaults/>
  <a:extraClrSchemeLst/>
</a:theme>
</file>

<file path=ppt/theme/theme2.xml><?xml version="1.0" encoding="utf-8"?>
<a:theme xmlns:a="http://schemas.openxmlformats.org/drawingml/2006/main" name="Parallax">
  <a:themeElements>
    <a:clrScheme name="Parallax">
      <a:dk1>
        <a:sysClr val="windowText" lastClr="000000"/>
      </a:dk1>
      <a:lt1>
        <a:sysClr val="window" lastClr="FFFFFF"/>
      </a:lt1>
      <a:dk2>
        <a:srgbClr val="212121"/>
      </a:dk2>
      <a:lt2>
        <a:srgbClr val="EBEBEB"/>
      </a:lt2>
      <a:accent1>
        <a:srgbClr val="30ACEC"/>
      </a:accent1>
      <a:accent2>
        <a:srgbClr val="80C34F"/>
      </a:accent2>
      <a:accent3>
        <a:srgbClr val="E29D3E"/>
      </a:accent3>
      <a:accent4>
        <a:srgbClr val="D64A3B"/>
      </a:accent4>
      <a:accent5>
        <a:srgbClr val="D64787"/>
      </a:accent5>
      <a:accent6>
        <a:srgbClr val="A666E1"/>
      </a:accent6>
      <a:hlink>
        <a:srgbClr val="3085ED"/>
      </a:hlink>
      <a:folHlink>
        <a:srgbClr val="82B6F4"/>
      </a:folHlink>
    </a:clrScheme>
    <a:fontScheme name="Parallax">
      <a:maj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Parallax">
      <a:fillStyleLst>
        <a:solidFill>
          <a:schemeClr val="phClr"/>
        </a:solidFill>
        <a:gradFill rotWithShape="1">
          <a:gsLst>
            <a:gs pos="0">
              <a:schemeClr val="phClr">
                <a:tint val="60000"/>
                <a:lumMod val="104000"/>
              </a:schemeClr>
            </a:gs>
            <a:gs pos="100000">
              <a:schemeClr val="phClr">
                <a:tint val="84000"/>
              </a:schemeClr>
            </a:gs>
          </a:gsLst>
          <a:lin ang="5400000" scaled="0"/>
        </a:gradFill>
        <a:gradFill rotWithShape="1">
          <a:gsLst>
            <a:gs pos="0">
              <a:schemeClr val="phClr">
                <a:tint val="96000"/>
                <a:lumMod val="102000"/>
              </a:schemeClr>
            </a:gs>
            <a:gs pos="100000">
              <a:schemeClr val="phClr">
                <a:shade val="88000"/>
                <a:lumMod val="94000"/>
              </a:schemeClr>
            </a:gs>
          </a:gsLst>
          <a:path path="circle">
            <a:fillToRect l="50000" t="100000" r="100000" b="50000"/>
          </a:path>
        </a:gradFill>
      </a:fillStyleLst>
      <a:lnStyleLst>
        <a:ln w="9525" cap="rnd" cmpd="sng" algn="ctr">
          <a:solidFill>
            <a:schemeClr val="phClr">
              <a:tint val="60000"/>
            </a:schemeClr>
          </a:solidFill>
          <a:prstDash val="solid"/>
        </a:ln>
        <a:ln w="15875" cap="rnd" cmpd="sng" algn="ctr">
          <a:solidFill>
            <a:schemeClr val="phClr"/>
          </a:solidFill>
          <a:prstDash val="solid"/>
        </a:ln>
        <a:ln w="22225" cap="rnd" cmpd="sng" algn="ctr">
          <a:solidFill>
            <a:schemeClr val="phClr"/>
          </a:solidFill>
          <a:prstDash val="solid"/>
        </a:ln>
      </a:lnStyleLst>
      <a:effectStyleLst>
        <a:effectStyle>
          <a:effectLst/>
        </a:effectStyle>
        <a:effectStyle>
          <a:effectLst>
            <a:reflection blurRad="12700" stA="26000" endPos="32000" dist="12700" dir="5400000" sy="-100000" rotWithShape="0"/>
          </a:effectLst>
        </a:effectStyle>
        <a:effectStyle>
          <a:effectLst>
            <a:outerShdw blurRad="38100" dist="25400" dir="5400000" rotWithShape="0">
              <a:srgbClr val="000000">
                <a:alpha val="64000"/>
              </a:srgbClr>
            </a:outerShdw>
          </a:effectLst>
          <a:scene3d>
            <a:camera prst="orthographicFront">
              <a:rot lat="0" lon="0" rev="0"/>
            </a:camera>
            <a:lightRig rig="threePt" dir="tl">
              <a:rot lat="0" lon="0" rev="1200000"/>
            </a:lightRig>
          </a:scene3d>
          <a:sp3d>
            <a:bevelT w="25400" h="12700"/>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76000"/>
                <a:satMod val="180000"/>
              </a:schemeClr>
              <a:schemeClr val="phClr">
                <a:tint val="80000"/>
                <a:satMod val="120000"/>
                <a:lumMod val="180000"/>
              </a:schemeClr>
            </a:duotone>
          </a:blip>
          <a:stretch/>
        </a:blipFill>
      </a:bgFillStyleLst>
    </a:fmtScheme>
  </a:themeElements>
  <a:objectDefaults/>
  <a:extraClrSchemeLst/>
  <a:extLst>
    <a:ext uri="{05A4C25C-085E-4340-85A3-A5531E510DB2}">
      <thm15:themeFamily xmlns:thm15="http://schemas.microsoft.com/office/thememl/2012/main" name="Parallax" id="{3388167B-A2EB-4685-9635-1831D9AEF8C4}" vid="{4F7A876A-7598-49CA-AFC8-8EDA2551E4A7}"/>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TM03457496[[fn=Parallax]]</Template>
  <TotalTime>53946</TotalTime>
  <Words>6121</Words>
  <Application>Microsoft Office PowerPoint</Application>
  <PresentationFormat>On-screen Show (4:3)</PresentationFormat>
  <Paragraphs>804</Paragraphs>
  <Slides>69</Slides>
  <Notes>69</Notes>
  <HiddenSlides>0</HiddenSlides>
  <MMClips>0</MMClips>
  <ScaleCrop>false</ScaleCrop>
  <HeadingPairs>
    <vt:vector size="6" baseType="variant">
      <vt:variant>
        <vt:lpstr>Fonts Used</vt:lpstr>
      </vt:variant>
      <vt:variant>
        <vt:i4>8</vt:i4>
      </vt:variant>
      <vt:variant>
        <vt:lpstr>Theme</vt:lpstr>
      </vt:variant>
      <vt:variant>
        <vt:i4>2</vt:i4>
      </vt:variant>
      <vt:variant>
        <vt:lpstr>Slide Titles</vt:lpstr>
      </vt:variant>
      <vt:variant>
        <vt:i4>69</vt:i4>
      </vt:variant>
    </vt:vector>
  </HeadingPairs>
  <TitlesOfParts>
    <vt:vector size="79" baseType="lpstr">
      <vt:lpstr>Arial</vt:lpstr>
      <vt:lpstr>B Lotus</vt:lpstr>
      <vt:lpstr>B Nasim</vt:lpstr>
      <vt:lpstr>B Nazanin</vt:lpstr>
      <vt:lpstr>Calibri</vt:lpstr>
      <vt:lpstr>Cambria Math</vt:lpstr>
      <vt:lpstr>Corbel</vt:lpstr>
      <vt:lpstr>Times New Roman</vt:lpstr>
      <vt:lpstr>Clarity</vt:lpstr>
      <vt:lpstr>Parallax</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Leila Sharifi</dc:creator>
  <cp:lastModifiedBy>Mahdi Amiri Nasab</cp:lastModifiedBy>
  <cp:revision>858</cp:revision>
  <dcterms:created xsi:type="dcterms:W3CDTF">2016-11-13T13:15:11Z</dcterms:created>
  <dcterms:modified xsi:type="dcterms:W3CDTF">2024-08-14T16:27:25Z</dcterms:modified>
</cp:coreProperties>
</file>