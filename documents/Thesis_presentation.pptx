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3">
  <p:sldMasterIdLst>
    <p:sldMasterId id="2147483660" r:id="rId1"/>
    <p:sldMasterId id="2147483672" r:id="rId2"/>
  </p:sldMasterIdLst>
  <p:notesMasterIdLst>
    <p:notesMasterId r:id="rId94"/>
  </p:notesMasterIdLst>
  <p:handoutMasterIdLst>
    <p:handoutMasterId r:id="rId95"/>
  </p:handoutMasterIdLst>
  <p:sldIdLst>
    <p:sldId id="256" r:id="rId3"/>
    <p:sldId id="391" r:id="rId4"/>
    <p:sldId id="396" r:id="rId5"/>
    <p:sldId id="469" r:id="rId6"/>
    <p:sldId id="464" r:id="rId7"/>
    <p:sldId id="504" r:id="rId8"/>
    <p:sldId id="470" r:id="rId9"/>
    <p:sldId id="505" r:id="rId10"/>
    <p:sldId id="506" r:id="rId11"/>
    <p:sldId id="507" r:id="rId12"/>
    <p:sldId id="508" r:id="rId13"/>
    <p:sldId id="509" r:id="rId14"/>
    <p:sldId id="510" r:id="rId15"/>
    <p:sldId id="482" r:id="rId16"/>
    <p:sldId id="485" r:id="rId17"/>
    <p:sldId id="487" r:id="rId18"/>
    <p:sldId id="488" r:id="rId19"/>
    <p:sldId id="490" r:id="rId20"/>
    <p:sldId id="497" r:id="rId21"/>
    <p:sldId id="489" r:id="rId22"/>
    <p:sldId id="493" r:id="rId23"/>
    <p:sldId id="498" r:id="rId24"/>
    <p:sldId id="491" r:id="rId25"/>
    <p:sldId id="494" r:id="rId26"/>
    <p:sldId id="468" r:id="rId27"/>
    <p:sldId id="392" r:id="rId28"/>
    <p:sldId id="501" r:id="rId29"/>
    <p:sldId id="483" r:id="rId30"/>
    <p:sldId id="486" r:id="rId31"/>
    <p:sldId id="453" r:id="rId32"/>
    <p:sldId id="484" r:id="rId33"/>
    <p:sldId id="500" r:id="rId34"/>
    <p:sldId id="499" r:id="rId35"/>
    <p:sldId id="502" r:id="rId36"/>
    <p:sldId id="503" r:id="rId37"/>
    <p:sldId id="471" r:id="rId38"/>
    <p:sldId id="475" r:id="rId39"/>
    <p:sldId id="477" r:id="rId40"/>
    <p:sldId id="476" r:id="rId41"/>
    <p:sldId id="478" r:id="rId42"/>
    <p:sldId id="435" r:id="rId43"/>
    <p:sldId id="441" r:id="rId44"/>
    <p:sldId id="479" r:id="rId45"/>
    <p:sldId id="480" r:id="rId46"/>
    <p:sldId id="481" r:id="rId47"/>
    <p:sldId id="472" r:id="rId48"/>
    <p:sldId id="467" r:id="rId49"/>
    <p:sldId id="455" r:id="rId50"/>
    <p:sldId id="394" r:id="rId51"/>
    <p:sldId id="449" r:id="rId52"/>
    <p:sldId id="451" r:id="rId53"/>
    <p:sldId id="452" r:id="rId54"/>
    <p:sldId id="473" r:id="rId55"/>
    <p:sldId id="463" r:id="rId56"/>
    <p:sldId id="462" r:id="rId57"/>
    <p:sldId id="430" r:id="rId58"/>
    <p:sldId id="431" r:id="rId59"/>
    <p:sldId id="402" r:id="rId60"/>
    <p:sldId id="412" r:id="rId61"/>
    <p:sldId id="415" r:id="rId62"/>
    <p:sldId id="411" r:id="rId63"/>
    <p:sldId id="458" r:id="rId64"/>
    <p:sldId id="465" r:id="rId65"/>
    <p:sldId id="424" r:id="rId66"/>
    <p:sldId id="459" r:id="rId67"/>
    <p:sldId id="460" r:id="rId68"/>
    <p:sldId id="420" r:id="rId69"/>
    <p:sldId id="422" r:id="rId70"/>
    <p:sldId id="423" r:id="rId71"/>
    <p:sldId id="426" r:id="rId72"/>
    <p:sldId id="433" r:id="rId73"/>
    <p:sldId id="432" r:id="rId74"/>
    <p:sldId id="439" r:id="rId75"/>
    <p:sldId id="466" r:id="rId76"/>
    <p:sldId id="461" r:id="rId77"/>
    <p:sldId id="436" r:id="rId78"/>
    <p:sldId id="437" r:id="rId79"/>
    <p:sldId id="438" r:id="rId80"/>
    <p:sldId id="446" r:id="rId81"/>
    <p:sldId id="445" r:id="rId82"/>
    <p:sldId id="444" r:id="rId83"/>
    <p:sldId id="454" r:id="rId84"/>
    <p:sldId id="457" r:id="rId85"/>
    <p:sldId id="405" r:id="rId86"/>
    <p:sldId id="404" r:id="rId87"/>
    <p:sldId id="408" r:id="rId88"/>
    <p:sldId id="410" r:id="rId89"/>
    <p:sldId id="447" r:id="rId90"/>
    <p:sldId id="421" r:id="rId91"/>
    <p:sldId id="425" r:id="rId92"/>
    <p:sldId id="427" r:id="rId9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jid" initials="m" lastIdx="1" clrIdx="0">
    <p:extLst>
      <p:ext uri="{19B8F6BF-5375-455C-9EA6-DF929625EA0E}">
        <p15:presenceInfo xmlns:p15="http://schemas.microsoft.com/office/powerpoint/2012/main" userId="maji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B9FFB9"/>
    <a:srgbClr val="FFFFCC"/>
    <a:srgbClr val="BD867C"/>
    <a:srgbClr val="99FF99"/>
    <a:srgbClr val="709582"/>
    <a:srgbClr val="2842AE"/>
    <a:srgbClr val="61D6FF"/>
    <a:srgbClr val="B9EDFF"/>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6433" autoAdjust="0"/>
  </p:normalViewPr>
  <p:slideViewPr>
    <p:cSldViewPr>
      <p:cViewPr>
        <p:scale>
          <a:sx n="125" d="100"/>
          <a:sy n="125" d="100"/>
        </p:scale>
        <p:origin x="1422" y="-4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handoutMaster" Target="handoutMasters/handout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6860E3-773C-4F8B-9D69-9A4772CDB789}" type="datetimeFigureOut">
              <a:rPr lang="en-US" smtClean="0"/>
              <a:t>8/23/2024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FE9F82D-DAF4-4134-9F1E-22C394080253}" type="slidenum">
              <a:rPr lang="en-US" smtClean="0"/>
              <a:t>‹#›</a:t>
            </a:fld>
            <a:endParaRPr lang="en-US"/>
          </a:p>
        </p:txBody>
      </p:sp>
    </p:spTree>
    <p:extLst>
      <p:ext uri="{BB962C8B-B14F-4D97-AF65-F5344CB8AC3E}">
        <p14:creationId xmlns:p14="http://schemas.microsoft.com/office/powerpoint/2010/main" val="35534620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EEC136-3EA2-4161-9D14-B64004542BD5}" type="datetimeFigureOut">
              <a:rPr lang="en-US" smtClean="0"/>
              <a:t>8/23/2024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2EBCA6-06A9-4F6C-9A95-1587199EA654}" type="slidenum">
              <a:rPr lang="en-US" smtClean="0"/>
              <a:t>‹#›</a:t>
            </a:fld>
            <a:endParaRPr lang="en-US"/>
          </a:p>
        </p:txBody>
      </p:sp>
    </p:spTree>
    <p:extLst>
      <p:ext uri="{BB962C8B-B14F-4D97-AF65-F5344CB8AC3E}">
        <p14:creationId xmlns:p14="http://schemas.microsoft.com/office/powerpoint/2010/main" val="367667325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Tree>
    <p:extLst>
      <p:ext uri="{BB962C8B-B14F-4D97-AF65-F5344CB8AC3E}">
        <p14:creationId xmlns:p14="http://schemas.microsoft.com/office/powerpoint/2010/main" val="524106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65926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0384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30150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5172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3250616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2533365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1667611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2316380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2181166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1837757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2837885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3780707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118956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4072786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407876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966266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95613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347308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2417363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612420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554882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1046091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4466795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05423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3971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12553312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31218966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994893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918795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280893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3708751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256498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1506460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a:t>
            </a:r>
            <a:r>
              <a:rPr lang="en-US" b="0" i="0" u="none" baseline="0" dirty="0" err="1"/>
              <a:t>Difrancesco</a:t>
            </a:r>
            <a:r>
              <a:rPr lang="en-US" b="0" i="0" u="none" baseline="0" dirty="0"/>
              <a:t>, Paul-Mark &amp; </a:t>
            </a:r>
            <a:r>
              <a:rPr lang="en-US" b="0" i="0" u="none" baseline="0" dirty="0" err="1"/>
              <a:t>Bonneau</a:t>
            </a:r>
            <a:r>
              <a:rPr lang="en-US" b="0" i="0" u="none" baseline="0" dirty="0"/>
              <a:t>, David &amp; Hutchinson, D.. (2020). The Implications of M3C2 Projection Diameter on 3D Semi-Automated </a:t>
            </a:r>
            <a:r>
              <a:rPr lang="en-US" b="0" i="0" u="none" baseline="0" dirty="0" err="1"/>
              <a:t>Rockfall</a:t>
            </a:r>
            <a:r>
              <a:rPr lang="en-US" b="0" i="0" u="none" baseline="0" dirty="0"/>
              <a:t> Extraction from Sequential Terrestrial Laser Scanning Point Clouds. Remote Sensing. 12. 1885. 10.3390/rs12111885. </a:t>
            </a:r>
            <a:endParaRPr lang="en-US" b="0" i="1" u="none" baseline="0" dirty="0"/>
          </a:p>
        </p:txBody>
      </p:sp>
    </p:spTree>
    <p:extLst>
      <p:ext uri="{BB962C8B-B14F-4D97-AF65-F5344CB8AC3E}">
        <p14:creationId xmlns:p14="http://schemas.microsoft.com/office/powerpoint/2010/main" val="8590594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9735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3788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80531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859378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64114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99427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2581305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56748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825451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31657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4776496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11911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W. </a:t>
            </a:r>
            <a:r>
              <a:rPr lang="en-US" b="0" i="0" u="none" baseline="0" dirty="0" err="1"/>
              <a:t>Lujun</a:t>
            </a:r>
            <a:r>
              <a:rPr lang="en-US" b="0" i="1" u="none" baseline="0" dirty="0"/>
              <a:t> et al.</a:t>
            </a:r>
            <a:r>
              <a:rPr lang="en-US" b="0" i="0" u="none" baseline="0" dirty="0"/>
              <a:t>, "Efficient and fast active equalization method for retired battery pack using wide voltage range bidirectional converter and DBSCAN clustering algorithm," </a:t>
            </a:r>
            <a:r>
              <a:rPr lang="en-US" b="0" i="1" u="none" baseline="0" dirty="0"/>
              <a:t>IEEE Transactions on Power Electronics, </a:t>
            </a:r>
            <a:r>
              <a:rPr lang="en-US" b="0" i="0" u="none" baseline="0" dirty="0"/>
              <a:t>vol. 37, no. 11, pp. 13824-13833, 2022.</a:t>
            </a:r>
            <a:endParaRPr lang="en-US" dirty="0"/>
          </a:p>
        </p:txBody>
      </p:sp>
    </p:spTree>
    <p:extLst>
      <p:ext uri="{BB962C8B-B14F-4D97-AF65-F5344CB8AC3E}">
        <p14:creationId xmlns:p14="http://schemas.microsoft.com/office/powerpoint/2010/main" val="26543184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62091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W. </a:t>
            </a:r>
            <a:r>
              <a:rPr lang="en-US" b="0" i="0" u="none" baseline="0" dirty="0" err="1"/>
              <a:t>Lujun</a:t>
            </a:r>
            <a:r>
              <a:rPr lang="en-US" b="0" i="1" u="none" baseline="0" dirty="0"/>
              <a:t> et al.</a:t>
            </a:r>
            <a:r>
              <a:rPr lang="en-US" b="0" i="0" u="none" baseline="0" dirty="0"/>
              <a:t>, "Efficient and fast active equalization method for retired battery pack using wide voltage range bidirectional converter and DBSCAN clustering algorithm," </a:t>
            </a:r>
            <a:r>
              <a:rPr lang="en-US" b="0" i="1" u="none" baseline="0" dirty="0"/>
              <a:t>IEEE Transactions on Power Electronics, </a:t>
            </a:r>
            <a:r>
              <a:rPr lang="en-US" b="0" i="0" u="none" baseline="0" dirty="0"/>
              <a:t>vol. 37, no. 11, pp. 13824-13833, 2022.</a:t>
            </a:r>
            <a:endParaRPr lang="en-US" b="0" i="1" u="none" baseline="0" dirty="0"/>
          </a:p>
        </p:txBody>
      </p:sp>
    </p:spTree>
    <p:extLst>
      <p:ext uri="{BB962C8B-B14F-4D97-AF65-F5344CB8AC3E}">
        <p14:creationId xmlns:p14="http://schemas.microsoft.com/office/powerpoint/2010/main" val="12395108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W. </a:t>
            </a:r>
            <a:r>
              <a:rPr lang="en-US" b="0" i="0" u="none" baseline="0" dirty="0" err="1"/>
              <a:t>Lujun</a:t>
            </a:r>
            <a:r>
              <a:rPr lang="en-US" b="0" i="1" u="none" baseline="0" dirty="0"/>
              <a:t> et al.</a:t>
            </a:r>
            <a:r>
              <a:rPr lang="en-US" b="0" i="0" u="none" baseline="0" dirty="0"/>
              <a:t>, "Efficient and fast active equalization method for retired battery pack using wide voltage range bidirectional converter and DBSCAN clustering algorithm," </a:t>
            </a:r>
            <a:r>
              <a:rPr lang="en-US" b="0" i="1" u="none" baseline="0" dirty="0"/>
              <a:t>IEEE Transactions on Power Electronics, </a:t>
            </a:r>
            <a:r>
              <a:rPr lang="en-US" b="0" i="0" u="none" baseline="0" dirty="0"/>
              <a:t>vol. 37, no. 11, pp. 13824-13833, 2022.</a:t>
            </a:r>
            <a:endParaRPr lang="en-US" b="0" i="1" u="none" baseline="0" dirty="0"/>
          </a:p>
        </p:txBody>
      </p:sp>
    </p:spTree>
    <p:extLst>
      <p:ext uri="{BB962C8B-B14F-4D97-AF65-F5344CB8AC3E}">
        <p14:creationId xmlns:p14="http://schemas.microsoft.com/office/powerpoint/2010/main" val="6846656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W. </a:t>
            </a:r>
            <a:r>
              <a:rPr lang="en-US" b="0" i="0" u="none" baseline="0" dirty="0" err="1"/>
              <a:t>Lujun</a:t>
            </a:r>
            <a:r>
              <a:rPr lang="en-US" b="0" i="1" u="none" baseline="0" dirty="0"/>
              <a:t> et al.</a:t>
            </a:r>
            <a:r>
              <a:rPr lang="en-US" b="0" i="0" u="none" baseline="0" dirty="0"/>
              <a:t>, "Efficient and fast active equalization method for retired battery pack using wide voltage range bidirectional converter and DBSCAN clustering algorithm," </a:t>
            </a:r>
            <a:r>
              <a:rPr lang="en-US" b="0" i="1" u="none" baseline="0" dirty="0"/>
              <a:t>IEEE Transactions on Power Electronics, </a:t>
            </a:r>
            <a:r>
              <a:rPr lang="en-US" b="0" i="0" u="none" baseline="0" dirty="0"/>
              <a:t>vol. 37, no. 11, pp. 13824-13833, 2022.</a:t>
            </a:r>
            <a:endParaRPr lang="en-US" b="0" i="1" u="none" baseline="0" dirty="0"/>
          </a:p>
        </p:txBody>
      </p:sp>
    </p:spTree>
    <p:extLst>
      <p:ext uri="{BB962C8B-B14F-4D97-AF65-F5344CB8AC3E}">
        <p14:creationId xmlns:p14="http://schemas.microsoft.com/office/powerpoint/2010/main" val="38058005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39439777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55354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u="none" baseline="0" dirty="0"/>
          </a:p>
        </p:txBody>
      </p:sp>
    </p:spTree>
    <p:extLst>
      <p:ext uri="{BB962C8B-B14F-4D97-AF65-F5344CB8AC3E}">
        <p14:creationId xmlns:p14="http://schemas.microsoft.com/office/powerpoint/2010/main" val="37717965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B. </a:t>
            </a:r>
            <a:r>
              <a:rPr lang="en-US" b="0" i="0" u="none" baseline="0" dirty="0" err="1"/>
              <a:t>Erdoğan</a:t>
            </a:r>
            <a:r>
              <a:rPr lang="en-US" b="0" i="0" u="none" baseline="0" dirty="0"/>
              <a:t>, M. M. </a:t>
            </a:r>
            <a:r>
              <a:rPr lang="en-US" b="0" i="0" u="none" baseline="0" dirty="0" err="1"/>
              <a:t>Savrun</a:t>
            </a:r>
            <a:r>
              <a:rPr lang="en-US" b="0" i="0" u="none" baseline="0" dirty="0"/>
              <a:t>, T. </a:t>
            </a:r>
            <a:r>
              <a:rPr lang="en-US" b="0" i="0" u="none" baseline="0" dirty="0" err="1"/>
              <a:t>Köroğlu</a:t>
            </a:r>
            <a:r>
              <a:rPr lang="en-US" b="0" i="0" u="none" baseline="0" dirty="0"/>
              <a:t>, M. U. </a:t>
            </a:r>
            <a:r>
              <a:rPr lang="en-US" b="0" i="0" u="none" baseline="0" dirty="0" err="1"/>
              <a:t>Cuma</a:t>
            </a:r>
            <a:r>
              <a:rPr lang="en-US" b="0" i="0" u="none" baseline="0" dirty="0"/>
              <a:t>, and M. </a:t>
            </a:r>
            <a:r>
              <a:rPr lang="en-US" b="0" i="0" u="none" baseline="0" dirty="0" err="1"/>
              <a:t>Tümay</a:t>
            </a:r>
            <a:r>
              <a:rPr lang="en-US" b="0" i="0" u="none" baseline="0" dirty="0"/>
              <a:t>, "An improved and fast balancing algorithm for electric heavy commercial vehicles," </a:t>
            </a:r>
            <a:r>
              <a:rPr lang="en-US" b="0" i="1" u="none" baseline="0" dirty="0"/>
              <a:t>Journal of Energy Storage, </a:t>
            </a:r>
            <a:r>
              <a:rPr lang="nl-NL" b="0" i="0" u="none" baseline="0" dirty="0"/>
              <a:t>vol. 38, p. 102522, 2021.</a:t>
            </a:r>
          </a:p>
          <a:p>
            <a:endParaRPr lang="en-US" b="0" i="1" u="none" baseline="0" dirty="0"/>
          </a:p>
        </p:txBody>
      </p:sp>
    </p:spTree>
    <p:extLst>
      <p:ext uri="{BB962C8B-B14F-4D97-AF65-F5344CB8AC3E}">
        <p14:creationId xmlns:p14="http://schemas.microsoft.com/office/powerpoint/2010/main" val="4095858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B. </a:t>
            </a:r>
            <a:r>
              <a:rPr lang="en-US" b="0" i="0" u="none" baseline="0" dirty="0" err="1"/>
              <a:t>Erdoğan</a:t>
            </a:r>
            <a:r>
              <a:rPr lang="en-US" b="0" i="0" u="none" baseline="0" dirty="0"/>
              <a:t>, M. M. </a:t>
            </a:r>
            <a:r>
              <a:rPr lang="en-US" b="0" i="0" u="none" baseline="0" dirty="0" err="1"/>
              <a:t>Savrun</a:t>
            </a:r>
            <a:r>
              <a:rPr lang="en-US" b="0" i="0" u="none" baseline="0" dirty="0"/>
              <a:t>, T. </a:t>
            </a:r>
            <a:r>
              <a:rPr lang="en-US" b="0" i="0" u="none" baseline="0" dirty="0" err="1"/>
              <a:t>Köroğlu</a:t>
            </a:r>
            <a:r>
              <a:rPr lang="en-US" b="0" i="0" u="none" baseline="0" dirty="0"/>
              <a:t>, M. U. </a:t>
            </a:r>
            <a:r>
              <a:rPr lang="en-US" b="0" i="0" u="none" baseline="0" dirty="0" err="1"/>
              <a:t>Cuma</a:t>
            </a:r>
            <a:r>
              <a:rPr lang="en-US" b="0" i="0" u="none" baseline="0" dirty="0"/>
              <a:t>, and M. </a:t>
            </a:r>
            <a:r>
              <a:rPr lang="en-US" b="0" i="0" u="none" baseline="0" dirty="0" err="1"/>
              <a:t>Tümay</a:t>
            </a:r>
            <a:r>
              <a:rPr lang="en-US" b="0" i="0" u="none" baseline="0" dirty="0"/>
              <a:t>, "An improved and fast balancing algorithm for electric heavy commercial vehicles," </a:t>
            </a:r>
            <a:r>
              <a:rPr lang="en-US" b="0" i="1" u="none" baseline="0" dirty="0"/>
              <a:t>Journal of Energy Storage, </a:t>
            </a:r>
            <a:r>
              <a:rPr lang="nl-NL" b="0" i="0" u="none" baseline="0" dirty="0"/>
              <a:t>vol. 38, p. 102522, 2021.</a:t>
            </a:r>
          </a:p>
          <a:p>
            <a:endParaRPr lang="en-US" b="0" i="1" u="none" baseline="0" dirty="0"/>
          </a:p>
        </p:txBody>
      </p:sp>
    </p:spTree>
    <p:extLst>
      <p:ext uri="{BB962C8B-B14F-4D97-AF65-F5344CB8AC3E}">
        <p14:creationId xmlns:p14="http://schemas.microsoft.com/office/powerpoint/2010/main" val="21842561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b="0" i="0" u="none" baseline="0" dirty="0"/>
              <a:t>[1]	M. S. Hossain Lipu</a:t>
            </a:r>
            <a:r>
              <a:rPr lang="fi-FI" b="0" i="1" u="none" baseline="0" dirty="0"/>
              <a:t> et al.</a:t>
            </a:r>
            <a:r>
              <a:rPr lang="en-US" b="0" i="0" u="none" baseline="0" dirty="0"/>
              <a:t>, "Intelligent algorithms and control strategies for battery management system in electric vehicles: Progress, challenges and future outlook," </a:t>
            </a:r>
            <a:r>
              <a:rPr lang="en-US" b="0" i="1" u="none" baseline="0" dirty="0"/>
              <a:t>Journal of Cleaner Production, </a:t>
            </a:r>
            <a:r>
              <a:rPr lang="nl-NL" b="0" i="0" u="none" baseline="0" dirty="0"/>
              <a:t>vol. 292, p. 126044, 2021/04/10/ 2021, doi: https://doi.org/10.1016/j.jclepro.2021.126044.</a:t>
            </a:r>
          </a:p>
          <a:p>
            <a:endParaRPr lang="en-US" b="0" i="1" u="none" baseline="0" dirty="0"/>
          </a:p>
        </p:txBody>
      </p:sp>
    </p:spTree>
    <p:extLst>
      <p:ext uri="{BB962C8B-B14F-4D97-AF65-F5344CB8AC3E}">
        <p14:creationId xmlns:p14="http://schemas.microsoft.com/office/powerpoint/2010/main" val="4862596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27712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118969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I. </a:t>
            </a:r>
            <a:r>
              <a:rPr lang="en-US" b="0" i="0" u="none" baseline="0" dirty="0" err="1"/>
              <a:t>Baccouche</a:t>
            </a:r>
            <a:r>
              <a:rPr lang="en-US" b="0" i="0" u="none" baseline="0" dirty="0"/>
              <a:t>, S. </a:t>
            </a:r>
            <a:r>
              <a:rPr lang="en-US" b="0" i="0" u="none" baseline="0" dirty="0" err="1"/>
              <a:t>Jemmali</a:t>
            </a:r>
            <a:r>
              <a:rPr lang="en-US" b="0" i="0" u="none" baseline="0" dirty="0"/>
              <a:t>, B. </a:t>
            </a:r>
            <a:r>
              <a:rPr lang="en-US" b="0" i="0" u="none" baseline="0" dirty="0" err="1"/>
              <a:t>Manai</a:t>
            </a:r>
            <a:r>
              <a:rPr lang="en-US" b="0" i="0" u="none" baseline="0" dirty="0"/>
              <a:t>, R. </a:t>
            </a:r>
            <a:r>
              <a:rPr lang="en-US" b="0" i="0" u="none" baseline="0" dirty="0" err="1"/>
              <a:t>Chaibi</a:t>
            </a:r>
            <a:r>
              <a:rPr lang="en-US" b="0" i="0" u="none" baseline="0" dirty="0"/>
              <a:t>, and N. E. B. Amara, "Hardware implementation of an algorithm based on </a:t>
            </a:r>
            <a:r>
              <a:rPr lang="en-US" b="0" i="0" u="none" baseline="0" dirty="0" err="1"/>
              <a:t>kalman</a:t>
            </a:r>
            <a:r>
              <a:rPr lang="en-US" b="0" i="0" u="none" baseline="0" dirty="0"/>
              <a:t> </a:t>
            </a:r>
            <a:r>
              <a:rPr lang="en-US" b="0" i="0" u="none" baseline="0" dirty="0" err="1"/>
              <a:t>filtrer</a:t>
            </a:r>
            <a:r>
              <a:rPr lang="en-US" b="0" i="0" u="none" baseline="0" dirty="0"/>
              <a:t> for monitoring low capacity Li-ion batteries," in </a:t>
            </a:r>
            <a:r>
              <a:rPr lang="en-US" b="0" i="1" u="none" baseline="0" dirty="0"/>
              <a:t>2016 7th International Renewable Energy Congress (IREC)</a:t>
            </a:r>
            <a:r>
              <a:rPr lang="en-US" b="0" i="0" u="none" baseline="0" dirty="0"/>
              <a:t>, 2016: IEEE, pp. 1-6. </a:t>
            </a:r>
          </a:p>
          <a:p>
            <a:endParaRPr lang="en-US" b="0" i="1" u="none" baseline="0" dirty="0"/>
          </a:p>
        </p:txBody>
      </p:sp>
    </p:spTree>
    <p:extLst>
      <p:ext uri="{BB962C8B-B14F-4D97-AF65-F5344CB8AC3E}">
        <p14:creationId xmlns:p14="http://schemas.microsoft.com/office/powerpoint/2010/main" val="12212988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15175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N. </a:t>
            </a:r>
            <a:r>
              <a:rPr lang="en-US" b="0" i="0" u="none" baseline="0" dirty="0" err="1"/>
              <a:t>Ghaeminezhad</a:t>
            </a:r>
            <a:r>
              <a:rPr lang="en-US" b="0" i="0" u="none" baseline="0" dirty="0"/>
              <a:t>, Q. Ouyang, X. Hu, G. Xu, and Z. Wang, "Active cell equalization topologies analysis for battery packs: A systematic review," </a:t>
            </a:r>
            <a:r>
              <a:rPr lang="en-US" b="0" i="1" u="none" baseline="0" dirty="0"/>
              <a:t>IEEE Transactions on Power Electronics, </a:t>
            </a:r>
            <a:r>
              <a:rPr lang="en-US" b="0" i="0" u="none" baseline="0" dirty="0"/>
              <a:t>vol. 36, no. 8, pp. 9119-9135, 2021.</a:t>
            </a:r>
          </a:p>
          <a:p>
            <a:endParaRPr lang="en-US" b="0" i="1" u="none" baseline="0" dirty="0"/>
          </a:p>
        </p:txBody>
      </p:sp>
    </p:spTree>
    <p:extLst>
      <p:ext uri="{BB962C8B-B14F-4D97-AF65-F5344CB8AC3E}">
        <p14:creationId xmlns:p14="http://schemas.microsoft.com/office/powerpoint/2010/main" val="8451395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Q. Ouyang, J. Chen, C. Xu, and H. Su, "Cell balancing control for serially connected lithium-ion batteries," in </a:t>
            </a:r>
            <a:r>
              <a:rPr lang="en-US" b="0" i="1" u="none" baseline="0" dirty="0"/>
              <a:t>2016 American control conference (ACC)</a:t>
            </a:r>
            <a:r>
              <a:rPr lang="en-US" b="0" i="0" u="none" baseline="0" dirty="0"/>
              <a:t>, 2016: IEEE, pp. 3095-3100. </a:t>
            </a:r>
          </a:p>
          <a:p>
            <a:endParaRPr lang="en-US" b="0" i="1" u="none" baseline="0" dirty="0"/>
          </a:p>
        </p:txBody>
      </p:sp>
    </p:spTree>
    <p:extLst>
      <p:ext uri="{BB962C8B-B14F-4D97-AF65-F5344CB8AC3E}">
        <p14:creationId xmlns:p14="http://schemas.microsoft.com/office/powerpoint/2010/main" val="16355940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X. Wei, X. Zhao, and H. Dai, "The application of </a:t>
            </a:r>
            <a:r>
              <a:rPr lang="en-US" b="0" i="0" u="none" baseline="0" dirty="0" err="1"/>
              <a:t>flyback</a:t>
            </a:r>
            <a:r>
              <a:rPr lang="en-US" b="0" i="0" u="none" baseline="0" dirty="0"/>
              <a:t> DC/DC converter in Li-ion batteries active balancing," in </a:t>
            </a:r>
            <a:r>
              <a:rPr lang="en-US" b="0" i="1" u="none" baseline="0" dirty="0"/>
              <a:t>2009 IEEE Vehicle Power and Propulsion Conference</a:t>
            </a:r>
            <a:r>
              <a:rPr lang="en-US" b="0" i="0" u="none" baseline="0" dirty="0"/>
              <a:t>, 2009: IEEE, pp. 1654-1656. </a:t>
            </a:r>
          </a:p>
          <a:p>
            <a:endParaRPr lang="en-US" b="0" i="1" u="none" baseline="0" dirty="0"/>
          </a:p>
        </p:txBody>
      </p:sp>
    </p:spTree>
    <p:extLst>
      <p:ext uri="{BB962C8B-B14F-4D97-AF65-F5344CB8AC3E}">
        <p14:creationId xmlns:p14="http://schemas.microsoft.com/office/powerpoint/2010/main" val="9412390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M. </a:t>
            </a:r>
            <a:r>
              <a:rPr lang="en-US" b="0" i="0" u="none" baseline="0" dirty="0" err="1"/>
              <a:t>Daowd</a:t>
            </a:r>
            <a:r>
              <a:rPr lang="en-US" b="0" i="0" u="none" baseline="0" dirty="0"/>
              <a:t>, M. Antoine, N. Omar, P. Van den </a:t>
            </a:r>
            <a:r>
              <a:rPr lang="en-US" b="0" i="0" u="none" baseline="0" dirty="0" err="1"/>
              <a:t>Bossche</a:t>
            </a:r>
            <a:r>
              <a:rPr lang="en-US" b="0" i="0" u="none" baseline="0" dirty="0"/>
              <a:t>, and J. Van </a:t>
            </a:r>
            <a:r>
              <a:rPr lang="en-US" b="0" i="0" u="none" baseline="0" dirty="0" err="1"/>
              <a:t>Mierlo</a:t>
            </a:r>
            <a:r>
              <a:rPr lang="en-US" b="0" i="0" u="none" baseline="0" dirty="0"/>
              <a:t>, "Single switched capacitor battery balancing system enhancements," </a:t>
            </a:r>
            <a:r>
              <a:rPr lang="en-US" b="0" i="1" u="none" baseline="0" dirty="0"/>
              <a:t>Energies, </a:t>
            </a:r>
            <a:r>
              <a:rPr lang="en-US" b="0" i="0" u="none" baseline="0" dirty="0"/>
              <a:t>vol. 6, no. 4, pp. 2149-2174, 2013.</a:t>
            </a:r>
          </a:p>
          <a:p>
            <a:endParaRPr lang="en-US" b="0" i="1" u="none" baseline="0" dirty="0"/>
          </a:p>
        </p:txBody>
      </p:sp>
    </p:spTree>
    <p:extLst>
      <p:ext uri="{BB962C8B-B14F-4D97-AF65-F5344CB8AC3E}">
        <p14:creationId xmlns:p14="http://schemas.microsoft.com/office/powerpoint/2010/main" val="6871943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26000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83021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57031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10295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13739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S. Shah, M. </a:t>
            </a:r>
            <a:r>
              <a:rPr lang="en-US" b="0" i="0" u="none" baseline="0" dirty="0" err="1"/>
              <a:t>Murali</a:t>
            </a:r>
            <a:r>
              <a:rPr lang="en-US" b="0" i="0" u="none" baseline="0" dirty="0"/>
              <a:t>, and P. Gandhi, "A practical approach of active cell balancing in a battery management system," in </a:t>
            </a:r>
            <a:r>
              <a:rPr lang="en-US" b="0" i="1" u="none" baseline="0" dirty="0"/>
              <a:t>2018 IEEE International Conference on Power Electronics, Drives and Energy Systems (PEDES)</a:t>
            </a:r>
            <a:r>
              <a:rPr lang="en-US" b="0" i="0" u="none" baseline="0" dirty="0"/>
              <a:t>, 2018: IEEE, pp. 1-6. </a:t>
            </a:r>
          </a:p>
          <a:p>
            <a:r>
              <a:rPr lang="en-US" b="0" i="0" u="none" baseline="0" dirty="0"/>
              <a:t>[2]	</a:t>
            </a:r>
            <a:r>
              <a:rPr lang="en-US" b="0" i="0" u="none" baseline="0" dirty="0" err="1"/>
              <a:t>ti</a:t>
            </a:r>
            <a:r>
              <a:rPr lang="en-US" b="0" i="0" u="none" baseline="0" dirty="0"/>
              <a:t>, "Active chipset reference design guide, reference guide," 2013. [Online]. Available: https://www.ti.com/lit/pdf/sluuas6,.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[3]	B. </a:t>
            </a:r>
            <a:r>
              <a:rPr lang="en-US" b="0" i="0" u="none" baseline="0" dirty="0" err="1"/>
              <a:t>Erdoğan</a:t>
            </a:r>
            <a:r>
              <a:rPr lang="en-US" b="0" i="0" u="none" baseline="0" dirty="0"/>
              <a:t>, M. M. </a:t>
            </a:r>
            <a:r>
              <a:rPr lang="en-US" b="0" i="0" u="none" baseline="0" dirty="0" err="1"/>
              <a:t>Savrun</a:t>
            </a:r>
            <a:r>
              <a:rPr lang="en-US" b="0" i="0" u="none" baseline="0" dirty="0"/>
              <a:t>, T. </a:t>
            </a:r>
            <a:r>
              <a:rPr lang="en-US" b="0" i="0" u="none" baseline="0" dirty="0" err="1"/>
              <a:t>Köroğlu</a:t>
            </a:r>
            <a:r>
              <a:rPr lang="en-US" b="0" i="0" u="none" baseline="0" dirty="0"/>
              <a:t>, M. U. </a:t>
            </a:r>
            <a:r>
              <a:rPr lang="en-US" b="0" i="0" u="none" baseline="0" dirty="0" err="1"/>
              <a:t>Cuma</a:t>
            </a:r>
            <a:r>
              <a:rPr lang="en-US" b="0" i="0" u="none" baseline="0" dirty="0"/>
              <a:t>, and M. </a:t>
            </a:r>
            <a:r>
              <a:rPr lang="en-US" b="0" i="0" u="none" baseline="0" dirty="0" err="1"/>
              <a:t>Tümay</a:t>
            </a:r>
            <a:r>
              <a:rPr lang="en-US" b="0" i="0" u="none" baseline="0" dirty="0"/>
              <a:t>, "An improved and fast balancing algorithm for electric heavy commercial vehicles," </a:t>
            </a:r>
            <a:r>
              <a:rPr lang="en-US" b="0" i="1" u="none" baseline="0" dirty="0"/>
              <a:t>Journal of Energy Storage, </a:t>
            </a:r>
            <a:r>
              <a:rPr lang="nl-NL" b="0" i="0" u="none" baseline="0" dirty="0"/>
              <a:t>vol. 38, p. 102522, 2021.</a:t>
            </a:r>
          </a:p>
          <a:p>
            <a:endParaRPr lang="en-US" b="0" i="0" u="none" baseline="0" dirty="0"/>
          </a:p>
          <a:p>
            <a:endParaRPr lang="en-US" b="0" i="1" u="none" baseline="0" dirty="0"/>
          </a:p>
        </p:txBody>
      </p:sp>
    </p:spTree>
    <p:extLst>
      <p:ext uri="{BB962C8B-B14F-4D97-AF65-F5344CB8AC3E}">
        <p14:creationId xmlns:p14="http://schemas.microsoft.com/office/powerpoint/2010/main" val="6127184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89486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10821321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p>
          <a:p>
            <a:endParaRPr lang="en-US" b="0" i="1" u="none" baseline="0" dirty="0"/>
          </a:p>
        </p:txBody>
      </p:sp>
    </p:spTree>
    <p:extLst>
      <p:ext uri="{BB962C8B-B14F-4D97-AF65-F5344CB8AC3E}">
        <p14:creationId xmlns:p14="http://schemas.microsoft.com/office/powerpoint/2010/main" val="5846007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p>
        </p:txBody>
      </p:sp>
    </p:spTree>
    <p:extLst>
      <p:ext uri="{BB962C8B-B14F-4D97-AF65-F5344CB8AC3E}">
        <p14:creationId xmlns:p14="http://schemas.microsoft.com/office/powerpoint/2010/main" val="9756476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7193051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p>
        </p:txBody>
      </p:sp>
    </p:spTree>
    <p:extLst>
      <p:ext uri="{BB962C8B-B14F-4D97-AF65-F5344CB8AC3E}">
        <p14:creationId xmlns:p14="http://schemas.microsoft.com/office/powerpoint/2010/main" val="32104773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baseline="-25000" dirty="0"/>
          </a:p>
        </p:txBody>
      </p:sp>
    </p:spTree>
    <p:extLst>
      <p:ext uri="{BB962C8B-B14F-4D97-AF65-F5344CB8AC3E}">
        <p14:creationId xmlns:p14="http://schemas.microsoft.com/office/powerpoint/2010/main" val="20332124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a:p>
            <a:endParaRPr lang="en-US" dirty="0"/>
          </a:p>
        </p:txBody>
      </p:sp>
    </p:spTree>
    <p:extLst>
      <p:ext uri="{BB962C8B-B14F-4D97-AF65-F5344CB8AC3E}">
        <p14:creationId xmlns:p14="http://schemas.microsoft.com/office/powerpoint/2010/main" val="28655774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181790402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W. </a:t>
            </a:r>
            <a:r>
              <a:rPr lang="en-US" b="0" i="0" u="none" baseline="0" dirty="0" err="1"/>
              <a:t>Lujun</a:t>
            </a:r>
            <a:r>
              <a:rPr lang="en-US" b="0" i="1" u="none" baseline="0" dirty="0"/>
              <a:t> et al.</a:t>
            </a:r>
            <a:r>
              <a:rPr lang="en-US" b="0" i="0" u="none" baseline="0" dirty="0"/>
              <a:t>, "Efficient and fast active equalization method for retired battery pack using wide voltage range bidirectional converter and DBSCAN clustering algorithm," </a:t>
            </a:r>
            <a:r>
              <a:rPr lang="en-US" b="0" i="1" u="none" baseline="0" dirty="0"/>
              <a:t>IEEE Transactions on Power Electronics, </a:t>
            </a:r>
            <a:r>
              <a:rPr lang="en-US" b="0" i="0" u="none" baseline="0" dirty="0"/>
              <a:t>vol. 37, no. 11, pp. 13824-13833, 2022.</a:t>
            </a:r>
            <a:endParaRPr lang="en-US" dirty="0"/>
          </a:p>
        </p:txBody>
      </p:sp>
    </p:spTree>
    <p:extLst>
      <p:ext uri="{BB962C8B-B14F-4D97-AF65-F5344CB8AC3E}">
        <p14:creationId xmlns:p14="http://schemas.microsoft.com/office/powerpoint/2010/main" val="373046499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2035252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K. </a:t>
            </a:r>
            <a:r>
              <a:rPr lang="en-US" b="0" i="0" u="none" baseline="0" dirty="0" err="1"/>
              <a:t>Movassagh</a:t>
            </a:r>
            <a:r>
              <a:rPr lang="en-US" b="0" i="0" u="none" baseline="0" dirty="0"/>
              <a:t>, A. Raihan, B. </a:t>
            </a:r>
            <a:r>
              <a:rPr lang="en-US" b="0" i="0" u="none" baseline="0" dirty="0" err="1"/>
              <a:t>Balasingam</a:t>
            </a:r>
            <a:r>
              <a:rPr lang="en-US" b="0" i="0" u="none" baseline="0" dirty="0"/>
              <a:t>, and K. </a:t>
            </a:r>
            <a:r>
              <a:rPr lang="en-US" b="0" i="0" u="none" baseline="0" dirty="0" err="1"/>
              <a:t>Pattipati</a:t>
            </a:r>
            <a:r>
              <a:rPr lang="en-US" b="0" i="0" u="none" baseline="0" dirty="0"/>
              <a:t>, "A Critical Look at Coulomb Counting Approach for State of Charge Estimation in Batteries," </a:t>
            </a:r>
            <a:r>
              <a:rPr lang="en-US" b="0" i="1" u="none" baseline="0" dirty="0"/>
              <a:t>Energies, </a:t>
            </a:r>
            <a:r>
              <a:rPr lang="en-US" b="0" i="0" u="none" baseline="0" dirty="0"/>
              <a:t>vol. 14, no. 14, p. 4074, 2021. [Online]. Available: https://www.mdpi.com/1996-1073/14/14/4074.</a:t>
            </a:r>
          </a:p>
          <a:p>
            <a:endParaRPr lang="en-US" b="0" i="1" u="none" baseline="0" dirty="0"/>
          </a:p>
        </p:txBody>
      </p:sp>
    </p:spTree>
    <p:extLst>
      <p:ext uri="{BB962C8B-B14F-4D97-AF65-F5344CB8AC3E}">
        <p14:creationId xmlns:p14="http://schemas.microsoft.com/office/powerpoint/2010/main" val="13423377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I. </a:t>
            </a:r>
            <a:r>
              <a:rPr lang="en-US" b="0" i="0" u="none" baseline="0" dirty="0" err="1"/>
              <a:t>Baccouche</a:t>
            </a:r>
            <a:r>
              <a:rPr lang="en-US" b="0" i="0" u="none" baseline="0" dirty="0"/>
              <a:t>, S. </a:t>
            </a:r>
            <a:r>
              <a:rPr lang="en-US" b="0" i="0" u="none" baseline="0" dirty="0" err="1"/>
              <a:t>Jemmali</a:t>
            </a:r>
            <a:r>
              <a:rPr lang="en-US" b="0" i="0" u="none" baseline="0" dirty="0"/>
              <a:t>, B. </a:t>
            </a:r>
            <a:r>
              <a:rPr lang="en-US" b="0" i="0" u="none" baseline="0" dirty="0" err="1"/>
              <a:t>Manai</a:t>
            </a:r>
            <a:r>
              <a:rPr lang="en-US" b="0" i="0" u="none" baseline="0" dirty="0"/>
              <a:t>, N. Omar, and N. E. B. Amara, "Improved OCV Model of a Li-Ion NMC Battery for Online SOC Estimation Using the Extended Kalman Filter," </a:t>
            </a:r>
            <a:r>
              <a:rPr lang="en-US" b="0" i="1" u="none" baseline="0" dirty="0"/>
              <a:t>Energies, </a:t>
            </a:r>
            <a:r>
              <a:rPr lang="en-US" b="0" i="0" u="none" baseline="0" dirty="0"/>
              <a:t>vol. 10, no. 6, p. 764, 2017. [Online]. Available: https://www.mdpi.com/1996-1073/10/6/764.</a:t>
            </a:r>
          </a:p>
          <a:p>
            <a:endParaRPr lang="en-US" b="0" i="1" u="none" baseline="0" dirty="0"/>
          </a:p>
        </p:txBody>
      </p:sp>
    </p:spTree>
    <p:extLst>
      <p:ext uri="{BB962C8B-B14F-4D97-AF65-F5344CB8AC3E}">
        <p14:creationId xmlns:p14="http://schemas.microsoft.com/office/powerpoint/2010/main" val="219284065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J. Nadeau, M. Dubois, A. Desrochers, and N. Denis, "Ageing estimation of lithium-ion batteries applied to a three-wheel PHEV roadster," in </a:t>
            </a:r>
            <a:r>
              <a:rPr lang="en-US" b="0" i="1" u="none" baseline="0" dirty="0"/>
              <a:t>2013 IEEE Vehicle Power and Propulsion Conference (VPPC)</a:t>
            </a:r>
            <a:r>
              <a:rPr lang="en-US" b="0" i="0" u="none" baseline="0" dirty="0"/>
              <a:t>, 2013: IEEE, pp. 1-6. </a:t>
            </a:r>
          </a:p>
          <a:p>
            <a:endParaRPr lang="en-US" b="0" i="1" u="none" baseline="0" dirty="0"/>
          </a:p>
        </p:txBody>
      </p:sp>
    </p:spTree>
    <p:extLst>
      <p:ext uri="{BB962C8B-B14F-4D97-AF65-F5344CB8AC3E}">
        <p14:creationId xmlns:p14="http://schemas.microsoft.com/office/powerpoint/2010/main" val="226087476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baseline="0" dirty="0"/>
              <a:t>[1]	X. Ding</a:t>
            </a:r>
            <a:r>
              <a:rPr lang="en-US" b="0" i="1" u="none" baseline="0" dirty="0"/>
              <a:t> et al.</a:t>
            </a:r>
            <a:r>
              <a:rPr lang="en-US" b="0" i="0" u="none" baseline="0" dirty="0"/>
              <a:t>, "A novel active equalization topology for series-connected lithium-ion battery packs," </a:t>
            </a:r>
            <a:r>
              <a:rPr lang="en-US" b="0" i="1" u="none" baseline="0" dirty="0"/>
              <a:t>IEEE Transactions on Industry Applications, </a:t>
            </a:r>
            <a:r>
              <a:rPr lang="en-US" b="0" i="0" u="none" baseline="0" dirty="0"/>
              <a:t>vol. 56, no. 6, pp. 6892-6903, 2020.</a:t>
            </a:r>
          </a:p>
          <a:p>
            <a:endParaRPr lang="en-US" b="0" i="1" u="none" baseline="0" dirty="0"/>
          </a:p>
        </p:txBody>
      </p:sp>
    </p:spTree>
    <p:extLst>
      <p:ext uri="{BB962C8B-B14F-4D97-AF65-F5344CB8AC3E}">
        <p14:creationId xmlns:p14="http://schemas.microsoft.com/office/powerpoint/2010/main" val="30647255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[1]	S. </a:t>
            </a:r>
            <a:r>
              <a:rPr lang="en-US" b="0" i="0" u="none" baseline="0" dirty="0" err="1"/>
              <a:t>Jinlei</a:t>
            </a:r>
            <a:r>
              <a:rPr lang="en-US" b="0" i="0" u="none" baseline="0" dirty="0"/>
              <a:t>, L. Wei, T. </a:t>
            </a:r>
            <a:r>
              <a:rPr lang="en-US" b="0" i="0" u="none" baseline="0" dirty="0" err="1"/>
              <a:t>Chuanyu</a:t>
            </a:r>
            <a:r>
              <a:rPr lang="en-US" b="0" i="0" u="none" baseline="0" dirty="0"/>
              <a:t>, W. </a:t>
            </a:r>
            <a:r>
              <a:rPr lang="en-US" b="0" i="0" u="none" baseline="0" dirty="0" err="1"/>
              <a:t>Tianru</a:t>
            </a:r>
            <a:r>
              <a:rPr lang="en-US" b="0" i="0" u="none" baseline="0" dirty="0"/>
              <a:t>, J. Tao, and T. Yong, "A novel active equalization method for series-connected battery packs based on clustering analysis with genetic algorithm," </a:t>
            </a:r>
            <a:r>
              <a:rPr lang="en-US" b="0" i="1" u="none" baseline="0" dirty="0"/>
              <a:t>IEEE Transactions on Power Electronics, </a:t>
            </a:r>
            <a:r>
              <a:rPr lang="en-US" b="0" i="0" u="none" baseline="0" dirty="0"/>
              <a:t>vol. 36, no. 7, pp. 7853-7865, 2021.</a:t>
            </a:r>
            <a:endParaRPr lang="en-US" dirty="0"/>
          </a:p>
        </p:txBody>
      </p:sp>
    </p:spTree>
    <p:extLst>
      <p:ext uri="{BB962C8B-B14F-4D97-AF65-F5344CB8AC3E}">
        <p14:creationId xmlns:p14="http://schemas.microsoft.com/office/powerpoint/2010/main" val="121656616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22332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588345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4217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2F33C8-C791-4D5C-A762-F1444BAB6895}"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3DD26C-48B8-45C9-95EB-0EA6E3001BE1}"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79586F-0E80-4B87-99A0-AC67FF591324}"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411467-27C9-4EF3-A44B-DA78076DC202}"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D91F66-80B8-4A19-B3B6-8291C1CA85B4}" type="datetime1">
              <a:rPr lang="en-US" smtClean="0"/>
              <a:t>8/23/2024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C2E40A-4446-4E2B-B9AD-16F559E28E02}"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7606D0-D078-44A0-89CE-A2CEC3D33077}" type="datetime1">
              <a:rPr lang="en-US" smtClean="0"/>
              <a:t>8/23/2024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68D3E4-BCCE-4F4E-9DEF-708980C29233}" type="datetime1">
              <a:rPr lang="en-US" smtClean="0"/>
              <a:t>8/23/2024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8D7E03-6B66-491F-9181-D81578D55D63}"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99FA1F-D7CC-4837-8992-E30AF8B71F8D}"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90075E-631E-4B85-B7A9-78F4247B9156}"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9BF593-2376-4A79-8724-50302707B811}"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9BC887E4-74DD-469A-BB68-5D653A4964D8}" type="datetime1">
              <a:rPr lang="en-US" smtClean="0"/>
              <a:t>8/23/2024</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7FC2E40A-4446-4E2B-B9AD-16F559E28E02}"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281991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62708018-F7F3-4C2F-8E03-D84A23E63DCE}" type="datetime1">
              <a:rPr lang="en-US" smtClean="0"/>
              <a:t>8/23/2024</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1317154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F7FD5E-E5D1-419C-9E8E-06AFAA2EACFB}"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1128589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B3035D-0264-439F-9B8B-A3046626387F}"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7120466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C60FB1-91E5-4533-BA34-31E451504F76}" type="datetime1">
              <a:rPr lang="en-US" smtClean="0"/>
              <a:t>8/23/2024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16634068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BE82B9-7741-4AF2-AA70-134028B877B9}" type="datetime1">
              <a:rPr lang="en-US" smtClean="0"/>
              <a:t>8/23/2024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29309219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40CC08-3CB7-4BD3-9E7C-E18358FFE96C}" type="datetime1">
              <a:rPr lang="en-US" smtClean="0"/>
              <a:t>8/23/2024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3478168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536C4-DE95-4406-A21D-864D3C70B6E8}"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829609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85CCF0-6175-4FE0-A492-6D78E2842D5F}"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8477272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3EC261-6863-4192-A663-459CB6E10DFC}" type="datetime1">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3143648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C54E06-EA5A-4665-A543-E2AB76215404}"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10112511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536A75-F382-4826-A01C-81EB10C62E9C}"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7569488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755AF2-B59B-4622-8846-E82064C8BD0D}"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808362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555CE1-366E-4233-AF71-00754A578A3F}"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2507402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31A79-D5E8-482F-995E-BA8BE9225100}"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321834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32616B-815C-48D7-8254-CE6F277D8EE1}"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524314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733968-3591-4F01-AE5E-B07C1F3365BA}" type="datetime1">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2E40A-4446-4E2B-B9AD-16F559E28E02}" type="slidenum">
              <a:rPr lang="en-US" smtClean="0"/>
              <a:t>‹#›</a:t>
            </a:fld>
            <a:endParaRPr lang="en-US"/>
          </a:p>
        </p:txBody>
      </p:sp>
    </p:spTree>
    <p:extLst>
      <p:ext uri="{BB962C8B-B14F-4D97-AF65-F5344CB8AC3E}">
        <p14:creationId xmlns:p14="http://schemas.microsoft.com/office/powerpoint/2010/main" val="339326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DD93E8A1-BF70-4AAD-8DED-D83C0E6B392D}" type="datetime1">
              <a:rPr lang="en-US" smtClean="0"/>
              <a:t>8/23/2024</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7FC2E40A-4446-4E2B-B9AD-16F559E28E0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5A70397-56CE-487B-B742-7DCBAE992F4C}" type="datetime1">
              <a:rPr lang="en-US" smtClean="0"/>
              <a:t>8/23/2024</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FC2E40A-4446-4E2B-B9AD-16F559E28E02}" type="slidenum">
              <a:rPr lang="en-US" smtClean="0"/>
              <a:t>‹#›</a:t>
            </a:fld>
            <a:endParaRPr lang="en-US"/>
          </a:p>
        </p:txBody>
      </p:sp>
    </p:spTree>
    <p:extLst>
      <p:ext uri="{BB962C8B-B14F-4D97-AF65-F5344CB8AC3E}">
        <p14:creationId xmlns:p14="http://schemas.microsoft.com/office/powerpoint/2010/main" val="25016720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ctr" defTabSz="457200" rtl="1" eaLnBrk="1" latinLnBrk="0" hangingPunct="1">
        <a:spcBef>
          <a:spcPct val="0"/>
        </a:spcBef>
        <a:buNone/>
        <a:defRPr sz="4000" kern="1200" cap="none">
          <a:ln w="3175" cmpd="sng">
            <a:noFill/>
          </a:ln>
          <a:solidFill>
            <a:schemeClr val="tx1"/>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7.png"/><Relationship Id="rId7"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em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37.png"/><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0.png"/><Relationship Id="rId5" Type="http://schemas.openxmlformats.org/officeDocument/2006/relationships/image" Target="../media/image270.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6.jpeg"/><Relationship Id="rId7"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47.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50.jpe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5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54.jpeg"/><Relationship Id="rId7" Type="http://schemas.openxmlformats.org/officeDocument/2006/relationships/image" Target="../media/image57.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58.jpeg"/><Relationship Id="rId7" Type="http://schemas.openxmlformats.org/officeDocument/2006/relationships/image" Target="../media/image61.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4.jpg"/></Relationships>
</file>

<file path=ppt/slides/_rels/slide29.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3.png"/><Relationship Id="rId7" Type="http://schemas.openxmlformats.org/officeDocument/2006/relationships/image" Target="../media/image67.em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230.png"/></Relationships>
</file>

<file path=ppt/slides/_rels/slide30.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70.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jpe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jpe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jpeg"/><Relationship Id="rId7"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10" Type="http://schemas.openxmlformats.org/officeDocument/2006/relationships/image" Target="../media/image3.png"/><Relationship Id="rId4" Type="http://schemas.openxmlformats.org/officeDocument/2006/relationships/image" Target="../media/image78.png"/><Relationship Id="rId9"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2.jpeg"/><Relationship Id="rId7"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8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84.emf"/></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8.png"/><Relationship Id="rId4" Type="http://schemas.openxmlformats.org/officeDocument/2006/relationships/image" Target="../media/image87.png"/></Relationships>
</file>

<file path=ppt/slides/_rels/slide48.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3.png"/><Relationship Id="rId7" Type="http://schemas.openxmlformats.org/officeDocument/2006/relationships/image" Target="../media/image90.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image" Target="../media/image93.png"/><Relationship Id="rId4" Type="http://schemas.openxmlformats.org/officeDocument/2006/relationships/image" Target="../media/image89.jpeg"/><Relationship Id="rId9" Type="http://schemas.openxmlformats.org/officeDocument/2006/relationships/image" Target="../media/image92.png"/></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98.jpeg"/><Relationship Id="rId3" Type="http://schemas.openxmlformats.org/officeDocument/2006/relationships/image" Target="../media/image13.png"/><Relationship Id="rId7" Type="http://schemas.openxmlformats.org/officeDocument/2006/relationships/image" Target="../media/image83.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15.png"/><Relationship Id="rId10" Type="http://schemas.openxmlformats.org/officeDocument/2006/relationships/image" Target="../media/image3.png"/><Relationship Id="rId4" Type="http://schemas.openxmlformats.org/officeDocument/2006/relationships/image" Target="../media/image14.png"/><Relationship Id="rId9" Type="http://schemas.openxmlformats.org/officeDocument/2006/relationships/image" Target="../media/image99.png"/></Relationships>
</file>

<file path=ppt/slides/_rels/slide5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0.xml.rels><?xml version="1.0" encoding="UTF-8" standalone="yes"?>
<Relationships xmlns="http://schemas.openxmlformats.org/package/2006/relationships"><Relationship Id="rId8" Type="http://schemas.openxmlformats.org/officeDocument/2006/relationships/image" Target="../media/image105.emf"/><Relationship Id="rId3" Type="http://schemas.openxmlformats.org/officeDocument/2006/relationships/image" Target="../media/image3.png"/><Relationship Id="rId7" Type="http://schemas.openxmlformats.org/officeDocument/2006/relationships/image" Target="../media/image104.emf"/><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8.png"/><Relationship Id="rId4" Type="http://schemas.openxmlformats.org/officeDocument/2006/relationships/image" Target="../media/image87.png"/><Relationship Id="rId9" Type="http://schemas.openxmlformats.org/officeDocument/2006/relationships/image" Target="../media/image106.emf"/></Relationships>
</file>

<file path=ppt/slides/_rels/slide6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09.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13.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76.jpg"/><Relationship Id="rId5" Type="http://schemas.openxmlformats.org/officeDocument/2006/relationships/image" Target="../media/image75.jp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3.png"/><Relationship Id="rId7" Type="http://schemas.openxmlformats.org/officeDocument/2006/relationships/image" Target="../media/image118.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90.png"/><Relationship Id="rId5" Type="http://schemas.openxmlformats.org/officeDocument/2006/relationships/image" Target="../media/image116.png"/><Relationship Id="rId10" Type="http://schemas.openxmlformats.org/officeDocument/2006/relationships/image" Target="../media/image88.png"/><Relationship Id="rId4" Type="http://schemas.openxmlformats.org/officeDocument/2006/relationships/image" Target="../media/image115.png"/><Relationship Id="rId9" Type="http://schemas.openxmlformats.org/officeDocument/2006/relationships/image" Target="../media/image87.png"/></Relationships>
</file>

<file path=ppt/slides/_rels/slide73.xml.rels><?xml version="1.0" encoding="UTF-8" standalone="yes"?>
<Relationships xmlns="http://schemas.openxmlformats.org/package/2006/relationships"><Relationship Id="rId3" Type="http://schemas.openxmlformats.org/officeDocument/2006/relationships/image" Target="../media/image120.gif"/><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0.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126.png"/></Relationships>
</file>

<file path=ppt/slides/_rels/slide8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0.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128.png"/></Relationships>
</file>

<file path=ppt/slides/_rels/slide82.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 Id="rId9"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7.png"/><Relationship Id="rId4" Type="http://schemas.openxmlformats.org/officeDocument/2006/relationships/image" Target="../media/image810.png"/></Relationships>
</file>

<file path=ppt/slides/_rels/slide8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139.png"/><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141.jpg"/><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43.png"/><Relationship Id="rId4" Type="http://schemas.openxmlformats.org/officeDocument/2006/relationships/image" Target="../media/image142.png"/></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0.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144.png"/></Relationships>
</file>

<file path=ppt/slides/_rels/slide89.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146.jp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a:spLocks/>
          </p:cNvSpPr>
          <p:nvPr/>
        </p:nvSpPr>
        <p:spPr bwMode="gray">
          <a:xfrm>
            <a:off x="1028700" y="2486098"/>
            <a:ext cx="2019300" cy="1112395"/>
          </a:xfrm>
          <a:custGeom>
            <a:avLst/>
            <a:gdLst>
              <a:gd name="T0" fmla="*/ 88 w 2320"/>
              <a:gd name="T1" fmla="*/ 696 h 792"/>
              <a:gd name="T2" fmla="*/ 88 w 2320"/>
              <a:gd name="T3" fmla="*/ 0 h 792"/>
              <a:gd name="T4" fmla="*/ 0 w 2320"/>
              <a:gd name="T5" fmla="*/ 0 h 792"/>
              <a:gd name="T6" fmla="*/ 0 w 2320"/>
              <a:gd name="T7" fmla="*/ 792 h 792"/>
              <a:gd name="T8" fmla="*/ 2320 w 2320"/>
              <a:gd name="T9" fmla="*/ 792 h 792"/>
              <a:gd name="T10" fmla="*/ 2320 w 2320"/>
              <a:gd name="T11" fmla="*/ 696 h 792"/>
              <a:gd name="T12" fmla="*/ 88 w 2320"/>
              <a:gd name="T13" fmla="*/ 696 h 792"/>
            </a:gdLst>
            <a:ahLst/>
            <a:cxnLst>
              <a:cxn ang="0">
                <a:pos x="T0" y="T1"/>
              </a:cxn>
              <a:cxn ang="0">
                <a:pos x="T2" y="T3"/>
              </a:cxn>
              <a:cxn ang="0">
                <a:pos x="T4" y="T5"/>
              </a:cxn>
              <a:cxn ang="0">
                <a:pos x="T6" y="T7"/>
              </a:cxn>
              <a:cxn ang="0">
                <a:pos x="T8" y="T9"/>
              </a:cxn>
              <a:cxn ang="0">
                <a:pos x="T10" y="T11"/>
              </a:cxn>
              <a:cxn ang="0">
                <a:pos x="T12" y="T13"/>
              </a:cxn>
            </a:cxnLst>
            <a:rect l="0" t="0" r="r" b="b"/>
            <a:pathLst>
              <a:path w="2320" h="792">
                <a:moveTo>
                  <a:pt x="88" y="696"/>
                </a:moveTo>
                <a:lnTo>
                  <a:pt x="88" y="0"/>
                </a:lnTo>
                <a:lnTo>
                  <a:pt x="0" y="0"/>
                </a:lnTo>
                <a:lnTo>
                  <a:pt x="0" y="792"/>
                </a:lnTo>
                <a:lnTo>
                  <a:pt x="2320" y="792"/>
                </a:lnTo>
                <a:lnTo>
                  <a:pt x="2320" y="696"/>
                </a:lnTo>
                <a:lnTo>
                  <a:pt x="88" y="696"/>
                </a:lnTo>
                <a:close/>
              </a:path>
            </a:pathLst>
          </a:custGeom>
          <a:solidFill>
            <a:srgbClr val="FFFFFF">
              <a:lumMod val="75000"/>
            </a:srgbClr>
          </a:solidFill>
          <a:ln>
            <a:noFill/>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latin typeface="Arial" pitchFamily="34" charset="0"/>
            </a:endParaRPr>
          </a:p>
        </p:txBody>
      </p:sp>
      <p:sp>
        <p:nvSpPr>
          <p:cNvPr id="5" name="Freeform 4"/>
          <p:cNvSpPr>
            <a:spLocks/>
          </p:cNvSpPr>
          <p:nvPr/>
        </p:nvSpPr>
        <p:spPr bwMode="gray">
          <a:xfrm rot="10800000">
            <a:off x="6053270" y="1338130"/>
            <a:ext cx="1924050" cy="1147968"/>
          </a:xfrm>
          <a:custGeom>
            <a:avLst/>
            <a:gdLst>
              <a:gd name="T0" fmla="*/ 88 w 2320"/>
              <a:gd name="T1" fmla="*/ 696 h 792"/>
              <a:gd name="T2" fmla="*/ 88 w 2320"/>
              <a:gd name="T3" fmla="*/ 0 h 792"/>
              <a:gd name="T4" fmla="*/ 0 w 2320"/>
              <a:gd name="T5" fmla="*/ 0 h 792"/>
              <a:gd name="T6" fmla="*/ 0 w 2320"/>
              <a:gd name="T7" fmla="*/ 792 h 792"/>
              <a:gd name="T8" fmla="*/ 2320 w 2320"/>
              <a:gd name="T9" fmla="*/ 792 h 792"/>
              <a:gd name="T10" fmla="*/ 2320 w 2320"/>
              <a:gd name="T11" fmla="*/ 696 h 792"/>
              <a:gd name="T12" fmla="*/ 88 w 2320"/>
              <a:gd name="T13" fmla="*/ 696 h 792"/>
            </a:gdLst>
            <a:ahLst/>
            <a:cxnLst>
              <a:cxn ang="0">
                <a:pos x="T0" y="T1"/>
              </a:cxn>
              <a:cxn ang="0">
                <a:pos x="T2" y="T3"/>
              </a:cxn>
              <a:cxn ang="0">
                <a:pos x="T4" y="T5"/>
              </a:cxn>
              <a:cxn ang="0">
                <a:pos x="T6" y="T7"/>
              </a:cxn>
              <a:cxn ang="0">
                <a:pos x="T8" y="T9"/>
              </a:cxn>
              <a:cxn ang="0">
                <a:pos x="T10" y="T11"/>
              </a:cxn>
              <a:cxn ang="0">
                <a:pos x="T12" y="T13"/>
              </a:cxn>
            </a:cxnLst>
            <a:rect l="0" t="0" r="r" b="b"/>
            <a:pathLst>
              <a:path w="2320" h="792">
                <a:moveTo>
                  <a:pt x="88" y="696"/>
                </a:moveTo>
                <a:lnTo>
                  <a:pt x="88" y="0"/>
                </a:lnTo>
                <a:lnTo>
                  <a:pt x="0" y="0"/>
                </a:lnTo>
                <a:lnTo>
                  <a:pt x="0" y="792"/>
                </a:lnTo>
                <a:lnTo>
                  <a:pt x="2320" y="792"/>
                </a:lnTo>
                <a:lnTo>
                  <a:pt x="2320" y="696"/>
                </a:lnTo>
                <a:lnTo>
                  <a:pt x="88" y="696"/>
                </a:lnTo>
                <a:close/>
              </a:path>
            </a:pathLst>
          </a:custGeom>
          <a:solidFill>
            <a:srgbClr val="000000">
              <a:lumMod val="50000"/>
              <a:lumOff val="50000"/>
            </a:srgbClr>
          </a:solidFill>
          <a:ln>
            <a:noFill/>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latin typeface="Arial" pitchFamily="34" charset="0"/>
            </a:endParaRPr>
          </a:p>
        </p:txBody>
      </p:sp>
      <p:sp>
        <p:nvSpPr>
          <p:cNvPr id="6" name="Rectangle 5"/>
          <p:cNvSpPr>
            <a:spLocks noChangeArrowheads="1"/>
          </p:cNvSpPr>
          <p:nvPr/>
        </p:nvSpPr>
        <p:spPr bwMode="gray">
          <a:xfrm>
            <a:off x="1208088" y="1566304"/>
            <a:ext cx="6629400" cy="1832164"/>
          </a:xfrm>
          <a:prstGeom prst="rect">
            <a:avLst/>
          </a:prstGeom>
          <a:solidFill>
            <a:srgbClr val="3D81BF">
              <a:lumMod val="75000"/>
            </a:srgbClr>
          </a:solidFill>
          <a:ln w="28575">
            <a:solidFill>
              <a:srgbClr val="3D81BF"/>
            </a:solidFill>
          </a:ln>
          <a:effectLst>
            <a:outerShdw sy="50000" kx="-2453608" rotWithShape="0">
              <a:srgbClr val="B2B2B2">
                <a:alpha val="50000"/>
              </a:srgbClr>
            </a:outerShdw>
          </a:effectLst>
        </p:spPr>
        <p:txBody>
          <a:bodyPr anchor="ctr"/>
          <a:lstStyle/>
          <a:p>
            <a:pPr algn="ctr" rtl="1" fontAlgn="base">
              <a:spcBef>
                <a:spcPct val="0"/>
              </a:spcBef>
              <a:spcAft>
                <a:spcPct val="0"/>
              </a:spcAft>
              <a:defRPr/>
            </a:pPr>
            <a:r>
              <a:rPr lang="ar-BH" sz="2400" b="1" kern="0" dirty="0">
                <a:solidFill>
                  <a:srgbClr val="FFFFFF"/>
                </a:solidFill>
                <a:latin typeface="Times New Roman" panose="02020603050405020304" pitchFamily="18" charset="0"/>
                <a:cs typeface="B Nazanin" pitchFamily="2" charset="-78"/>
              </a:rPr>
              <a:t>همسان‌سازی فعال و سریع پک باتری با استفاده از مبدل دوطرفه با دامنه ولتاژ کاری وسیع و الگوریتم</a:t>
            </a:r>
          </a:p>
          <a:p>
            <a:pPr algn="ctr" rtl="1" fontAlgn="base">
              <a:spcBef>
                <a:spcPct val="0"/>
              </a:spcBef>
              <a:spcAft>
                <a:spcPct val="0"/>
              </a:spcAft>
              <a:defRPr/>
            </a:pPr>
            <a:r>
              <a:rPr lang="ar-BH" sz="2400" b="1" kern="0" dirty="0">
                <a:solidFill>
                  <a:srgbClr val="FFFFFF"/>
                </a:solidFill>
                <a:latin typeface="Times New Roman" panose="02020603050405020304" pitchFamily="18" charset="0"/>
                <a:cs typeface="B Nazanin" pitchFamily="2" charset="-78"/>
              </a:rPr>
              <a:t>بهبودیافته خوشه بندی </a:t>
            </a:r>
            <a:r>
              <a:rPr lang="en-US" sz="2400" b="1" kern="0" dirty="0">
                <a:solidFill>
                  <a:srgbClr val="FFFFFF"/>
                </a:solidFill>
                <a:latin typeface="Times New Roman" panose="02020603050405020304" pitchFamily="18" charset="0"/>
                <a:cs typeface="B Nazanin" pitchFamily="2" charset="-78"/>
              </a:rPr>
              <a:t>PSO-DBSCAN</a:t>
            </a:r>
          </a:p>
        </p:txBody>
      </p:sp>
      <p:sp>
        <p:nvSpPr>
          <p:cNvPr id="7" name="Freeform 6"/>
          <p:cNvSpPr>
            <a:spLocks/>
          </p:cNvSpPr>
          <p:nvPr/>
        </p:nvSpPr>
        <p:spPr bwMode="gray">
          <a:xfrm>
            <a:off x="1073388" y="5180676"/>
            <a:ext cx="2019300" cy="786923"/>
          </a:xfrm>
          <a:custGeom>
            <a:avLst/>
            <a:gdLst>
              <a:gd name="T0" fmla="*/ 88 w 2320"/>
              <a:gd name="T1" fmla="*/ 696 h 792"/>
              <a:gd name="T2" fmla="*/ 88 w 2320"/>
              <a:gd name="T3" fmla="*/ 0 h 792"/>
              <a:gd name="T4" fmla="*/ 0 w 2320"/>
              <a:gd name="T5" fmla="*/ 0 h 792"/>
              <a:gd name="T6" fmla="*/ 0 w 2320"/>
              <a:gd name="T7" fmla="*/ 792 h 792"/>
              <a:gd name="T8" fmla="*/ 2320 w 2320"/>
              <a:gd name="T9" fmla="*/ 792 h 792"/>
              <a:gd name="T10" fmla="*/ 2320 w 2320"/>
              <a:gd name="T11" fmla="*/ 696 h 792"/>
              <a:gd name="T12" fmla="*/ 88 w 2320"/>
              <a:gd name="T13" fmla="*/ 696 h 792"/>
            </a:gdLst>
            <a:ahLst/>
            <a:cxnLst>
              <a:cxn ang="0">
                <a:pos x="T0" y="T1"/>
              </a:cxn>
              <a:cxn ang="0">
                <a:pos x="T2" y="T3"/>
              </a:cxn>
              <a:cxn ang="0">
                <a:pos x="T4" y="T5"/>
              </a:cxn>
              <a:cxn ang="0">
                <a:pos x="T6" y="T7"/>
              </a:cxn>
              <a:cxn ang="0">
                <a:pos x="T8" y="T9"/>
              </a:cxn>
              <a:cxn ang="0">
                <a:pos x="T10" y="T11"/>
              </a:cxn>
              <a:cxn ang="0">
                <a:pos x="T12" y="T13"/>
              </a:cxn>
            </a:cxnLst>
            <a:rect l="0" t="0" r="r" b="b"/>
            <a:pathLst>
              <a:path w="2320" h="792">
                <a:moveTo>
                  <a:pt x="88" y="696"/>
                </a:moveTo>
                <a:lnTo>
                  <a:pt x="88" y="0"/>
                </a:lnTo>
                <a:lnTo>
                  <a:pt x="0" y="0"/>
                </a:lnTo>
                <a:lnTo>
                  <a:pt x="0" y="792"/>
                </a:lnTo>
                <a:lnTo>
                  <a:pt x="2320" y="792"/>
                </a:lnTo>
                <a:lnTo>
                  <a:pt x="2320" y="696"/>
                </a:lnTo>
                <a:lnTo>
                  <a:pt x="88" y="696"/>
                </a:lnTo>
                <a:close/>
              </a:path>
            </a:pathLst>
          </a:custGeom>
          <a:solidFill>
            <a:srgbClr val="FFFFFF">
              <a:lumMod val="75000"/>
            </a:srgbClr>
          </a:solidFill>
          <a:ln>
            <a:noFill/>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latin typeface="Arial" pitchFamily="34" charset="0"/>
            </a:endParaRPr>
          </a:p>
        </p:txBody>
      </p:sp>
      <p:sp>
        <p:nvSpPr>
          <p:cNvPr id="8" name="Freeform 7"/>
          <p:cNvSpPr>
            <a:spLocks/>
          </p:cNvSpPr>
          <p:nvPr/>
        </p:nvSpPr>
        <p:spPr bwMode="gray">
          <a:xfrm rot="10800000">
            <a:off x="6068404" y="4419600"/>
            <a:ext cx="1924050" cy="769620"/>
          </a:xfrm>
          <a:custGeom>
            <a:avLst/>
            <a:gdLst>
              <a:gd name="T0" fmla="*/ 88 w 2320"/>
              <a:gd name="T1" fmla="*/ 696 h 792"/>
              <a:gd name="T2" fmla="*/ 88 w 2320"/>
              <a:gd name="T3" fmla="*/ 0 h 792"/>
              <a:gd name="T4" fmla="*/ 0 w 2320"/>
              <a:gd name="T5" fmla="*/ 0 h 792"/>
              <a:gd name="T6" fmla="*/ 0 w 2320"/>
              <a:gd name="T7" fmla="*/ 792 h 792"/>
              <a:gd name="T8" fmla="*/ 2320 w 2320"/>
              <a:gd name="T9" fmla="*/ 792 h 792"/>
              <a:gd name="T10" fmla="*/ 2320 w 2320"/>
              <a:gd name="T11" fmla="*/ 696 h 792"/>
              <a:gd name="T12" fmla="*/ 88 w 2320"/>
              <a:gd name="T13" fmla="*/ 696 h 792"/>
            </a:gdLst>
            <a:ahLst/>
            <a:cxnLst>
              <a:cxn ang="0">
                <a:pos x="T0" y="T1"/>
              </a:cxn>
              <a:cxn ang="0">
                <a:pos x="T2" y="T3"/>
              </a:cxn>
              <a:cxn ang="0">
                <a:pos x="T4" y="T5"/>
              </a:cxn>
              <a:cxn ang="0">
                <a:pos x="T6" y="T7"/>
              </a:cxn>
              <a:cxn ang="0">
                <a:pos x="T8" y="T9"/>
              </a:cxn>
              <a:cxn ang="0">
                <a:pos x="T10" y="T11"/>
              </a:cxn>
              <a:cxn ang="0">
                <a:pos x="T12" y="T13"/>
              </a:cxn>
            </a:cxnLst>
            <a:rect l="0" t="0" r="r" b="b"/>
            <a:pathLst>
              <a:path w="2320" h="792">
                <a:moveTo>
                  <a:pt x="88" y="696"/>
                </a:moveTo>
                <a:lnTo>
                  <a:pt x="88" y="0"/>
                </a:lnTo>
                <a:lnTo>
                  <a:pt x="0" y="0"/>
                </a:lnTo>
                <a:lnTo>
                  <a:pt x="0" y="792"/>
                </a:lnTo>
                <a:lnTo>
                  <a:pt x="2320" y="792"/>
                </a:lnTo>
                <a:lnTo>
                  <a:pt x="2320" y="696"/>
                </a:lnTo>
                <a:lnTo>
                  <a:pt x="88" y="696"/>
                </a:lnTo>
                <a:close/>
              </a:path>
            </a:pathLst>
          </a:custGeom>
          <a:solidFill>
            <a:srgbClr val="000000">
              <a:lumMod val="50000"/>
              <a:lumOff val="50000"/>
            </a:srgbClr>
          </a:solidFill>
          <a:ln>
            <a:noFill/>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latin typeface="Arial" pitchFamily="34" charset="0"/>
            </a:endParaRPr>
          </a:p>
        </p:txBody>
      </p:sp>
      <p:sp>
        <p:nvSpPr>
          <p:cNvPr id="9" name="Rectangle 8"/>
          <p:cNvSpPr>
            <a:spLocks noChangeArrowheads="1"/>
          </p:cNvSpPr>
          <p:nvPr/>
        </p:nvSpPr>
        <p:spPr bwMode="gray">
          <a:xfrm>
            <a:off x="1227138" y="4571076"/>
            <a:ext cx="6629400" cy="1219200"/>
          </a:xfrm>
          <a:prstGeom prst="rect">
            <a:avLst/>
          </a:prstGeom>
          <a:solidFill>
            <a:srgbClr val="3D81BF">
              <a:lumMod val="75000"/>
            </a:srgbClr>
          </a:solidFill>
          <a:ln w="28575">
            <a:solidFill>
              <a:srgbClr val="3D81BF"/>
            </a:solidFill>
          </a:ln>
          <a:effectLst>
            <a:outerShdw sy="50000" kx="-2453608" rotWithShape="0">
              <a:srgbClr val="B2B2B2">
                <a:alpha val="50000"/>
              </a:srgbClr>
            </a:outerShdw>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lang="fa-IR" sz="1600" b="1" kern="0" dirty="0">
                <a:solidFill>
                  <a:srgbClr val="FFFFFF"/>
                </a:solidFill>
                <a:latin typeface="Times New Roman" panose="02020603050405020304" pitchFamily="18" charset="0"/>
                <a:cs typeface="B Nazanin" pitchFamily="2" charset="-78"/>
              </a:rPr>
              <a:t>ارائه دهنده: مهدی امیری نسب</a:t>
            </a:r>
            <a:endParaRPr kumimoji="0" lang="fa-IR" sz="16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endParaRPr>
          </a:p>
          <a:p>
            <a:pPr marL="0" marR="0" lvl="0" indent="0" algn="ctr" defTabSz="914400" rtl="1" eaLnBrk="1" fontAlgn="base" latinLnBrk="0" hangingPunct="1">
              <a:lnSpc>
                <a:spcPct val="100000"/>
              </a:lnSpc>
              <a:spcBef>
                <a:spcPct val="0"/>
              </a:spcBef>
              <a:spcAft>
                <a:spcPct val="0"/>
              </a:spcAft>
              <a:buClrTx/>
              <a:buSzTx/>
              <a:buFontTx/>
              <a:buNone/>
              <a:tabLst/>
              <a:defRPr/>
            </a:pPr>
            <a:endParaRPr kumimoji="0" lang="fa-IR" sz="1100" b="1"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a:p>
            <a:pPr marL="0" marR="0" lvl="0" indent="0" algn="ctr" defTabSz="914400" rtl="1" eaLnBrk="1" fontAlgn="base" latinLnBrk="0" hangingPunct="1">
              <a:lnSpc>
                <a:spcPct val="100000"/>
              </a:lnSpc>
              <a:spcBef>
                <a:spcPct val="0"/>
              </a:spcBef>
              <a:spcAft>
                <a:spcPct val="0"/>
              </a:spcAft>
              <a:buClrTx/>
              <a:buSzTx/>
              <a:buFontTx/>
              <a:buNone/>
              <a:tabLst/>
              <a:defRPr/>
            </a:pPr>
            <a:r>
              <a:rPr kumimoji="0" lang="fa-IR" sz="16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rPr>
              <a:t>استاد راهنما: دکتر سید حسین</a:t>
            </a:r>
            <a:r>
              <a:rPr kumimoji="0" lang="fa-IR" sz="1600" b="1" i="0" u="none" strike="noStrike" kern="0" cap="none" spc="0" normalizeH="0" noProof="0" dirty="0">
                <a:ln>
                  <a:noFill/>
                </a:ln>
                <a:solidFill>
                  <a:srgbClr val="FFFFFF"/>
                </a:solidFill>
                <a:effectLst/>
                <a:uLnTx/>
                <a:uFillTx/>
                <a:latin typeface="Times New Roman" panose="02020603050405020304" pitchFamily="18" charset="0"/>
                <a:cs typeface="B Nazanin" pitchFamily="2" charset="-78"/>
              </a:rPr>
              <a:t> پیشگر</a:t>
            </a:r>
            <a:endParaRPr kumimoji="0" lang="en-US" sz="16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endParaRPr>
          </a:p>
          <a:p>
            <a:pPr marL="0" marR="0" lvl="0" indent="0" algn="ctr" defTabSz="914400" rtl="1" eaLnBrk="1" fontAlgn="base" latinLnBrk="0" hangingPunct="1">
              <a:lnSpc>
                <a:spcPct val="100000"/>
              </a:lnSpc>
              <a:spcBef>
                <a:spcPct val="0"/>
              </a:spcBef>
              <a:spcAft>
                <a:spcPct val="0"/>
              </a:spcAft>
              <a:buClrTx/>
              <a:buSzTx/>
              <a:buFontTx/>
              <a:buNone/>
              <a:tabLst/>
              <a:defRPr/>
            </a:pPr>
            <a:endParaRPr kumimoji="0" lang="fa-IR" sz="1100" b="1"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a:p>
            <a:pPr marL="0" marR="0" lvl="0" indent="0" algn="ctr" defTabSz="914400" rtl="1" eaLnBrk="1" fontAlgn="base" latinLnBrk="0" hangingPunct="1">
              <a:lnSpc>
                <a:spcPct val="100000"/>
              </a:lnSpc>
              <a:spcBef>
                <a:spcPct val="0"/>
              </a:spcBef>
              <a:spcAft>
                <a:spcPct val="0"/>
              </a:spcAft>
              <a:buClrTx/>
              <a:buSzTx/>
              <a:buFontTx/>
              <a:buNone/>
              <a:tabLst/>
              <a:defRPr/>
            </a:pPr>
            <a:r>
              <a:rPr lang="fa-IR" sz="1200" b="1" kern="0" dirty="0" smtClean="0">
                <a:solidFill>
                  <a:srgbClr val="FFFFFF"/>
                </a:solidFill>
                <a:latin typeface="Times New Roman" panose="02020603050405020304" pitchFamily="18" charset="0"/>
                <a:cs typeface="B Nazanin" pitchFamily="2" charset="-78"/>
              </a:rPr>
              <a:t>تابستان </a:t>
            </a:r>
            <a:r>
              <a:rPr kumimoji="0" lang="fa-IR" sz="1200" b="1" i="0" u="none" strike="noStrike" kern="0" cap="none" spc="0" normalizeH="0" noProof="0" dirty="0" smtClean="0">
                <a:ln>
                  <a:noFill/>
                </a:ln>
                <a:solidFill>
                  <a:srgbClr val="FFFFFF"/>
                </a:solidFill>
                <a:effectLst/>
                <a:uLnTx/>
                <a:uFillTx/>
                <a:latin typeface="Times New Roman" panose="02020603050405020304" pitchFamily="18" charset="0"/>
                <a:cs typeface="B Nazanin" pitchFamily="2" charset="-78"/>
              </a:rPr>
              <a:t>1403</a:t>
            </a:r>
            <a:endParaRPr kumimoji="0" lang="en-US" sz="1400" b="0"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endParaRPr>
          </a:p>
        </p:txBody>
      </p:sp>
      <p:pic>
        <p:nvPicPr>
          <p:cNvPr id="12" name="Picture 11" descr="پرونده:Azad University logo.png - ویکی‌پدیا، دانشنامهٔ آزاد">
            <a:extLst>
              <a:ext uri="{FF2B5EF4-FFF2-40B4-BE49-F238E27FC236}">
                <a16:creationId xmlns:a16="http://schemas.microsoft.com/office/drawing/2014/main" xmlns="" id="{8BB820CC-AF9A-4352-B541-87C5A2FF6EC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13" name="Slide Number Placeholder 3">
            <a:extLst>
              <a:ext uri="{FF2B5EF4-FFF2-40B4-BE49-F238E27FC236}">
                <a16:creationId xmlns:a16="http://schemas.microsoft.com/office/drawing/2014/main" xmlns="" id="{FEFB061F-8AAB-4535-B272-1BA4D5A77191}"/>
              </a:ext>
            </a:extLst>
          </p:cNvPr>
          <p:cNvSpPr>
            <a:spLocks noGrp="1"/>
          </p:cNvSpPr>
          <p:nvPr>
            <p:ph type="sldNum" sz="quarter" idx="12"/>
          </p:nvPr>
        </p:nvSpPr>
        <p:spPr>
          <a:xfrm>
            <a:off x="8965" y="6090313"/>
            <a:ext cx="676835" cy="767687"/>
          </a:xfrm>
        </p:spPr>
        <p:txBody>
          <a:bodyPr/>
          <a:lstStyle/>
          <a:p>
            <a:pPr rtl="1"/>
            <a:fld id="{E8ADF199-8047-440E-B02B-E80683B392F2}" type="slidenum">
              <a:rPr lang="fa-IR" sz="1800" smtClean="0">
                <a:solidFill>
                  <a:schemeClr val="tx1"/>
                </a:solidFill>
                <a:cs typeface="B Lotus" panose="00000400000000000000" pitchFamily="2" charset="-78"/>
              </a:rPr>
              <a:t>1</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42308155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پرونده:Azad University logo.png - ویکی‌پدیا، دانشنامهٔ آزاد">
            <a:extLst>
              <a:ext uri="{FF2B5EF4-FFF2-40B4-BE49-F238E27FC236}">
                <a16:creationId xmlns:a16="http://schemas.microsoft.com/office/drawing/2014/main" xmlns="" id="{8BB820CC-AF9A-4352-B541-87C5A2FF6EC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13"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533" y="17033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4"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8181" y="21391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5" name="Rounded Rectangle 175">
            <a:extLst>
              <a:ext uri="{FF2B5EF4-FFF2-40B4-BE49-F238E27FC236}">
                <a16:creationId xmlns:a16="http://schemas.microsoft.com/office/drawing/2014/main" xmlns="" id="{51A82317-0D93-4108-A801-C3395CCA75DF}"/>
              </a:ext>
            </a:extLst>
          </p:cNvPr>
          <p:cNvSpPr/>
          <p:nvPr/>
        </p:nvSpPr>
        <p:spPr bwMode="auto">
          <a:xfrm>
            <a:off x="6477000" y="914400"/>
            <a:ext cx="1905000" cy="533400"/>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a-IR" sz="22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rPr>
              <a:t>فهرست</a:t>
            </a:r>
            <a:endParaRPr kumimoji="0" lang="en-US" sz="22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endParaRPr>
          </a:p>
        </p:txBody>
      </p:sp>
      <p:sp>
        <p:nvSpPr>
          <p:cNvPr id="16" name="AutoShape 5">
            <a:extLst>
              <a:ext uri="{FF2B5EF4-FFF2-40B4-BE49-F238E27FC236}">
                <a16:creationId xmlns:a16="http://schemas.microsoft.com/office/drawing/2014/main" xmlns="" id="{A1924C9B-0919-470E-9298-E5DFCF302DF3}"/>
              </a:ext>
            </a:extLst>
          </p:cNvPr>
          <p:cNvSpPr>
            <a:spLocks noChangeAspect="1" noChangeArrowheads="1"/>
          </p:cNvSpPr>
          <p:nvPr/>
        </p:nvSpPr>
        <p:spPr bwMode="gray">
          <a:xfrm>
            <a:off x="3397853" y="5484630"/>
            <a:ext cx="3920947" cy="508000"/>
          </a:xfrm>
          <a:prstGeom prst="roundRect">
            <a:avLst>
              <a:gd name="adj" fmla="val 50000"/>
            </a:avLst>
          </a:prstGeom>
          <a:gradFill flip="none" rotWithShape="1">
            <a:gsLst>
              <a:gs pos="0">
                <a:srgbClr val="C4E59F">
                  <a:tint val="66000"/>
                  <a:satMod val="160000"/>
                </a:srgbClr>
              </a:gs>
              <a:gs pos="50000">
                <a:srgbClr val="C4E59F">
                  <a:tint val="44500"/>
                  <a:satMod val="160000"/>
                </a:srgbClr>
              </a:gs>
              <a:gs pos="100000">
                <a:srgbClr val="C4E59F">
                  <a:tint val="23500"/>
                  <a:satMod val="160000"/>
                </a:srgbClr>
              </a:gs>
            </a:gsLst>
            <a:lin ang="0" scaled="1"/>
            <a:tileRect/>
          </a:gradFill>
          <a:ln w="28575" algn="ctr">
            <a:solidFill>
              <a:srgbClr val="C4E59F"/>
            </a:solidFill>
            <a:round/>
            <a:headEnd/>
            <a:tailEnd/>
          </a:ln>
          <a:effectLst/>
        </p:spPr>
        <p:txBody>
          <a:bodyPr wrap="none" anchor="ctr"/>
          <a:lstStyle/>
          <a:p>
            <a:pPr algn="r" fontAlgn="base">
              <a:spcBef>
                <a:spcPct val="0"/>
              </a:spcBef>
              <a:spcAft>
                <a:spcPct val="0"/>
              </a:spcAft>
            </a:pPr>
            <a:r>
              <a:rPr lang="fa-IR" b="1" dirty="0" smtClean="0">
                <a:solidFill>
                  <a:srgbClr val="000000"/>
                </a:solidFill>
                <a:latin typeface="Times New Roman" panose="02020603050405020304" pitchFamily="18" charset="0"/>
                <a:cs typeface="B Nazanin" pitchFamily="2" charset="-78"/>
              </a:rPr>
              <a:t> پیاده سازی و ارزیابی همسان ساز پیشنهادی</a:t>
            </a:r>
            <a:endParaRPr lang="en-US" b="1" dirty="0">
              <a:solidFill>
                <a:srgbClr val="000000"/>
              </a:solidFill>
              <a:latin typeface="Times New Roman" panose="02020603050405020304" pitchFamily="18" charset="0"/>
              <a:cs typeface="Times New Roman" panose="02020603050405020304" pitchFamily="18" charset="0"/>
            </a:endParaRPr>
          </a:p>
        </p:txBody>
      </p:sp>
      <p:sp>
        <p:nvSpPr>
          <p:cNvPr id="17" name="AutoShape 6">
            <a:extLst>
              <a:ext uri="{FF2B5EF4-FFF2-40B4-BE49-F238E27FC236}">
                <a16:creationId xmlns:a16="http://schemas.microsoft.com/office/drawing/2014/main" xmlns="" id="{1F8AE669-1568-4178-BF56-57E58EA0C127}"/>
              </a:ext>
            </a:extLst>
          </p:cNvPr>
          <p:cNvSpPr>
            <a:spLocks noChangeAspect="1" noChangeArrowheads="1"/>
          </p:cNvSpPr>
          <p:nvPr/>
        </p:nvSpPr>
        <p:spPr bwMode="gray">
          <a:xfrm>
            <a:off x="2373921" y="4483708"/>
            <a:ext cx="4461912"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همسان</a:t>
            </a:r>
            <a:r>
              <a:rPr lang="en-US" b="1" dirty="0">
                <a:solidFill>
                  <a:srgbClr val="000000"/>
                </a:solidFill>
                <a:latin typeface="Times New Roman" panose="02020603050405020304" pitchFamily="18" charset="0"/>
                <a:cs typeface="B Nazanin" pitchFamily="2" charset="-78"/>
              </a:rPr>
              <a:t> </a:t>
            </a:r>
            <a:r>
              <a:rPr lang="fa-IR" b="1" dirty="0">
                <a:solidFill>
                  <a:srgbClr val="000000"/>
                </a:solidFill>
                <a:latin typeface="Times New Roman" panose="02020603050405020304" pitchFamily="18" charset="0"/>
                <a:cs typeface="B Nazanin" pitchFamily="2" charset="-78"/>
              </a:rPr>
              <a:t>ساز پیشنهادی</a:t>
            </a:r>
            <a:endParaRPr lang="en-US" b="1" dirty="0">
              <a:solidFill>
                <a:srgbClr val="000000"/>
              </a:solidFill>
              <a:latin typeface="Times New Roman" panose="02020603050405020304" pitchFamily="18" charset="0"/>
              <a:cs typeface="B Nazanin" pitchFamily="2" charset="-78"/>
            </a:endParaRPr>
          </a:p>
        </p:txBody>
      </p:sp>
      <p:sp>
        <p:nvSpPr>
          <p:cNvPr id="18" name="AutoShape 7">
            <a:extLst>
              <a:ext uri="{FF2B5EF4-FFF2-40B4-BE49-F238E27FC236}">
                <a16:creationId xmlns:a16="http://schemas.microsoft.com/office/drawing/2014/main" xmlns="" id="{3C597848-6C50-46C7-91D1-A520128CFE55}"/>
              </a:ext>
            </a:extLst>
          </p:cNvPr>
          <p:cNvSpPr>
            <a:spLocks noChangeAspect="1" noChangeArrowheads="1"/>
          </p:cNvSpPr>
          <p:nvPr/>
        </p:nvSpPr>
        <p:spPr bwMode="gray">
          <a:xfrm>
            <a:off x="2373920" y="3405732"/>
            <a:ext cx="4419600" cy="508000"/>
          </a:xfrm>
          <a:prstGeom prst="roundRect">
            <a:avLst>
              <a:gd name="adj" fmla="val 50000"/>
            </a:avLst>
          </a:prstGeom>
          <a:gradFill flip="none" rotWithShape="1">
            <a:gsLst>
              <a:gs pos="0">
                <a:srgbClr val="C4E59F">
                  <a:tint val="66000"/>
                  <a:satMod val="160000"/>
                </a:srgbClr>
              </a:gs>
              <a:gs pos="50000">
                <a:srgbClr val="C4E59F">
                  <a:tint val="44500"/>
                  <a:satMod val="160000"/>
                </a:srgbClr>
              </a:gs>
              <a:gs pos="100000">
                <a:srgbClr val="C4E59F">
                  <a:tint val="23500"/>
                  <a:satMod val="160000"/>
                </a:srgbClr>
              </a:gs>
            </a:gsLst>
            <a:lin ang="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همسان</a:t>
            </a:r>
            <a:r>
              <a:rPr lang="en-US" b="1" dirty="0">
                <a:solidFill>
                  <a:srgbClr val="000000"/>
                </a:solidFill>
                <a:latin typeface="Times New Roman" panose="02020603050405020304" pitchFamily="18" charset="0"/>
                <a:cs typeface="B Nazanin" pitchFamily="2" charset="-78"/>
              </a:rPr>
              <a:t> </a:t>
            </a:r>
            <a:r>
              <a:rPr lang="fa-IR" b="1" dirty="0">
                <a:solidFill>
                  <a:srgbClr val="000000"/>
                </a:solidFill>
                <a:latin typeface="Times New Roman" panose="02020603050405020304" pitchFamily="18" charset="0"/>
                <a:cs typeface="B Nazanin" pitchFamily="2" charset="-78"/>
              </a:rPr>
              <a:t>سازی باتری</a:t>
            </a:r>
            <a:endParaRPr lang="en-US" b="1" dirty="0">
              <a:solidFill>
                <a:srgbClr val="000000"/>
              </a:solidFill>
              <a:latin typeface="Times New Roman" panose="02020603050405020304" pitchFamily="18" charset="0"/>
              <a:cs typeface="B Nazanin" pitchFamily="2" charset="-78"/>
            </a:endParaRPr>
          </a:p>
        </p:txBody>
      </p:sp>
      <p:sp>
        <p:nvSpPr>
          <p:cNvPr id="19"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3397854" y="2317319"/>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باتری ها</a:t>
            </a:r>
            <a:endParaRPr lang="en-US" b="1" dirty="0">
              <a:solidFill>
                <a:srgbClr val="000000"/>
              </a:solidFill>
              <a:latin typeface="Times New Roman" panose="02020603050405020304" pitchFamily="18" charset="0"/>
              <a:cs typeface="B Nazanin" pitchFamily="2" charset="-78"/>
            </a:endParaRPr>
          </a:p>
        </p:txBody>
      </p:sp>
      <p:grpSp>
        <p:nvGrpSpPr>
          <p:cNvPr id="20" name="Group 9">
            <a:extLst>
              <a:ext uri="{FF2B5EF4-FFF2-40B4-BE49-F238E27FC236}">
                <a16:creationId xmlns:a16="http://schemas.microsoft.com/office/drawing/2014/main" xmlns="" id="{51B5EA01-02D3-45B4-9350-81B3B8CE0AC3}"/>
              </a:ext>
            </a:extLst>
          </p:cNvPr>
          <p:cNvGrpSpPr>
            <a:grpSpLocks noChangeAspect="1"/>
          </p:cNvGrpSpPr>
          <p:nvPr/>
        </p:nvGrpSpPr>
        <p:grpSpPr bwMode="auto">
          <a:xfrm>
            <a:off x="7206270" y="2381173"/>
            <a:ext cx="381000" cy="381000"/>
            <a:chOff x="2078" y="1680"/>
            <a:chExt cx="1615" cy="1615"/>
          </a:xfrm>
        </p:grpSpPr>
        <p:sp>
          <p:nvSpPr>
            <p:cNvPr id="21" name="Oval 10">
              <a:extLst>
                <a:ext uri="{FF2B5EF4-FFF2-40B4-BE49-F238E27FC236}">
                  <a16:creationId xmlns:a16="http://schemas.microsoft.com/office/drawing/2014/main" xmlns="" id="{951593A2-3CCA-4150-9C26-8F0E2FB50DBC}"/>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2" name="Oval 11">
              <a:extLst>
                <a:ext uri="{FF2B5EF4-FFF2-40B4-BE49-F238E27FC236}">
                  <a16:creationId xmlns:a16="http://schemas.microsoft.com/office/drawing/2014/main" xmlns="" id="{974192FD-32BD-4151-BC3E-0B42B578C87B}"/>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3" name="Oval 12">
              <a:extLst>
                <a:ext uri="{FF2B5EF4-FFF2-40B4-BE49-F238E27FC236}">
                  <a16:creationId xmlns:a16="http://schemas.microsoft.com/office/drawing/2014/main" xmlns="" id="{BDD4DA04-B88B-4B07-BF6E-B1C272F0F4CC}"/>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4" name="Oval 13">
              <a:extLst>
                <a:ext uri="{FF2B5EF4-FFF2-40B4-BE49-F238E27FC236}">
                  <a16:creationId xmlns:a16="http://schemas.microsoft.com/office/drawing/2014/main" xmlns="" id="{7DDEB6C7-DF12-4B56-A15E-5719879C0767}"/>
                </a:ext>
              </a:extLst>
            </p:cNvPr>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5" name="Oval 14">
              <a:extLst>
                <a:ext uri="{FF2B5EF4-FFF2-40B4-BE49-F238E27FC236}">
                  <a16:creationId xmlns:a16="http://schemas.microsoft.com/office/drawing/2014/main" xmlns="" id="{05CB5150-2AB3-496D-9A01-7BD9677B178F}"/>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6" name="Oval 15">
              <a:extLst>
                <a:ext uri="{FF2B5EF4-FFF2-40B4-BE49-F238E27FC236}">
                  <a16:creationId xmlns:a16="http://schemas.microsoft.com/office/drawing/2014/main" xmlns="" id="{CF5DA36E-72FD-4186-95B0-3E592580924C}"/>
                </a:ext>
              </a:extLst>
            </p:cNvPr>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27" name="Group 16">
            <a:extLst>
              <a:ext uri="{FF2B5EF4-FFF2-40B4-BE49-F238E27FC236}">
                <a16:creationId xmlns:a16="http://schemas.microsoft.com/office/drawing/2014/main" xmlns="" id="{804576A5-4B7C-42A1-81B7-81F80837382F}"/>
              </a:ext>
            </a:extLst>
          </p:cNvPr>
          <p:cNvGrpSpPr>
            <a:grpSpLocks noChangeAspect="1"/>
          </p:cNvGrpSpPr>
          <p:nvPr/>
        </p:nvGrpSpPr>
        <p:grpSpPr bwMode="auto">
          <a:xfrm>
            <a:off x="6682346" y="3445241"/>
            <a:ext cx="381000" cy="381000"/>
            <a:chOff x="2078" y="1680"/>
            <a:chExt cx="1615" cy="1615"/>
          </a:xfrm>
        </p:grpSpPr>
        <p:sp>
          <p:nvSpPr>
            <p:cNvPr id="29" name="Oval 17">
              <a:extLst>
                <a:ext uri="{FF2B5EF4-FFF2-40B4-BE49-F238E27FC236}">
                  <a16:creationId xmlns:a16="http://schemas.microsoft.com/office/drawing/2014/main" xmlns="" id="{6398C46E-DA7F-490D-9472-87BE268989F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2" name="Oval 18">
              <a:extLst>
                <a:ext uri="{FF2B5EF4-FFF2-40B4-BE49-F238E27FC236}">
                  <a16:creationId xmlns:a16="http://schemas.microsoft.com/office/drawing/2014/main" xmlns="" id="{E110742C-193F-493E-9A71-A02F844D2828}"/>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3" name="Oval 19">
              <a:extLst>
                <a:ext uri="{FF2B5EF4-FFF2-40B4-BE49-F238E27FC236}">
                  <a16:creationId xmlns:a16="http://schemas.microsoft.com/office/drawing/2014/main" xmlns="" id="{36CD726D-CF07-41C5-B7A4-710136BAB1FC}"/>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4" name="Oval 20">
              <a:extLst>
                <a:ext uri="{FF2B5EF4-FFF2-40B4-BE49-F238E27FC236}">
                  <a16:creationId xmlns:a16="http://schemas.microsoft.com/office/drawing/2014/main" xmlns="" id="{9D8BE50C-A6BB-4D5D-B7FF-3AEBD6CD7D2E}"/>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5" name="Oval 21">
              <a:extLst>
                <a:ext uri="{FF2B5EF4-FFF2-40B4-BE49-F238E27FC236}">
                  <a16:creationId xmlns:a16="http://schemas.microsoft.com/office/drawing/2014/main" xmlns="" id="{96AB8031-737F-41E7-9E4B-34DC61B7FA4B}"/>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6" name="Oval 22">
              <a:extLst>
                <a:ext uri="{FF2B5EF4-FFF2-40B4-BE49-F238E27FC236}">
                  <a16:creationId xmlns:a16="http://schemas.microsoft.com/office/drawing/2014/main" xmlns="" id="{8500B833-9307-4836-B55A-C402EA8CFDAC}"/>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37"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6689262" y="4509223"/>
            <a:ext cx="381000" cy="381000"/>
            <a:chOff x="2078" y="1680"/>
            <a:chExt cx="1615" cy="1615"/>
          </a:xfrm>
        </p:grpSpPr>
        <p:sp>
          <p:nvSpPr>
            <p:cNvPr id="38"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9"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44" name="Group 30">
            <a:extLst>
              <a:ext uri="{FF2B5EF4-FFF2-40B4-BE49-F238E27FC236}">
                <a16:creationId xmlns:a16="http://schemas.microsoft.com/office/drawing/2014/main" xmlns="" id="{D8A0650F-6DD3-4C51-ACCA-8D5BB33B1046}"/>
              </a:ext>
            </a:extLst>
          </p:cNvPr>
          <p:cNvGrpSpPr>
            <a:grpSpLocks noChangeAspect="1"/>
          </p:cNvGrpSpPr>
          <p:nvPr/>
        </p:nvGrpSpPr>
        <p:grpSpPr bwMode="auto">
          <a:xfrm>
            <a:off x="7206152" y="5557868"/>
            <a:ext cx="381000" cy="381000"/>
            <a:chOff x="2078" y="1680"/>
            <a:chExt cx="1615" cy="1615"/>
          </a:xfrm>
        </p:grpSpPr>
        <p:sp>
          <p:nvSpPr>
            <p:cNvPr id="45" name="Oval 31">
              <a:extLst>
                <a:ext uri="{FF2B5EF4-FFF2-40B4-BE49-F238E27FC236}">
                  <a16:creationId xmlns:a16="http://schemas.microsoft.com/office/drawing/2014/main" xmlns="" id="{25288F4D-41F2-42AF-B1C2-9A7B3EF5B7D3}"/>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6" name="Oval 32">
              <a:extLst>
                <a:ext uri="{FF2B5EF4-FFF2-40B4-BE49-F238E27FC236}">
                  <a16:creationId xmlns:a16="http://schemas.microsoft.com/office/drawing/2014/main" xmlns="" id="{CF97BF37-BB79-4B18-9D98-AF071CF14C1A}"/>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7" name="Oval 33">
              <a:extLst>
                <a:ext uri="{FF2B5EF4-FFF2-40B4-BE49-F238E27FC236}">
                  <a16:creationId xmlns:a16="http://schemas.microsoft.com/office/drawing/2014/main" xmlns="" id="{7279C661-406B-43C8-92AE-751AD25DED0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8" name="Oval 34">
              <a:extLst>
                <a:ext uri="{FF2B5EF4-FFF2-40B4-BE49-F238E27FC236}">
                  <a16:creationId xmlns:a16="http://schemas.microsoft.com/office/drawing/2014/main" xmlns="" id="{E99053BE-A9C7-411F-ADC0-7B78C2D5F070}"/>
                </a:ext>
              </a:extLst>
            </p:cNvPr>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9" name="Oval 35">
              <a:extLst>
                <a:ext uri="{FF2B5EF4-FFF2-40B4-BE49-F238E27FC236}">
                  <a16:creationId xmlns:a16="http://schemas.microsoft.com/office/drawing/2014/main" xmlns="" id="{A01C5860-00E7-4C78-9CF1-950C8C0864A1}"/>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0" name="Oval 36">
              <a:extLst>
                <a:ext uri="{FF2B5EF4-FFF2-40B4-BE49-F238E27FC236}">
                  <a16:creationId xmlns:a16="http://schemas.microsoft.com/office/drawing/2014/main" xmlns="" id="{474AA11F-5B14-4FC0-974D-5499A704DD68}"/>
                </a:ext>
              </a:extLst>
            </p:cNvPr>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1" name="TextBox 50">
            <a:extLst>
              <a:ext uri="{FF2B5EF4-FFF2-40B4-BE49-F238E27FC236}">
                <a16:creationId xmlns:a16="http://schemas.microsoft.com/office/drawing/2014/main" xmlns="" id="{0D7C9433-5674-4BC9-A282-6D982E5B3065}"/>
              </a:ext>
            </a:extLst>
          </p:cNvPr>
          <p:cNvSpPr txBox="1"/>
          <p:nvPr/>
        </p:nvSpPr>
        <p:spPr>
          <a:xfrm>
            <a:off x="4119282" y="2971800"/>
            <a:ext cx="65" cy="276999"/>
          </a:xfrm>
          <a:prstGeom prst="rect">
            <a:avLst/>
          </a:prstGeom>
          <a:noFill/>
        </p:spPr>
        <p:txBody>
          <a:bodyPr wrap="none" lIns="0" tIns="0" rIns="0" bIns="0" rtlCol="0">
            <a:spAutoFit/>
          </a:bodyPr>
          <a:lstStyle/>
          <a:p>
            <a:endParaRPr lang="en-US" dirty="0"/>
          </a:p>
        </p:txBody>
      </p:sp>
      <p:sp>
        <p:nvSpPr>
          <p:cNvPr id="56" name="Slide Number Placeholder 3">
            <a:extLst>
              <a:ext uri="{FF2B5EF4-FFF2-40B4-BE49-F238E27FC236}">
                <a16:creationId xmlns:a16="http://schemas.microsoft.com/office/drawing/2014/main" xmlns="" id="{FEFB061F-8AAB-4535-B272-1BA4D5A77191}"/>
              </a:ext>
            </a:extLst>
          </p:cNvPr>
          <p:cNvSpPr>
            <a:spLocks noGrp="1"/>
          </p:cNvSpPr>
          <p:nvPr>
            <p:ph type="sldNum" sz="quarter" idx="12"/>
          </p:nvPr>
        </p:nvSpPr>
        <p:spPr>
          <a:xfrm>
            <a:off x="8965" y="6090313"/>
            <a:ext cx="676835" cy="767687"/>
          </a:xfrm>
        </p:spPr>
        <p:txBody>
          <a:bodyPr/>
          <a:lstStyle/>
          <a:p>
            <a:pPr rtl="1"/>
            <a:fld id="{E8ADF199-8047-440E-B02B-E80683B392F2}" type="slidenum">
              <a:rPr lang="fa-IR" sz="1800" smtClean="0">
                <a:solidFill>
                  <a:schemeClr val="tx1"/>
                </a:solidFill>
                <a:cs typeface="B Lotus" panose="00000400000000000000" pitchFamily="2" charset="-78"/>
              </a:rPr>
              <a:t>2</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6033294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12" descr="5 Things That Affect Your Charging Speed | EVgo"/>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AutoShape 10">
            <a:extLst>
              <a:ext uri="{FF2B5EF4-FFF2-40B4-BE49-F238E27FC236}">
                <a16:creationId xmlns:a16="http://schemas.microsoft.com/office/drawing/2014/main" xmlns="" id="{11A20114-C948-4DAF-A269-D7BF1A2ECCA0}"/>
              </a:ext>
            </a:extLst>
          </p:cNvPr>
          <p:cNvSpPr>
            <a:spLocks noChangeArrowheads="1"/>
          </p:cNvSpPr>
          <p:nvPr/>
        </p:nvSpPr>
        <p:spPr bwMode="gray">
          <a:xfrm flipH="1">
            <a:off x="6244699" y="57140"/>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4" name="AutoShape 3">
            <a:extLst>
              <a:ext uri="{FF2B5EF4-FFF2-40B4-BE49-F238E27FC236}">
                <a16:creationId xmlns:a16="http://schemas.microsoft.com/office/drawing/2014/main" xmlns="" id="{0B1385E1-F22C-4E22-B9F0-ABF9FDBFB523}"/>
              </a:ext>
            </a:extLst>
          </p:cNvPr>
          <p:cNvSpPr>
            <a:spLocks noChangeArrowheads="1"/>
          </p:cNvSpPr>
          <p:nvPr/>
        </p:nvSpPr>
        <p:spPr bwMode="gray">
          <a:xfrm flipH="1">
            <a:off x="4188613" y="57140"/>
            <a:ext cx="2056086"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5" name="AutoShape 3">
            <a:extLst>
              <a:ext uri="{FF2B5EF4-FFF2-40B4-BE49-F238E27FC236}">
                <a16:creationId xmlns:a16="http://schemas.microsoft.com/office/drawing/2014/main" xmlns="" id="{1CD00EE2-C4EE-4D69-8F26-AAC81AE4FD2D}"/>
              </a:ext>
            </a:extLst>
          </p:cNvPr>
          <p:cNvSpPr>
            <a:spLocks noChangeArrowheads="1"/>
          </p:cNvSpPr>
          <p:nvPr/>
        </p:nvSpPr>
        <p:spPr bwMode="gray">
          <a:xfrm flipH="1">
            <a:off x="2588411" y="57140"/>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AutoShape 3">
            <a:extLst>
              <a:ext uri="{FF2B5EF4-FFF2-40B4-BE49-F238E27FC236}">
                <a16:creationId xmlns:a16="http://schemas.microsoft.com/office/drawing/2014/main" xmlns="" id="{20876701-2968-48DD-B50F-5C9094C03348}"/>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7" name="Rectangle 36">
            <a:extLst>
              <a:ext uri="{FF2B5EF4-FFF2-40B4-BE49-F238E27FC236}">
                <a16:creationId xmlns:a16="http://schemas.microsoft.com/office/drawing/2014/main" xmlns="" id="{F2243B26-1BE2-43AD-8F71-213A0F7242A7}"/>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8" name="Rectangle 37">
            <a:extLst>
              <a:ext uri="{FF2B5EF4-FFF2-40B4-BE49-F238E27FC236}">
                <a16:creationId xmlns:a16="http://schemas.microsoft.com/office/drawing/2014/main" xmlns="" id="{8499BA6C-A469-45E7-8896-73165F3CE066}"/>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39" name="Rectangle 38">
            <a:extLst>
              <a:ext uri="{FF2B5EF4-FFF2-40B4-BE49-F238E27FC236}">
                <a16:creationId xmlns:a16="http://schemas.microsoft.com/office/drawing/2014/main" xmlns="" id="{88B0CAF5-84F0-44BE-BF0F-DBA7B08A5139}"/>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0" name="Rectangle 39">
            <a:extLst>
              <a:ext uri="{FF2B5EF4-FFF2-40B4-BE49-F238E27FC236}">
                <a16:creationId xmlns:a16="http://schemas.microsoft.com/office/drawing/2014/main" xmlns="" id="{080A61E5-91DA-486A-AFFC-B76A86A698DD}"/>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41" name="Picture 40" descr="پرونده:Azad University logo.png - ویکی‌پدیا، دانشنامهٔ آزاد">
            <a:extLst>
              <a:ext uri="{FF2B5EF4-FFF2-40B4-BE49-F238E27FC236}">
                <a16:creationId xmlns:a16="http://schemas.microsoft.com/office/drawing/2014/main" xmlns="" id="{4BBC7487-44D3-400B-AF80-552EEB9DBB2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2" name="Rounded Rectangle 175">
            <a:extLst>
              <a:ext uri="{FF2B5EF4-FFF2-40B4-BE49-F238E27FC236}">
                <a16:creationId xmlns:a16="http://schemas.microsoft.com/office/drawing/2014/main" xmlns="" id="{B38C8568-40F1-4259-922B-CCD5A8161046}"/>
              </a:ext>
            </a:extLst>
          </p:cNvPr>
          <p:cNvSpPr/>
          <p:nvPr/>
        </p:nvSpPr>
        <p:spPr bwMode="auto">
          <a:xfrm>
            <a:off x="7689952" y="938628"/>
            <a:ext cx="1384096" cy="4240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lang="fa-IR" sz="2200" b="1" kern="0" dirty="0">
                <a:solidFill>
                  <a:srgbClr val="FFFFFF"/>
                </a:solidFill>
                <a:latin typeface="Times New Roman" panose="02020603050405020304" pitchFamily="18" charset="0"/>
                <a:cs typeface="B Nazanin" pitchFamily="2" charset="-78"/>
              </a:rPr>
              <a:t>باتری ها</a:t>
            </a:r>
            <a:endParaRPr kumimoji="0" lang="en-US" sz="22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endParaRPr>
          </a:p>
        </p:txBody>
      </p:sp>
      <p:sp>
        <p:nvSpPr>
          <p:cNvPr id="23"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a:t>
            </a:fld>
            <a:endParaRPr lang="fa-IR" sz="1800" dirty="0">
              <a:solidFill>
                <a:schemeClr val="tx1"/>
              </a:solidFill>
              <a:cs typeface="B Lotus" panose="00000400000000000000" pitchFamily="2" charset="-78"/>
            </a:endParaRPr>
          </a:p>
        </p:txBody>
      </p:sp>
      <p:sp>
        <p:nvSpPr>
          <p:cNvPr id="11" name="TextBox 10"/>
          <p:cNvSpPr txBox="1"/>
          <p:nvPr/>
        </p:nvSpPr>
        <p:spPr>
          <a:xfrm>
            <a:off x="6499957" y="4986891"/>
            <a:ext cx="617477" cy="369332"/>
          </a:xfrm>
          <a:prstGeom prst="rect">
            <a:avLst/>
          </a:prstGeom>
          <a:noFill/>
        </p:spPr>
        <p:txBody>
          <a:bodyPr wrap="none" rtlCol="1">
            <a:spAutoFit/>
          </a:bodyPr>
          <a:lstStyle/>
          <a:p>
            <a:r>
              <a:rPr lang="fa-IR" dirty="0">
                <a:cs typeface="B Lotus" panose="00000400000000000000" pitchFamily="2" charset="-78"/>
              </a:rPr>
              <a:t>(الف)</a:t>
            </a:r>
          </a:p>
        </p:txBody>
      </p:sp>
      <p:sp>
        <p:nvSpPr>
          <p:cNvPr id="44" name="TextBox 43"/>
          <p:cNvSpPr txBox="1"/>
          <p:nvPr/>
        </p:nvSpPr>
        <p:spPr>
          <a:xfrm>
            <a:off x="1683168" y="4986891"/>
            <a:ext cx="503664" cy="369332"/>
          </a:xfrm>
          <a:prstGeom prst="rect">
            <a:avLst/>
          </a:prstGeom>
          <a:noFill/>
        </p:spPr>
        <p:txBody>
          <a:bodyPr wrap="none" rtlCol="1">
            <a:spAutoFit/>
          </a:bodyPr>
          <a:lstStyle/>
          <a:p>
            <a:r>
              <a:rPr lang="fa-IR" dirty="0">
                <a:cs typeface="B Lotus" panose="00000400000000000000" pitchFamily="2" charset="-78"/>
              </a:rPr>
              <a:t>(ب)</a:t>
            </a:r>
          </a:p>
        </p:txBody>
      </p:sp>
      <p:graphicFrame>
        <p:nvGraphicFramePr>
          <p:cNvPr id="45" name="Table 44">
            <a:extLst>
              <a:ext uri="{FF2B5EF4-FFF2-40B4-BE49-F238E27FC236}">
                <a16:creationId xmlns:a16="http://schemas.microsoft.com/office/drawing/2014/main" xmlns="" id="{834D9C4B-67EB-4E28-830F-6F5F8E2ADB87}"/>
              </a:ext>
            </a:extLst>
          </p:cNvPr>
          <p:cNvGraphicFramePr>
            <a:graphicFrameLocks noGrp="1"/>
          </p:cNvGraphicFramePr>
          <p:nvPr>
            <p:extLst>
              <p:ext uri="{D42A27DB-BD31-4B8C-83A1-F6EECF244321}">
                <p14:modId xmlns:p14="http://schemas.microsoft.com/office/powerpoint/2010/main" val="1712867220"/>
              </p:ext>
            </p:extLst>
          </p:nvPr>
        </p:nvGraphicFramePr>
        <p:xfrm>
          <a:off x="1683168" y="5953153"/>
          <a:ext cx="5937250" cy="548640"/>
        </p:xfrm>
        <a:graphic>
          <a:graphicData uri="http://schemas.openxmlformats.org/drawingml/2006/table">
            <a:tbl>
              <a:tblPr rtl="1" firstRow="1" firstCol="1" bandRow="1"/>
              <a:tblGrid>
                <a:gridCol w="5937250">
                  <a:extLst>
                    <a:ext uri="{9D8B030D-6E8A-4147-A177-3AD203B41FA5}">
                      <a16:colId xmlns:a16="http://schemas.microsoft.com/office/drawing/2014/main" xmlns="" val="2809807785"/>
                    </a:ext>
                  </a:extLst>
                </a:gridCol>
              </a:tblGrid>
              <a:tr h="0">
                <a:tc>
                  <a:txBody>
                    <a:bodyPr/>
                    <a:lstStyle/>
                    <a:p>
                      <a:pPr marL="0" marR="0" algn="ctr" rtl="1">
                        <a:spcBef>
                          <a:spcPts val="600"/>
                        </a:spcBef>
                        <a:spcAft>
                          <a:spcPts val="600"/>
                        </a:spcAft>
                      </a:pPr>
                      <a:r>
                        <a:rPr lang="fa-IR" sz="1800" i="0" dirty="0">
                          <a:effectLst/>
                          <a:latin typeface="Times New Roman" panose="02020603050405020304" pitchFamily="18" charset="0"/>
                          <a:ea typeface="Calibri" panose="020F0502020204030204" pitchFamily="34" charset="0"/>
                          <a:cs typeface="B Lotus" panose="00000400000000000000" pitchFamily="2" charset="-78"/>
                        </a:rPr>
                        <a:t>شکل</a:t>
                      </a:r>
                      <a:r>
                        <a:rPr lang="fa-IR" sz="1800" i="0" baseline="0" dirty="0">
                          <a:effectLst/>
                          <a:latin typeface="Times New Roman" panose="02020603050405020304" pitchFamily="18" charset="0"/>
                          <a:ea typeface="Calibri" panose="020F0502020204030204" pitchFamily="34" charset="0"/>
                          <a:cs typeface="B Lotus" panose="00000400000000000000" pitchFamily="2" charset="-78"/>
                        </a:rPr>
                        <a:t> 1 </a:t>
                      </a:r>
                      <a:r>
                        <a:rPr lang="fa-IR" sz="1800" i="0" dirty="0">
                          <a:effectLst/>
                          <a:latin typeface="Times New Roman" panose="02020603050405020304" pitchFamily="18" charset="0"/>
                          <a:ea typeface="Calibri" panose="020F0502020204030204" pitchFamily="34" charset="0"/>
                          <a:cs typeface="B Lotus" panose="00000400000000000000" pitchFamily="2" charset="-78"/>
                        </a:rPr>
                        <a:t>نمونه</a:t>
                      </a:r>
                      <a:r>
                        <a:rPr lang="fa-IR" sz="1800" i="0" baseline="0" dirty="0">
                          <a:effectLst/>
                          <a:latin typeface="Times New Roman" panose="02020603050405020304" pitchFamily="18" charset="0"/>
                          <a:ea typeface="Calibri" panose="020F0502020204030204" pitchFamily="34" charset="0"/>
                          <a:cs typeface="B Lotus" panose="00000400000000000000" pitchFamily="2" charset="-78"/>
                        </a:rPr>
                        <a:t> ای از باتری </a:t>
                      </a:r>
                      <a:r>
                        <a:rPr lang="fa-IR" sz="1800" i="0" baseline="0" dirty="0" smtClean="0">
                          <a:effectLst/>
                          <a:latin typeface="Times New Roman" panose="02020603050405020304" pitchFamily="18" charset="0"/>
                          <a:ea typeface="Calibri" panose="020F0502020204030204" pitchFamily="34" charset="0"/>
                          <a:cs typeface="B Lotus" panose="00000400000000000000" pitchFamily="2" charset="-78"/>
                        </a:rPr>
                        <a:t>با</a:t>
                      </a:r>
                      <a:r>
                        <a:rPr lang="en-US" sz="1800" i="0" baseline="0" dirty="0" smtClean="0">
                          <a:effectLst/>
                          <a:latin typeface="Times New Roman" panose="02020603050405020304" pitchFamily="18" charset="0"/>
                          <a:ea typeface="Calibri" panose="020F0502020204030204" pitchFamily="34" charset="0"/>
                          <a:cs typeface="B Lotus" panose="00000400000000000000" pitchFamily="2" charset="-78"/>
                        </a:rPr>
                        <a:t>SOC</a:t>
                      </a:r>
                      <a:r>
                        <a:rPr lang="fa-IR" sz="1800" i="0" baseline="0" dirty="0" smtClean="0">
                          <a:effectLst/>
                          <a:latin typeface="Times New Roman" panose="02020603050405020304" pitchFamily="18" charset="0"/>
                          <a:ea typeface="Calibri" panose="020F0502020204030204" pitchFamily="34" charset="0"/>
                          <a:cs typeface="B Lotus" panose="00000400000000000000" pitchFamily="2" charset="-78"/>
                        </a:rPr>
                        <a:t> 60</a:t>
                      </a:r>
                      <a:r>
                        <a:rPr lang="fa-IR" sz="1800" i="0" baseline="0" dirty="0">
                          <a:effectLst/>
                          <a:latin typeface="Times New Roman" panose="02020603050405020304" pitchFamily="18" charset="0"/>
                          <a:ea typeface="Calibri" panose="020F0502020204030204" pitchFamily="34" charset="0"/>
                          <a:cs typeface="B Lotus" panose="00000400000000000000" pitchFamily="2" charset="-78"/>
                        </a:rPr>
                        <a:t>% در </a:t>
                      </a:r>
                      <a:r>
                        <a:rPr lang="fa-IR" sz="1800" i="0" baseline="0" dirty="0" smtClean="0">
                          <a:effectLst/>
                          <a:latin typeface="Times New Roman" panose="02020603050405020304" pitchFamily="18" charset="0"/>
                          <a:ea typeface="Calibri" panose="020F0502020204030204" pitchFamily="34" charset="0"/>
                          <a:cs typeface="B Lotus" panose="00000400000000000000" pitchFamily="2" charset="-78"/>
                        </a:rPr>
                        <a:t>(</a:t>
                      </a:r>
                      <a:r>
                        <a:rPr lang="fa-IR" sz="1800" i="0" baseline="0" dirty="0">
                          <a:effectLst/>
                          <a:latin typeface="Times New Roman" panose="02020603050405020304" pitchFamily="18" charset="0"/>
                          <a:ea typeface="Calibri" panose="020F0502020204030204" pitchFamily="34" charset="0"/>
                          <a:cs typeface="B Lotus" panose="00000400000000000000" pitchFamily="2" charset="-78"/>
                        </a:rPr>
                        <a:t>الف) و </a:t>
                      </a:r>
                      <a:r>
                        <a:rPr lang="fa-IR" sz="1800" i="0" baseline="0" dirty="0" smtClean="0">
                          <a:effectLst/>
                          <a:latin typeface="Times New Roman" panose="02020603050405020304" pitchFamily="18" charset="0"/>
                          <a:ea typeface="Calibri" panose="020F0502020204030204" pitchFamily="34" charset="0"/>
                          <a:cs typeface="B Lotus" panose="00000400000000000000" pitchFamily="2" charset="-78"/>
                        </a:rPr>
                        <a:t>پدیده ی روی هم رفت حین فرآیند همسان سازی سلول در (ب</a:t>
                      </a:r>
                      <a:r>
                        <a:rPr lang="fa-IR" sz="1800" i="0" baseline="0" dirty="0">
                          <a:effectLst/>
                          <a:latin typeface="Times New Roman" panose="02020603050405020304" pitchFamily="18" charset="0"/>
                          <a:ea typeface="Calibri" panose="020F0502020204030204" pitchFamily="34" charset="0"/>
                          <a:cs typeface="B Lotus" panose="00000400000000000000" pitchFamily="2" charset="-78"/>
                        </a:rPr>
                        <a:t>) را مشاهده میکنید.</a:t>
                      </a:r>
                      <a:endParaRPr lang="en-US" sz="16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a:noFill/>
                    </a:lnL>
                    <a:lnR>
                      <a:noFill/>
                    </a:lnR>
                    <a:lnT>
                      <a:noFill/>
                    </a:lnT>
                    <a:lnB>
                      <a:noFill/>
                    </a:lnB>
                  </a:tcPr>
                </a:tc>
                <a:extLst>
                  <a:ext uri="{0D108BD9-81ED-4DB2-BD59-A6C34878D82A}">
                    <a16:rowId xmlns:a16="http://schemas.microsoft.com/office/drawing/2014/main" xmlns="" val="3545091448"/>
                  </a:ext>
                </a:extLst>
              </a:tr>
            </a:tbl>
          </a:graphicData>
        </a:graphic>
      </p:graphicFrame>
      <p:pic>
        <p:nvPicPr>
          <p:cNvPr id="18" name="Picture 17"/>
          <p:cNvPicPr>
            <a:picLocks noChangeAspect="1"/>
          </p:cNvPicPr>
          <p:nvPr/>
        </p:nvPicPr>
        <p:blipFill rotWithShape="1">
          <a:blip r:embed="rId4"/>
          <a:srcRect l="59603"/>
          <a:stretch/>
        </p:blipFill>
        <p:spPr>
          <a:xfrm>
            <a:off x="5105400" y="1833197"/>
            <a:ext cx="3313870" cy="3132568"/>
          </a:xfrm>
          <a:prstGeom prst="rect">
            <a:avLst/>
          </a:prstGeom>
        </p:spPr>
      </p:pic>
      <p:pic>
        <p:nvPicPr>
          <p:cNvPr id="3" name="Picture 2"/>
          <p:cNvPicPr>
            <a:picLocks noChangeAspect="1"/>
          </p:cNvPicPr>
          <p:nvPr/>
        </p:nvPicPr>
        <p:blipFill>
          <a:blip r:embed="rId5"/>
          <a:stretch>
            <a:fillRect/>
          </a:stretch>
        </p:blipFill>
        <p:spPr>
          <a:xfrm>
            <a:off x="1299561" y="1974334"/>
            <a:ext cx="1270877" cy="2850294"/>
          </a:xfrm>
          <a:prstGeom prst="rect">
            <a:avLst/>
          </a:prstGeom>
        </p:spPr>
      </p:pic>
      <p:pic>
        <p:nvPicPr>
          <p:cNvPr id="4" name="Picture 3"/>
          <p:cNvPicPr>
            <a:picLocks noChangeAspect="1"/>
          </p:cNvPicPr>
          <p:nvPr/>
        </p:nvPicPr>
        <p:blipFill>
          <a:blip r:embed="rId6"/>
          <a:stretch>
            <a:fillRect/>
          </a:stretch>
        </p:blipFill>
        <p:spPr>
          <a:xfrm>
            <a:off x="1390122" y="2362200"/>
            <a:ext cx="1087716" cy="1066800"/>
          </a:xfrm>
          <a:prstGeom prst="rect">
            <a:avLst/>
          </a:prstGeom>
        </p:spPr>
      </p:pic>
      <p:cxnSp>
        <p:nvCxnSpPr>
          <p:cNvPr id="7" name="Straight Connector 6"/>
          <p:cNvCxnSpPr/>
          <p:nvPr/>
        </p:nvCxnSpPr>
        <p:spPr>
          <a:xfrm>
            <a:off x="2570438" y="3886200"/>
            <a:ext cx="868451"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73271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8.33333E-7 5.55556E-6 L 8.33333E-7 0.11158 L 8.33333E-7 0.0639 " pathEditMode="relative" ptsTypes="AAA">
                                      <p:cBhvr>
                                        <p:cTn id="6" dur="10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29182" y="2002126"/>
            <a:ext cx="6400800" cy="4492619"/>
          </a:xfrm>
          <a:prstGeom prst="rect">
            <a:avLst/>
          </a:prstGeom>
        </p:spPr>
      </p:pic>
      <p:pic>
        <p:nvPicPr>
          <p:cNvPr id="4" name="Picture 3">
            <a:extLst>
              <a:ext uri="{FF2B5EF4-FFF2-40B4-BE49-F238E27FC236}">
                <a16:creationId xmlns:a16="http://schemas.microsoft.com/office/drawing/2014/main" xmlns="" id="{CA4B7323-47E7-4CC4-91B7-36AF4E6EAE28}"/>
              </a:ext>
            </a:extLst>
          </p:cNvPr>
          <p:cNvPicPr>
            <a:picLocks noChangeAspect="1"/>
          </p:cNvPicPr>
          <p:nvPr/>
        </p:nvPicPr>
        <p:blipFill>
          <a:blip r:embed="rId4"/>
          <a:stretch>
            <a:fillRect/>
          </a:stretch>
        </p:blipFill>
        <p:spPr>
          <a:xfrm>
            <a:off x="304800" y="968931"/>
            <a:ext cx="1077212" cy="721184"/>
          </a:xfrm>
          <a:prstGeom prst="rect">
            <a:avLst/>
          </a:prstGeom>
        </p:spPr>
      </p:pic>
      <p:sp>
        <p:nvSpPr>
          <p:cNvPr id="147" name="TextBox 146">
            <a:extLst>
              <a:ext uri="{FF2B5EF4-FFF2-40B4-BE49-F238E27FC236}">
                <a16:creationId xmlns:a16="http://schemas.microsoft.com/office/drawing/2014/main" xmlns="" id="{F43469DC-7F5B-471E-BD74-ED709E621F63}"/>
              </a:ext>
            </a:extLst>
          </p:cNvPr>
          <p:cNvSpPr txBox="1"/>
          <p:nvPr/>
        </p:nvSpPr>
        <p:spPr>
          <a:xfrm>
            <a:off x="6104415" y="1803113"/>
            <a:ext cx="2964274" cy="369332"/>
          </a:xfrm>
          <a:prstGeom prst="rect">
            <a:avLst/>
          </a:prstGeom>
          <a:noFill/>
        </p:spPr>
        <p:txBody>
          <a:bodyPr wrap="none" rtlCol="0">
            <a:spAutoFit/>
          </a:bodyPr>
          <a:lstStyle/>
          <a:p>
            <a:pPr algn="r" rtl="1"/>
            <a:r>
              <a:rPr lang="fa-IR" b="1" dirty="0">
                <a:cs typeface="B Nazanin" panose="00000400000000000000" pitchFamily="2" charset="-78"/>
              </a:rPr>
              <a:t>الزام سیستم مدیریت همسان سازی</a:t>
            </a:r>
          </a:p>
        </p:txBody>
      </p:sp>
      <p:sp>
        <p:nvSpPr>
          <p:cNvPr id="49"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60" name="Picture 59"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1" name="Rectangle 40"/>
          <p:cNvSpPr/>
          <p:nvPr/>
        </p:nvSpPr>
        <p:spPr>
          <a:xfrm>
            <a:off x="843406" y="6370345"/>
            <a:ext cx="6776594"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 شکل </a:t>
            </a:r>
            <a:r>
              <a:rPr lang="fa-IR" dirty="0" smtClean="0">
                <a:latin typeface="Times New Roman" panose="02020603050405020304" pitchFamily="18" charset="0"/>
                <a:ea typeface="Calibri" panose="020F0502020204030204" pitchFamily="34" charset="0"/>
                <a:cs typeface="B Lotus" panose="00000400000000000000" pitchFamily="2" charset="-78"/>
              </a:rPr>
              <a:t>3 اجبار </a:t>
            </a:r>
            <a:r>
              <a:rPr lang="fa-IR" dirty="0">
                <a:latin typeface="Times New Roman" panose="02020603050405020304" pitchFamily="18" charset="0"/>
                <a:ea typeface="Calibri" panose="020F0502020204030204" pitchFamily="34" charset="0"/>
                <a:cs typeface="B Lotus" panose="00000400000000000000" pitchFamily="2" charset="-78"/>
              </a:rPr>
              <a:t>به قطع فرآیندهای شارژ توسط سلول1 در (الف) و دشارژ توسط سلول3 در (ب)</a:t>
            </a:r>
            <a:endParaRPr lang="en-US" dirty="0">
              <a:latin typeface="Times New Roman" panose="02020603050405020304" pitchFamily="18" charset="0"/>
              <a:ea typeface="Calibri" panose="020F0502020204030204" pitchFamily="34" charset="0"/>
              <a:cs typeface="B Lotus" panose="00000400000000000000" pitchFamily="2" charset="-78"/>
            </a:endParaRPr>
          </a:p>
        </p:txBody>
      </p:sp>
      <p:sp>
        <p:nvSpPr>
          <p:cNvPr id="1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a:t>
            </a:fld>
            <a:endParaRPr lang="fa-IR" sz="1800" dirty="0">
              <a:solidFill>
                <a:schemeClr val="tx1"/>
              </a:solidFill>
              <a:cs typeface="B Lotus" panose="00000400000000000000" pitchFamily="2" charset="-78"/>
            </a:endParaRPr>
          </a:p>
        </p:txBody>
      </p:sp>
      <p:pic>
        <p:nvPicPr>
          <p:cNvPr id="2" name="Picture 1"/>
          <p:cNvPicPr>
            <a:picLocks noChangeAspect="1"/>
          </p:cNvPicPr>
          <p:nvPr/>
        </p:nvPicPr>
        <p:blipFill>
          <a:blip r:embed="rId6"/>
          <a:stretch>
            <a:fillRect/>
          </a:stretch>
        </p:blipFill>
        <p:spPr>
          <a:xfrm>
            <a:off x="685800" y="4713947"/>
            <a:ext cx="715500" cy="946933"/>
          </a:xfrm>
          <a:prstGeom prst="rect">
            <a:avLst/>
          </a:prstGeom>
        </p:spPr>
      </p:pic>
      <p:pic>
        <p:nvPicPr>
          <p:cNvPr id="3" name="Picture 2"/>
          <p:cNvPicPr>
            <a:picLocks noChangeAspect="1"/>
          </p:cNvPicPr>
          <p:nvPr/>
        </p:nvPicPr>
        <p:blipFill>
          <a:blip r:embed="rId7"/>
          <a:stretch>
            <a:fillRect/>
          </a:stretch>
        </p:blipFill>
        <p:spPr>
          <a:xfrm>
            <a:off x="685800" y="2375146"/>
            <a:ext cx="715500" cy="946933"/>
          </a:xfrm>
          <a:prstGeom prst="rect">
            <a:avLst/>
          </a:prstGeom>
        </p:spPr>
      </p:pic>
      <p:sp>
        <p:nvSpPr>
          <p:cNvPr id="33" name="AutoShape 10">
            <a:extLst>
              <a:ext uri="{FF2B5EF4-FFF2-40B4-BE49-F238E27FC236}">
                <a16:creationId xmlns:a16="http://schemas.microsoft.com/office/drawing/2014/main" xmlns="" id="{79B17B67-1ECE-4484-9C55-E49BDD6BD3B8}"/>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4" name="AutoShape 3">
            <a:extLst>
              <a:ext uri="{FF2B5EF4-FFF2-40B4-BE49-F238E27FC236}">
                <a16:creationId xmlns:a16="http://schemas.microsoft.com/office/drawing/2014/main" xmlns="" id="{5E452D18-45BE-480E-B503-836897416433}"/>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5" name="AutoShape 3">
            <a:extLst>
              <a:ext uri="{FF2B5EF4-FFF2-40B4-BE49-F238E27FC236}">
                <a16:creationId xmlns:a16="http://schemas.microsoft.com/office/drawing/2014/main" xmlns="" id="{B358ECFC-69B1-4422-AF12-904986C50966}"/>
              </a:ext>
            </a:extLst>
          </p:cNvPr>
          <p:cNvSpPr>
            <a:spLocks noChangeArrowheads="1"/>
          </p:cNvSpPr>
          <p:nvPr/>
        </p:nvSpPr>
        <p:spPr bwMode="gray">
          <a:xfrm flipH="1">
            <a:off x="2588411" y="57140"/>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AutoShape 3">
            <a:extLst>
              <a:ext uri="{FF2B5EF4-FFF2-40B4-BE49-F238E27FC236}">
                <a16:creationId xmlns:a16="http://schemas.microsoft.com/office/drawing/2014/main" xmlns="" id="{AA189239-A1ED-4328-A6B9-9569592BB4DE}"/>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7" name="Rectangle 36">
            <a:extLst>
              <a:ext uri="{FF2B5EF4-FFF2-40B4-BE49-F238E27FC236}">
                <a16:creationId xmlns:a16="http://schemas.microsoft.com/office/drawing/2014/main" xmlns="" id="{248615E2-6409-4A84-831C-9482259B656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8" name="Rectangle 37">
            <a:extLst>
              <a:ext uri="{FF2B5EF4-FFF2-40B4-BE49-F238E27FC236}">
                <a16:creationId xmlns:a16="http://schemas.microsoft.com/office/drawing/2014/main" xmlns="" id="{EE237DF5-8C11-4481-9956-5DFCB3CECC53}"/>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39" name="Rectangle 38">
            <a:extLst>
              <a:ext uri="{FF2B5EF4-FFF2-40B4-BE49-F238E27FC236}">
                <a16:creationId xmlns:a16="http://schemas.microsoft.com/office/drawing/2014/main" xmlns="" id="{7A127E02-750B-4833-9CD9-5993A5EFF4FC}"/>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0" name="Rectangle 39">
            <a:extLst>
              <a:ext uri="{FF2B5EF4-FFF2-40B4-BE49-F238E27FC236}">
                <a16:creationId xmlns:a16="http://schemas.microsoft.com/office/drawing/2014/main" xmlns="" id="{761C539B-3070-4459-A79B-7E6DDE2425B9}"/>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7" name="Picture 6"/>
          <p:cNvPicPr>
            <a:picLocks noChangeAspect="1"/>
          </p:cNvPicPr>
          <p:nvPr/>
        </p:nvPicPr>
        <p:blipFill>
          <a:blip r:embed="rId8"/>
          <a:stretch>
            <a:fillRect/>
          </a:stretch>
        </p:blipFill>
        <p:spPr>
          <a:xfrm>
            <a:off x="1862891" y="2321718"/>
            <a:ext cx="692190" cy="1000361"/>
          </a:xfrm>
          <a:prstGeom prst="rect">
            <a:avLst/>
          </a:prstGeom>
        </p:spPr>
      </p:pic>
      <p:pic>
        <p:nvPicPr>
          <p:cNvPr id="21" name="Picture 20"/>
          <p:cNvPicPr>
            <a:picLocks noChangeAspect="1"/>
          </p:cNvPicPr>
          <p:nvPr/>
        </p:nvPicPr>
        <p:blipFill>
          <a:blip r:embed="rId8"/>
          <a:stretch>
            <a:fillRect/>
          </a:stretch>
        </p:blipFill>
        <p:spPr>
          <a:xfrm>
            <a:off x="4149043" y="4660519"/>
            <a:ext cx="692190" cy="1000361"/>
          </a:xfrm>
          <a:prstGeom prst="rect">
            <a:avLst/>
          </a:prstGeom>
        </p:spPr>
      </p:pic>
    </p:spTree>
    <p:extLst>
      <p:ext uri="{BB962C8B-B14F-4D97-AF65-F5344CB8AC3E}">
        <p14:creationId xmlns:p14="http://schemas.microsoft.com/office/powerpoint/2010/main" val="230825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subTnLst>
                                    <p:animClr clrSpc="rgb" dir="cw">
                                      <p:cBhvr override="childStyle">
                                        <p:cTn dur="1" fill="hold" display="0" masterRel="nextClick" afterEffect="1"/>
                                        <p:tgtEl>
                                          <p:spTgt spid="7"/>
                                        </p:tgtEl>
                                        <p:attrNameLst>
                                          <p:attrName>ppt_c</p:attrName>
                                        </p:attrNameLst>
                                      </p:cBhvr>
                                      <p:to>
                                        <a:schemeClr val="tx1"/>
                                      </p:to>
                                    </p:animClr>
                                  </p:subTnLst>
                                </p:cTn>
                              </p:par>
                              <p:par>
                                <p:cTn id="8" presetID="26" presetClass="emph" presetSubtype="0" repeatCount="indefinite" fill="hold" nodeType="withEffect">
                                  <p:stCondLst>
                                    <p:cond delay="0"/>
                                  </p:stCondLst>
                                  <p:childTnLst>
                                    <p:animEffect transition="out" filter="fade">
                                      <p:cBhvr>
                                        <p:cTn id="9" dur="500" tmFilter="0, 0; .2, .5; .8, .5; 1, 0"/>
                                        <p:tgtEl>
                                          <p:spTgt spid="21"/>
                                        </p:tgtEl>
                                      </p:cBhvr>
                                    </p:animEffect>
                                    <p:animScale>
                                      <p:cBhvr>
                                        <p:cTn id="10" dur="250" autoRev="1" fill="hold"/>
                                        <p:tgtEl>
                                          <p:spTgt spid="21"/>
                                        </p:tgtEl>
                                      </p:cBhvr>
                                      <p:by x="105000" y="105000"/>
                                    </p:animScale>
                                  </p:childTnLst>
                                  <p:subTnLst>
                                    <p:animClr clrSpc="rgb" dir="cw">
                                      <p:cBhvr override="childStyle">
                                        <p:cTn dur="1" fill="hold" display="0" masterRel="nextClick" afterEffect="1"/>
                                        <p:tgtEl>
                                          <p:spTgt spid="21"/>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p:cNvSpPr txBox="1"/>
          <p:nvPr/>
        </p:nvSpPr>
        <p:spPr>
          <a:xfrm>
            <a:off x="482367" y="4830312"/>
            <a:ext cx="1962396" cy="307777"/>
          </a:xfrm>
          <a:prstGeom prst="rect">
            <a:avLst/>
          </a:prstGeom>
          <a:noFill/>
        </p:spPr>
        <p:txBody>
          <a:bodyPr wrap="none" rtlCol="0">
            <a:spAutoFit/>
          </a:bodyPr>
          <a:lstStyle/>
          <a:p>
            <a:pPr algn="ctr" rtl="1"/>
            <a:r>
              <a:rPr lang="fa-IR" sz="1400" dirty="0">
                <a:latin typeface="Times New Roman" panose="02020603050405020304" pitchFamily="18" charset="0"/>
                <a:cs typeface="B Lotus" panose="00000400000000000000" pitchFamily="2" charset="-78"/>
              </a:rPr>
              <a:t>توپولوژی سلول به سلول مستقیم</a:t>
            </a:r>
          </a:p>
        </p:txBody>
      </p:sp>
      <p:pic>
        <p:nvPicPr>
          <p:cNvPr id="18" name="Picture 17"/>
          <p:cNvPicPr/>
          <p:nvPr/>
        </p:nvPicPr>
        <p:blipFill>
          <a:blip r:embed="rId3" cstate="print">
            <a:extLst>
              <a:ext uri="{28A0092B-C50C-407E-A947-70E740481C1C}">
                <a14:useLocalDpi xmlns:a14="http://schemas.microsoft.com/office/drawing/2010/main" val="0"/>
              </a:ext>
            </a:extLst>
          </a:blip>
          <a:stretch>
            <a:fillRect/>
          </a:stretch>
        </p:blipFill>
        <p:spPr bwMode="auto">
          <a:xfrm>
            <a:off x="238273" y="3048000"/>
            <a:ext cx="2206490" cy="1428979"/>
          </a:xfrm>
          <a:prstGeom prst="rect">
            <a:avLst/>
          </a:prstGeom>
          <a:noFill/>
          <a:ln>
            <a:noFill/>
          </a:ln>
        </p:spPr>
      </p:pic>
      <p:sp>
        <p:nvSpPr>
          <p:cNvPr id="19" name="TextBox 18"/>
          <p:cNvSpPr txBox="1"/>
          <p:nvPr/>
        </p:nvSpPr>
        <p:spPr>
          <a:xfrm>
            <a:off x="2959761" y="3344625"/>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28" name="TextBox 27"/>
          <p:cNvSpPr txBox="1"/>
          <p:nvPr/>
        </p:nvSpPr>
        <p:spPr>
          <a:xfrm>
            <a:off x="3744631" y="4830312"/>
            <a:ext cx="2272812" cy="523220"/>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الگوریتم </a:t>
            </a:r>
            <a:r>
              <a:rPr lang="en-US" sz="1400" dirty="0">
                <a:latin typeface="Times New Roman" panose="02020603050405020304" pitchFamily="18" charset="0"/>
                <a:cs typeface="B Lotus" panose="00000400000000000000" pitchFamily="2" charset="-78"/>
              </a:rPr>
              <a:t>DBSCAN</a:t>
            </a:r>
            <a:r>
              <a:rPr lang="fa-IR" sz="1400" dirty="0">
                <a:latin typeface="Times New Roman" panose="02020603050405020304" pitchFamily="18" charset="0"/>
                <a:cs typeface="B Lotus" panose="00000400000000000000" pitchFamily="2" charset="-78"/>
              </a:rPr>
              <a:t> بمنظور یافتن نزدیکترین و دورترین نقاط به یکدیگر</a:t>
            </a:r>
            <a:endParaRPr lang="en-US" sz="1400" dirty="0">
              <a:latin typeface="Times New Roman" panose="02020603050405020304" pitchFamily="18" charset="0"/>
              <a:cs typeface="B Lotus" panose="00000400000000000000" pitchFamily="2" charset="-78"/>
            </a:endParaRPr>
          </a:p>
        </p:txBody>
      </p:sp>
      <p:grpSp>
        <p:nvGrpSpPr>
          <p:cNvPr id="25" name="Group 24"/>
          <p:cNvGrpSpPr/>
          <p:nvPr/>
        </p:nvGrpSpPr>
        <p:grpSpPr>
          <a:xfrm>
            <a:off x="7406615" y="3341125"/>
            <a:ext cx="1057224" cy="1198909"/>
            <a:chOff x="7554537" y="3065788"/>
            <a:chExt cx="1057224" cy="1198909"/>
          </a:xfrm>
        </p:grpSpPr>
        <p:pic>
          <p:nvPicPr>
            <p:cNvPr id="21" name="Picture 20"/>
            <p:cNvPicPr>
              <a:picLocks noChangeAspect="1"/>
            </p:cNvPicPr>
            <p:nvPr/>
          </p:nvPicPr>
          <p:blipFill>
            <a:blip r:embed="rId4"/>
            <a:stretch>
              <a:fillRect/>
            </a:stretch>
          </p:blipFill>
          <p:spPr>
            <a:xfrm>
              <a:off x="7554537" y="3194958"/>
              <a:ext cx="247650" cy="250160"/>
            </a:xfrm>
            <a:prstGeom prst="rect">
              <a:avLst/>
            </a:prstGeom>
          </p:spPr>
        </p:pic>
        <p:pic>
          <p:nvPicPr>
            <p:cNvPr id="22" name="Picture 21"/>
            <p:cNvPicPr>
              <a:picLocks noChangeAspect="1"/>
            </p:cNvPicPr>
            <p:nvPr/>
          </p:nvPicPr>
          <p:blipFill>
            <a:blip r:embed="rId5"/>
            <a:stretch>
              <a:fillRect/>
            </a:stretch>
          </p:blipFill>
          <p:spPr>
            <a:xfrm>
              <a:off x="7999857" y="3065788"/>
              <a:ext cx="610743" cy="586411"/>
            </a:xfrm>
            <a:prstGeom prst="rect">
              <a:avLst/>
            </a:prstGeom>
          </p:spPr>
        </p:pic>
        <p:pic>
          <p:nvPicPr>
            <p:cNvPr id="24" name="Picture 23"/>
            <p:cNvPicPr>
              <a:picLocks noChangeAspect="1"/>
            </p:cNvPicPr>
            <p:nvPr/>
          </p:nvPicPr>
          <p:blipFill>
            <a:blip r:embed="rId6"/>
            <a:stretch>
              <a:fillRect/>
            </a:stretch>
          </p:blipFill>
          <p:spPr>
            <a:xfrm>
              <a:off x="7999857" y="3783397"/>
              <a:ext cx="611904" cy="481300"/>
            </a:xfrm>
            <a:prstGeom prst="rect">
              <a:avLst/>
            </a:prstGeom>
          </p:spPr>
        </p:pic>
        <p:pic>
          <p:nvPicPr>
            <p:cNvPr id="38" name="Picture 37"/>
            <p:cNvPicPr>
              <a:picLocks noChangeAspect="1"/>
            </p:cNvPicPr>
            <p:nvPr/>
          </p:nvPicPr>
          <p:blipFill>
            <a:blip r:embed="rId4"/>
            <a:stretch>
              <a:fillRect/>
            </a:stretch>
          </p:blipFill>
          <p:spPr>
            <a:xfrm>
              <a:off x="7560281" y="3895149"/>
              <a:ext cx="247650" cy="250160"/>
            </a:xfrm>
            <a:prstGeom prst="rect">
              <a:avLst/>
            </a:prstGeom>
          </p:spPr>
        </p:pic>
      </p:grpSp>
      <p:sp>
        <p:nvSpPr>
          <p:cNvPr id="39" name="TextBox 38"/>
          <p:cNvSpPr txBox="1"/>
          <p:nvPr/>
        </p:nvSpPr>
        <p:spPr>
          <a:xfrm>
            <a:off x="6429632" y="3344625"/>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41" name="TextBox 40"/>
          <p:cNvSpPr txBox="1"/>
          <p:nvPr/>
        </p:nvSpPr>
        <p:spPr>
          <a:xfrm>
            <a:off x="6866875" y="4739209"/>
            <a:ext cx="2272812" cy="307777"/>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شبیه سازی و پیاده سازی عملی</a:t>
            </a:r>
            <a:endParaRPr lang="en-US" sz="1400" dirty="0">
              <a:latin typeface="Times New Roman" panose="02020603050405020304" pitchFamily="18" charset="0"/>
              <a:cs typeface="B Lotus" panose="00000400000000000000" pitchFamily="2" charset="-78"/>
            </a:endParaRPr>
          </a:p>
        </p:txBody>
      </p:sp>
      <p:pic>
        <p:nvPicPr>
          <p:cNvPr id="4" name="Picture 3"/>
          <p:cNvPicPr>
            <a:picLocks noChangeAspect="1"/>
          </p:cNvPicPr>
          <p:nvPr/>
        </p:nvPicPr>
        <p:blipFill>
          <a:blip r:embed="rId7"/>
          <a:stretch>
            <a:fillRect/>
          </a:stretch>
        </p:blipFill>
        <p:spPr>
          <a:xfrm>
            <a:off x="4154756" y="3034951"/>
            <a:ext cx="1452563" cy="1452563"/>
          </a:xfrm>
          <a:prstGeom prst="rect">
            <a:avLst/>
          </a:prstGeom>
        </p:spPr>
      </p:pic>
      <p:sp>
        <p:nvSpPr>
          <p:cNvPr id="40"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914399" y="1546002"/>
            <a:ext cx="7740651" cy="556259"/>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sz="1600" dirty="0">
                <a:cs typeface="B Lotus" panose="00000400000000000000" pitchFamily="2" charset="-78"/>
              </a:rPr>
              <a:t>روشی بهینه و سریع برای همسان‌سازی فعال پک باتری مستهلک با استفاده از مبدل ولتاژ</a:t>
            </a:r>
            <a:r>
              <a:rPr lang="en-US" sz="1600" dirty="0">
                <a:cs typeface="B Lotus" panose="00000400000000000000" pitchFamily="2" charset="-78"/>
              </a:rPr>
              <a:t> </a:t>
            </a:r>
            <a:r>
              <a:rPr lang="fa-IR" sz="1600" dirty="0">
                <a:cs typeface="B Lotus" panose="00000400000000000000" pitchFamily="2" charset="-78"/>
              </a:rPr>
              <a:t>دوطرفه با دامنه ولتاژ کاری وسیع</a:t>
            </a:r>
          </a:p>
          <a:p>
            <a:pPr algn="r" rtl="1" fontAlgn="base">
              <a:spcBef>
                <a:spcPct val="0"/>
              </a:spcBef>
              <a:spcAft>
                <a:spcPct val="0"/>
              </a:spcAft>
            </a:pPr>
            <a:r>
              <a:rPr lang="fa-IR" sz="1600" dirty="0">
                <a:cs typeface="B Lotus" panose="00000400000000000000" pitchFamily="2" charset="-78"/>
              </a:rPr>
              <a:t> و الگوریتم خوشه‌بندی </a:t>
            </a:r>
            <a:r>
              <a:rPr lang="en-US" sz="1600" i="1" dirty="0">
                <a:latin typeface="Times New Roman" panose="02020603050405020304" pitchFamily="18" charset="0"/>
                <a:cs typeface="Times New Roman" panose="02020603050405020304" pitchFamily="18" charset="0"/>
              </a:rPr>
              <a:t>DBSCAN</a:t>
            </a:r>
            <a:endParaRPr lang="en-US" sz="1600" dirty="0">
              <a:latin typeface="Times New Roman" panose="02020603050405020304" pitchFamily="18" charset="0"/>
              <a:cs typeface="Times New Roman" panose="02020603050405020304" pitchFamily="18" charset="0"/>
            </a:endParaRPr>
          </a:p>
        </p:txBody>
      </p:sp>
      <p:grpSp>
        <p:nvGrpSpPr>
          <p:cNvPr id="42"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8473468" y="1620134"/>
            <a:ext cx="381000" cy="381000"/>
            <a:chOff x="2078" y="1680"/>
            <a:chExt cx="1615" cy="1615"/>
          </a:xfrm>
        </p:grpSpPr>
        <p:sp>
          <p:nvSpPr>
            <p:cNvPr id="43"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5"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6"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7"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1"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a:t>
            </a:fld>
            <a:endParaRPr lang="fa-IR" sz="1800" dirty="0">
              <a:solidFill>
                <a:schemeClr val="tx1"/>
              </a:solidFill>
              <a:cs typeface="B Lotus" panose="00000400000000000000" pitchFamily="2" charset="-78"/>
            </a:endParaRPr>
          </a:p>
        </p:txBody>
      </p:sp>
      <p:pic>
        <p:nvPicPr>
          <p:cNvPr id="58" name="Picture 57"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9"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0"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61"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2"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3" name="Rectangle 62">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64" name="Rectangle 63">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65" name="Rectangle 64">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66" name="Rectangle 65">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67"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Tree>
    <p:extLst>
      <p:ext uri="{BB962C8B-B14F-4D97-AF65-F5344CB8AC3E}">
        <p14:creationId xmlns:p14="http://schemas.microsoft.com/office/powerpoint/2010/main" val="24102128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552854" y="6104824"/>
            <a:ext cx="5049780"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نحوه </a:t>
            </a:r>
            <a:r>
              <a:rPr lang="fa-IR" dirty="0">
                <a:latin typeface="Times New Roman" panose="02020603050405020304" pitchFamily="18" charset="0"/>
                <a:cs typeface="B Lotus" panose="00000400000000000000" pitchFamily="2" charset="-78"/>
              </a:rPr>
              <a:t>خوشه بندی</a:t>
            </a:r>
            <a:r>
              <a:rPr lang="en-US" dirty="0">
                <a:latin typeface="Times New Roman" panose="02020603050405020304" pitchFamily="18" charset="0"/>
                <a:cs typeface="B Lotus" panose="00000400000000000000" pitchFamily="2" charset="-78"/>
              </a:rPr>
              <a:t>DBSCAN</a:t>
            </a:r>
            <a:r>
              <a:rPr lang="fa-IR" dirty="0">
                <a:latin typeface="Times New Roman" panose="02020603050405020304" pitchFamily="18" charset="0"/>
                <a:cs typeface="B Lotus" panose="00000400000000000000" pitchFamily="2" charset="-78"/>
              </a:rPr>
              <a:t> به شعاع </a:t>
            </a:r>
            <a:r>
              <a:rPr lang="en-US" b="1" dirty="0"/>
              <a:t>ɛ</a:t>
            </a:r>
            <a:r>
              <a:rPr lang="fa-IR" dirty="0">
                <a:latin typeface="Times New Roman" panose="02020603050405020304" pitchFamily="18" charset="0"/>
                <a:cs typeface="B Lotus" panose="00000400000000000000" pitchFamily="2" charset="-78"/>
              </a:rPr>
              <a:t> و حداقل نقاط 5.</a:t>
            </a:r>
            <a:endParaRPr lang="en-US" dirty="0"/>
          </a:p>
        </p:txBody>
      </p:sp>
      <p:grpSp>
        <p:nvGrpSpPr>
          <p:cNvPr id="8" name="Group 7"/>
          <p:cNvGrpSpPr/>
          <p:nvPr/>
        </p:nvGrpSpPr>
        <p:grpSpPr>
          <a:xfrm>
            <a:off x="545381" y="2009415"/>
            <a:ext cx="7899513" cy="3903001"/>
            <a:chOff x="533400" y="1657956"/>
            <a:chExt cx="7899513" cy="3903001"/>
          </a:xfrm>
        </p:grpSpPr>
        <p:pic>
          <p:nvPicPr>
            <p:cNvPr id="6" name="Picture 5"/>
            <p:cNvPicPr>
              <a:picLocks noChangeAspect="1"/>
            </p:cNvPicPr>
            <p:nvPr/>
          </p:nvPicPr>
          <p:blipFill rotWithShape="1">
            <a:blip r:embed="rId3"/>
            <a:srcRect l="1431"/>
            <a:stretch/>
          </p:blipFill>
          <p:spPr>
            <a:xfrm>
              <a:off x="533400" y="1657956"/>
              <a:ext cx="7899513" cy="3903001"/>
            </a:xfrm>
            <a:prstGeom prst="rect">
              <a:avLst/>
            </a:prstGeom>
          </p:spPr>
        </p:pic>
        <p:pic>
          <p:nvPicPr>
            <p:cNvPr id="7" name="Picture 6"/>
            <p:cNvPicPr>
              <a:picLocks noChangeAspect="1"/>
            </p:cNvPicPr>
            <p:nvPr/>
          </p:nvPicPr>
          <p:blipFill>
            <a:blip r:embed="rId4"/>
            <a:stretch>
              <a:fillRect/>
            </a:stretch>
          </p:blipFill>
          <p:spPr>
            <a:xfrm>
              <a:off x="2206062" y="2971800"/>
              <a:ext cx="760219" cy="1072000"/>
            </a:xfrm>
            <a:prstGeom prst="rect">
              <a:avLst/>
            </a:prstGeom>
          </p:spPr>
        </p:pic>
      </p:gr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Tree>
    <p:extLst>
      <p:ext uri="{BB962C8B-B14F-4D97-AF65-F5344CB8AC3E}">
        <p14:creationId xmlns:p14="http://schemas.microsoft.com/office/powerpoint/2010/main" val="5870842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2" name="Picture 1"/>
          <p:cNvPicPr>
            <a:picLocks/>
          </p:cNvPicPr>
          <p:nvPr/>
        </p:nvPicPr>
        <p:blipFill>
          <a:blip r:embed="rId4">
            <a:extLst>
              <a:ext uri="{28A0092B-C50C-407E-A947-70E740481C1C}">
                <a14:useLocalDpi xmlns:a14="http://schemas.microsoft.com/office/drawing/2010/main" val="0"/>
              </a:ext>
            </a:extLst>
          </a:blip>
          <a:stretch>
            <a:fillRect/>
          </a:stretch>
        </p:blipFill>
        <p:spPr>
          <a:xfrm>
            <a:off x="1334544" y="1728973"/>
            <a:ext cx="5486400" cy="4114800"/>
          </a:xfrm>
          <a:prstGeom prst="rect">
            <a:avLst/>
          </a:prstGeom>
        </p:spPr>
      </p:pic>
      <p:pic>
        <p:nvPicPr>
          <p:cNvPr id="29" name="Picture 28"/>
          <p:cNvPicPr>
            <a:picLocks noChangeAspect="1"/>
          </p:cNvPicPr>
          <p:nvPr/>
        </p:nvPicPr>
        <p:blipFill>
          <a:blip r:embed="rId5"/>
          <a:stretch>
            <a:fillRect/>
          </a:stretch>
        </p:blipFill>
        <p:spPr>
          <a:xfrm>
            <a:off x="4677236" y="1524000"/>
            <a:ext cx="399128" cy="1334398"/>
          </a:xfrm>
          <a:prstGeom prst="rect">
            <a:avLst/>
          </a:prstGeom>
        </p:spPr>
      </p:pic>
      <p:pic>
        <p:nvPicPr>
          <p:cNvPr id="16" name="Picture 15"/>
          <p:cNvPicPr>
            <a:picLocks noChangeAspect="1"/>
          </p:cNvPicPr>
          <p:nvPr/>
        </p:nvPicPr>
        <p:blipFill>
          <a:blip r:embed="rId6"/>
          <a:stretch>
            <a:fillRect/>
          </a:stretch>
        </p:blipFill>
        <p:spPr>
          <a:xfrm>
            <a:off x="6019800" y="4865521"/>
            <a:ext cx="857295" cy="300953"/>
          </a:xfrm>
          <a:prstGeom prst="rect">
            <a:avLst/>
          </a:prstGeom>
        </p:spPr>
      </p:pic>
      <p:pic>
        <p:nvPicPr>
          <p:cNvPr id="15" name="Picture 14"/>
          <p:cNvPicPr>
            <a:picLocks noChangeAspect="1"/>
          </p:cNvPicPr>
          <p:nvPr/>
        </p:nvPicPr>
        <p:blipFill>
          <a:blip r:embed="rId7"/>
          <a:stretch>
            <a:fillRect/>
          </a:stretch>
        </p:blipFill>
        <p:spPr>
          <a:xfrm>
            <a:off x="6013366" y="4886758"/>
            <a:ext cx="212569" cy="218642"/>
          </a:xfrm>
          <a:prstGeom prst="rect">
            <a:avLst/>
          </a:prstGeom>
        </p:spPr>
      </p:pic>
      <p:sp>
        <p:nvSpPr>
          <p:cNvPr id="19" name="Oval 18"/>
          <p:cNvSpPr/>
          <p:nvPr/>
        </p:nvSpPr>
        <p:spPr>
          <a:xfrm>
            <a:off x="1828800" y="3429000"/>
            <a:ext cx="1225296" cy="12252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1234020" y="3429000"/>
            <a:ext cx="1225296" cy="12252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054773" y="2245750"/>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2441448" y="4136355"/>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680704" y="1901952"/>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4262878" y="1502577"/>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4906000" y="2991364"/>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6114105" y="2679678"/>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5518648" y="4392251"/>
            <a:ext cx="1225296" cy="12252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72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nodeType="clickEffect">
                                  <p:stCondLst>
                                    <p:cond delay="0"/>
                                  </p:stCondLst>
                                  <p:childTnLst>
                                    <p:animMotion origin="layout" path="M -3.33333E-6 -4.44444E-6 L -3.33333E-6 0.04723 " pathEditMode="relative" rAng="0" ptsTypes="AA">
                                      <p:cBhvr>
                                        <p:cTn id="46" dur="2000" fill="hold"/>
                                        <p:tgtEl>
                                          <p:spTgt spid="29"/>
                                        </p:tgtEl>
                                        <p:attrNameLst>
                                          <p:attrName>ppt_x</p:attrName>
                                          <p:attrName>ppt_y</p:attrName>
                                        </p:attrNameLst>
                                      </p:cBhvr>
                                      <p:rCtr x="0" y="2361"/>
                                    </p:animMotion>
                                  </p:childTnLst>
                                </p:cTn>
                              </p:par>
                              <p:par>
                                <p:cTn id="47" presetID="64" presetClass="path" presetSubtype="0" accel="50000" decel="50000" fill="hold" nodeType="withEffect">
                                  <p:stCondLst>
                                    <p:cond delay="0"/>
                                  </p:stCondLst>
                                  <p:childTnLst>
                                    <p:animMotion origin="layout" path="M -8.33333E-7 -2.22222E-6 L 0.00052 -0.03703 " pathEditMode="relative" rAng="0" ptsTypes="AA">
                                      <p:cBhvr>
                                        <p:cTn id="48" dur="2000" fill="hold"/>
                                        <p:tgtEl>
                                          <p:spTgt spid="15"/>
                                        </p:tgtEl>
                                        <p:attrNameLst>
                                          <p:attrName>ppt_x</p:attrName>
                                          <p:attrName>ppt_y</p:attrName>
                                        </p:attrNameLst>
                                      </p:cBhvr>
                                      <p:rCtr x="17" y="-18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44" grpId="0" animBg="1"/>
      <p:bldP spid="44" grpId="1" animBg="1"/>
      <p:bldP spid="45" grpId="0" animBg="1"/>
      <p:bldP spid="45" grpId="1" animBg="1"/>
      <p:bldP spid="46" grpId="0" animBg="1"/>
      <p:bldP spid="46" grpId="1" animBg="1"/>
      <p:bldP spid="49" grpId="0" animBg="1"/>
      <p:bldP spid="49" grpId="1" animBg="1"/>
      <p:bldP spid="54" grpId="0" animBg="1"/>
      <p:bldP spid="54" grpId="1" animBg="1"/>
      <p:bldP spid="58" grpId="0" animBg="1"/>
      <p:bldP spid="58" grpId="1" animBg="1"/>
      <p:bldP spid="60" grpId="0" animBg="1"/>
      <p:bldP spid="60" grpId="1" animBg="1"/>
      <p:bldP spid="62" grpId="0" animBg="1"/>
      <p:bldP spid="6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a:fillRect/>
          </a:stretch>
        </p:blipFill>
        <p:spPr>
          <a:xfrm>
            <a:off x="3420885" y="2680594"/>
            <a:ext cx="1428949" cy="657317"/>
          </a:xfrm>
          <a:prstGeom prst="rect">
            <a:avLst/>
          </a:prstGeom>
        </p:spPr>
      </p:pic>
      <p:pic>
        <p:nvPicPr>
          <p:cNvPr id="11" name="Picture 10"/>
          <p:cNvPicPr>
            <a:picLocks noChangeAspect="1"/>
          </p:cNvPicPr>
          <p:nvPr/>
        </p:nvPicPr>
        <p:blipFill>
          <a:blip r:embed="rId4"/>
          <a:stretch>
            <a:fillRect/>
          </a:stretch>
        </p:blipFill>
        <p:spPr>
          <a:xfrm>
            <a:off x="3426612" y="2540212"/>
            <a:ext cx="628738" cy="523948"/>
          </a:xfrm>
          <a:prstGeom prst="rect">
            <a:avLst/>
          </a:prstGeom>
        </p:spPr>
      </p:pic>
      <p:pic>
        <p:nvPicPr>
          <p:cNvPr id="29" name="Picture 28"/>
          <p:cNvPicPr>
            <a:picLocks noChangeAspect="1"/>
          </p:cNvPicPr>
          <p:nvPr/>
        </p:nvPicPr>
        <p:blipFill>
          <a:blip r:embed="rId5"/>
          <a:stretch>
            <a:fillRect/>
          </a:stretch>
        </p:blipFill>
        <p:spPr>
          <a:xfrm>
            <a:off x="3086031" y="2306817"/>
            <a:ext cx="990738" cy="990738"/>
          </a:xfrm>
          <a:prstGeom prst="rect">
            <a:avLst/>
          </a:prstGeom>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16" name="Picture 15"/>
          <p:cNvPicPr>
            <a:picLocks/>
          </p:cNvPicPr>
          <p:nvPr/>
        </p:nvPicPr>
        <p:blipFill>
          <a:blip r:embed="rId7">
            <a:extLst>
              <a:ext uri="{28A0092B-C50C-407E-A947-70E740481C1C}">
                <a14:useLocalDpi xmlns:a14="http://schemas.microsoft.com/office/drawing/2010/main" val="0"/>
              </a:ext>
            </a:extLst>
          </a:blip>
          <a:stretch>
            <a:fillRect/>
          </a:stretch>
        </p:blipFill>
        <p:spPr>
          <a:xfrm>
            <a:off x="1334556" y="1716273"/>
            <a:ext cx="5486400" cy="4114800"/>
          </a:xfrm>
          <a:prstGeom prst="rect">
            <a:avLst/>
          </a:prstGeom>
        </p:spPr>
      </p:pic>
      <p:pic>
        <p:nvPicPr>
          <p:cNvPr id="10" name="Picture 9"/>
          <p:cNvPicPr>
            <a:picLocks noChangeAspect="1"/>
          </p:cNvPicPr>
          <p:nvPr/>
        </p:nvPicPr>
        <p:blipFill>
          <a:blip r:embed="rId5"/>
          <a:stretch>
            <a:fillRect/>
          </a:stretch>
        </p:blipFill>
        <p:spPr>
          <a:xfrm>
            <a:off x="5643045" y="4262152"/>
            <a:ext cx="990738" cy="990738"/>
          </a:xfrm>
          <a:prstGeom prst="rect">
            <a:avLst/>
          </a:prstGeom>
        </p:spPr>
      </p:pic>
      <p:pic>
        <p:nvPicPr>
          <p:cNvPr id="28" name="Picture 27"/>
          <p:cNvPicPr>
            <a:picLocks noChangeAspect="1"/>
          </p:cNvPicPr>
          <p:nvPr/>
        </p:nvPicPr>
        <p:blipFill>
          <a:blip r:embed="rId8"/>
          <a:stretch>
            <a:fillRect/>
          </a:stretch>
        </p:blipFill>
        <p:spPr>
          <a:xfrm>
            <a:off x="6032130" y="4648200"/>
            <a:ext cx="212569" cy="218642"/>
          </a:xfrm>
          <a:prstGeom prst="rect">
            <a:avLst/>
          </a:prstGeom>
        </p:spPr>
      </p:pic>
      <p:pic>
        <p:nvPicPr>
          <p:cNvPr id="14" name="Picture 13"/>
          <p:cNvPicPr>
            <a:picLocks noChangeAspect="1"/>
          </p:cNvPicPr>
          <p:nvPr/>
        </p:nvPicPr>
        <p:blipFill>
          <a:blip r:embed="rId3"/>
          <a:stretch>
            <a:fillRect/>
          </a:stretch>
        </p:blipFill>
        <p:spPr>
          <a:xfrm>
            <a:off x="3430795" y="2680593"/>
            <a:ext cx="1428949" cy="657317"/>
          </a:xfrm>
          <a:prstGeom prst="rect">
            <a:avLst/>
          </a:prstGeom>
        </p:spPr>
      </p:pic>
      <p:pic>
        <p:nvPicPr>
          <p:cNvPr id="32" name="Picture 31"/>
          <p:cNvPicPr>
            <a:picLocks noChangeAspect="1"/>
          </p:cNvPicPr>
          <p:nvPr/>
        </p:nvPicPr>
        <p:blipFill>
          <a:blip r:embed="rId9"/>
          <a:stretch>
            <a:fillRect/>
          </a:stretch>
        </p:blipFill>
        <p:spPr>
          <a:xfrm>
            <a:off x="3505200" y="2665609"/>
            <a:ext cx="314960" cy="304800"/>
          </a:xfrm>
          <a:prstGeom prst="rect">
            <a:avLst/>
          </a:prstGeom>
        </p:spPr>
      </p:pic>
    </p:spTree>
    <p:extLst>
      <p:ext uri="{BB962C8B-B14F-4D97-AF65-F5344CB8AC3E}">
        <p14:creationId xmlns:p14="http://schemas.microsoft.com/office/powerpoint/2010/main" val="195150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4.16667E-6 2.22045E-16 L -4.16667E-6 -0.15648 " pathEditMode="relative" rAng="0" ptsTypes="AA">
                                      <p:cBhvr>
                                        <p:cTn id="6" dur="4000" fill="hold"/>
                                        <p:tgtEl>
                                          <p:spTgt spid="28"/>
                                        </p:tgtEl>
                                        <p:attrNameLst>
                                          <p:attrName>ppt_x</p:attrName>
                                          <p:attrName>ppt_y</p:attrName>
                                        </p:attrNameLst>
                                      </p:cBhvr>
                                      <p:rCtr x="0" y="-7824"/>
                                    </p:animMotion>
                                  </p:childTnLst>
                                </p:cTn>
                              </p:par>
                              <p:par>
                                <p:cTn id="7" presetID="42" presetClass="path" presetSubtype="0" accel="50000" decel="50000" fill="hold" nodeType="withEffect">
                                  <p:stCondLst>
                                    <p:cond delay="0"/>
                                  </p:stCondLst>
                                  <p:childTnLst>
                                    <p:animMotion origin="layout" path="M -8.33333E-7 3.7037E-7 L -8.33333E-7 0.16921 " pathEditMode="relative" rAng="0" ptsTypes="AA">
                                      <p:cBhvr>
                                        <p:cTn id="8" dur="4000" fill="hold"/>
                                        <p:tgtEl>
                                          <p:spTgt spid="32"/>
                                        </p:tgtEl>
                                        <p:attrNameLst>
                                          <p:attrName>ppt_x</p:attrName>
                                          <p:attrName>ppt_y</p:attrName>
                                        </p:attrNameLst>
                                      </p:cBhvr>
                                      <p:rCtr x="0" y="844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9</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2" name="Picture 1"/>
          <p:cNvPicPr>
            <a:picLocks/>
          </p:cNvPicPr>
          <p:nvPr/>
        </p:nvPicPr>
        <p:blipFill>
          <a:blip r:embed="rId4">
            <a:extLst>
              <a:ext uri="{28A0092B-C50C-407E-A947-70E740481C1C}">
                <a14:useLocalDpi xmlns:a14="http://schemas.microsoft.com/office/drawing/2010/main" val="0"/>
              </a:ext>
            </a:extLst>
          </a:blip>
          <a:stretch>
            <a:fillRect/>
          </a:stretch>
        </p:blipFill>
        <p:spPr>
          <a:xfrm>
            <a:off x="1334556" y="1737513"/>
            <a:ext cx="5486400" cy="4114800"/>
          </a:xfrm>
          <a:prstGeom prst="rect">
            <a:avLst/>
          </a:prstGeom>
        </p:spPr>
      </p:pic>
      <p:pic>
        <p:nvPicPr>
          <p:cNvPr id="6" name="Picture 5"/>
          <p:cNvPicPr>
            <a:picLocks noChangeAspect="1"/>
          </p:cNvPicPr>
          <p:nvPr/>
        </p:nvPicPr>
        <p:blipFill>
          <a:blip r:embed="rId5"/>
          <a:stretch>
            <a:fillRect/>
          </a:stretch>
        </p:blipFill>
        <p:spPr>
          <a:xfrm>
            <a:off x="2630399" y="4509922"/>
            <a:ext cx="1352739" cy="523948"/>
          </a:xfrm>
          <a:prstGeom prst="rect">
            <a:avLst/>
          </a:prstGeom>
        </p:spPr>
      </p:pic>
      <p:pic>
        <p:nvPicPr>
          <p:cNvPr id="20" name="Pictur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95600" y="4619496"/>
            <a:ext cx="295563" cy="304800"/>
          </a:xfrm>
          <a:prstGeom prst="rect">
            <a:avLst/>
          </a:prstGeom>
        </p:spPr>
      </p:pic>
      <p:pic>
        <p:nvPicPr>
          <p:cNvPr id="22" name="Picture 21"/>
          <p:cNvPicPr>
            <a:picLocks noChangeAspect="1"/>
          </p:cNvPicPr>
          <p:nvPr/>
        </p:nvPicPr>
        <p:blipFill>
          <a:blip r:embed="rId5"/>
          <a:stretch>
            <a:fillRect/>
          </a:stretch>
        </p:blipFill>
        <p:spPr>
          <a:xfrm>
            <a:off x="6238349" y="2924209"/>
            <a:ext cx="1352739" cy="523948"/>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54748" y="3124200"/>
            <a:ext cx="285258" cy="314768"/>
          </a:xfrm>
          <a:prstGeom prst="rect">
            <a:avLst/>
          </a:prstGeom>
        </p:spPr>
      </p:pic>
    </p:spTree>
    <p:extLst>
      <p:ext uri="{BB962C8B-B14F-4D97-AF65-F5344CB8AC3E}">
        <p14:creationId xmlns:p14="http://schemas.microsoft.com/office/powerpoint/2010/main" val="56552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4.72222E-6 -2.22222E-6 L 0.00086 0.04375 " pathEditMode="relative" rAng="0" ptsTypes="AA">
                                      <p:cBhvr>
                                        <p:cTn id="6" dur="4000" fill="hold"/>
                                        <p:tgtEl>
                                          <p:spTgt spid="19"/>
                                        </p:tgtEl>
                                        <p:attrNameLst>
                                          <p:attrName>ppt_x</p:attrName>
                                          <p:attrName>ppt_y</p:attrName>
                                        </p:attrNameLst>
                                      </p:cBhvr>
                                      <p:rCtr x="35" y="2176"/>
                                    </p:animMotion>
                                  </p:childTnLst>
                                </p:cTn>
                              </p:par>
                              <p:par>
                                <p:cTn id="7" presetID="42" presetClass="path" presetSubtype="0" accel="50000" decel="50000" fill="hold" nodeType="withEffect">
                                  <p:stCondLst>
                                    <p:cond delay="0"/>
                                  </p:stCondLst>
                                  <p:childTnLst>
                                    <p:animMotion origin="layout" path="M -2.5E-6 -3.33333E-6 L 0.00052 -0.05139 " pathEditMode="relative" rAng="0" ptsTypes="AA">
                                      <p:cBhvr>
                                        <p:cTn id="8" dur="4000" fill="hold"/>
                                        <p:tgtEl>
                                          <p:spTgt spid="20"/>
                                        </p:tgtEl>
                                        <p:attrNameLst>
                                          <p:attrName>ppt_x</p:attrName>
                                          <p:attrName>ppt_y</p:attrName>
                                        </p:attrNameLst>
                                      </p:cBhvr>
                                      <p:rCtr x="17" y="-2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10</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5" name="Picture 4"/>
          <p:cNvPicPr>
            <a:picLocks/>
          </p:cNvPicPr>
          <p:nvPr/>
        </p:nvPicPr>
        <p:blipFill>
          <a:blip r:embed="rId4">
            <a:extLst>
              <a:ext uri="{28A0092B-C50C-407E-A947-70E740481C1C}">
                <a14:useLocalDpi xmlns:a14="http://schemas.microsoft.com/office/drawing/2010/main" val="0"/>
              </a:ext>
            </a:extLst>
          </a:blip>
          <a:stretch>
            <a:fillRect/>
          </a:stretch>
        </p:blipFill>
        <p:spPr>
          <a:xfrm>
            <a:off x="1334556" y="1737513"/>
            <a:ext cx="5486400" cy="4114800"/>
          </a:xfrm>
          <a:prstGeom prst="rect">
            <a:avLst/>
          </a:prstGeom>
        </p:spPr>
      </p:pic>
      <p:pic>
        <p:nvPicPr>
          <p:cNvPr id="17" name="Picture 16"/>
          <p:cNvPicPr>
            <a:picLocks noChangeAspect="1"/>
          </p:cNvPicPr>
          <p:nvPr/>
        </p:nvPicPr>
        <p:blipFill>
          <a:blip r:embed="rId5"/>
          <a:stretch>
            <a:fillRect/>
          </a:stretch>
        </p:blipFill>
        <p:spPr>
          <a:xfrm>
            <a:off x="2626510" y="4255868"/>
            <a:ext cx="1352739" cy="523948"/>
          </a:xfrm>
          <a:prstGeom prst="rect">
            <a:avLst/>
          </a:prstGeom>
        </p:spPr>
      </p:pic>
      <p:pic>
        <p:nvPicPr>
          <p:cNvPr id="18" name="Picture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91711" y="4365442"/>
            <a:ext cx="295563" cy="304800"/>
          </a:xfrm>
          <a:prstGeom prst="rect">
            <a:avLst/>
          </a:prstGeom>
        </p:spPr>
      </p:pic>
      <p:pic>
        <p:nvPicPr>
          <p:cNvPr id="19" name="Picture 18"/>
          <p:cNvPicPr>
            <a:picLocks noChangeAspect="1"/>
          </p:cNvPicPr>
          <p:nvPr/>
        </p:nvPicPr>
        <p:blipFill>
          <a:blip r:embed="rId5"/>
          <a:stretch>
            <a:fillRect/>
          </a:stretch>
        </p:blipFill>
        <p:spPr>
          <a:xfrm>
            <a:off x="3239999" y="3707319"/>
            <a:ext cx="1352739" cy="523948"/>
          </a:xfrm>
          <a:prstGeom prst="rect">
            <a:avLst/>
          </a:prstGeom>
        </p:spPr>
      </p:pic>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05200" y="3828384"/>
            <a:ext cx="381000" cy="363279"/>
          </a:xfrm>
          <a:prstGeom prst="rect">
            <a:avLst/>
          </a:prstGeom>
        </p:spPr>
      </p:pic>
    </p:spTree>
    <p:extLst>
      <p:ext uri="{BB962C8B-B14F-4D97-AF65-F5344CB8AC3E}">
        <p14:creationId xmlns:p14="http://schemas.microsoft.com/office/powerpoint/2010/main" val="103710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3.7037E-6 L 0.00086 -0.04769 " pathEditMode="relative" rAng="0" ptsTypes="AA">
                                      <p:cBhvr>
                                        <p:cTn id="6" dur="4000" fill="hold"/>
                                        <p:tgtEl>
                                          <p:spTgt spid="18"/>
                                        </p:tgtEl>
                                        <p:attrNameLst>
                                          <p:attrName>ppt_x</p:attrName>
                                          <p:attrName>ppt_y</p:attrName>
                                        </p:attrNameLst>
                                      </p:cBhvr>
                                      <p:rCtr x="35" y="-2384"/>
                                    </p:animMotion>
                                  </p:childTnLst>
                                </p:cTn>
                              </p:par>
                              <p:par>
                                <p:cTn id="7" presetID="42" presetClass="path" presetSubtype="0" accel="50000" decel="50000" fill="hold" nodeType="withEffect">
                                  <p:stCondLst>
                                    <p:cond delay="0"/>
                                  </p:stCondLst>
                                  <p:childTnLst>
                                    <p:animMotion origin="layout" path="M 3.33333E-6 -2.22222E-6 L 3.33333E-6 0.02639 " pathEditMode="relative" rAng="0" ptsTypes="AA">
                                      <p:cBhvr>
                                        <p:cTn id="8" dur="4000" fill="hold"/>
                                        <p:tgtEl>
                                          <p:spTgt spid="20"/>
                                        </p:tgtEl>
                                        <p:attrNameLst>
                                          <p:attrName>ppt_x</p:attrName>
                                          <p:attrName>ppt_y</p:attrName>
                                        </p:attrNameLst>
                                      </p:cBhvr>
                                      <p:rCtr x="0" y="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3">
            <a:extLst>
              <a:ext uri="{28A0092B-C50C-407E-A947-70E740481C1C}">
                <a14:useLocalDpi xmlns:a14="http://schemas.microsoft.com/office/drawing/2010/main" val="0"/>
              </a:ext>
            </a:extLst>
          </a:blip>
          <a:stretch>
            <a:fillRect/>
          </a:stretch>
        </p:blipFill>
        <p:spPr>
          <a:xfrm>
            <a:off x="1334556" y="1737513"/>
            <a:ext cx="5486400" cy="4114800"/>
          </a:xfrm>
          <a:prstGeom prst="rect">
            <a:avLst/>
          </a:prstGeom>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11</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16" name="Picture 15"/>
          <p:cNvPicPr>
            <a:picLocks noChangeAspect="1"/>
          </p:cNvPicPr>
          <p:nvPr/>
        </p:nvPicPr>
        <p:blipFill>
          <a:blip r:embed="rId5"/>
          <a:stretch>
            <a:fillRect/>
          </a:stretch>
        </p:blipFill>
        <p:spPr>
          <a:xfrm>
            <a:off x="2557023" y="3707318"/>
            <a:ext cx="2035716" cy="788481"/>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00437" y="4024313"/>
            <a:ext cx="381000" cy="363028"/>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00363" y="4040731"/>
            <a:ext cx="381000" cy="363279"/>
          </a:xfrm>
          <a:prstGeom prst="rect">
            <a:avLst/>
          </a:prstGeom>
        </p:spPr>
      </p:pic>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91076" y="2178872"/>
            <a:ext cx="257614" cy="416147"/>
          </a:xfrm>
          <a:prstGeom prst="rect">
            <a:avLst/>
          </a:prstGeom>
        </p:spPr>
      </p:pic>
      <p:pic>
        <p:nvPicPr>
          <p:cNvPr id="21" name="Picture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83850" y="2261898"/>
            <a:ext cx="269605" cy="435516"/>
          </a:xfrm>
          <a:prstGeom prst="rect">
            <a:avLst/>
          </a:prstGeom>
        </p:spPr>
      </p:pic>
    </p:spTree>
    <p:extLst>
      <p:ext uri="{BB962C8B-B14F-4D97-AF65-F5344CB8AC3E}">
        <p14:creationId xmlns:p14="http://schemas.microsoft.com/office/powerpoint/2010/main" val="92152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6 -4.44444E-6 L 0.00052 -0.02685 " pathEditMode="relative" rAng="0" ptsTypes="AA">
                                      <p:cBhvr>
                                        <p:cTn id="6" dur="4000" fill="hold"/>
                                        <p:tgtEl>
                                          <p:spTgt spid="17"/>
                                        </p:tgtEl>
                                        <p:attrNameLst>
                                          <p:attrName>ppt_x</p:attrName>
                                          <p:attrName>ppt_y</p:attrName>
                                        </p:attrNameLst>
                                      </p:cBhvr>
                                      <p:rCtr x="17" y="-1343"/>
                                    </p:animMotion>
                                  </p:childTnLst>
                                </p:cTn>
                              </p:par>
                              <p:par>
                                <p:cTn id="7" presetID="42" presetClass="path" presetSubtype="0" accel="50000" decel="50000" fill="hold" nodeType="withEffect">
                                  <p:stCondLst>
                                    <p:cond delay="0"/>
                                  </p:stCondLst>
                                  <p:childTnLst>
                                    <p:animMotion origin="layout" path="M -8.33333E-7 7.40741E-7 L -8.33333E-7 -0.02662 " pathEditMode="relative" rAng="0" ptsTypes="AA">
                                      <p:cBhvr>
                                        <p:cTn id="8" dur="4000" fill="hold"/>
                                        <p:tgtEl>
                                          <p:spTgt spid="19"/>
                                        </p:tgtEl>
                                        <p:attrNameLst>
                                          <p:attrName>ppt_x</p:attrName>
                                          <p:attrName>ppt_y</p:attrName>
                                        </p:attrNameLst>
                                      </p:cBhvr>
                                      <p:rCtr x="0" y="-1343"/>
                                    </p:animMotion>
                                  </p:childTnLst>
                                </p:cTn>
                              </p:par>
                              <p:par>
                                <p:cTn id="9" presetID="42" presetClass="path" presetSubtype="0" accel="50000" decel="50000" fill="hold" nodeType="withEffect">
                                  <p:stCondLst>
                                    <p:cond delay="0"/>
                                  </p:stCondLst>
                                  <p:childTnLst>
                                    <p:animMotion origin="layout" path="M -8.33333E-7 1.85185E-6 L 0.00035 0.02754 " pathEditMode="relative" rAng="0" ptsTypes="AA">
                                      <p:cBhvr>
                                        <p:cTn id="10" dur="4000" fill="hold"/>
                                        <p:tgtEl>
                                          <p:spTgt spid="20"/>
                                        </p:tgtEl>
                                        <p:attrNameLst>
                                          <p:attrName>ppt_x</p:attrName>
                                          <p:attrName>ppt_y</p:attrName>
                                        </p:attrNameLst>
                                      </p:cBhvr>
                                      <p:rCtr x="17" y="1366"/>
                                    </p:animMotion>
                                  </p:childTnLst>
                                </p:cTn>
                              </p:par>
                              <p:par>
                                <p:cTn id="11" presetID="42" presetClass="path" presetSubtype="0" accel="50000" decel="50000" fill="hold" nodeType="withEffect">
                                  <p:stCondLst>
                                    <p:cond delay="0"/>
                                  </p:stCondLst>
                                  <p:childTnLst>
                                    <p:animMotion origin="layout" path="M -2.22222E-6 -4.07407E-6 L -2.22222E-6 0.02732 " pathEditMode="relative" rAng="0" ptsTypes="AA">
                                      <p:cBhvr>
                                        <p:cTn id="12" dur="4000" fill="hold"/>
                                        <p:tgtEl>
                                          <p:spTgt spid="21"/>
                                        </p:tgtEl>
                                        <p:attrNameLst>
                                          <p:attrName>ppt_x</p:attrName>
                                          <p:attrName>ppt_y</p:attrName>
                                        </p:attrNameLst>
                                      </p:cBhvr>
                                      <p:rCtr x="0" y="13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p:cNvPicPr>
          <p:nvPr/>
        </p:nvPicPr>
        <p:blipFill>
          <a:blip r:embed="rId3">
            <a:extLst>
              <a:ext uri="{28A0092B-C50C-407E-A947-70E740481C1C}">
                <a14:useLocalDpi xmlns:a14="http://schemas.microsoft.com/office/drawing/2010/main" val="0"/>
              </a:ext>
            </a:extLst>
          </a:blip>
          <a:stretch>
            <a:fillRect/>
          </a:stretch>
        </p:blipFill>
        <p:spPr>
          <a:xfrm>
            <a:off x="1334556" y="1737513"/>
            <a:ext cx="5486400" cy="4114800"/>
          </a:xfrm>
          <a:prstGeom prst="rect">
            <a:avLst/>
          </a:prstGeom>
        </p:spPr>
      </p:pic>
      <p:pic>
        <p:nvPicPr>
          <p:cNvPr id="5" name="Picture 4"/>
          <p:cNvPicPr>
            <a:picLocks noChangeAspect="1"/>
          </p:cNvPicPr>
          <p:nvPr/>
        </p:nvPicPr>
        <p:blipFill>
          <a:blip r:embed="rId4"/>
          <a:stretch>
            <a:fillRect/>
          </a:stretch>
        </p:blipFill>
        <p:spPr>
          <a:xfrm>
            <a:off x="4077756" y="2311692"/>
            <a:ext cx="1086002" cy="485843"/>
          </a:xfrm>
          <a:prstGeom prst="rect">
            <a:avLst/>
          </a:prstGeom>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12</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18" name="Picture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11377" y="2228850"/>
            <a:ext cx="206374" cy="333375"/>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11523" y="2311692"/>
            <a:ext cx="211108" cy="341021"/>
          </a:xfrm>
          <a:prstGeom prst="rect">
            <a:avLst/>
          </a:prstGeom>
        </p:spPr>
      </p:pic>
      <p:pic>
        <p:nvPicPr>
          <p:cNvPr id="6" name="Picture 5"/>
          <p:cNvPicPr>
            <a:picLocks noChangeAspect="1"/>
          </p:cNvPicPr>
          <p:nvPr/>
        </p:nvPicPr>
        <p:blipFill>
          <a:blip r:embed="rId7"/>
          <a:stretch>
            <a:fillRect/>
          </a:stretch>
        </p:blipFill>
        <p:spPr>
          <a:xfrm>
            <a:off x="1766887" y="3581401"/>
            <a:ext cx="192272" cy="1066800"/>
          </a:xfrm>
          <a:prstGeom prst="rect">
            <a:avLst/>
          </a:prstGeom>
        </p:spPr>
      </p:pic>
      <p:pic>
        <p:nvPicPr>
          <p:cNvPr id="7" name="Picture 6"/>
          <p:cNvPicPr>
            <a:picLocks noChangeAspect="1"/>
          </p:cNvPicPr>
          <p:nvPr/>
        </p:nvPicPr>
        <p:blipFill>
          <a:blip r:embed="rId8"/>
          <a:stretch>
            <a:fillRect/>
          </a:stretch>
        </p:blipFill>
        <p:spPr>
          <a:xfrm>
            <a:off x="2299232" y="3794913"/>
            <a:ext cx="1889381" cy="905001"/>
          </a:xfrm>
          <a:prstGeom prst="rect">
            <a:avLst/>
          </a:prstGeom>
        </p:spPr>
      </p:pic>
      <p:pic>
        <p:nvPicPr>
          <p:cNvPr id="16" name="Picture 1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78001" y="4022216"/>
            <a:ext cx="2128306" cy="244984"/>
          </a:xfrm>
          <a:prstGeom prst="rect">
            <a:avLst/>
          </a:prstGeom>
        </p:spPr>
      </p:pic>
    </p:spTree>
    <p:extLst>
      <p:ext uri="{BB962C8B-B14F-4D97-AF65-F5344CB8AC3E}">
        <p14:creationId xmlns:p14="http://schemas.microsoft.com/office/powerpoint/2010/main" val="321732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88889E-6 1.85185E-6 L -3.88889E-6 -0.07338 " pathEditMode="relative" rAng="0" ptsTypes="AA">
                                      <p:cBhvr>
                                        <p:cTn id="6" dur="4000" fill="hold"/>
                                        <p:tgtEl>
                                          <p:spTgt spid="16"/>
                                        </p:tgtEl>
                                        <p:attrNameLst>
                                          <p:attrName>ppt_x</p:attrName>
                                          <p:attrName>ppt_y</p:attrName>
                                        </p:attrNameLst>
                                      </p:cBhvr>
                                      <p:rCtr x="0" y="-3681"/>
                                    </p:animMotion>
                                  </p:childTnLst>
                                </p:cTn>
                              </p:par>
                              <p:par>
                                <p:cTn id="7" presetID="42" presetClass="path" presetSubtype="0" accel="50000" decel="50000" fill="hold" nodeType="withEffect">
                                  <p:stCondLst>
                                    <p:cond delay="0"/>
                                  </p:stCondLst>
                                  <p:childTnLst>
                                    <p:animMotion origin="layout" path="M 0 4.44444E-6 L 0 0.15185 " pathEditMode="relative" rAng="0" ptsTypes="AA">
                                      <p:cBhvr>
                                        <p:cTn id="8" dur="4000" fill="hold"/>
                                        <p:tgtEl>
                                          <p:spTgt spid="18"/>
                                        </p:tgtEl>
                                        <p:attrNameLst>
                                          <p:attrName>ppt_x</p:attrName>
                                          <p:attrName>ppt_y</p:attrName>
                                        </p:attrNameLst>
                                      </p:cBhvr>
                                      <p:rCtr x="0" y="7593"/>
                                    </p:animMotion>
                                  </p:childTnLst>
                                </p:cTn>
                              </p:par>
                              <p:par>
                                <p:cTn id="9" presetID="42" presetClass="path" presetSubtype="0" accel="50000" decel="50000" fill="hold" nodeType="withEffect">
                                  <p:stCondLst>
                                    <p:cond delay="0"/>
                                  </p:stCondLst>
                                  <p:childTnLst>
                                    <p:animMotion origin="layout" path="M 1.38889E-6 4.44444E-6 L 1.38889E-6 0.14953 " pathEditMode="relative" rAng="0" ptsTypes="AA">
                                      <p:cBhvr>
                                        <p:cTn id="10" dur="4000" fill="hold"/>
                                        <p:tgtEl>
                                          <p:spTgt spid="19"/>
                                        </p:tgtEl>
                                        <p:attrNameLst>
                                          <p:attrName>ppt_x</p:attrName>
                                          <p:attrName>ppt_y</p:attrName>
                                        </p:attrNameLst>
                                      </p:cBhvr>
                                      <p:rCtr x="0" y="7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100018" y="6104824"/>
            <a:ext cx="59554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6 </a:t>
            </a:r>
            <a:r>
              <a:rPr lang="fa-IR" dirty="0" smtClean="0">
                <a:latin typeface="Times New Roman" panose="02020603050405020304" pitchFamily="18" charset="0"/>
                <a:cs typeface="B Lotus" panose="00000400000000000000" pitchFamily="2" charset="-78"/>
              </a:rPr>
              <a:t>نمونه ای از خوشه بندی </a:t>
            </a:r>
            <a:r>
              <a:rPr lang="en-US" dirty="0" smtClean="0">
                <a:latin typeface="Times New Roman" panose="02020603050405020304" pitchFamily="18" charset="0"/>
                <a:cs typeface="B Lotus" panose="00000400000000000000" pitchFamily="2" charset="-78"/>
              </a:rPr>
              <a:t>DBSCAN</a:t>
            </a:r>
            <a:r>
              <a:rPr lang="fa-IR" dirty="0" smtClean="0">
                <a:latin typeface="Times New Roman" panose="02020603050405020304" pitchFamily="18" charset="0"/>
                <a:cs typeface="B Lotus" panose="00000400000000000000" pitchFamily="2" charset="-78"/>
              </a:rPr>
              <a:t> در مرحله 1 از فرآیند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13</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4" name="Picture 3"/>
          <p:cNvPicPr>
            <a:picLocks/>
          </p:cNvPicPr>
          <p:nvPr/>
        </p:nvPicPr>
        <p:blipFill>
          <a:blip r:embed="rId4">
            <a:extLst>
              <a:ext uri="{28A0092B-C50C-407E-A947-70E740481C1C}">
                <a14:useLocalDpi xmlns:a14="http://schemas.microsoft.com/office/drawing/2010/main" val="0"/>
              </a:ext>
            </a:extLst>
          </a:blip>
          <a:stretch>
            <a:fillRect/>
          </a:stretch>
        </p:blipFill>
        <p:spPr>
          <a:xfrm>
            <a:off x="1334556" y="1737513"/>
            <a:ext cx="5486400" cy="4114800"/>
          </a:xfrm>
          <a:prstGeom prst="rect">
            <a:avLst/>
          </a:prstGeom>
        </p:spPr>
      </p:pic>
    </p:spTree>
    <p:extLst>
      <p:ext uri="{BB962C8B-B14F-4D97-AF65-F5344CB8AC3E}">
        <p14:creationId xmlns:p14="http://schemas.microsoft.com/office/powerpoint/2010/main" val="3184638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1722921" y="6291506"/>
            <a:ext cx="4883068"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8 مقایسه </a:t>
            </a:r>
            <a:r>
              <a:rPr lang="fa-IR" dirty="0">
                <a:latin typeface="Times New Roman" panose="02020603050405020304" pitchFamily="18" charset="0"/>
                <a:ea typeface="Calibri" panose="020F0502020204030204" pitchFamily="34" charset="0"/>
                <a:cs typeface="B Lotus" panose="00000400000000000000" pitchFamily="2" charset="-78"/>
              </a:rPr>
              <a:t>تأثیر </a:t>
            </a:r>
            <a:r>
              <a:rPr lang="fa-IR" dirty="0" smtClean="0">
                <a:latin typeface="Times New Roman" panose="02020603050405020304" pitchFamily="18" charset="0"/>
                <a:ea typeface="Calibri" panose="020F0502020204030204" pitchFamily="34" charset="0"/>
                <a:cs typeface="B Lotus" panose="00000400000000000000" pitchFamily="2" charset="-78"/>
              </a:rPr>
              <a:t>اپسیلون </a:t>
            </a:r>
            <a:r>
              <a:rPr lang="fa-IR" dirty="0">
                <a:latin typeface="Times New Roman" panose="02020603050405020304" pitchFamily="18" charset="0"/>
                <a:ea typeface="Calibri" panose="020F0502020204030204" pitchFamily="34" charset="0"/>
                <a:cs typeface="B Lotus" panose="00000400000000000000" pitchFamily="2" charset="-78"/>
              </a:rPr>
              <a:t>در نتایج </a:t>
            </a:r>
            <a:r>
              <a:rPr lang="fa-IR" dirty="0" smtClean="0">
                <a:latin typeface="Times New Roman" panose="02020603050405020304" pitchFamily="18" charset="0"/>
                <a:ea typeface="Calibri" panose="020F0502020204030204" pitchFamily="34" charset="0"/>
                <a:cs typeface="B Lotus" panose="00000400000000000000" pitchFamily="2" charset="-78"/>
              </a:rPr>
              <a:t>خوشه بندی و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14</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64242" y="54759"/>
            <a:ext cx="1600202"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پیشنهادی</a:t>
            </a:r>
          </a:p>
        </p:txBody>
      </p:sp>
      <p:pic>
        <p:nvPicPr>
          <p:cNvPr id="9" name="Picture 8">
            <a:extLst>
              <a:ext uri="{FF2B5EF4-FFF2-40B4-BE49-F238E27FC236}">
                <a16:creationId xmlns:a16="http://schemas.microsoft.com/office/drawing/2014/main" xmlns="" id="{2B4C75A0-C110-4706-A399-1BE002E200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844" y="1698668"/>
            <a:ext cx="8848382" cy="4586288"/>
          </a:xfrm>
          <a:prstGeom prst="rect">
            <a:avLst/>
          </a:prstGeom>
        </p:spPr>
      </p:pic>
      <p:sp>
        <p:nvSpPr>
          <p:cNvPr id="15" name="Rectangle 14"/>
          <p:cNvSpPr/>
          <p:nvPr/>
        </p:nvSpPr>
        <p:spPr>
          <a:xfrm>
            <a:off x="8435472" y="2343734"/>
            <a:ext cx="59984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(الف)</a:t>
            </a:r>
            <a:endParaRPr lang="en-US" dirty="0"/>
          </a:p>
        </p:txBody>
      </p:sp>
      <p:sp>
        <p:nvSpPr>
          <p:cNvPr id="16" name="Rectangle 15"/>
          <p:cNvSpPr/>
          <p:nvPr/>
        </p:nvSpPr>
        <p:spPr>
          <a:xfrm>
            <a:off x="8483562" y="3941131"/>
            <a:ext cx="50366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(ب)</a:t>
            </a:r>
            <a:endParaRPr lang="en-US" dirty="0"/>
          </a:p>
        </p:txBody>
      </p:sp>
      <p:sp>
        <p:nvSpPr>
          <p:cNvPr id="17" name="Rectangle 16"/>
          <p:cNvSpPr/>
          <p:nvPr/>
        </p:nvSpPr>
        <p:spPr>
          <a:xfrm>
            <a:off x="8518787" y="5353862"/>
            <a:ext cx="457176"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18" name="TextBox 17">
            <a:extLst>
              <a:ext uri="{FF2B5EF4-FFF2-40B4-BE49-F238E27FC236}">
                <a16:creationId xmlns:a16="http://schemas.microsoft.com/office/drawing/2014/main" xmlns="" id="{F43469DC-7F5B-471E-BD74-ED709E621F63}"/>
              </a:ext>
            </a:extLst>
          </p:cNvPr>
          <p:cNvSpPr txBox="1"/>
          <p:nvPr/>
        </p:nvSpPr>
        <p:spPr>
          <a:xfrm>
            <a:off x="5786855" y="1637369"/>
            <a:ext cx="2733441" cy="369332"/>
          </a:xfrm>
          <a:prstGeom prst="rect">
            <a:avLst/>
          </a:prstGeom>
          <a:noFill/>
        </p:spPr>
        <p:txBody>
          <a:bodyPr wrap="none" rtlCol="0">
            <a:spAutoFit/>
          </a:bodyPr>
          <a:lstStyle/>
          <a:p>
            <a:pPr algn="r" rtl="1"/>
            <a:r>
              <a:rPr lang="fa-IR" dirty="0">
                <a:latin typeface="Times New Roman" panose="02020603050405020304" pitchFamily="18" charset="0"/>
                <a:ea typeface="Calibri" panose="020F0502020204030204" pitchFamily="34" charset="0"/>
                <a:cs typeface="B Lotus" panose="00000400000000000000" pitchFamily="2" charset="-78"/>
              </a:rPr>
              <a:t>نتایج</a:t>
            </a:r>
            <a:r>
              <a:rPr lang="fa-IR" b="1" dirty="0" smtClean="0">
                <a:cs typeface="B Nazanin" panose="00000400000000000000" pitchFamily="2" charset="-78"/>
              </a:rPr>
              <a:t> </a:t>
            </a:r>
            <a:r>
              <a:rPr lang="fa-IR" dirty="0">
                <a:latin typeface="Times New Roman" panose="02020603050405020304" pitchFamily="18" charset="0"/>
                <a:ea typeface="Calibri" panose="020F0502020204030204" pitchFamily="34" charset="0"/>
                <a:cs typeface="B Lotus" panose="00000400000000000000" pitchFamily="2" charset="-78"/>
              </a:rPr>
              <a:t>همسان سازی با </a:t>
            </a:r>
            <a:r>
              <a:rPr lang="en-US" dirty="0">
                <a:latin typeface="Times New Roman" panose="02020603050405020304" pitchFamily="18" charset="0"/>
                <a:ea typeface="Calibri" panose="020F0502020204030204" pitchFamily="34" charset="0"/>
                <a:cs typeface="B Lotus" panose="00000400000000000000" pitchFamily="2" charset="-78"/>
              </a:rPr>
              <a:t>DBSCAN</a:t>
            </a:r>
            <a:endParaRPr lang="fa-IR" dirty="0">
              <a:latin typeface="Times New Roman" panose="02020603050405020304" pitchFamily="18" charset="0"/>
              <a:ea typeface="Calibri" panose="020F0502020204030204" pitchFamily="34" charset="0"/>
              <a:cs typeface="B Lotus" panose="00000400000000000000" pitchFamily="2" charset="-78"/>
            </a:endParaRPr>
          </a:p>
        </p:txBody>
      </p:sp>
      <p:sp>
        <p:nvSpPr>
          <p:cNvPr id="2" name="Rectangle 1"/>
          <p:cNvSpPr/>
          <p:nvPr/>
        </p:nvSpPr>
        <p:spPr>
          <a:xfrm>
            <a:off x="10134600" y="2317855"/>
            <a:ext cx="599844" cy="3693319"/>
          </a:xfrm>
          <a:prstGeom prst="rect">
            <a:avLst/>
          </a:prstGeom>
        </p:spPr>
        <p:txBody>
          <a:bodyPr wrap="none">
            <a:spAutoFit/>
          </a:bodyPr>
          <a:lstStyle/>
          <a:p>
            <a:r>
              <a:rPr lang="fa-IR" dirty="0">
                <a:latin typeface="Times New Roman" panose="02020603050405020304" pitchFamily="18" charset="0"/>
                <a:ea typeface="Calibri" panose="020F0502020204030204" pitchFamily="34" charset="0"/>
                <a:cs typeface="B Lotus" panose="00000400000000000000" pitchFamily="2" charset="-78"/>
              </a:rPr>
              <a:t>(الف</a:t>
            </a:r>
            <a:r>
              <a:rPr lang="fa-IR" dirty="0" smtClean="0">
                <a:latin typeface="Times New Roman" panose="02020603050405020304" pitchFamily="18" charset="0"/>
                <a:ea typeface="Calibri" panose="020F0502020204030204" pitchFamily="34" charset="0"/>
                <a:cs typeface="B Lotus" panose="00000400000000000000" pitchFamily="2" charset="-78"/>
              </a:rPr>
              <a:t>)</a:t>
            </a:r>
          </a:p>
          <a:p>
            <a:endParaRPr lang="fa-IR" dirty="0">
              <a:latin typeface="Times New Roman" panose="02020603050405020304" pitchFamily="18" charset="0"/>
              <a:cs typeface="B Lotus" panose="00000400000000000000" pitchFamily="2" charset="-78"/>
            </a:endParaRPr>
          </a:p>
          <a:p>
            <a:endParaRPr lang="fa-IR" dirty="0" smtClean="0">
              <a:latin typeface="Times New Roman" panose="02020603050405020304" pitchFamily="18" charset="0"/>
              <a:cs typeface="B Lotus" panose="00000400000000000000" pitchFamily="2" charset="-78"/>
            </a:endParaRPr>
          </a:p>
          <a:p>
            <a:endParaRPr lang="fa-IR" dirty="0">
              <a:latin typeface="Times New Roman" panose="02020603050405020304" pitchFamily="18" charset="0"/>
              <a:cs typeface="B Lotus" panose="00000400000000000000" pitchFamily="2" charset="-78"/>
            </a:endParaRPr>
          </a:p>
          <a:p>
            <a:endParaRPr lang="fa-IR" dirty="0" smtClean="0">
              <a:latin typeface="Times New Roman" panose="02020603050405020304" pitchFamily="18" charset="0"/>
              <a:cs typeface="B Lotus" panose="00000400000000000000" pitchFamily="2" charset="-78"/>
            </a:endParaRPr>
          </a:p>
          <a:p>
            <a:r>
              <a:rPr lang="fa-IR" dirty="0">
                <a:latin typeface="Times New Roman" panose="02020603050405020304" pitchFamily="18" charset="0"/>
                <a:ea typeface="Calibri" panose="020F0502020204030204" pitchFamily="34" charset="0"/>
                <a:cs typeface="B Lotus" panose="00000400000000000000" pitchFamily="2" charset="-78"/>
              </a:rPr>
              <a:t>(ب)</a:t>
            </a:r>
            <a:endParaRPr lang="en-US" dirty="0"/>
          </a:p>
          <a:p>
            <a:endParaRPr lang="fa-IR" dirty="0" smtClean="0"/>
          </a:p>
          <a:p>
            <a:endParaRPr lang="fa-IR" dirty="0"/>
          </a:p>
          <a:p>
            <a:endParaRPr lang="fa-IR" dirty="0" smtClean="0"/>
          </a:p>
          <a:p>
            <a:endParaRPr lang="fa-IR" dirty="0"/>
          </a:p>
          <a:p>
            <a:endParaRPr lang="fa-IR" dirty="0" smtClean="0"/>
          </a:p>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a:p>
            <a:endParaRPr lang="en-US" dirty="0"/>
          </a:p>
        </p:txBody>
      </p:sp>
    </p:spTree>
    <p:extLst>
      <p:ext uri="{BB962C8B-B14F-4D97-AF65-F5344CB8AC3E}">
        <p14:creationId xmlns:p14="http://schemas.microsoft.com/office/powerpoint/2010/main" val="38176282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2652799" y="6294355"/>
            <a:ext cx="335059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9 نقش اپسیلون در نتایج همسان سازی.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15</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64242" y="54759"/>
            <a:ext cx="1600202"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پیشنهادی</a:t>
            </a:r>
          </a:p>
        </p:txBody>
      </p:sp>
      <p:pic>
        <p:nvPicPr>
          <p:cNvPr id="2" name="Picture 1">
            <a:extLst>
              <a:ext uri="{FF2B5EF4-FFF2-40B4-BE49-F238E27FC236}">
                <a16:creationId xmlns:a16="http://schemas.microsoft.com/office/drawing/2014/main" xmlns="" id="{6C503396-79A2-47A1-92ED-C6AE4EA9FF7E}"/>
              </a:ext>
            </a:extLst>
          </p:cNvPr>
          <p:cNvPicPr>
            <a:picLocks noChangeAspect="1"/>
          </p:cNvPicPr>
          <p:nvPr/>
        </p:nvPicPr>
        <p:blipFill>
          <a:blip r:embed="rId4"/>
          <a:stretch>
            <a:fillRect/>
          </a:stretch>
        </p:blipFill>
        <p:spPr>
          <a:xfrm>
            <a:off x="1532863" y="964608"/>
            <a:ext cx="5924550" cy="5326898"/>
          </a:xfrm>
          <a:prstGeom prst="rect">
            <a:avLst/>
          </a:prstGeom>
        </p:spPr>
      </p:pic>
    </p:spTree>
    <p:extLst>
      <p:ext uri="{BB962C8B-B14F-4D97-AF65-F5344CB8AC3E}">
        <p14:creationId xmlns:p14="http://schemas.microsoft.com/office/powerpoint/2010/main" val="12973496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2598964" y="6291506"/>
            <a:ext cx="3130986"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10 فلوچارت همسان ساز پیشنهادی.</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16</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64242" y="54759"/>
            <a:ext cx="1600202"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پیشنهادی</a:t>
            </a:r>
          </a:p>
        </p:txBody>
      </p:sp>
      <p:pic>
        <p:nvPicPr>
          <p:cNvPr id="2" name="Picture 1"/>
          <p:cNvPicPr>
            <a:picLocks noChangeAspect="1"/>
          </p:cNvPicPr>
          <p:nvPr/>
        </p:nvPicPr>
        <p:blipFill>
          <a:blip r:embed="rId4"/>
          <a:stretch>
            <a:fillRect/>
          </a:stretch>
        </p:blipFill>
        <p:spPr>
          <a:xfrm>
            <a:off x="24102" y="1535132"/>
            <a:ext cx="9095795" cy="4103667"/>
          </a:xfrm>
          <a:prstGeom prst="rect">
            <a:avLst/>
          </a:prstGeom>
        </p:spPr>
      </p:pic>
    </p:spTree>
    <p:extLst>
      <p:ext uri="{BB962C8B-B14F-4D97-AF65-F5344CB8AC3E}">
        <p14:creationId xmlns:p14="http://schemas.microsoft.com/office/powerpoint/2010/main" val="17696234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t="959"/>
          <a:stretch/>
        </p:blipFill>
        <p:spPr>
          <a:xfrm>
            <a:off x="173132" y="1143000"/>
            <a:ext cx="8639175" cy="4028183"/>
          </a:xfrm>
          <a:prstGeom prst="rect">
            <a:avLst/>
          </a:prstGeom>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17</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17" name="Rectangle 16"/>
          <p:cNvSpPr/>
          <p:nvPr/>
        </p:nvSpPr>
        <p:spPr>
          <a:xfrm>
            <a:off x="173132" y="917419"/>
            <a:ext cx="4453146" cy="369332"/>
          </a:xfrm>
          <a:prstGeom prst="rect">
            <a:avLst/>
          </a:prstGeom>
        </p:spPr>
        <p:txBody>
          <a:bodyPr wrap="square">
            <a:spAutoFit/>
          </a:bodyPr>
          <a:lstStyle/>
          <a:p>
            <a:pPr rtl="1" fontAlgn="base">
              <a:spcBef>
                <a:spcPct val="0"/>
              </a:spcBef>
              <a:spcAft>
                <a:spcPct val="0"/>
              </a:spcAft>
            </a:pPr>
            <a:r>
              <a:rPr lang="fa-IR" dirty="0" smtClean="0">
                <a:cs typeface="B Lotus" panose="00000400000000000000" pitchFamily="2" charset="-78"/>
              </a:rPr>
              <a:t>بهنیه سازی بر</a:t>
            </a:r>
            <a:r>
              <a:rPr lang="en-US" dirty="0" smtClean="0">
                <a:cs typeface="B Lotus" panose="00000400000000000000" pitchFamily="2" charset="-78"/>
              </a:rPr>
              <a:t> </a:t>
            </a:r>
            <a:r>
              <a:rPr lang="fa-IR" dirty="0" smtClean="0">
                <a:cs typeface="B Lotus" panose="00000400000000000000" pitchFamily="2" charset="-78"/>
              </a:rPr>
              <a:t>اساس ازدحام ذرات (</a:t>
            </a:r>
            <a:r>
              <a:rPr lang="en-US" dirty="0" smtClean="0">
                <a:latin typeface="Times New Roman" panose="02020603050405020304" pitchFamily="18" charset="0"/>
                <a:cs typeface="Times New Roman" panose="02020603050405020304" pitchFamily="18" charset="0"/>
              </a:rPr>
              <a:t>PSO</a:t>
            </a:r>
            <a:r>
              <a:rPr lang="fa-IR" dirty="0" smtClean="0">
                <a:cs typeface="B Lotus" panose="00000400000000000000" pitchFamily="2" charset="-78"/>
              </a:rPr>
              <a: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Rectangle 1"/>
              <p:cNvSpPr/>
              <p:nvPr/>
            </p:nvSpPr>
            <p:spPr>
              <a:xfrm>
                <a:off x="685800" y="5743151"/>
                <a:ext cx="4962525"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d>
                        <m:dPr>
                          <m:beg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𝜀</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r>
                            <a:rPr lang="en-US" sz="2400" i="0">
                              <a:latin typeface="Cambria Math" panose="02040503050406030204" pitchFamily="18" charset="0"/>
                            </a:rPr>
                            <m:t>1</m:t>
                          </m:r>
                          <m:r>
                            <a:rPr lang="en-US" sz="2400" i="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𝜀</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𝑣</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r>
                            <a:rPr lang="en-US" sz="2400" i="0">
                              <a:latin typeface="Cambria Math" panose="02040503050406030204" pitchFamily="18" charset="0"/>
                            </a:rPr>
                            <m:t>1</m:t>
                          </m:r>
                        </m:e>
                      </m:d>
                    </m:oMath>
                  </m:oMathPara>
                </a14:m>
                <a:endParaRPr lang="en-US" sz="2400" dirty="0"/>
              </a:p>
            </p:txBody>
          </p:sp>
        </mc:Choice>
        <mc:Fallback xmlns="">
          <p:sp>
            <p:nvSpPr>
              <p:cNvPr id="2" name="Rectangle 1"/>
              <p:cNvSpPr>
                <a:spLocks noRot="1" noChangeAspect="1" noMove="1" noResize="1" noEditPoints="1" noAdjustHandles="1" noChangeArrowheads="1" noChangeShapeType="1" noTextEdit="1"/>
              </p:cNvSpPr>
              <p:nvPr/>
            </p:nvSpPr>
            <p:spPr>
              <a:xfrm>
                <a:off x="685800" y="5743151"/>
                <a:ext cx="4962525" cy="461665"/>
              </a:xfrm>
              <a:prstGeom prst="rect">
                <a:avLst/>
              </a:prstGeom>
              <a:blipFill rotWithShape="0">
                <a:blip r:embed="rId5"/>
                <a:stretch>
                  <a:fillRect l="-123" t="-127632" b="-1973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79383" y="6291141"/>
                <a:ext cx="9159942" cy="50917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𝑣</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r>
                        <a:rPr lang="en-US" sz="2400" i="0">
                          <a:latin typeface="Cambria Math" panose="02040503050406030204" pitchFamily="18" charset="0"/>
                        </a:rPr>
                        <m:t>1</m:t>
                      </m:r>
                      <m:r>
                        <a:rPr lang="en-US" sz="2400" i="0">
                          <a:latin typeface="Cambria Math" panose="02040503050406030204" pitchFamily="18" charset="0"/>
                        </a:rPr>
                        <m:t>)=</m:t>
                      </m:r>
                      <m:r>
                        <a:rPr lang="en-US" sz="2400" i="1">
                          <a:latin typeface="Cambria Math" panose="02040503050406030204" pitchFamily="18" charset="0"/>
                        </a:rPr>
                        <m:t>𝑤</m:t>
                      </m:r>
                      <m:r>
                        <a:rPr lang="en-US" sz="2400" i="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𝑣</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i="0">
                              <a:latin typeface="Cambria Math" panose="02040503050406030204" pitchFamily="18" charset="0"/>
                            </a:rPr>
                            <m:t>1</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𝑟</m:t>
                          </m:r>
                        </m:e>
                        <m:sub>
                          <m:r>
                            <a:rPr lang="en-US" sz="2400" i="0">
                              <a:latin typeface="Cambria Math" panose="02040503050406030204" pitchFamily="18" charset="0"/>
                            </a:rPr>
                            <m:t>1</m:t>
                          </m:r>
                        </m:sub>
                      </m:sSub>
                      <m:r>
                        <a:rPr lang="en-US" sz="2400" i="0">
                          <a:latin typeface="Cambria Math" panose="02040503050406030204" pitchFamily="18" charset="0"/>
                        </a:rPr>
                        <m:t>⋅</m:t>
                      </m:r>
                      <m:d>
                        <m:dPr>
                          <m:ctrlPr>
                            <a:rPr lang="en-US" sz="2400" i="1">
                              <a:latin typeface="Cambria Math" panose="02040503050406030204" pitchFamily="18" charset="0"/>
                            </a:rPr>
                          </m:ctrlPr>
                        </m:dPr>
                        <m:e>
                          <m:d>
                            <m:dPr>
                              <m:beg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e>
                                <m:sub>
                                  <m:r>
                                    <a:rPr lang="en-US" sz="2400" i="1">
                                      <a:latin typeface="Cambria Math" panose="02040503050406030204" pitchFamily="18" charset="0"/>
                                    </a:rPr>
                                    <m:t>𝑖</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𝜀</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e>
                          </m:d>
                        </m:e>
                      </m:d>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i="0">
                              <a:latin typeface="Cambria Math" panose="02040503050406030204" pitchFamily="18" charset="0"/>
                            </a:rPr>
                            <m:t>2</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𝑟</m:t>
                          </m:r>
                        </m:e>
                        <m:sub>
                          <m:r>
                            <a:rPr lang="en-US" sz="2400" i="0">
                              <a:latin typeface="Cambria Math" panose="02040503050406030204" pitchFamily="18" charset="0"/>
                            </a:rPr>
                            <m:t>2</m:t>
                          </m:r>
                        </m:sub>
                      </m:sSub>
                      <m:r>
                        <a:rPr lang="en-US" sz="2400" i="0">
                          <a:latin typeface="Cambria Math" panose="02040503050406030204" pitchFamily="18" charset="0"/>
                        </a:rPr>
                        <m:t>⋅</m:t>
                      </m:r>
                      <m:d>
                        <m:dPr>
                          <m:ctrlPr>
                            <a:rPr lang="en-US" sz="2400" i="1">
                              <a:latin typeface="Cambria Math" panose="02040503050406030204" pitchFamily="18" charset="0"/>
                            </a:rPr>
                          </m:ctrlPr>
                        </m:dPr>
                        <m:e>
                          <m:d>
                            <m:dPr>
                              <m:beg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𝑔</m:t>
                                  </m:r>
                                </m:e>
                              </m:acc>
                              <m:r>
                                <a:rPr lang="en-US" sz="2400" i="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𝜀</m:t>
                                      </m:r>
                                    </m:e>
                                  </m:acc>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𝑡</m:t>
                              </m:r>
                            </m:e>
                          </m:d>
                        </m:e>
                      </m:d>
                    </m:oMath>
                  </m:oMathPara>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679383" y="6291141"/>
                <a:ext cx="9159942" cy="509178"/>
              </a:xfrm>
              <a:prstGeom prst="rect">
                <a:avLst/>
              </a:prstGeom>
              <a:blipFill rotWithShape="0">
                <a:blip r:embed="rId6"/>
                <a:stretch>
                  <a:fillRect/>
                </a:stretch>
              </a:blipFill>
            </p:spPr>
            <p:txBody>
              <a:bodyPr/>
              <a:lstStyle/>
              <a:p>
                <a:r>
                  <a:rPr lang="en-US">
                    <a:noFill/>
                  </a:rPr>
                  <a:t> </a:t>
                </a:r>
              </a:p>
            </p:txBody>
          </p:sp>
        </mc:Fallback>
      </mc:AlternateContent>
      <p:sp>
        <p:nvSpPr>
          <p:cNvPr id="21" name="Rounded Rectangle 175">
            <a:extLst>
              <a:ext uri="{FF2B5EF4-FFF2-40B4-BE49-F238E27FC236}">
                <a16:creationId xmlns:a16="http://schemas.microsoft.com/office/drawing/2014/main" xmlns="" id="{72F1F36F-BC0F-4EAB-B733-3BEB63BA174F}"/>
              </a:ext>
            </a:extLst>
          </p:cNvPr>
          <p:cNvSpPr/>
          <p:nvPr/>
        </p:nvSpPr>
        <p:spPr bwMode="auto">
          <a:xfrm>
            <a:off x="5029200" y="1066930"/>
            <a:ext cx="42178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2000" b="1" dirty="0">
              <a:solidFill>
                <a:srgbClr val="FFFFFF"/>
              </a:solidFill>
              <a:latin typeface="Times New Roman" panose="02020603050405020304" pitchFamily="18" charset="0"/>
              <a:cs typeface="B Nazanin" panose="00000400000000000000" pitchFamily="2" charset="-78"/>
            </a:endParaRPr>
          </a:p>
        </p:txBody>
      </p:sp>
      <p:sp>
        <p:nvSpPr>
          <p:cNvPr id="18" name="Rectangle 17">
            <a:extLst>
              <a:ext uri="{FF2B5EF4-FFF2-40B4-BE49-F238E27FC236}">
                <a16:creationId xmlns:a16="http://schemas.microsoft.com/office/drawing/2014/main" xmlns="" id="{DBC95E25-1BC4-4BA6-800E-CB747C68872A}"/>
              </a:ext>
            </a:extLst>
          </p:cNvPr>
          <p:cNvSpPr/>
          <p:nvPr/>
        </p:nvSpPr>
        <p:spPr>
          <a:xfrm>
            <a:off x="1987875" y="5107745"/>
            <a:ext cx="5009706"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11 نحوه حرکت ذره ها (اپسیلون ها) برای یافتن کمترین هزینه.</a:t>
            </a:r>
            <a:endParaRPr lang="en-US" dirty="0"/>
          </a:p>
        </p:txBody>
      </p:sp>
    </p:spTree>
    <p:extLst>
      <p:ext uri="{BB962C8B-B14F-4D97-AF65-F5344CB8AC3E}">
        <p14:creationId xmlns:p14="http://schemas.microsoft.com/office/powerpoint/2010/main" val="24919012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533" y="17033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4"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8181" y="21391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6" name="AutoShape 5">
            <a:extLst>
              <a:ext uri="{FF2B5EF4-FFF2-40B4-BE49-F238E27FC236}">
                <a16:creationId xmlns:a16="http://schemas.microsoft.com/office/drawing/2014/main" xmlns="" id="{A1924C9B-0919-470E-9298-E5DFCF302DF3}"/>
              </a:ext>
            </a:extLst>
          </p:cNvPr>
          <p:cNvSpPr>
            <a:spLocks noChangeAspect="1" noChangeArrowheads="1"/>
          </p:cNvSpPr>
          <p:nvPr/>
        </p:nvSpPr>
        <p:spPr bwMode="gray">
          <a:xfrm>
            <a:off x="3397853" y="5484630"/>
            <a:ext cx="3920947" cy="508000"/>
          </a:xfrm>
          <a:prstGeom prst="roundRect">
            <a:avLst>
              <a:gd name="adj" fmla="val 50000"/>
            </a:avLst>
          </a:prstGeom>
          <a:gradFill flip="none" rotWithShape="1">
            <a:gsLst>
              <a:gs pos="0">
                <a:srgbClr val="C4E59F">
                  <a:tint val="66000"/>
                  <a:satMod val="160000"/>
                </a:srgbClr>
              </a:gs>
              <a:gs pos="50000">
                <a:srgbClr val="C4E59F">
                  <a:tint val="44500"/>
                  <a:satMod val="160000"/>
                </a:srgbClr>
              </a:gs>
              <a:gs pos="100000">
                <a:srgbClr val="C4E59F">
                  <a:tint val="23500"/>
                  <a:satMod val="160000"/>
                </a:srgbClr>
              </a:gs>
            </a:gsLst>
            <a:lin ang="0" scaled="1"/>
            <a:tileRect/>
          </a:gradFill>
          <a:ln w="28575" algn="ctr">
            <a:solidFill>
              <a:srgbClr val="C4E59F"/>
            </a:solidFill>
            <a:round/>
            <a:headEnd/>
            <a:tailEnd/>
          </a:ln>
          <a:effectLst/>
        </p:spPr>
        <p:txBody>
          <a:bodyPr wrap="none" anchor="ctr"/>
          <a:lstStyle/>
          <a:p>
            <a:pPr algn="r" fontAlgn="base">
              <a:spcBef>
                <a:spcPct val="0"/>
              </a:spcBef>
              <a:spcAft>
                <a:spcPct val="0"/>
              </a:spcAft>
            </a:pPr>
            <a:r>
              <a:rPr lang="fa-IR" b="1" dirty="0" smtClean="0">
                <a:latin typeface="Times New Roman" panose="02020603050405020304" pitchFamily="18" charset="0"/>
                <a:cs typeface="B Nazanin" pitchFamily="2" charset="-78"/>
              </a:rPr>
              <a:t> اثر هر سه وزن به صورت برابر</a:t>
            </a:r>
            <a:endParaRPr lang="en-US" b="1" dirty="0">
              <a:latin typeface="Times New Roman" panose="02020603050405020304" pitchFamily="18" charset="0"/>
              <a:cs typeface="Times New Roman" panose="02020603050405020304" pitchFamily="18" charset="0"/>
            </a:endParaRPr>
          </a:p>
        </p:txBody>
      </p:sp>
      <p:sp>
        <p:nvSpPr>
          <p:cNvPr id="17" name="AutoShape 6">
            <a:extLst>
              <a:ext uri="{FF2B5EF4-FFF2-40B4-BE49-F238E27FC236}">
                <a16:creationId xmlns:a16="http://schemas.microsoft.com/office/drawing/2014/main" xmlns="" id="{1F8AE669-1568-4178-BF56-57E58EA0C127}"/>
              </a:ext>
            </a:extLst>
          </p:cNvPr>
          <p:cNvSpPr>
            <a:spLocks noChangeAspect="1" noChangeArrowheads="1"/>
          </p:cNvSpPr>
          <p:nvPr/>
        </p:nvSpPr>
        <p:spPr bwMode="gray">
          <a:xfrm>
            <a:off x="2373921" y="4483708"/>
            <a:ext cx="4461912"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smtClean="0">
                <a:solidFill>
                  <a:srgbClr val="000000"/>
                </a:solidFill>
                <a:latin typeface="Times New Roman" panose="02020603050405020304" pitchFamily="18" charset="0"/>
                <a:cs typeface="B Nazanin" pitchFamily="2" charset="-78"/>
              </a:rPr>
              <a:t>اثر </a:t>
            </a:r>
            <a:r>
              <a:rPr lang="fa-IR" b="1" dirty="0">
                <a:solidFill>
                  <a:srgbClr val="000000"/>
                </a:solidFill>
                <a:latin typeface="Times New Roman" panose="02020603050405020304" pitchFamily="18" charset="0"/>
                <a:cs typeface="B Nazanin" pitchFamily="2" charset="-78"/>
              </a:rPr>
              <a:t>وزن یکپارچگی و میزان روی‌هم‌رفت</a:t>
            </a:r>
            <a:endParaRPr lang="en-US" b="1" dirty="0">
              <a:solidFill>
                <a:srgbClr val="000000"/>
              </a:solidFill>
              <a:latin typeface="Times New Roman" panose="02020603050405020304" pitchFamily="18" charset="0"/>
              <a:cs typeface="B Nazanin" pitchFamily="2" charset="-78"/>
            </a:endParaRPr>
          </a:p>
        </p:txBody>
      </p:sp>
      <p:sp>
        <p:nvSpPr>
          <p:cNvPr id="18" name="AutoShape 7">
            <a:extLst>
              <a:ext uri="{FF2B5EF4-FFF2-40B4-BE49-F238E27FC236}">
                <a16:creationId xmlns:a16="http://schemas.microsoft.com/office/drawing/2014/main" xmlns="" id="{3C597848-6C50-46C7-91D1-A520128CFE55}"/>
              </a:ext>
            </a:extLst>
          </p:cNvPr>
          <p:cNvSpPr>
            <a:spLocks noChangeAspect="1" noChangeArrowheads="1"/>
          </p:cNvSpPr>
          <p:nvPr/>
        </p:nvSpPr>
        <p:spPr bwMode="gray">
          <a:xfrm>
            <a:off x="2373920" y="3405732"/>
            <a:ext cx="4419600" cy="508000"/>
          </a:xfrm>
          <a:prstGeom prst="roundRect">
            <a:avLst>
              <a:gd name="adj" fmla="val 50000"/>
            </a:avLst>
          </a:prstGeom>
          <a:gradFill flip="none" rotWithShape="1">
            <a:gsLst>
              <a:gs pos="0">
                <a:srgbClr val="C4E59F">
                  <a:tint val="66000"/>
                  <a:satMod val="160000"/>
                </a:srgbClr>
              </a:gs>
              <a:gs pos="50000">
                <a:srgbClr val="C4E59F">
                  <a:tint val="44500"/>
                  <a:satMod val="160000"/>
                </a:srgbClr>
              </a:gs>
              <a:gs pos="100000">
                <a:srgbClr val="C4E59F">
                  <a:tint val="23500"/>
                  <a:satMod val="160000"/>
                </a:srgbClr>
              </a:gs>
            </a:gsLst>
            <a:lin ang="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smtClean="0">
                <a:solidFill>
                  <a:srgbClr val="000000"/>
                </a:solidFill>
                <a:latin typeface="Times New Roman" panose="02020603050405020304" pitchFamily="18" charset="0"/>
                <a:cs typeface="B Nazanin" pitchFamily="2" charset="-78"/>
              </a:rPr>
              <a:t>اثر </a:t>
            </a:r>
            <a:r>
              <a:rPr lang="fa-IR" b="1" dirty="0">
                <a:solidFill>
                  <a:srgbClr val="000000"/>
                </a:solidFill>
                <a:latin typeface="Times New Roman" panose="02020603050405020304" pitchFamily="18" charset="0"/>
                <a:cs typeface="B Nazanin" pitchFamily="2" charset="-78"/>
              </a:rPr>
              <a:t>وزن زمان همسان‌سازی و یکپارچگی</a:t>
            </a:r>
            <a:endParaRPr lang="en-US" b="1" dirty="0">
              <a:solidFill>
                <a:srgbClr val="000000"/>
              </a:solidFill>
              <a:latin typeface="Times New Roman" panose="02020603050405020304" pitchFamily="18" charset="0"/>
              <a:cs typeface="B Nazanin" pitchFamily="2" charset="-78"/>
            </a:endParaRPr>
          </a:p>
        </p:txBody>
      </p:sp>
      <p:sp>
        <p:nvSpPr>
          <p:cNvPr id="19"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3397854" y="2317319"/>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smtClean="0">
                <a:latin typeface="Times New Roman" panose="02020603050405020304" pitchFamily="18" charset="0"/>
                <a:cs typeface="B Nazanin" pitchFamily="2" charset="-78"/>
              </a:rPr>
              <a:t>اثر </a:t>
            </a:r>
            <a:r>
              <a:rPr lang="fa-IR" b="1" dirty="0">
                <a:latin typeface="Times New Roman" panose="02020603050405020304" pitchFamily="18" charset="0"/>
                <a:cs typeface="B Nazanin" pitchFamily="2" charset="-78"/>
              </a:rPr>
              <a:t>وزن یکپارچگی</a:t>
            </a:r>
            <a:endParaRPr lang="en-US" b="1" dirty="0">
              <a:latin typeface="Times New Roman" panose="02020603050405020304" pitchFamily="18" charset="0"/>
              <a:cs typeface="B Nazanin" pitchFamily="2" charset="-78"/>
            </a:endParaRPr>
          </a:p>
        </p:txBody>
      </p:sp>
      <p:grpSp>
        <p:nvGrpSpPr>
          <p:cNvPr id="20" name="Group 9">
            <a:extLst>
              <a:ext uri="{FF2B5EF4-FFF2-40B4-BE49-F238E27FC236}">
                <a16:creationId xmlns:a16="http://schemas.microsoft.com/office/drawing/2014/main" xmlns="" id="{51B5EA01-02D3-45B4-9350-81B3B8CE0AC3}"/>
              </a:ext>
            </a:extLst>
          </p:cNvPr>
          <p:cNvGrpSpPr>
            <a:grpSpLocks noChangeAspect="1"/>
          </p:cNvGrpSpPr>
          <p:nvPr/>
        </p:nvGrpSpPr>
        <p:grpSpPr bwMode="auto">
          <a:xfrm>
            <a:off x="7206270" y="2381173"/>
            <a:ext cx="381000" cy="381000"/>
            <a:chOff x="2078" y="1680"/>
            <a:chExt cx="1615" cy="1615"/>
          </a:xfrm>
        </p:grpSpPr>
        <p:sp>
          <p:nvSpPr>
            <p:cNvPr id="21" name="Oval 10">
              <a:extLst>
                <a:ext uri="{FF2B5EF4-FFF2-40B4-BE49-F238E27FC236}">
                  <a16:creationId xmlns:a16="http://schemas.microsoft.com/office/drawing/2014/main" xmlns="" id="{951593A2-3CCA-4150-9C26-8F0E2FB50DBC}"/>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2" name="Oval 11">
              <a:extLst>
                <a:ext uri="{FF2B5EF4-FFF2-40B4-BE49-F238E27FC236}">
                  <a16:creationId xmlns:a16="http://schemas.microsoft.com/office/drawing/2014/main" xmlns="" id="{974192FD-32BD-4151-BC3E-0B42B578C87B}"/>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3" name="Oval 12">
              <a:extLst>
                <a:ext uri="{FF2B5EF4-FFF2-40B4-BE49-F238E27FC236}">
                  <a16:creationId xmlns:a16="http://schemas.microsoft.com/office/drawing/2014/main" xmlns="" id="{BDD4DA04-B88B-4B07-BF6E-B1C272F0F4CC}"/>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4" name="Oval 13">
              <a:extLst>
                <a:ext uri="{FF2B5EF4-FFF2-40B4-BE49-F238E27FC236}">
                  <a16:creationId xmlns:a16="http://schemas.microsoft.com/office/drawing/2014/main" xmlns="" id="{7DDEB6C7-DF12-4B56-A15E-5719879C0767}"/>
                </a:ext>
              </a:extLst>
            </p:cNvPr>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5" name="Oval 14">
              <a:extLst>
                <a:ext uri="{FF2B5EF4-FFF2-40B4-BE49-F238E27FC236}">
                  <a16:creationId xmlns:a16="http://schemas.microsoft.com/office/drawing/2014/main" xmlns="" id="{05CB5150-2AB3-496D-9A01-7BD9677B178F}"/>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6" name="Oval 15">
              <a:extLst>
                <a:ext uri="{FF2B5EF4-FFF2-40B4-BE49-F238E27FC236}">
                  <a16:creationId xmlns:a16="http://schemas.microsoft.com/office/drawing/2014/main" xmlns="" id="{CF5DA36E-72FD-4186-95B0-3E592580924C}"/>
                </a:ext>
              </a:extLst>
            </p:cNvPr>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27" name="Group 16">
            <a:extLst>
              <a:ext uri="{FF2B5EF4-FFF2-40B4-BE49-F238E27FC236}">
                <a16:creationId xmlns:a16="http://schemas.microsoft.com/office/drawing/2014/main" xmlns="" id="{804576A5-4B7C-42A1-81B7-81F80837382F}"/>
              </a:ext>
            </a:extLst>
          </p:cNvPr>
          <p:cNvGrpSpPr>
            <a:grpSpLocks noChangeAspect="1"/>
          </p:cNvGrpSpPr>
          <p:nvPr/>
        </p:nvGrpSpPr>
        <p:grpSpPr bwMode="auto">
          <a:xfrm>
            <a:off x="6682346" y="3445241"/>
            <a:ext cx="381000" cy="381000"/>
            <a:chOff x="2078" y="1680"/>
            <a:chExt cx="1615" cy="1615"/>
          </a:xfrm>
        </p:grpSpPr>
        <p:sp>
          <p:nvSpPr>
            <p:cNvPr id="29" name="Oval 17">
              <a:extLst>
                <a:ext uri="{FF2B5EF4-FFF2-40B4-BE49-F238E27FC236}">
                  <a16:creationId xmlns:a16="http://schemas.microsoft.com/office/drawing/2014/main" xmlns="" id="{6398C46E-DA7F-490D-9472-87BE268989F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2" name="Oval 18">
              <a:extLst>
                <a:ext uri="{FF2B5EF4-FFF2-40B4-BE49-F238E27FC236}">
                  <a16:creationId xmlns:a16="http://schemas.microsoft.com/office/drawing/2014/main" xmlns="" id="{E110742C-193F-493E-9A71-A02F844D2828}"/>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3" name="Oval 19">
              <a:extLst>
                <a:ext uri="{FF2B5EF4-FFF2-40B4-BE49-F238E27FC236}">
                  <a16:creationId xmlns:a16="http://schemas.microsoft.com/office/drawing/2014/main" xmlns="" id="{36CD726D-CF07-41C5-B7A4-710136BAB1FC}"/>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4" name="Oval 20">
              <a:extLst>
                <a:ext uri="{FF2B5EF4-FFF2-40B4-BE49-F238E27FC236}">
                  <a16:creationId xmlns:a16="http://schemas.microsoft.com/office/drawing/2014/main" xmlns="" id="{9D8BE50C-A6BB-4D5D-B7FF-3AEBD6CD7D2E}"/>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5" name="Oval 21">
              <a:extLst>
                <a:ext uri="{FF2B5EF4-FFF2-40B4-BE49-F238E27FC236}">
                  <a16:creationId xmlns:a16="http://schemas.microsoft.com/office/drawing/2014/main" xmlns="" id="{96AB8031-737F-41E7-9E4B-34DC61B7FA4B}"/>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6" name="Oval 22">
              <a:extLst>
                <a:ext uri="{FF2B5EF4-FFF2-40B4-BE49-F238E27FC236}">
                  <a16:creationId xmlns:a16="http://schemas.microsoft.com/office/drawing/2014/main" xmlns="" id="{8500B833-9307-4836-B55A-C402EA8CFDAC}"/>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37"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6689262" y="4509223"/>
            <a:ext cx="381000" cy="381000"/>
            <a:chOff x="2078" y="1680"/>
            <a:chExt cx="1615" cy="1615"/>
          </a:xfrm>
        </p:grpSpPr>
        <p:sp>
          <p:nvSpPr>
            <p:cNvPr id="38"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9"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44" name="Group 30">
            <a:extLst>
              <a:ext uri="{FF2B5EF4-FFF2-40B4-BE49-F238E27FC236}">
                <a16:creationId xmlns:a16="http://schemas.microsoft.com/office/drawing/2014/main" xmlns="" id="{D8A0650F-6DD3-4C51-ACCA-8D5BB33B1046}"/>
              </a:ext>
            </a:extLst>
          </p:cNvPr>
          <p:cNvGrpSpPr>
            <a:grpSpLocks noChangeAspect="1"/>
          </p:cNvGrpSpPr>
          <p:nvPr/>
        </p:nvGrpSpPr>
        <p:grpSpPr bwMode="auto">
          <a:xfrm>
            <a:off x="7206152" y="5557868"/>
            <a:ext cx="381000" cy="381000"/>
            <a:chOff x="2078" y="1680"/>
            <a:chExt cx="1615" cy="1615"/>
          </a:xfrm>
        </p:grpSpPr>
        <p:sp>
          <p:nvSpPr>
            <p:cNvPr id="45" name="Oval 31">
              <a:extLst>
                <a:ext uri="{FF2B5EF4-FFF2-40B4-BE49-F238E27FC236}">
                  <a16:creationId xmlns:a16="http://schemas.microsoft.com/office/drawing/2014/main" xmlns="" id="{25288F4D-41F2-42AF-B1C2-9A7B3EF5B7D3}"/>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6" name="Oval 32">
              <a:extLst>
                <a:ext uri="{FF2B5EF4-FFF2-40B4-BE49-F238E27FC236}">
                  <a16:creationId xmlns:a16="http://schemas.microsoft.com/office/drawing/2014/main" xmlns="" id="{CF97BF37-BB79-4B18-9D98-AF071CF14C1A}"/>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7" name="Oval 33">
              <a:extLst>
                <a:ext uri="{FF2B5EF4-FFF2-40B4-BE49-F238E27FC236}">
                  <a16:creationId xmlns:a16="http://schemas.microsoft.com/office/drawing/2014/main" xmlns="" id="{7279C661-406B-43C8-92AE-751AD25DED0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8" name="Oval 34">
              <a:extLst>
                <a:ext uri="{FF2B5EF4-FFF2-40B4-BE49-F238E27FC236}">
                  <a16:creationId xmlns:a16="http://schemas.microsoft.com/office/drawing/2014/main" xmlns="" id="{E99053BE-A9C7-411F-ADC0-7B78C2D5F070}"/>
                </a:ext>
              </a:extLst>
            </p:cNvPr>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9" name="Oval 35">
              <a:extLst>
                <a:ext uri="{FF2B5EF4-FFF2-40B4-BE49-F238E27FC236}">
                  <a16:creationId xmlns:a16="http://schemas.microsoft.com/office/drawing/2014/main" xmlns="" id="{A01C5860-00E7-4C78-9CF1-950C8C0864A1}"/>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0" name="Oval 36">
              <a:extLst>
                <a:ext uri="{FF2B5EF4-FFF2-40B4-BE49-F238E27FC236}">
                  <a16:creationId xmlns:a16="http://schemas.microsoft.com/office/drawing/2014/main" xmlns="" id="{474AA11F-5B14-4FC0-974D-5499A704DD68}"/>
                </a:ext>
              </a:extLst>
            </p:cNvPr>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1" name="TextBox 50">
            <a:extLst>
              <a:ext uri="{FF2B5EF4-FFF2-40B4-BE49-F238E27FC236}">
                <a16:creationId xmlns:a16="http://schemas.microsoft.com/office/drawing/2014/main" xmlns="" id="{0D7C9433-5674-4BC9-A282-6D982E5B3065}"/>
              </a:ext>
            </a:extLst>
          </p:cNvPr>
          <p:cNvSpPr txBox="1"/>
          <p:nvPr/>
        </p:nvSpPr>
        <p:spPr>
          <a:xfrm>
            <a:off x="4119282" y="2971800"/>
            <a:ext cx="65" cy="276999"/>
          </a:xfrm>
          <a:prstGeom prst="rect">
            <a:avLst/>
          </a:prstGeom>
          <a:noFill/>
        </p:spPr>
        <p:txBody>
          <a:bodyPr wrap="none" lIns="0" tIns="0" rIns="0" bIns="0" rtlCol="0">
            <a:spAutoFit/>
          </a:bodyPr>
          <a:lstStyle/>
          <a:p>
            <a:endParaRPr lang="en-US" dirty="0"/>
          </a:p>
        </p:txBody>
      </p:sp>
      <p:sp>
        <p:nvSpPr>
          <p:cNvPr id="56" name="Slide Number Placeholder 3">
            <a:extLst>
              <a:ext uri="{FF2B5EF4-FFF2-40B4-BE49-F238E27FC236}">
                <a16:creationId xmlns:a16="http://schemas.microsoft.com/office/drawing/2014/main" xmlns="" id="{FEFB061F-8AAB-4535-B272-1BA4D5A77191}"/>
              </a:ext>
            </a:extLst>
          </p:cNvPr>
          <p:cNvSpPr>
            <a:spLocks noGrp="1"/>
          </p:cNvSpPr>
          <p:nvPr>
            <p:ph type="sldNum" sz="quarter" idx="12"/>
          </p:nvPr>
        </p:nvSpPr>
        <p:spPr>
          <a:xfrm>
            <a:off x="8965" y="6090313"/>
            <a:ext cx="676835" cy="767687"/>
          </a:xfrm>
        </p:spPr>
        <p:txBody>
          <a:bodyPr/>
          <a:lstStyle/>
          <a:p>
            <a:pPr rtl="1"/>
            <a:fld id="{E8ADF199-8047-440E-B02B-E80683B392F2}" type="slidenum">
              <a:rPr lang="fa-IR" sz="1800" smtClean="0">
                <a:solidFill>
                  <a:schemeClr val="tx1"/>
                </a:solidFill>
                <a:cs typeface="B Lotus" panose="00000400000000000000" pitchFamily="2" charset="-78"/>
              </a:rPr>
              <a:t>18</a:t>
            </a:fld>
            <a:endParaRPr lang="fa-IR" sz="1800" dirty="0">
              <a:solidFill>
                <a:schemeClr val="tx1"/>
              </a:solidFill>
              <a:cs typeface="B Lotus" panose="00000400000000000000" pitchFamily="2" charset="-78"/>
            </a:endParaRPr>
          </a:p>
        </p:txBody>
      </p:sp>
      <p:sp>
        <p:nvSpPr>
          <p:cNvPr id="65"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pic>
        <p:nvPicPr>
          <p:cNvPr id="66" name="Picture 65"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67"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8"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9"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70" name="Rectangle 69">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71" name="Rectangle 70">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72" name="Rectangle 71">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73" name="Rectangle 72">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52" name="Rounded Rectangle 175">
            <a:extLst>
              <a:ext uri="{FF2B5EF4-FFF2-40B4-BE49-F238E27FC236}">
                <a16:creationId xmlns:a16="http://schemas.microsoft.com/office/drawing/2014/main" xmlns="" id="{72F1F36F-BC0F-4EAB-B733-3BEB63BA174F}"/>
              </a:ext>
            </a:extLst>
          </p:cNvPr>
          <p:cNvSpPr/>
          <p:nvPr/>
        </p:nvSpPr>
        <p:spPr bwMode="auto">
          <a:xfrm>
            <a:off x="4953000" y="1066930"/>
            <a:ext cx="4294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2000" b="1" dirty="0">
              <a:solidFill>
                <a:srgbClr val="FFFFFF"/>
              </a:solidFill>
              <a:latin typeface="Times New Roman" panose="02020603050405020304" pitchFamily="18" charset="0"/>
              <a:cs typeface="B Nazanin" panose="00000400000000000000" pitchFamily="2" charset="-78"/>
            </a:endParaRPr>
          </a:p>
        </p:txBody>
      </p:sp>
      <p:sp>
        <p:nvSpPr>
          <p:cNvPr id="53" name="Rectangle 52"/>
          <p:cNvSpPr/>
          <p:nvPr/>
        </p:nvSpPr>
        <p:spPr>
          <a:xfrm>
            <a:off x="148663" y="916237"/>
            <a:ext cx="4051420" cy="523220"/>
          </a:xfrm>
          <a:prstGeom prst="rect">
            <a:avLst/>
          </a:prstGeom>
        </p:spPr>
        <p:txBody>
          <a:bodyPr wrap="square">
            <a:spAutoFit/>
          </a:bodyPr>
          <a:lstStyle/>
          <a:p>
            <a:pPr rtl="1" fontAlgn="base">
              <a:spcBef>
                <a:spcPct val="0"/>
              </a:spcBef>
              <a:spcAft>
                <a:spcPct val="0"/>
              </a:spcAft>
            </a:pPr>
            <a:r>
              <a:rPr lang="fa-IR" sz="2800" dirty="0" smtClean="0">
                <a:cs typeface="B Lotus" panose="00000400000000000000" pitchFamily="2" charset="-78"/>
              </a:rPr>
              <a:t>ارزیابی الگوریتم پیشنهادی</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2651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p:nvPr/>
        </p:nvPicPr>
        <p:blipFill rotWithShape="1">
          <a:blip r:embed="rId3" cstate="print">
            <a:extLst>
              <a:ext uri="{28A0092B-C50C-407E-A947-70E740481C1C}">
                <a14:useLocalDpi xmlns:a14="http://schemas.microsoft.com/office/drawing/2010/main" val="0"/>
              </a:ext>
            </a:extLst>
          </a:blip>
          <a:srcRect l="6449"/>
          <a:stretch/>
        </p:blipFill>
        <p:spPr bwMode="auto">
          <a:xfrm>
            <a:off x="76200" y="3909179"/>
            <a:ext cx="4497327" cy="2227157"/>
          </a:xfrm>
          <a:prstGeom prst="rect">
            <a:avLst/>
          </a:prstGeom>
          <a:noFill/>
          <a:ln>
            <a:noFill/>
          </a:ln>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19</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23" name="Picture 22"/>
          <p:cNvPicPr/>
          <p:nvPr/>
        </p:nvPicPr>
        <p:blipFill rotWithShape="1">
          <a:blip r:embed="rId5" cstate="print">
            <a:extLst>
              <a:ext uri="{28A0092B-C50C-407E-A947-70E740481C1C}">
                <a14:useLocalDpi xmlns:a14="http://schemas.microsoft.com/office/drawing/2010/main" val="0"/>
              </a:ext>
            </a:extLst>
          </a:blip>
          <a:srcRect l="5769" t="2861" b="849"/>
          <a:stretch/>
        </p:blipFill>
        <p:spPr bwMode="auto">
          <a:xfrm>
            <a:off x="5202555" y="1123176"/>
            <a:ext cx="3941444" cy="2512858"/>
          </a:xfrm>
          <a:prstGeom prst="rect">
            <a:avLst/>
          </a:prstGeom>
          <a:noFill/>
          <a:ln>
            <a:noFill/>
          </a:ln>
        </p:spPr>
      </p:pic>
      <mc:AlternateContent xmlns:mc="http://schemas.openxmlformats.org/markup-compatibility/2006" xmlns:a14="http://schemas.microsoft.com/office/drawing/2010/main">
        <mc:Choice Requires="a14">
          <p:sp>
            <p:nvSpPr>
              <p:cNvPr id="6" name="Rectangle 5"/>
              <p:cNvSpPr/>
              <p:nvPr/>
            </p:nvSpPr>
            <p:spPr>
              <a:xfrm>
                <a:off x="678180" y="6304879"/>
                <a:ext cx="7543800" cy="338554"/>
              </a:xfrm>
              <a:prstGeom prst="rect">
                <a:avLst/>
              </a:prstGeom>
            </p:spPr>
            <p:txBody>
              <a:bodyPr wrap="square">
                <a:spAutoFit/>
              </a:bodyPr>
              <a:lstStyle/>
              <a:p>
                <a:pPr lvl="0" algn="ctr" rtl="1">
                  <a:spcAft>
                    <a:spcPts val="300"/>
                  </a:spcAft>
                  <a:defRPr/>
                </a:pPr>
                <a:r>
                  <a:rPr lang="fa-IR" sz="1600" dirty="0">
                    <a:latin typeface="Times New Roman" panose="02020603050405020304" pitchFamily="18" charset="0"/>
                    <a:ea typeface="Calibri" panose="020F0502020204030204" pitchFamily="34" charset="0"/>
                    <a:cs typeface="B Lotus" panose="00000400000000000000" pitchFamily="2" charset="-78"/>
                  </a:rPr>
                  <a:t>شکل </a:t>
                </a:r>
                <a:r>
                  <a:rPr lang="fa-IR" sz="1600" dirty="0" smtClean="0">
                    <a:latin typeface="Times New Roman" panose="02020603050405020304" pitchFamily="18" charset="0"/>
                    <a:ea typeface="Calibri" panose="020F0502020204030204" pitchFamily="34" charset="0"/>
                    <a:cs typeface="B Lotus" panose="00000400000000000000" pitchFamily="2" charset="-78"/>
                  </a:rPr>
                  <a:t>12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خروجی الگوریتم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همسان‌سازی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پیشنهادی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ازای ضرایب </a:t>
                </a:r>
                <a:r>
                  <a:rPr lang="fa-IR" sz="1600" dirty="0">
                    <a:latin typeface="Times New Roman" panose="02020603050405020304" pitchFamily="18" charset="0"/>
                    <a:ea typeface="Times New Roman" panose="02020603050405020304" pitchFamily="18" charset="0"/>
                    <a:cs typeface="B Nazanin" panose="00000400000000000000" pitchFamily="2" charset="-78"/>
                  </a:rPr>
                  <a:t>0/1=</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𝛾</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0/8=</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𝛽</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و 0/1=</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𝛼</m:t>
                    </m:r>
                  </m:oMath>
                </a14:m>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p:txBody>
          </p:sp>
        </mc:Choice>
        <mc:Fallback xmlns="">
          <p:sp>
            <p:nvSpPr>
              <p:cNvPr id="6" name="Rectangle 5"/>
              <p:cNvSpPr>
                <a:spLocks noRot="1" noChangeAspect="1" noMove="1" noResize="1" noEditPoints="1" noAdjustHandles="1" noChangeArrowheads="1" noChangeShapeType="1" noTextEdit="1"/>
              </p:cNvSpPr>
              <p:nvPr/>
            </p:nvSpPr>
            <p:spPr>
              <a:xfrm>
                <a:off x="678180" y="6304879"/>
                <a:ext cx="7543800" cy="338554"/>
              </a:xfrm>
              <a:prstGeom prst="rect">
                <a:avLst/>
              </a:prstGeom>
              <a:blipFill rotWithShape="0">
                <a:blip r:embed="rId6"/>
                <a:stretch>
                  <a:fillRect t="-3571" b="-26786"/>
                </a:stretch>
              </a:blipFill>
            </p:spPr>
            <p:txBody>
              <a:bodyPr/>
              <a:lstStyle/>
              <a:p>
                <a:r>
                  <a:rPr lang="en-US">
                    <a:noFill/>
                  </a:rPr>
                  <a:t> </a:t>
                </a:r>
              </a:p>
            </p:txBody>
          </p:sp>
        </mc:Fallback>
      </mc:AlternateContent>
      <p:pic>
        <p:nvPicPr>
          <p:cNvPr id="32" name="Picture 31"/>
          <p:cNvPicPr/>
          <p:nvPr/>
        </p:nvPicPr>
        <p:blipFill>
          <a:blip r:embed="rId7" cstate="print">
            <a:extLst>
              <a:ext uri="{28A0092B-C50C-407E-A947-70E740481C1C}">
                <a14:useLocalDpi xmlns:a14="http://schemas.microsoft.com/office/drawing/2010/main" val="0"/>
              </a:ext>
            </a:extLst>
          </a:blip>
          <a:stretch>
            <a:fillRect/>
          </a:stretch>
        </p:blipFill>
        <p:spPr bwMode="auto">
          <a:xfrm>
            <a:off x="8965" y="1266142"/>
            <a:ext cx="5193590" cy="2408174"/>
          </a:xfrm>
          <a:prstGeom prst="rect">
            <a:avLst/>
          </a:prstGeom>
          <a:noFill/>
          <a:ln>
            <a:noFill/>
          </a:ln>
        </p:spPr>
      </p:pic>
      <p:pic>
        <p:nvPicPr>
          <p:cNvPr id="34" name="Picture 33"/>
          <p:cNvPicPr/>
          <p:nvPr/>
        </p:nvPicPr>
        <p:blipFill rotWithShape="1">
          <a:blip r:embed="rId8" cstate="print">
            <a:extLst>
              <a:ext uri="{28A0092B-C50C-407E-A947-70E740481C1C}">
                <a14:useLocalDpi xmlns:a14="http://schemas.microsoft.com/office/drawing/2010/main" val="0"/>
              </a:ext>
            </a:extLst>
          </a:blip>
          <a:srcRect l="6776"/>
          <a:stretch/>
        </p:blipFill>
        <p:spPr bwMode="auto">
          <a:xfrm>
            <a:off x="4501488" y="3909179"/>
            <a:ext cx="4574015" cy="2193918"/>
          </a:xfrm>
          <a:prstGeom prst="rect">
            <a:avLst/>
          </a:prstGeom>
          <a:noFill/>
          <a:ln>
            <a:noFill/>
          </a:ln>
        </p:spPr>
      </p:pic>
      <p:sp>
        <p:nvSpPr>
          <p:cNvPr id="20" name="Rectangle 19"/>
          <p:cNvSpPr/>
          <p:nvPr/>
        </p:nvSpPr>
        <p:spPr>
          <a:xfrm>
            <a:off x="8326925" y="3521148"/>
            <a:ext cx="59984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(الف)</a:t>
            </a:r>
            <a:endParaRPr lang="en-US" dirty="0"/>
          </a:p>
        </p:txBody>
      </p:sp>
      <p:sp>
        <p:nvSpPr>
          <p:cNvPr id="21" name="Rectangle 20"/>
          <p:cNvSpPr/>
          <p:nvPr/>
        </p:nvSpPr>
        <p:spPr>
          <a:xfrm>
            <a:off x="4412639" y="3508349"/>
            <a:ext cx="503664" cy="369332"/>
          </a:xfrm>
          <a:prstGeom prst="rect">
            <a:avLst/>
          </a:prstGeom>
        </p:spPr>
        <p:txBody>
          <a:bodyPr wrap="none">
            <a:spAutoFit/>
          </a:bodyPr>
          <a:lstStyle/>
          <a:p>
            <a:r>
              <a:rPr lang="fa-IR" dirty="0">
                <a:latin typeface="Times New Roman" panose="02020603050405020304" pitchFamily="18" charset="0"/>
                <a:ea typeface="Calibri" panose="020F0502020204030204" pitchFamily="34" charset="0"/>
                <a:cs typeface="B Lotus" panose="00000400000000000000" pitchFamily="2" charset="-78"/>
              </a:rPr>
              <a:t>(ب)</a:t>
            </a:r>
            <a:endParaRPr lang="en-US" dirty="0"/>
          </a:p>
        </p:txBody>
      </p:sp>
      <p:sp>
        <p:nvSpPr>
          <p:cNvPr id="28" name="Rectangle 27"/>
          <p:cNvSpPr/>
          <p:nvPr/>
        </p:nvSpPr>
        <p:spPr>
          <a:xfrm>
            <a:off x="8610600" y="5565719"/>
            <a:ext cx="457176"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29" name="Rectangle 28"/>
          <p:cNvSpPr/>
          <p:nvPr/>
        </p:nvSpPr>
        <p:spPr>
          <a:xfrm>
            <a:off x="4008361" y="5462795"/>
            <a:ext cx="404278"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(د)</a:t>
            </a:r>
            <a:endParaRPr lang="en-US" dirty="0"/>
          </a:p>
        </p:txBody>
      </p:sp>
    </p:spTree>
    <p:extLst>
      <p:ext uri="{BB962C8B-B14F-4D97-AF65-F5344CB8AC3E}">
        <p14:creationId xmlns:p14="http://schemas.microsoft.com/office/powerpoint/2010/main" val="42147669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p:nvPr/>
        </p:nvPicPr>
        <p:blipFill rotWithShape="1">
          <a:blip r:embed="rId3" cstate="print">
            <a:extLst>
              <a:ext uri="{28A0092B-C50C-407E-A947-70E740481C1C}">
                <a14:useLocalDpi xmlns:a14="http://schemas.microsoft.com/office/drawing/2010/main" val="0"/>
              </a:ext>
            </a:extLst>
          </a:blip>
          <a:srcRect l="7215"/>
          <a:stretch/>
        </p:blipFill>
        <p:spPr bwMode="auto">
          <a:xfrm>
            <a:off x="133088" y="3681771"/>
            <a:ext cx="4440439" cy="2681974"/>
          </a:xfrm>
          <a:prstGeom prst="rect">
            <a:avLst/>
          </a:prstGeom>
          <a:noFill/>
          <a:ln>
            <a:noFill/>
          </a:ln>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20</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23" name="Picture 22"/>
          <p:cNvPicPr/>
          <p:nvPr/>
        </p:nvPicPr>
        <p:blipFill rotWithShape="1">
          <a:blip r:embed="rId5" cstate="print">
            <a:extLst>
              <a:ext uri="{28A0092B-C50C-407E-A947-70E740481C1C}">
                <a14:useLocalDpi xmlns:a14="http://schemas.microsoft.com/office/drawing/2010/main" val="0"/>
              </a:ext>
            </a:extLst>
          </a:blip>
          <a:srcRect l="5504" t="5870" r="7382"/>
          <a:stretch/>
        </p:blipFill>
        <p:spPr bwMode="auto">
          <a:xfrm>
            <a:off x="4697468" y="971934"/>
            <a:ext cx="4342738" cy="2687974"/>
          </a:xfrm>
          <a:prstGeom prst="rect">
            <a:avLst/>
          </a:prstGeom>
          <a:noFill/>
          <a:ln>
            <a:noFill/>
          </a:ln>
        </p:spPr>
      </p:pic>
      <mc:AlternateContent xmlns:mc="http://schemas.openxmlformats.org/markup-compatibility/2006" xmlns:a14="http://schemas.microsoft.com/office/drawing/2010/main">
        <mc:Choice Requires="a14">
          <p:sp>
            <p:nvSpPr>
              <p:cNvPr id="6" name="Rectangle 5"/>
              <p:cNvSpPr/>
              <p:nvPr/>
            </p:nvSpPr>
            <p:spPr>
              <a:xfrm>
                <a:off x="678180" y="6304879"/>
                <a:ext cx="7543800" cy="338554"/>
              </a:xfrm>
              <a:prstGeom prst="rect">
                <a:avLst/>
              </a:prstGeom>
            </p:spPr>
            <p:txBody>
              <a:bodyPr wrap="square">
                <a:spAutoFit/>
              </a:bodyPr>
              <a:lstStyle/>
              <a:p>
                <a:pPr algn="ctr" rtl="1">
                  <a:spcAft>
                    <a:spcPts val="300"/>
                  </a:spcAft>
                  <a:defRPr/>
                </a:pPr>
                <a:r>
                  <a:rPr lang="fa-IR" sz="1600" dirty="0" smtClean="0">
                    <a:latin typeface="Times New Roman" panose="02020603050405020304" pitchFamily="18" charset="0"/>
                    <a:ea typeface="Calibri" panose="020F0502020204030204" pitchFamily="34" charset="0"/>
                    <a:cs typeface="B Lotus" panose="00000400000000000000" pitchFamily="2" charset="-78"/>
                  </a:rPr>
                  <a:t>شکل 13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خروجی </a:t>
                </a:r>
                <a:r>
                  <a:rPr lang="fa-IR" sz="1600" dirty="0">
                    <a:latin typeface="Times New Roman" panose="02020603050405020304" pitchFamily="18" charset="0"/>
                    <a:ea typeface="Times New Roman" panose="02020603050405020304" pitchFamily="18" charset="0"/>
                    <a:cs typeface="B Nazanin" panose="00000400000000000000" pitchFamily="2" charset="-78"/>
                  </a:rPr>
                  <a:t>الگوریتم </a:t>
                </a:r>
                <a:r>
                  <a:rPr lang="ar-SA" sz="1600" dirty="0">
                    <a:latin typeface="Times New Roman" panose="02020603050405020304" pitchFamily="18" charset="0"/>
                    <a:ea typeface="Times New Roman" panose="02020603050405020304" pitchFamily="18" charset="0"/>
                    <a:cs typeface="B Nazanin" panose="00000400000000000000" pitchFamily="2" charset="-78"/>
                  </a:rPr>
                  <a:t>همسان‌سازی </a:t>
                </a:r>
                <a:r>
                  <a:rPr lang="fa-IR" sz="1600" dirty="0">
                    <a:latin typeface="Times New Roman" panose="02020603050405020304" pitchFamily="18" charset="0"/>
                    <a:ea typeface="Times New Roman" panose="02020603050405020304" pitchFamily="18" charset="0"/>
                    <a:cs typeface="B Nazanin" panose="00000400000000000000" pitchFamily="2" charset="-78"/>
                  </a:rPr>
                  <a:t>پیشنهادی </a:t>
                </a:r>
                <a:r>
                  <a:rPr lang="ar-SA" sz="1600" dirty="0">
                    <a:latin typeface="Times New Roman" panose="02020603050405020304" pitchFamily="18" charset="0"/>
                    <a:ea typeface="Times New Roman" panose="02020603050405020304" pitchFamily="18" charset="0"/>
                    <a:cs typeface="B Nazanin" panose="00000400000000000000" pitchFamily="2" charset="-78"/>
                  </a:rPr>
                  <a:t>ازای ضرایب</a:t>
                </a:r>
                <a:r>
                  <a:rPr lang="fa-IR" sz="1600" dirty="0">
                    <a:latin typeface="Times New Roman" panose="02020603050405020304" pitchFamily="18" charset="0"/>
                    <a:ea typeface="Times New Roman" panose="02020603050405020304" pitchFamily="18" charset="0"/>
                    <a:cs typeface="B Nazanin" panose="00000400000000000000" pitchFamily="2" charset="-78"/>
                  </a:rPr>
                  <a:t>0/0=</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𝛾</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0/5=</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𝛽</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و 0/5</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a:t>
                </a:r>
                <a14:m>
                  <m:oMath xmlns:m="http://schemas.openxmlformats.org/officeDocument/2006/math">
                    <m:r>
                      <a:rPr lang="en-US" sz="1600" i="1" smtClean="0">
                        <a:latin typeface="Cambria Math" panose="02040503050406030204" pitchFamily="18" charset="0"/>
                        <a:ea typeface="Times New Roman" panose="02020603050405020304" pitchFamily="18" charset="0"/>
                        <a:cs typeface="B Nazanin" panose="00000400000000000000" pitchFamily="2" charset="-78"/>
                      </a:rPr>
                      <m:t>𝛼</m:t>
                    </m:r>
                  </m:oMath>
                </a14:m>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p:txBody>
          </p:sp>
        </mc:Choice>
        <mc:Fallback xmlns="">
          <p:sp>
            <p:nvSpPr>
              <p:cNvPr id="6" name="Rectangle 5"/>
              <p:cNvSpPr>
                <a:spLocks noRot="1" noChangeAspect="1" noMove="1" noResize="1" noEditPoints="1" noAdjustHandles="1" noChangeArrowheads="1" noChangeShapeType="1" noTextEdit="1"/>
              </p:cNvSpPr>
              <p:nvPr/>
            </p:nvSpPr>
            <p:spPr>
              <a:xfrm>
                <a:off x="678180" y="6304879"/>
                <a:ext cx="7543800" cy="338554"/>
              </a:xfrm>
              <a:prstGeom prst="rect">
                <a:avLst/>
              </a:prstGeom>
              <a:blipFill rotWithShape="0">
                <a:blip r:embed="rId6"/>
                <a:stretch>
                  <a:fillRect t="-3571" b="-26786"/>
                </a:stretch>
              </a:blipFill>
            </p:spPr>
            <p:txBody>
              <a:bodyPr/>
              <a:lstStyle/>
              <a:p>
                <a:r>
                  <a:rPr lang="en-US">
                    <a:noFill/>
                  </a:rPr>
                  <a:t> </a:t>
                </a:r>
              </a:p>
            </p:txBody>
          </p:sp>
        </mc:Fallback>
      </mc:AlternateContent>
      <p:pic>
        <p:nvPicPr>
          <p:cNvPr id="32" name="Picture 31"/>
          <p:cNvPicPr/>
          <p:nvPr/>
        </p:nvPicPr>
        <p:blipFill>
          <a:blip r:embed="rId7" cstate="print">
            <a:extLst>
              <a:ext uri="{28A0092B-C50C-407E-A947-70E740481C1C}">
                <a14:useLocalDpi xmlns:a14="http://schemas.microsoft.com/office/drawing/2010/main" val="0"/>
              </a:ext>
            </a:extLst>
          </a:blip>
          <a:stretch>
            <a:fillRect/>
          </a:stretch>
        </p:blipFill>
        <p:spPr bwMode="auto">
          <a:xfrm>
            <a:off x="125344" y="1172966"/>
            <a:ext cx="4478663" cy="2488876"/>
          </a:xfrm>
          <a:prstGeom prst="rect">
            <a:avLst/>
          </a:prstGeom>
          <a:noFill/>
          <a:ln>
            <a:noFill/>
          </a:ln>
        </p:spPr>
      </p:pic>
      <p:pic>
        <p:nvPicPr>
          <p:cNvPr id="34" name="Picture 33"/>
          <p:cNvPicPr/>
          <p:nvPr/>
        </p:nvPicPr>
        <p:blipFill rotWithShape="1">
          <a:blip r:embed="rId8" cstate="print">
            <a:extLst>
              <a:ext uri="{28A0092B-C50C-407E-A947-70E740481C1C}">
                <a14:useLocalDpi xmlns:a14="http://schemas.microsoft.com/office/drawing/2010/main" val="0"/>
              </a:ext>
            </a:extLst>
          </a:blip>
          <a:srcRect l="7115" r="4302" b="3750"/>
          <a:stretch/>
        </p:blipFill>
        <p:spPr bwMode="auto">
          <a:xfrm>
            <a:off x="4735568" y="3733799"/>
            <a:ext cx="4333585" cy="2590801"/>
          </a:xfrm>
          <a:prstGeom prst="rect">
            <a:avLst/>
          </a:prstGeom>
          <a:noFill/>
          <a:ln>
            <a:noFill/>
          </a:ln>
        </p:spPr>
      </p:pic>
      <p:sp>
        <p:nvSpPr>
          <p:cNvPr id="17" name="Rectangle 16"/>
          <p:cNvSpPr/>
          <p:nvPr/>
        </p:nvSpPr>
        <p:spPr>
          <a:xfrm>
            <a:off x="8469309" y="3512188"/>
            <a:ext cx="59984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(الف)</a:t>
            </a:r>
            <a:endParaRPr lang="en-US" dirty="0"/>
          </a:p>
        </p:txBody>
      </p:sp>
      <p:sp>
        <p:nvSpPr>
          <p:cNvPr id="18" name="Rectangle 17"/>
          <p:cNvSpPr/>
          <p:nvPr/>
        </p:nvSpPr>
        <p:spPr>
          <a:xfrm>
            <a:off x="4231550" y="3454111"/>
            <a:ext cx="503664" cy="369332"/>
          </a:xfrm>
          <a:prstGeom prst="rect">
            <a:avLst/>
          </a:prstGeom>
        </p:spPr>
        <p:txBody>
          <a:bodyPr wrap="none">
            <a:spAutoFit/>
          </a:bodyPr>
          <a:lstStyle/>
          <a:p>
            <a:r>
              <a:rPr lang="fa-IR" dirty="0">
                <a:latin typeface="Times New Roman" panose="02020603050405020304" pitchFamily="18" charset="0"/>
                <a:ea typeface="Calibri" panose="020F0502020204030204" pitchFamily="34" charset="0"/>
                <a:cs typeface="B Lotus" panose="00000400000000000000" pitchFamily="2" charset="-78"/>
              </a:rPr>
              <a:t>(ب)</a:t>
            </a:r>
            <a:endParaRPr lang="en-US" dirty="0"/>
          </a:p>
        </p:txBody>
      </p:sp>
      <p:sp>
        <p:nvSpPr>
          <p:cNvPr id="19" name="Rectangle 18"/>
          <p:cNvSpPr/>
          <p:nvPr/>
        </p:nvSpPr>
        <p:spPr>
          <a:xfrm>
            <a:off x="8743184" y="5796040"/>
            <a:ext cx="457176"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20" name="Rectangle 19"/>
          <p:cNvSpPr/>
          <p:nvPr/>
        </p:nvSpPr>
        <p:spPr>
          <a:xfrm>
            <a:off x="4200083" y="5796040"/>
            <a:ext cx="404278"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(د)</a:t>
            </a:r>
            <a:endParaRPr lang="en-US" dirty="0"/>
          </a:p>
        </p:txBody>
      </p:sp>
    </p:spTree>
    <p:extLst>
      <p:ext uri="{BB962C8B-B14F-4D97-AF65-F5344CB8AC3E}">
        <p14:creationId xmlns:p14="http://schemas.microsoft.com/office/powerpoint/2010/main" val="7817673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p:nvPr/>
        </p:nvPicPr>
        <p:blipFill rotWithShape="1">
          <a:blip r:embed="rId3" cstate="print">
            <a:extLst>
              <a:ext uri="{28A0092B-C50C-407E-A947-70E740481C1C}">
                <a14:useLocalDpi xmlns:a14="http://schemas.microsoft.com/office/drawing/2010/main" val="0"/>
              </a:ext>
            </a:extLst>
          </a:blip>
          <a:srcRect l="9014" t="2390" r="1751"/>
          <a:stretch/>
        </p:blipFill>
        <p:spPr bwMode="auto">
          <a:xfrm>
            <a:off x="76200" y="3745791"/>
            <a:ext cx="4419601" cy="2390545"/>
          </a:xfrm>
          <a:prstGeom prst="rect">
            <a:avLst/>
          </a:prstGeom>
          <a:noFill/>
          <a:ln>
            <a:noFill/>
          </a:ln>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21</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23" name="Picture 22"/>
          <p:cNvPicPr/>
          <p:nvPr/>
        </p:nvPicPr>
        <p:blipFill rotWithShape="1">
          <a:blip r:embed="rId5" cstate="print">
            <a:extLst>
              <a:ext uri="{28A0092B-C50C-407E-A947-70E740481C1C}">
                <a14:useLocalDpi xmlns:a14="http://schemas.microsoft.com/office/drawing/2010/main" val="0"/>
              </a:ext>
            </a:extLst>
          </a:blip>
          <a:srcRect l="5151" t="5799" r="7284"/>
          <a:stretch/>
        </p:blipFill>
        <p:spPr bwMode="auto">
          <a:xfrm>
            <a:off x="4451915" y="923217"/>
            <a:ext cx="4331285" cy="2434760"/>
          </a:xfrm>
          <a:prstGeom prst="rect">
            <a:avLst/>
          </a:prstGeom>
          <a:noFill/>
          <a:ln>
            <a:noFill/>
          </a:ln>
        </p:spPr>
      </p:pic>
      <p:pic>
        <p:nvPicPr>
          <p:cNvPr id="32" name="Picture 31"/>
          <p:cNvPicPr/>
          <p:nvPr/>
        </p:nvPicPr>
        <p:blipFill>
          <a:blip r:embed="rId6" cstate="print">
            <a:extLst>
              <a:ext uri="{28A0092B-C50C-407E-A947-70E740481C1C}">
                <a14:useLocalDpi xmlns:a14="http://schemas.microsoft.com/office/drawing/2010/main" val="0"/>
              </a:ext>
            </a:extLst>
          </a:blip>
          <a:stretch>
            <a:fillRect/>
          </a:stretch>
        </p:blipFill>
        <p:spPr bwMode="auto">
          <a:xfrm>
            <a:off x="-6275" y="1083353"/>
            <a:ext cx="4495626" cy="2274624"/>
          </a:xfrm>
          <a:prstGeom prst="rect">
            <a:avLst/>
          </a:prstGeom>
          <a:noFill/>
          <a:ln>
            <a:noFill/>
          </a:ln>
        </p:spPr>
      </p:pic>
      <p:pic>
        <p:nvPicPr>
          <p:cNvPr id="34" name="Picture 33"/>
          <p:cNvPicPr/>
          <p:nvPr/>
        </p:nvPicPr>
        <p:blipFill rotWithShape="1">
          <a:blip r:embed="rId7" cstate="print">
            <a:extLst>
              <a:ext uri="{28A0092B-C50C-407E-A947-70E740481C1C}">
                <a14:useLocalDpi xmlns:a14="http://schemas.microsoft.com/office/drawing/2010/main" val="0"/>
              </a:ext>
            </a:extLst>
          </a:blip>
          <a:srcRect l="8534" t="4425" r="3547" b="4425"/>
          <a:stretch/>
        </p:blipFill>
        <p:spPr bwMode="auto">
          <a:xfrm>
            <a:off x="4652602" y="3778209"/>
            <a:ext cx="4416552" cy="2312103"/>
          </a:xfrm>
          <a:prstGeom prst="rect">
            <a:avLst/>
          </a:prstGeom>
          <a:noFill/>
          <a:ln>
            <a:noFill/>
          </a:ln>
        </p:spPr>
      </p:pic>
      <mc:AlternateContent xmlns:mc="http://schemas.openxmlformats.org/markup-compatibility/2006" xmlns:a14="http://schemas.microsoft.com/office/drawing/2010/main">
        <mc:Choice Requires="a14">
          <p:sp>
            <p:nvSpPr>
              <p:cNvPr id="17" name="Rectangle 16"/>
              <p:cNvSpPr/>
              <p:nvPr/>
            </p:nvSpPr>
            <p:spPr>
              <a:xfrm>
                <a:off x="678180" y="6304879"/>
                <a:ext cx="7543800" cy="338554"/>
              </a:xfrm>
              <a:prstGeom prst="rect">
                <a:avLst/>
              </a:prstGeom>
            </p:spPr>
            <p:txBody>
              <a:bodyPr wrap="square">
                <a:spAutoFit/>
              </a:bodyPr>
              <a:lstStyle/>
              <a:p>
                <a:pPr algn="ctr" rtl="1">
                  <a:spcAft>
                    <a:spcPts val="300"/>
                  </a:spcAft>
                  <a:defRPr/>
                </a:pPr>
                <a:r>
                  <a:rPr lang="fa-IR" sz="1600" dirty="0">
                    <a:latin typeface="Times New Roman" panose="02020603050405020304" pitchFamily="18" charset="0"/>
                    <a:ea typeface="Calibri" panose="020F0502020204030204" pitchFamily="34" charset="0"/>
                    <a:cs typeface="B Lotus" panose="00000400000000000000" pitchFamily="2" charset="-78"/>
                  </a:rPr>
                  <a:t>شکل </a:t>
                </a:r>
                <a:r>
                  <a:rPr lang="fa-IR" sz="1600" dirty="0" smtClean="0">
                    <a:latin typeface="Times New Roman" panose="02020603050405020304" pitchFamily="18" charset="0"/>
                    <a:ea typeface="Calibri" panose="020F0502020204030204" pitchFamily="34" charset="0"/>
                    <a:cs typeface="B Lotus" panose="00000400000000000000" pitchFamily="2" charset="-78"/>
                  </a:rPr>
                  <a:t>15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خروجی </a:t>
                </a:r>
                <a:r>
                  <a:rPr lang="fa-IR" sz="1600" dirty="0">
                    <a:latin typeface="Times New Roman" panose="02020603050405020304" pitchFamily="18" charset="0"/>
                    <a:ea typeface="Times New Roman" panose="02020603050405020304" pitchFamily="18" charset="0"/>
                    <a:cs typeface="B Nazanin" panose="00000400000000000000" pitchFamily="2" charset="-78"/>
                  </a:rPr>
                  <a:t>الگوریتم </a:t>
                </a:r>
                <a:r>
                  <a:rPr lang="ar-SA" sz="1600" dirty="0">
                    <a:latin typeface="Times New Roman" panose="02020603050405020304" pitchFamily="18" charset="0"/>
                    <a:ea typeface="Times New Roman" panose="02020603050405020304" pitchFamily="18" charset="0"/>
                    <a:cs typeface="B Nazanin" panose="00000400000000000000" pitchFamily="2" charset="-78"/>
                  </a:rPr>
                  <a:t>همسان‌سازی </a:t>
                </a:r>
                <a:r>
                  <a:rPr lang="fa-IR" sz="1600" dirty="0">
                    <a:latin typeface="Times New Roman" panose="02020603050405020304" pitchFamily="18" charset="0"/>
                    <a:ea typeface="Times New Roman" panose="02020603050405020304" pitchFamily="18" charset="0"/>
                    <a:cs typeface="B Nazanin" panose="00000400000000000000" pitchFamily="2" charset="-78"/>
                  </a:rPr>
                  <a:t>پیشنهادی </a:t>
                </a:r>
                <a:r>
                  <a:rPr lang="ar-SA" sz="1600" dirty="0">
                    <a:latin typeface="Times New Roman" panose="02020603050405020304" pitchFamily="18" charset="0"/>
                    <a:ea typeface="Times New Roman" panose="02020603050405020304" pitchFamily="18" charset="0"/>
                    <a:cs typeface="B Nazanin" panose="00000400000000000000" pitchFamily="2" charset="-78"/>
                  </a:rPr>
                  <a:t>ازای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ضرایب</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 0/5=</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𝛾</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0/5=</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𝛽</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و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0/0=</a:t>
                </a:r>
                <a14:m>
                  <m:oMath xmlns:m="http://schemas.openxmlformats.org/officeDocument/2006/math">
                    <m:r>
                      <a:rPr lang="en-US" sz="1600" i="1" smtClean="0">
                        <a:latin typeface="Cambria Math" panose="02040503050406030204" pitchFamily="18" charset="0"/>
                        <a:ea typeface="Times New Roman" panose="02020603050405020304" pitchFamily="18" charset="0"/>
                        <a:cs typeface="B Nazanin" panose="00000400000000000000" pitchFamily="2" charset="-78"/>
                      </a:rPr>
                      <m:t>𝛼</m:t>
                    </m:r>
                  </m:oMath>
                </a14:m>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p:txBody>
          </p:sp>
        </mc:Choice>
        <mc:Fallback xmlns="">
          <p:sp>
            <p:nvSpPr>
              <p:cNvPr id="17" name="Rectangle 16"/>
              <p:cNvSpPr>
                <a:spLocks noRot="1" noChangeAspect="1" noMove="1" noResize="1" noEditPoints="1" noAdjustHandles="1" noChangeArrowheads="1" noChangeShapeType="1" noTextEdit="1"/>
              </p:cNvSpPr>
              <p:nvPr/>
            </p:nvSpPr>
            <p:spPr>
              <a:xfrm>
                <a:off x="678180" y="6304879"/>
                <a:ext cx="7543800" cy="338554"/>
              </a:xfrm>
              <a:prstGeom prst="rect">
                <a:avLst/>
              </a:prstGeom>
              <a:blipFill rotWithShape="0">
                <a:blip r:embed="rId8"/>
                <a:stretch>
                  <a:fillRect t="-3571" b="-26786"/>
                </a:stretch>
              </a:blipFill>
            </p:spPr>
            <p:txBody>
              <a:bodyPr/>
              <a:lstStyle/>
              <a:p>
                <a:r>
                  <a:rPr lang="en-US">
                    <a:noFill/>
                  </a:rPr>
                  <a:t> </a:t>
                </a:r>
              </a:p>
            </p:txBody>
          </p:sp>
        </mc:Fallback>
      </mc:AlternateContent>
      <p:sp>
        <p:nvSpPr>
          <p:cNvPr id="18" name="Rectangle 17"/>
          <p:cNvSpPr/>
          <p:nvPr/>
        </p:nvSpPr>
        <p:spPr>
          <a:xfrm>
            <a:off x="8371928" y="3288215"/>
            <a:ext cx="59984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(الف)</a:t>
            </a:r>
            <a:endParaRPr lang="en-US" dirty="0"/>
          </a:p>
        </p:txBody>
      </p:sp>
      <p:sp>
        <p:nvSpPr>
          <p:cNvPr id="19" name="Rectangle 18"/>
          <p:cNvSpPr/>
          <p:nvPr/>
        </p:nvSpPr>
        <p:spPr>
          <a:xfrm>
            <a:off x="3948251" y="3208913"/>
            <a:ext cx="503664" cy="369332"/>
          </a:xfrm>
          <a:prstGeom prst="rect">
            <a:avLst/>
          </a:prstGeom>
        </p:spPr>
        <p:txBody>
          <a:bodyPr wrap="none">
            <a:spAutoFit/>
          </a:bodyPr>
          <a:lstStyle/>
          <a:p>
            <a:r>
              <a:rPr lang="fa-IR" dirty="0">
                <a:latin typeface="Times New Roman" panose="02020603050405020304" pitchFamily="18" charset="0"/>
                <a:ea typeface="Calibri" panose="020F0502020204030204" pitchFamily="34" charset="0"/>
                <a:cs typeface="B Lotus" panose="00000400000000000000" pitchFamily="2" charset="-78"/>
              </a:rPr>
              <a:t>(ب)</a:t>
            </a:r>
            <a:endParaRPr lang="en-US" dirty="0"/>
          </a:p>
        </p:txBody>
      </p:sp>
      <p:sp>
        <p:nvSpPr>
          <p:cNvPr id="20" name="Rectangle 19"/>
          <p:cNvSpPr/>
          <p:nvPr/>
        </p:nvSpPr>
        <p:spPr>
          <a:xfrm>
            <a:off x="8610600" y="5960036"/>
            <a:ext cx="457176"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21" name="Rectangle 20"/>
          <p:cNvSpPr/>
          <p:nvPr/>
        </p:nvSpPr>
        <p:spPr>
          <a:xfrm>
            <a:off x="4090860" y="5960036"/>
            <a:ext cx="404278"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(د)</a:t>
            </a:r>
            <a:endParaRPr lang="en-US" dirty="0"/>
          </a:p>
        </p:txBody>
      </p:sp>
    </p:spTree>
    <p:extLst>
      <p:ext uri="{BB962C8B-B14F-4D97-AF65-F5344CB8AC3E}">
        <p14:creationId xmlns:p14="http://schemas.microsoft.com/office/powerpoint/2010/main" val="21336026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p:nvPr/>
        </p:nvPicPr>
        <p:blipFill rotWithShape="1">
          <a:blip r:embed="rId3" cstate="print">
            <a:extLst>
              <a:ext uri="{28A0092B-C50C-407E-A947-70E740481C1C}">
                <a14:useLocalDpi xmlns:a14="http://schemas.microsoft.com/office/drawing/2010/main" val="0"/>
              </a:ext>
            </a:extLst>
          </a:blip>
          <a:srcRect l="8621"/>
          <a:stretch/>
        </p:blipFill>
        <p:spPr bwMode="auto">
          <a:xfrm>
            <a:off x="76202" y="3832710"/>
            <a:ext cx="4497326" cy="2257602"/>
          </a:xfrm>
          <a:prstGeom prst="rect">
            <a:avLst/>
          </a:prstGeom>
          <a:noFill/>
          <a:ln>
            <a:noFill/>
          </a:ln>
        </p:spPr>
      </p:pic>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22</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23" name="Picture 22"/>
          <p:cNvPicPr/>
          <p:nvPr/>
        </p:nvPicPr>
        <p:blipFill rotWithShape="1">
          <a:blip r:embed="rId5" cstate="print">
            <a:extLst>
              <a:ext uri="{28A0092B-C50C-407E-A947-70E740481C1C}">
                <a14:useLocalDpi xmlns:a14="http://schemas.microsoft.com/office/drawing/2010/main" val="0"/>
              </a:ext>
            </a:extLst>
          </a:blip>
          <a:srcRect r="7162"/>
          <a:stretch/>
        </p:blipFill>
        <p:spPr bwMode="auto">
          <a:xfrm>
            <a:off x="4336263" y="869573"/>
            <a:ext cx="4571999" cy="2258215"/>
          </a:xfrm>
          <a:prstGeom prst="rect">
            <a:avLst/>
          </a:prstGeom>
          <a:noFill/>
          <a:ln>
            <a:noFill/>
          </a:ln>
        </p:spPr>
      </p:pic>
      <p:pic>
        <p:nvPicPr>
          <p:cNvPr id="32" name="Picture 31"/>
          <p:cNvPicPr/>
          <p:nvPr/>
        </p:nvPicPr>
        <p:blipFill>
          <a:blip r:embed="rId6" cstate="print">
            <a:extLst>
              <a:ext uri="{28A0092B-C50C-407E-A947-70E740481C1C}">
                <a14:useLocalDpi xmlns:a14="http://schemas.microsoft.com/office/drawing/2010/main" val="0"/>
              </a:ext>
            </a:extLst>
          </a:blip>
          <a:stretch>
            <a:fillRect/>
          </a:stretch>
        </p:blipFill>
        <p:spPr bwMode="auto">
          <a:xfrm>
            <a:off x="76202" y="1264579"/>
            <a:ext cx="4495626" cy="1621985"/>
          </a:xfrm>
          <a:prstGeom prst="rect">
            <a:avLst/>
          </a:prstGeom>
          <a:noFill/>
          <a:ln>
            <a:noFill/>
          </a:ln>
        </p:spPr>
      </p:pic>
      <p:pic>
        <p:nvPicPr>
          <p:cNvPr id="34" name="Picture 33"/>
          <p:cNvPicPr/>
          <p:nvPr/>
        </p:nvPicPr>
        <p:blipFill rotWithShape="1">
          <a:blip r:embed="rId7" cstate="print">
            <a:extLst>
              <a:ext uri="{28A0092B-C50C-407E-A947-70E740481C1C}">
                <a14:useLocalDpi xmlns:a14="http://schemas.microsoft.com/office/drawing/2010/main" val="0"/>
              </a:ext>
            </a:extLst>
          </a:blip>
          <a:srcRect l="8527" r="3481"/>
          <a:stretch/>
        </p:blipFill>
        <p:spPr bwMode="auto">
          <a:xfrm>
            <a:off x="4648200" y="3745791"/>
            <a:ext cx="4267200" cy="2390545"/>
          </a:xfrm>
          <a:prstGeom prst="rect">
            <a:avLst/>
          </a:prstGeom>
          <a:noFill/>
          <a:ln>
            <a:noFill/>
          </a:ln>
        </p:spPr>
      </p:pic>
      <mc:AlternateContent xmlns:mc="http://schemas.openxmlformats.org/markup-compatibility/2006" xmlns:a14="http://schemas.microsoft.com/office/drawing/2010/main">
        <mc:Choice Requires="a14">
          <p:sp>
            <p:nvSpPr>
              <p:cNvPr id="17" name="Rectangle 16"/>
              <p:cNvSpPr/>
              <p:nvPr/>
            </p:nvSpPr>
            <p:spPr>
              <a:xfrm>
                <a:off x="678180" y="6304879"/>
                <a:ext cx="7543800" cy="338554"/>
              </a:xfrm>
              <a:prstGeom prst="rect">
                <a:avLst/>
              </a:prstGeom>
            </p:spPr>
            <p:txBody>
              <a:bodyPr wrap="square">
                <a:spAutoFit/>
              </a:bodyPr>
              <a:lstStyle/>
              <a:p>
                <a:pPr algn="ctr" rtl="1">
                  <a:spcAft>
                    <a:spcPts val="300"/>
                  </a:spcAft>
                  <a:defRPr/>
                </a:pPr>
                <a:r>
                  <a:rPr lang="fa-IR" sz="1600" dirty="0">
                    <a:latin typeface="Times New Roman" panose="02020603050405020304" pitchFamily="18" charset="0"/>
                    <a:ea typeface="Calibri" panose="020F0502020204030204" pitchFamily="34" charset="0"/>
                    <a:cs typeface="B Lotus" panose="00000400000000000000" pitchFamily="2" charset="-78"/>
                  </a:rPr>
                  <a:t>شکل </a:t>
                </a:r>
                <a:r>
                  <a:rPr lang="fa-IR" sz="1600" dirty="0" smtClean="0">
                    <a:latin typeface="Times New Roman" panose="02020603050405020304" pitchFamily="18" charset="0"/>
                    <a:ea typeface="Calibri" panose="020F0502020204030204" pitchFamily="34" charset="0"/>
                    <a:cs typeface="B Lotus" panose="00000400000000000000" pitchFamily="2" charset="-78"/>
                  </a:rPr>
                  <a:t>16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خروجی </a:t>
                </a:r>
                <a:r>
                  <a:rPr lang="fa-IR" sz="1600" dirty="0">
                    <a:latin typeface="Times New Roman" panose="02020603050405020304" pitchFamily="18" charset="0"/>
                    <a:ea typeface="Times New Roman" panose="02020603050405020304" pitchFamily="18" charset="0"/>
                    <a:cs typeface="B Nazanin" panose="00000400000000000000" pitchFamily="2" charset="-78"/>
                  </a:rPr>
                  <a:t>الگوریتم </a:t>
                </a:r>
                <a:r>
                  <a:rPr lang="ar-SA" sz="1600" dirty="0">
                    <a:latin typeface="Times New Roman" panose="02020603050405020304" pitchFamily="18" charset="0"/>
                    <a:ea typeface="Times New Roman" panose="02020603050405020304" pitchFamily="18" charset="0"/>
                    <a:cs typeface="B Nazanin" panose="00000400000000000000" pitchFamily="2" charset="-78"/>
                  </a:rPr>
                  <a:t>همسان‌سازی </a:t>
                </a:r>
                <a:r>
                  <a:rPr lang="fa-IR" sz="1600" dirty="0">
                    <a:latin typeface="Times New Roman" panose="02020603050405020304" pitchFamily="18" charset="0"/>
                    <a:ea typeface="Times New Roman" panose="02020603050405020304" pitchFamily="18" charset="0"/>
                    <a:cs typeface="B Nazanin" panose="00000400000000000000" pitchFamily="2" charset="-78"/>
                  </a:rPr>
                  <a:t>پیشنهادی </a:t>
                </a:r>
                <a:r>
                  <a:rPr lang="ar-SA" sz="1600" dirty="0">
                    <a:latin typeface="Times New Roman" panose="02020603050405020304" pitchFamily="18" charset="0"/>
                    <a:ea typeface="Times New Roman" panose="02020603050405020304" pitchFamily="18" charset="0"/>
                    <a:cs typeface="B Nazanin" panose="00000400000000000000" pitchFamily="2" charset="-78"/>
                  </a:rPr>
                  <a:t>ازای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ضرایب</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 0/33=</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𝛾</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0/33=</a:t>
                </a:r>
                <a14:m>
                  <m:oMath xmlns:m="http://schemas.openxmlformats.org/officeDocument/2006/math">
                    <m:r>
                      <a:rPr lang="en-US" sz="1600" i="1">
                        <a:latin typeface="Cambria Math" panose="02040503050406030204" pitchFamily="18" charset="0"/>
                        <a:ea typeface="Times New Roman" panose="02020603050405020304" pitchFamily="18" charset="0"/>
                        <a:cs typeface="B Nazanin" panose="00000400000000000000" pitchFamily="2" charset="-78"/>
                      </a:rPr>
                      <m:t>𝛽</m:t>
                    </m:r>
                  </m:oMath>
                </a14:m>
                <a:r>
                  <a:rPr lang="fa-IR" sz="1600" dirty="0">
                    <a:latin typeface="Times New Roman" panose="02020603050405020304" pitchFamily="18" charset="0"/>
                    <a:ea typeface="Times New Roman" panose="02020603050405020304" pitchFamily="18" charset="0"/>
                    <a:cs typeface="B Nazanin" panose="00000400000000000000" pitchFamily="2" charset="-78"/>
                  </a:rPr>
                  <a:t> و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0/33=</a:t>
                </a:r>
                <a14:m>
                  <m:oMath xmlns:m="http://schemas.openxmlformats.org/officeDocument/2006/math">
                    <m:r>
                      <a:rPr lang="en-US" sz="1600" i="1" smtClean="0">
                        <a:latin typeface="Cambria Math" panose="02040503050406030204" pitchFamily="18" charset="0"/>
                        <a:ea typeface="Times New Roman" panose="02020603050405020304" pitchFamily="18" charset="0"/>
                        <a:cs typeface="B Nazanin" panose="00000400000000000000" pitchFamily="2" charset="-78"/>
                      </a:rPr>
                      <m:t>𝛼</m:t>
                    </m:r>
                  </m:oMath>
                </a14:m>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p:txBody>
          </p:sp>
        </mc:Choice>
        <mc:Fallback xmlns="">
          <p:sp>
            <p:nvSpPr>
              <p:cNvPr id="17" name="Rectangle 16"/>
              <p:cNvSpPr>
                <a:spLocks noRot="1" noChangeAspect="1" noMove="1" noResize="1" noEditPoints="1" noAdjustHandles="1" noChangeArrowheads="1" noChangeShapeType="1" noTextEdit="1"/>
              </p:cNvSpPr>
              <p:nvPr/>
            </p:nvSpPr>
            <p:spPr>
              <a:xfrm>
                <a:off x="678180" y="6304879"/>
                <a:ext cx="7543800" cy="338554"/>
              </a:xfrm>
              <a:prstGeom prst="rect">
                <a:avLst/>
              </a:prstGeom>
              <a:blipFill rotWithShape="0">
                <a:blip r:embed="rId8"/>
                <a:stretch>
                  <a:fillRect t="-3571" b="-26786"/>
                </a:stretch>
              </a:blipFill>
            </p:spPr>
            <p:txBody>
              <a:bodyPr/>
              <a:lstStyle/>
              <a:p>
                <a:r>
                  <a:rPr lang="en-US">
                    <a:noFill/>
                  </a:rPr>
                  <a:t> </a:t>
                </a:r>
              </a:p>
            </p:txBody>
          </p:sp>
        </mc:Fallback>
      </mc:AlternateContent>
      <p:sp>
        <p:nvSpPr>
          <p:cNvPr id="18" name="Rectangle 17"/>
          <p:cNvSpPr/>
          <p:nvPr/>
        </p:nvSpPr>
        <p:spPr>
          <a:xfrm>
            <a:off x="8371928" y="3067457"/>
            <a:ext cx="59984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(الف)</a:t>
            </a:r>
            <a:endParaRPr lang="en-US" dirty="0"/>
          </a:p>
        </p:txBody>
      </p:sp>
      <p:sp>
        <p:nvSpPr>
          <p:cNvPr id="19" name="Rectangle 18"/>
          <p:cNvSpPr/>
          <p:nvPr/>
        </p:nvSpPr>
        <p:spPr>
          <a:xfrm>
            <a:off x="3832599" y="2944054"/>
            <a:ext cx="503664" cy="369332"/>
          </a:xfrm>
          <a:prstGeom prst="rect">
            <a:avLst/>
          </a:prstGeom>
        </p:spPr>
        <p:txBody>
          <a:bodyPr wrap="none">
            <a:spAutoFit/>
          </a:bodyPr>
          <a:lstStyle/>
          <a:p>
            <a:r>
              <a:rPr lang="fa-IR" dirty="0">
                <a:latin typeface="Times New Roman" panose="02020603050405020304" pitchFamily="18" charset="0"/>
                <a:ea typeface="Calibri" panose="020F0502020204030204" pitchFamily="34" charset="0"/>
                <a:cs typeface="B Lotus" panose="00000400000000000000" pitchFamily="2" charset="-78"/>
              </a:rPr>
              <a:t>(ب)</a:t>
            </a:r>
            <a:endParaRPr lang="en-US" dirty="0"/>
          </a:p>
        </p:txBody>
      </p:sp>
      <p:sp>
        <p:nvSpPr>
          <p:cNvPr id="20" name="Rectangle 19"/>
          <p:cNvSpPr/>
          <p:nvPr/>
        </p:nvSpPr>
        <p:spPr>
          <a:xfrm>
            <a:off x="8743184" y="5796040"/>
            <a:ext cx="457176"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21" name="Rectangle 20"/>
          <p:cNvSpPr/>
          <p:nvPr/>
        </p:nvSpPr>
        <p:spPr>
          <a:xfrm>
            <a:off x="4200083" y="5796040"/>
            <a:ext cx="404278"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(د)</a:t>
            </a:r>
            <a:endParaRPr lang="en-US" dirty="0"/>
          </a:p>
        </p:txBody>
      </p:sp>
    </p:spTree>
    <p:extLst>
      <p:ext uri="{BB962C8B-B14F-4D97-AF65-F5344CB8AC3E}">
        <p14:creationId xmlns:p14="http://schemas.microsoft.com/office/powerpoint/2010/main" val="11842432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23</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mc:AlternateContent xmlns:mc="http://schemas.openxmlformats.org/markup-compatibility/2006">
        <mc:Choice xmlns:a14="http://schemas.microsoft.com/office/drawing/2010/main" Requires="a14">
          <p:graphicFrame>
            <p:nvGraphicFramePr>
              <p:cNvPr id="22" name="Table 21"/>
              <p:cNvGraphicFramePr>
                <a:graphicFrameLocks noGrp="1"/>
              </p:cNvGraphicFramePr>
              <p:nvPr>
                <p:extLst>
                  <p:ext uri="{D42A27DB-BD31-4B8C-83A1-F6EECF244321}">
                    <p14:modId xmlns:p14="http://schemas.microsoft.com/office/powerpoint/2010/main" val="4010378573"/>
                  </p:ext>
                </p:extLst>
              </p:nvPr>
            </p:nvGraphicFramePr>
            <p:xfrm>
              <a:off x="356013" y="2895600"/>
              <a:ext cx="8686799" cy="2286000"/>
            </p:xfrm>
            <a:graphic>
              <a:graphicData uri="http://schemas.openxmlformats.org/drawingml/2006/table">
                <a:tbl>
                  <a:tblPr rtl="1" firstRow="1" firstCol="1" bandRow="1"/>
                  <a:tblGrid>
                    <a:gridCol w="729606"/>
                    <a:gridCol w="893919"/>
                    <a:gridCol w="1124556"/>
                    <a:gridCol w="887407">
                      <a:extLst>
                        <a:ext uri="{9D8B030D-6E8A-4147-A177-3AD203B41FA5}">
                          <a16:colId xmlns:a16="http://schemas.microsoft.com/office/drawing/2014/main" xmlns="" val="20001"/>
                        </a:ext>
                      </a:extLst>
                    </a:gridCol>
                    <a:gridCol w="1265208">
                      <a:extLst>
                        <a:ext uri="{9D8B030D-6E8A-4147-A177-3AD203B41FA5}">
                          <a16:colId xmlns:a16="http://schemas.microsoft.com/office/drawing/2014/main" xmlns="" val="20002"/>
                        </a:ext>
                      </a:extLst>
                    </a:gridCol>
                    <a:gridCol w="1240766">
                      <a:extLst>
                        <a:ext uri="{9D8B030D-6E8A-4147-A177-3AD203B41FA5}">
                          <a16:colId xmlns:a16="http://schemas.microsoft.com/office/drawing/2014/main" xmlns="" val="20003"/>
                        </a:ext>
                      </a:extLst>
                    </a:gridCol>
                    <a:gridCol w="1213448">
                      <a:extLst>
                        <a:ext uri="{9D8B030D-6E8A-4147-A177-3AD203B41FA5}">
                          <a16:colId xmlns:a16="http://schemas.microsoft.com/office/drawing/2014/main" xmlns="" val="20004"/>
                        </a:ext>
                      </a:extLst>
                    </a:gridCol>
                    <a:gridCol w="1331889">
                      <a:extLst>
                        <a:ext uri="{9D8B030D-6E8A-4147-A177-3AD203B41FA5}">
                          <a16:colId xmlns:a16="http://schemas.microsoft.com/office/drawing/2014/main" xmlns="" val="20005"/>
                        </a:ext>
                      </a:extLst>
                    </a:gridCol>
                  </a:tblGrid>
                  <a:tr h="381000">
                    <a:tc gridSpan="3">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ضرایب</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h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h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بهترین </a:t>
                          </a:r>
                          <a:r>
                            <a:rPr lang="en-US"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ε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بهترین هزینه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روی‌هم‌رفت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ناهمسانی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زمان فرآیند (</a:t>
                          </a:r>
                          <a:r>
                            <a:rPr lang="en-US"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S</a:t>
                          </a: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r>
                  <a:tr h="381000">
                    <a:tc>
                      <a:txBody>
                        <a:bodyPr/>
                        <a:lstStyle/>
                        <a:p>
                          <a:pPr marL="0" algn="ctr" defTabSz="914400" rtl="1" eaLnBrk="1" latinLnBrk="0" hangingPunct="1">
                            <a:spcAft>
                              <a:spcPts val="300"/>
                            </a:spcAft>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libri" panose="020F0502020204030204" pitchFamily="34" charset="0"/>
                                        <a:cs typeface="B Lotus" panose="00000400000000000000" pitchFamily="2" charset="-78"/>
                                      </a:rPr>
                                    </m:ctrlPr>
                                  </m:sSubPr>
                                  <m:e>
                                    <m:r>
                                      <a:rPr lang="en-US">
                                        <a:latin typeface="Cambria Math" panose="02040503050406030204" pitchFamily="18" charset="0"/>
                                        <a:ea typeface="Calibri" panose="020F0502020204030204" pitchFamily="34" charset="0"/>
                                        <a:cs typeface="B Lotus" panose="00000400000000000000" pitchFamily="2" charset="-78"/>
                                      </a:rPr>
                                      <m:t>𝑤</m:t>
                                    </m:r>
                                  </m:e>
                                  <m:sub>
                                    <m:r>
                                      <a:rPr lang="en-US">
                                        <a:latin typeface="Cambria Math" panose="02040503050406030204" pitchFamily="18" charset="0"/>
                                        <a:ea typeface="Calibri" panose="020F0502020204030204" pitchFamily="34" charset="0"/>
                                        <a:cs typeface="B Lotus" panose="00000400000000000000" pitchFamily="2" charset="-78"/>
                                      </a:rPr>
                                      <m:t>𝛾</m:t>
                                    </m:r>
                                  </m:sub>
                                </m:sSub>
                              </m:oMath>
                            </m:oMathPara>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libri" panose="020F0502020204030204" pitchFamily="34" charset="0"/>
                                        <a:cs typeface="B Lotus" panose="00000400000000000000" pitchFamily="2" charset="-78"/>
                                      </a:rPr>
                                    </m:ctrlPr>
                                  </m:sSubPr>
                                  <m:e>
                                    <m:r>
                                      <a:rPr lang="en-US">
                                        <a:latin typeface="Cambria Math" panose="02040503050406030204" pitchFamily="18" charset="0"/>
                                        <a:ea typeface="Calibri" panose="020F0502020204030204" pitchFamily="34" charset="0"/>
                                        <a:cs typeface="B Lotus" panose="00000400000000000000" pitchFamily="2" charset="-78"/>
                                      </a:rPr>
                                      <m:t>𝑤</m:t>
                                    </m:r>
                                  </m:e>
                                  <m:sub>
                                    <m:r>
                                      <a:rPr lang="en-US">
                                        <a:latin typeface="Cambria Math" panose="02040503050406030204" pitchFamily="18" charset="0"/>
                                        <a:ea typeface="Calibri" panose="020F0502020204030204" pitchFamily="34" charset="0"/>
                                        <a:cs typeface="B Lotus" panose="00000400000000000000" pitchFamily="2" charset="-78"/>
                                      </a:rPr>
                                      <m:t>𝛽</m:t>
                                    </m:r>
                                  </m:sub>
                                </m:sSub>
                              </m:oMath>
                            </m:oMathPara>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libri" panose="020F0502020204030204" pitchFamily="34" charset="0"/>
                                        <a:cs typeface="B Lotus" panose="00000400000000000000" pitchFamily="2" charset="-78"/>
                                      </a:rPr>
                                    </m:ctrlPr>
                                  </m:sSubPr>
                                  <m:e>
                                    <m:r>
                                      <a:rPr lang="en-US">
                                        <a:latin typeface="Cambria Math" panose="02040503050406030204" pitchFamily="18" charset="0"/>
                                        <a:ea typeface="Calibri" panose="020F0502020204030204" pitchFamily="34" charset="0"/>
                                        <a:cs typeface="B Lotus" panose="00000400000000000000" pitchFamily="2" charset="-78"/>
                                      </a:rPr>
                                      <m:t>𝑤</m:t>
                                    </m:r>
                                  </m:e>
                                  <m:sub>
                                    <m:r>
                                      <a:rPr lang="en-US">
                                        <a:latin typeface="Cambria Math" panose="02040503050406030204" pitchFamily="18" charset="0"/>
                                        <a:ea typeface="Calibri" panose="020F0502020204030204" pitchFamily="34" charset="0"/>
                                        <a:cs typeface="B Lotus" panose="00000400000000000000" pitchFamily="2" charset="-78"/>
                                      </a:rPr>
                                      <m:t>𝛼</m:t>
                                    </m:r>
                                  </m:sub>
                                </m:sSub>
                              </m:oMath>
                            </m:oMathPara>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algn="ct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0/8</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3/67</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65</a:t>
                          </a: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extLst>
                      <a:ext uri="{0D108BD9-81ED-4DB2-BD59-A6C34878D82A}">
                        <a16:rowId xmlns:a16="http://schemas.microsoft.com/office/drawing/2014/main" xmlns="" val="10004"/>
                      </a:ext>
                    </a:extLst>
                  </a:tr>
                  <a:tr h="381000">
                    <a:tc>
                      <a:txBody>
                        <a:bodyPr/>
                        <a:lstStyle/>
                        <a:p>
                          <a:pPr algn="ct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0/0</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12/2</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4225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381000">
                    <a:tc>
                      <a:txBody>
                        <a:bodyPr/>
                        <a:lstStyle/>
                        <a:p>
                          <a:pPr algn="ct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0/0</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9/1</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0/148</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FFB9"/>
                        </a:solidFill>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28/9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4396</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381000">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0/264</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FFB9"/>
                        </a:solidFill>
                      </a:tcPr>
                    </a:tc>
                    <a:tc>
                      <a:txBody>
                        <a:bodyPr/>
                        <a:lstStyle/>
                        <a:p>
                          <a:pPr marL="0" algn="ctr" defTabSz="914400" rtl="1" eaLnBrk="1" latinLnBrk="0" hangingPunct="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3540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r>
                </a:tbl>
              </a:graphicData>
            </a:graphic>
          </p:graphicFrame>
        </mc:Choice>
        <mc:Fallback>
          <p:graphicFrame>
            <p:nvGraphicFramePr>
              <p:cNvPr id="22" name="Table 21"/>
              <p:cNvGraphicFramePr>
                <a:graphicFrameLocks noGrp="1"/>
              </p:cNvGraphicFramePr>
              <p:nvPr>
                <p:extLst>
                  <p:ext uri="{D42A27DB-BD31-4B8C-83A1-F6EECF244321}">
                    <p14:modId xmlns:p14="http://schemas.microsoft.com/office/powerpoint/2010/main" val="4010378573"/>
                  </p:ext>
                </p:extLst>
              </p:nvPr>
            </p:nvGraphicFramePr>
            <p:xfrm>
              <a:off x="356013" y="2895600"/>
              <a:ext cx="8686799" cy="2286000"/>
            </p:xfrm>
            <a:graphic>
              <a:graphicData uri="http://schemas.openxmlformats.org/drawingml/2006/table">
                <a:tbl>
                  <a:tblPr rtl="1" firstRow="1" firstCol="1" bandRow="1"/>
                  <a:tblGrid>
                    <a:gridCol w="729606"/>
                    <a:gridCol w="893919"/>
                    <a:gridCol w="1124556"/>
                    <a:gridCol w="887407">
                      <a:extLst>
                        <a:ext uri="{9D8B030D-6E8A-4147-A177-3AD203B41FA5}">
                          <a16:colId xmlns:a16="http://schemas.microsoft.com/office/drawing/2014/main" xmlns="" xmlns:a14="http://schemas.microsoft.com/office/drawing/2010/main" val="20001"/>
                        </a:ext>
                      </a:extLst>
                    </a:gridCol>
                    <a:gridCol w="1265208">
                      <a:extLst>
                        <a:ext uri="{9D8B030D-6E8A-4147-A177-3AD203B41FA5}">
                          <a16:colId xmlns:a16="http://schemas.microsoft.com/office/drawing/2014/main" xmlns="" xmlns:a14="http://schemas.microsoft.com/office/drawing/2010/main" val="20002"/>
                        </a:ext>
                      </a:extLst>
                    </a:gridCol>
                    <a:gridCol w="1240766">
                      <a:extLst>
                        <a:ext uri="{9D8B030D-6E8A-4147-A177-3AD203B41FA5}">
                          <a16:colId xmlns:a16="http://schemas.microsoft.com/office/drawing/2014/main" xmlns="" xmlns:a14="http://schemas.microsoft.com/office/drawing/2010/main" val="20003"/>
                        </a:ext>
                      </a:extLst>
                    </a:gridCol>
                    <a:gridCol w="1213448">
                      <a:extLst>
                        <a:ext uri="{9D8B030D-6E8A-4147-A177-3AD203B41FA5}">
                          <a16:colId xmlns:a16="http://schemas.microsoft.com/office/drawing/2014/main" xmlns="" xmlns:a14="http://schemas.microsoft.com/office/drawing/2010/main" val="20004"/>
                        </a:ext>
                      </a:extLst>
                    </a:gridCol>
                    <a:gridCol w="1331889">
                      <a:extLst>
                        <a:ext uri="{9D8B030D-6E8A-4147-A177-3AD203B41FA5}">
                          <a16:colId xmlns:a16="http://schemas.microsoft.com/office/drawing/2014/main" xmlns="" xmlns:a14="http://schemas.microsoft.com/office/drawing/2010/main" val="20005"/>
                        </a:ext>
                      </a:extLst>
                    </a:gridCol>
                  </a:tblGrid>
                  <a:tr h="381000">
                    <a:tc gridSpan="3">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ضرایب</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h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h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بهترین </a:t>
                          </a:r>
                          <a:r>
                            <a:rPr lang="en-US"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ε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بهترین هزینه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روی‌هم‌رفت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ناهمسانی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rowSpan="2">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زمان فرآیند (</a:t>
                          </a:r>
                          <a:r>
                            <a:rPr lang="en-US"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S</a:t>
                          </a: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r>
                  <a:tr h="381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33" t="-104839" r="-1090000" b="-43225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2313" t="-104839" r="-789796" b="-43225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45652" t="-104839" r="-530978" b="-432258"/>
                          </a:stretch>
                        </a:blip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vMerge="1">
                      <a:txBody>
                        <a:bodyPr/>
                        <a:lstStyle/>
                        <a:p>
                          <a:pPr marL="0" algn="ctr" defTabSz="914400" rtl="1" eaLnBrk="1" latinLnBrk="0" hangingPunct="1">
                            <a:spcAft>
                              <a:spcPts val="300"/>
                            </a:spcAft>
                          </a:pP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xmlns:a14="http://schemas.microsoft.com/office/drawing/2010/main" val="10000"/>
                      </a:ext>
                    </a:extLst>
                  </a:tr>
                  <a:tr h="381000">
                    <a:tc>
                      <a:txBody>
                        <a:bodyPr/>
                        <a:lstStyle/>
                        <a:p>
                          <a:pPr algn="ct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0/8</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3/67</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65</a:t>
                          </a: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extLst>
                      <a:ext uri="{0D108BD9-81ED-4DB2-BD59-A6C34878D82A}">
                        <a16:rowId xmlns:a16="http://schemas.microsoft.com/office/drawing/2014/main" xmlns="" xmlns:a14="http://schemas.microsoft.com/office/drawing/2010/main" val="10004"/>
                      </a:ext>
                    </a:extLst>
                  </a:tr>
                  <a:tr h="381000">
                    <a:tc>
                      <a:txBody>
                        <a:bodyPr/>
                        <a:lstStyle/>
                        <a:p>
                          <a:pPr algn="ct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0/0</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12/2</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4225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381000">
                    <a:tc>
                      <a:txBody>
                        <a:bodyPr/>
                        <a:lstStyle/>
                        <a:p>
                          <a:pPr algn="ct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0/0</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9/1</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0/148</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FFB9"/>
                        </a:solidFill>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28/9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4396</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381000">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0/264</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FFB9"/>
                        </a:solidFill>
                      </a:tcPr>
                    </a:tc>
                    <a:tc>
                      <a:txBody>
                        <a:bodyPr/>
                        <a:lstStyle/>
                        <a:p>
                          <a:pPr marL="0" algn="ctr" defTabSz="914400" rtl="1" eaLnBrk="1" latinLnBrk="0" hangingPunct="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algn="ctr" defTabSz="914400" rtl="1" eaLnBrk="1" latinLnBrk="0" hangingPunct="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3540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r>
                </a:tbl>
              </a:graphicData>
            </a:graphic>
          </p:graphicFrame>
        </mc:Fallback>
      </mc:AlternateContent>
      <p:sp>
        <p:nvSpPr>
          <p:cNvPr id="2" name="Rectangle 1"/>
          <p:cNvSpPr/>
          <p:nvPr/>
        </p:nvSpPr>
        <p:spPr>
          <a:xfrm>
            <a:off x="173132" y="2506212"/>
            <a:ext cx="8869680" cy="369332"/>
          </a:xfrm>
          <a:prstGeom prst="rect">
            <a:avLst/>
          </a:prstGeom>
        </p:spPr>
        <p:txBody>
          <a:bodyPr wrap="square">
            <a:spAutoFit/>
          </a:bodyPr>
          <a:lstStyle/>
          <a:p>
            <a:pPr algn="ctr" rtl="1"/>
            <a:r>
              <a:rPr lang="fa-IR" dirty="0" smtClean="0">
                <a:latin typeface="Times New Roman" panose="02020603050405020304" pitchFamily="18" charset="0"/>
                <a:ea typeface="Times New Roman" panose="02020603050405020304" pitchFamily="18" charset="0"/>
                <a:cs typeface="B Nazanin" panose="00000400000000000000" pitchFamily="2" charset="-78"/>
              </a:rPr>
              <a:t>جدول 1 </a:t>
            </a:r>
            <a:r>
              <a:rPr lang="ar-SA" dirty="0" smtClean="0">
                <a:latin typeface="Times New Roman" panose="02020603050405020304" pitchFamily="18" charset="0"/>
                <a:ea typeface="Times New Roman" panose="02020603050405020304" pitchFamily="18" charset="0"/>
                <a:cs typeface="B Nazanin" panose="00000400000000000000" pitchFamily="2" charset="-78"/>
              </a:rPr>
              <a:t>خروجی</a:t>
            </a:r>
            <a:r>
              <a:rPr lang="fa-IR" dirty="0" smtClean="0">
                <a:latin typeface="Times New Roman" panose="02020603050405020304" pitchFamily="18" charset="0"/>
                <a:ea typeface="Times New Roman" panose="02020603050405020304" pitchFamily="18" charset="0"/>
                <a:cs typeface="B Nazanin" panose="00000400000000000000" pitchFamily="2" charset="-78"/>
              </a:rPr>
              <a:t> نهایی</a:t>
            </a:r>
            <a:r>
              <a:rPr lang="ar-SA" dirty="0" smtClean="0">
                <a:latin typeface="Times New Roman" panose="02020603050405020304" pitchFamily="18" charset="0"/>
                <a:ea typeface="Times New Roman" panose="02020603050405020304" pitchFamily="18" charset="0"/>
                <a:cs typeface="B Nazanin" panose="00000400000000000000" pitchFamily="2" charset="-78"/>
              </a:rPr>
              <a:t> </a:t>
            </a:r>
            <a:r>
              <a:rPr lang="ar-SA" dirty="0">
                <a:latin typeface="Times New Roman" panose="02020603050405020304" pitchFamily="18" charset="0"/>
                <a:ea typeface="Times New Roman" panose="02020603050405020304" pitchFamily="18" charset="0"/>
                <a:cs typeface="B Nazanin" panose="00000400000000000000" pitchFamily="2" charset="-78"/>
              </a:rPr>
              <a:t>به دست آمده توسط الگوریتم </a:t>
            </a:r>
            <a:r>
              <a:rPr lang="ar-SA" dirty="0" smtClean="0">
                <a:latin typeface="Times New Roman" panose="02020603050405020304" pitchFamily="18" charset="0"/>
                <a:ea typeface="Times New Roman" panose="02020603050405020304" pitchFamily="18" charset="0"/>
                <a:cs typeface="B Nazanin" panose="00000400000000000000" pitchFamily="2" charset="-78"/>
              </a:rPr>
              <a:t>پیشنهادی</a:t>
            </a:r>
            <a:r>
              <a:rPr lang="fa-IR" dirty="0" smtClean="0">
                <a:latin typeface="Times New Roman" panose="02020603050405020304" pitchFamily="18" charset="0"/>
                <a:ea typeface="Times New Roman" panose="02020603050405020304" pitchFamily="18" charset="0"/>
                <a:cs typeface="B Nazanin" panose="00000400000000000000" pitchFamily="2" charset="-78"/>
              </a:rPr>
              <a:t> به ازای ضرایب مختلف</a:t>
            </a:r>
            <a:endParaRPr lang="en-US" dirty="0"/>
          </a:p>
        </p:txBody>
      </p:sp>
      <p:sp>
        <p:nvSpPr>
          <p:cNvPr id="15" name="Rounded Rectangle 175">
            <a:extLst>
              <a:ext uri="{FF2B5EF4-FFF2-40B4-BE49-F238E27FC236}">
                <a16:creationId xmlns:a16="http://schemas.microsoft.com/office/drawing/2014/main" xmlns="" id="{72F1F36F-BC0F-4EAB-B733-3BEB63BA174F}"/>
              </a:ext>
            </a:extLst>
          </p:cNvPr>
          <p:cNvSpPr/>
          <p:nvPr/>
        </p:nvSpPr>
        <p:spPr bwMode="auto">
          <a:xfrm>
            <a:off x="4953000" y="1066930"/>
            <a:ext cx="4294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2000" b="1" dirty="0">
              <a:solidFill>
                <a:srgbClr val="FFFFFF"/>
              </a:solidFill>
              <a:latin typeface="Times New Roman" panose="02020603050405020304" pitchFamily="18" charset="0"/>
              <a:cs typeface="B Nazanin" panose="00000400000000000000" pitchFamily="2" charset="-78"/>
            </a:endParaRPr>
          </a:p>
        </p:txBody>
      </p:sp>
      <mc:AlternateContent xmlns:mc="http://schemas.openxmlformats.org/markup-compatibility/2006" xmlns:a14="http://schemas.microsoft.com/office/drawing/2010/main">
        <mc:Choice Requires="a14">
          <p:sp>
            <p:nvSpPr>
              <p:cNvPr id="3" name="Rectangle 2"/>
              <p:cNvSpPr/>
              <p:nvPr/>
            </p:nvSpPr>
            <p:spPr>
              <a:xfrm>
                <a:off x="173132" y="5335639"/>
                <a:ext cx="4572000" cy="1138517"/>
              </a:xfrm>
              <a:prstGeom prst="rect">
                <a:avLst/>
              </a:prstGeom>
            </p:spPr>
            <p:txBody>
              <a:bodyPr>
                <a:spAutoFit/>
              </a:bodyPr>
              <a:lstStyle/>
              <a:p>
                <a:pPr marL="180340">
                  <a:lnSpc>
                    <a:spcPct val="115000"/>
                  </a:lnSpc>
                  <a:tabLst>
                    <a:tab pos="1924050" algn="l"/>
                  </a:tabLst>
                </a:pPr>
                <a14:m>
                  <m:oMath xmlns:m="http://schemas.openxmlformats.org/officeDocument/2006/math">
                    <m:sSub>
                      <m:sSubPr>
                        <m:ctrlPr>
                          <a:rPr lang="en-US" i="1">
                            <a:latin typeface="Cambria Math" panose="02040503050406030204" pitchFamily="18" charset="0"/>
                            <a:ea typeface="Calibri" panose="020F0502020204030204" pitchFamily="34" charset="0"/>
                            <a:cs typeface="B Lotus" panose="00000400000000000000" pitchFamily="2" charset="-78"/>
                          </a:rPr>
                        </m:ctrlPr>
                      </m:sSubPr>
                      <m:e>
                        <m:r>
                          <a:rPr lang="en-US">
                            <a:latin typeface="Cambria Math" panose="02040503050406030204" pitchFamily="18" charset="0"/>
                            <a:ea typeface="Calibri" panose="020F0502020204030204" pitchFamily="34" charset="0"/>
                            <a:cs typeface="B Lotus" panose="00000400000000000000" pitchFamily="2" charset="-78"/>
                          </a:rPr>
                          <m:t>𝑤</m:t>
                        </m:r>
                      </m:e>
                      <m:sub>
                        <m:r>
                          <a:rPr lang="en-US">
                            <a:latin typeface="Cambria Math" panose="02040503050406030204" pitchFamily="18" charset="0"/>
                            <a:ea typeface="Calibri" panose="020F0502020204030204" pitchFamily="34" charset="0"/>
                            <a:cs typeface="B Lotus" panose="00000400000000000000" pitchFamily="2" charset="-78"/>
                          </a:rPr>
                          <m:t>𝛼</m:t>
                        </m:r>
                      </m:sub>
                    </m:sSub>
                  </m:oMath>
                </a14:m>
                <a:r>
                  <a:rPr lang="en-US" dirty="0">
                    <a:latin typeface="Times New Roman" panose="02020603050405020304" pitchFamily="18" charset="0"/>
                    <a:ea typeface="Times New Roman" panose="02020603050405020304" pitchFamily="18" charset="0"/>
                    <a:cs typeface="B Nazanin" panose="00000400000000000000" pitchFamily="2" charset="-78"/>
                  </a:rPr>
                  <a:t>= </a:t>
                </a:r>
                <a:r>
                  <a:rPr lang="fa-IR" dirty="0" smtClean="0">
                    <a:latin typeface="Times New Roman" panose="02020603050405020304" pitchFamily="18" charset="0"/>
                    <a:ea typeface="Times New Roman" panose="02020603050405020304" pitchFamily="18" charset="0"/>
                    <a:cs typeface="B Nazanin" panose="00000400000000000000" pitchFamily="2" charset="-78"/>
                  </a:rPr>
                  <a:t>زمان</a:t>
                </a:r>
                <a:r>
                  <a:rPr lang="fa-IR" dirty="0">
                    <a:latin typeface="Times New Roman" panose="02020603050405020304" pitchFamily="18" charset="0"/>
                    <a:ea typeface="Times New Roman" panose="02020603050405020304" pitchFamily="18" charset="0"/>
                    <a:cs typeface="B Nazanin" panose="00000400000000000000" pitchFamily="2" charset="-78"/>
                  </a:rPr>
                  <a:t>		</a:t>
                </a:r>
                <a:endParaRPr lang="en-US" dirty="0">
                  <a:latin typeface="Cambria Math" panose="02040503050406030204" pitchFamily="18" charset="0"/>
                  <a:ea typeface="Calibri" panose="020F0502020204030204" pitchFamily="34" charset="0"/>
                  <a:cs typeface="B Lotus" panose="00000400000000000000" pitchFamily="2" charset="-78"/>
                </a:endParaRPr>
              </a:p>
              <a:p>
                <a:pPr marL="180340">
                  <a:lnSpc>
                    <a:spcPct val="115000"/>
                  </a:lnSpc>
                  <a:tabLst>
                    <a:tab pos="1924050" algn="l"/>
                  </a:tabLst>
                </a:pPr>
                <a14:m>
                  <m:oMath xmlns:m="http://schemas.openxmlformats.org/officeDocument/2006/math">
                    <m:sSub>
                      <m:sSubPr>
                        <m:ctrlPr>
                          <a:rPr lang="en-US" i="1">
                            <a:latin typeface="Cambria Math" panose="02040503050406030204" pitchFamily="18" charset="0"/>
                            <a:ea typeface="Calibri" panose="020F0502020204030204" pitchFamily="34" charset="0"/>
                            <a:cs typeface="B Lotus" panose="00000400000000000000" pitchFamily="2" charset="-78"/>
                          </a:rPr>
                        </m:ctrlPr>
                      </m:sSubPr>
                      <m:e>
                        <m:r>
                          <a:rPr lang="en-US">
                            <a:latin typeface="Cambria Math" panose="02040503050406030204" pitchFamily="18" charset="0"/>
                            <a:ea typeface="Calibri" panose="020F0502020204030204" pitchFamily="34" charset="0"/>
                            <a:cs typeface="B Lotus" panose="00000400000000000000" pitchFamily="2" charset="-78"/>
                          </a:rPr>
                          <m:t>𝑤</m:t>
                        </m:r>
                      </m:e>
                      <m:sub>
                        <m:r>
                          <a:rPr lang="en-US">
                            <a:latin typeface="Cambria Math" panose="02040503050406030204" pitchFamily="18" charset="0"/>
                            <a:ea typeface="Calibri" panose="020F0502020204030204" pitchFamily="34" charset="0"/>
                            <a:cs typeface="B Lotus" panose="00000400000000000000" pitchFamily="2" charset="-78"/>
                          </a:rPr>
                          <m:t>𝛽</m:t>
                        </m:r>
                      </m:sub>
                    </m:sSub>
                  </m:oMath>
                </a14:m>
                <a:r>
                  <a:rPr lang="en-US" dirty="0">
                    <a:latin typeface="Times New Roman" panose="02020603050405020304" pitchFamily="18" charset="0"/>
                    <a:ea typeface="Times New Roman" panose="02020603050405020304" pitchFamily="18" charset="0"/>
                    <a:cs typeface="B Nazanin" panose="00000400000000000000" pitchFamily="2" charset="-78"/>
                  </a:rPr>
                  <a:t> = </a:t>
                </a:r>
                <a:r>
                  <a:rPr lang="fa-IR" dirty="0" smtClean="0">
                    <a:latin typeface="Cambria Math" panose="02040503050406030204" pitchFamily="18" charset="0"/>
                    <a:ea typeface="Calibri" panose="020F0502020204030204" pitchFamily="34" charset="0"/>
                    <a:cs typeface="B Lotus" panose="00000400000000000000" pitchFamily="2" charset="-78"/>
                  </a:rPr>
                  <a:t>یکپارچگی</a:t>
                </a:r>
                <a:r>
                  <a:rPr lang="fa-IR" dirty="0">
                    <a:latin typeface="Cambria Math" panose="02040503050406030204" pitchFamily="18" charset="0"/>
                    <a:ea typeface="Calibri" panose="020F0502020204030204" pitchFamily="34" charset="0"/>
                    <a:cs typeface="B Lotus" panose="00000400000000000000" pitchFamily="2" charset="-78"/>
                  </a:rPr>
                  <a:t>	</a:t>
                </a:r>
              </a:p>
              <a:p>
                <a:pPr marL="180340">
                  <a:lnSpc>
                    <a:spcPct val="115000"/>
                  </a:lnSpc>
                  <a:tabLst>
                    <a:tab pos="1924050" algn="l"/>
                  </a:tabLst>
                </a:pPr>
                <a14:m>
                  <m:oMath xmlns:m="http://schemas.openxmlformats.org/officeDocument/2006/math">
                    <m:sSub>
                      <m:sSubPr>
                        <m:ctrlPr>
                          <a:rPr lang="en-US" i="1">
                            <a:latin typeface="Cambria Math" panose="02040503050406030204" pitchFamily="18" charset="0"/>
                            <a:ea typeface="Calibri" panose="020F0502020204030204" pitchFamily="34" charset="0"/>
                            <a:cs typeface="B Lotus" panose="00000400000000000000" pitchFamily="2" charset="-78"/>
                          </a:rPr>
                        </m:ctrlPr>
                      </m:sSubPr>
                      <m:e>
                        <m:r>
                          <a:rPr lang="en-US">
                            <a:latin typeface="Cambria Math" panose="02040503050406030204" pitchFamily="18" charset="0"/>
                            <a:ea typeface="Calibri" panose="020F0502020204030204" pitchFamily="34" charset="0"/>
                            <a:cs typeface="B Lotus" panose="00000400000000000000" pitchFamily="2" charset="-78"/>
                          </a:rPr>
                          <m:t>𝑤</m:t>
                        </m:r>
                      </m:e>
                      <m:sub>
                        <m:r>
                          <a:rPr lang="en-US">
                            <a:latin typeface="Cambria Math" panose="02040503050406030204" pitchFamily="18" charset="0"/>
                            <a:ea typeface="Calibri" panose="020F0502020204030204" pitchFamily="34" charset="0"/>
                            <a:cs typeface="B Lotus" panose="00000400000000000000" pitchFamily="2" charset="-78"/>
                          </a:rPr>
                          <m:t>𝛾</m:t>
                        </m:r>
                      </m:sub>
                    </m:sSub>
                    <m:r>
                      <m:rPr>
                        <m:nor/>
                      </m:rPr>
                      <a:rPr lang="en-US" dirty="0">
                        <a:latin typeface="Times New Roman" panose="02020603050405020304" pitchFamily="18" charset="0"/>
                        <a:ea typeface="Times New Roman" panose="02020603050405020304" pitchFamily="18" charset="0"/>
                        <a:cs typeface="B Nazanin" panose="00000400000000000000" pitchFamily="2" charset="-78"/>
                      </a:rPr>
                      <m:t>=</m:t>
                    </m:r>
                    <m:r>
                      <m:rPr>
                        <m:nor/>
                      </m:rPr>
                      <a:rPr lang="fa-IR" b="0" i="0" dirty="0" smtClean="0">
                        <a:latin typeface="Times New Roman" panose="02020603050405020304" pitchFamily="18" charset="0"/>
                        <a:ea typeface="Times New Roman" panose="02020603050405020304" pitchFamily="18" charset="0"/>
                        <a:cs typeface="B Nazanin" panose="00000400000000000000" pitchFamily="2" charset="-78"/>
                      </a:rPr>
                      <m:t> روی هم رفت </m:t>
                    </m:r>
                  </m:oMath>
                </a14:m>
                <a:r>
                  <a:rPr lang="fa-IR" dirty="0" smtClean="0">
                    <a:latin typeface="Times New Roman" panose="02020603050405020304" pitchFamily="18" charset="0"/>
                    <a:ea typeface="Calibri" panose="020F0502020204030204" pitchFamily="34" charset="0"/>
                    <a:cs typeface="B Lotus" panose="00000400000000000000" pitchFamily="2" charset="-78"/>
                  </a:rPr>
                  <a:t>	</a:t>
                </a:r>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73132" y="5335639"/>
                <a:ext cx="4572000" cy="1138517"/>
              </a:xfrm>
              <a:prstGeom prst="rect">
                <a:avLst/>
              </a:prstGeom>
              <a:blipFill rotWithShape="0">
                <a:blip r:embed="rId5"/>
                <a:stretch>
                  <a:fillRect t="-1604" b="-5348"/>
                </a:stretch>
              </a:blipFill>
            </p:spPr>
            <p:txBody>
              <a:bodyPr/>
              <a:lstStyle/>
              <a:p>
                <a:r>
                  <a:rPr lang="en-US">
                    <a:noFill/>
                  </a:rPr>
                  <a:t> </a:t>
                </a:r>
              </a:p>
            </p:txBody>
          </p:sp>
        </mc:Fallback>
      </mc:AlternateContent>
    </p:spTree>
    <p:extLst>
      <p:ext uri="{BB962C8B-B14F-4D97-AF65-F5344CB8AC3E}">
        <p14:creationId xmlns:p14="http://schemas.microsoft.com/office/powerpoint/2010/main" val="26611993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24</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graphicFrame>
        <p:nvGraphicFramePr>
          <p:cNvPr id="18" name="Table 17"/>
          <p:cNvGraphicFramePr>
            <a:graphicFrameLocks noGrp="1"/>
          </p:cNvGraphicFramePr>
          <p:nvPr>
            <p:extLst>
              <p:ext uri="{D42A27DB-BD31-4B8C-83A1-F6EECF244321}">
                <p14:modId xmlns:p14="http://schemas.microsoft.com/office/powerpoint/2010/main" val="2686734200"/>
              </p:ext>
            </p:extLst>
          </p:nvPr>
        </p:nvGraphicFramePr>
        <p:xfrm>
          <a:off x="670560" y="1185178"/>
          <a:ext cx="8001000" cy="4450080"/>
        </p:xfrm>
        <a:graphic>
          <a:graphicData uri="http://schemas.openxmlformats.org/drawingml/2006/table">
            <a:tbl>
              <a:tblPr rtl="1" firstRow="1" firstCol="1" bandRow="1"/>
              <a:tblGrid>
                <a:gridCol w="1756085">
                  <a:extLst>
                    <a:ext uri="{9D8B030D-6E8A-4147-A177-3AD203B41FA5}">
                      <a16:colId xmlns:a16="http://schemas.microsoft.com/office/drawing/2014/main" xmlns="" val="20001"/>
                    </a:ext>
                  </a:extLst>
                </a:gridCol>
                <a:gridCol w="1444315">
                  <a:extLst>
                    <a:ext uri="{9D8B030D-6E8A-4147-A177-3AD203B41FA5}">
                      <a16:colId xmlns:a16="http://schemas.microsoft.com/office/drawing/2014/main" xmlns="" val="20002"/>
                    </a:ext>
                  </a:extLst>
                </a:gridCol>
                <a:gridCol w="1600200">
                  <a:extLst>
                    <a:ext uri="{9D8B030D-6E8A-4147-A177-3AD203B41FA5}">
                      <a16:colId xmlns:a16="http://schemas.microsoft.com/office/drawing/2014/main" xmlns="" val="20003"/>
                    </a:ext>
                  </a:extLst>
                </a:gridCol>
                <a:gridCol w="1600200">
                  <a:extLst>
                    <a:ext uri="{9D8B030D-6E8A-4147-A177-3AD203B41FA5}">
                      <a16:colId xmlns:a16="http://schemas.microsoft.com/office/drawing/2014/main" xmlns="" val="20004"/>
                    </a:ext>
                  </a:extLst>
                </a:gridCol>
                <a:gridCol w="1600200">
                  <a:extLst>
                    <a:ext uri="{9D8B030D-6E8A-4147-A177-3AD203B41FA5}">
                      <a16:colId xmlns:a16="http://schemas.microsoft.com/office/drawing/2014/main" xmlns="" val="20005"/>
                    </a:ext>
                  </a:extLst>
                </a:gridCol>
              </a:tblGrid>
              <a:tr h="381000">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معیار مقایسه</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867C"/>
                    </a:solidFill>
                  </a:tcPr>
                </a:tc>
                <a:tc>
                  <a:txBody>
                    <a:bodyPr/>
                    <a:lstStyle/>
                    <a:p>
                      <a:pPr algn="ctr" rtl="1">
                        <a:spcAft>
                          <a:spcPts val="300"/>
                        </a:spcAft>
                      </a:pPr>
                      <a:r>
                        <a:rPr lang="ar-SA" sz="1800">
                          <a:effectLst/>
                          <a:latin typeface="Times New Roman" panose="02020603050405020304" pitchFamily="18" charset="0"/>
                          <a:ea typeface="Times New Roman" panose="02020603050405020304" pitchFamily="18" charset="0"/>
                          <a:cs typeface="B Nazanin" panose="00000400000000000000" pitchFamily="2" charset="-78"/>
                        </a:rPr>
                        <a:t>روش پیشنهادی </a:t>
                      </a:r>
                      <a:r>
                        <a:rPr lang="fa-IR" sz="1800">
                          <a:effectLst/>
                          <a:latin typeface="Times New Roman" panose="02020603050405020304" pitchFamily="18" charset="0"/>
                          <a:ea typeface="Times New Roman" panose="02020603050405020304" pitchFamily="18" charset="0"/>
                          <a:cs typeface="B Nazanin" panose="00000400000000000000" pitchFamily="2" charset="-78"/>
                        </a:rPr>
                        <a:t>(</a:t>
                      </a:r>
                      <a:r>
                        <a:rPr lang="en-US" sz="1200">
                          <a:effectLst/>
                          <a:latin typeface="Times New Roman" panose="02020603050405020304" pitchFamily="18" charset="0"/>
                          <a:ea typeface="Times New Roman" panose="02020603050405020304" pitchFamily="18" charset="0"/>
                          <a:cs typeface="B Nazanin" panose="00000400000000000000" pitchFamily="2" charset="-78"/>
                        </a:rPr>
                        <a:t>PSO-DBSCAN</a:t>
                      </a:r>
                      <a:r>
                        <a:rPr lang="fa-IR" sz="180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20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روش </a:t>
                      </a:r>
                      <a:r>
                        <a:rPr lang="fa-IR" sz="18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[3] </a:t>
                      </a:r>
                      <a:r>
                        <a:rPr lang="ar-SA" sz="1800" b="0" i="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r>
                        <a:rPr lang="en-US" sz="1200" b="0" i="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GA</a:t>
                      </a:r>
                      <a:r>
                        <a:rPr lang="ar-SA" sz="1800" b="0" i="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روش </a:t>
                      </a:r>
                      <a:r>
                        <a:rPr lang="fa-IR" sz="18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[1] </a:t>
                      </a:r>
                      <a:r>
                        <a:rPr lang="ar-SA" sz="1800" b="0" i="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r>
                        <a:rPr lang="en-US" sz="1200" b="0" i="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DBSCAN</a:t>
                      </a:r>
                      <a:r>
                        <a:rPr lang="ar-SA" sz="1800" b="0" i="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روش </a:t>
                      </a:r>
                      <a:r>
                        <a:rPr lang="fa-IR" sz="18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[2] </a:t>
                      </a:r>
                      <a:r>
                        <a:rPr lang="ar-SA" sz="1800" dirty="0" smtClean="0">
                          <a:effectLst/>
                          <a:latin typeface="Times New Roman" panose="02020603050405020304" pitchFamily="18" charset="0"/>
                          <a:ea typeface="Times New Roman" panose="02020603050405020304" pitchFamily="18" charset="0"/>
                          <a:cs typeface="B Nazanin" panose="00000400000000000000" pitchFamily="2" charset="-78"/>
                        </a:rPr>
                        <a:t>(</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FLC</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زمان همسان‌سازی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قابل تنظیم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قابل تنظیم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زیاد</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متوسط</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xmlns="" val="10004"/>
                  </a:ext>
                </a:extLst>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تعداد سلول‌‌ها</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9</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12</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6</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9</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سادگی الگوریتم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متوسط</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زیاد</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زیاد</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پیاده سازی سخت‌افزاری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توسط </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MCU</a:t>
                      </a:r>
                      <a:r>
                        <a:rPr lang="en-US" sz="1800" dirty="0">
                          <a:effectLst/>
                          <a:latin typeface="B Nazanin" panose="00000400000000000000" pitchFamily="2" charset="-78"/>
                          <a:ea typeface="Times New Roman" panose="02020603050405020304" pitchFamily="18" charset="0"/>
                          <a:cs typeface="B Nazanin" panose="00000400000000000000" pitchFamily="2" charset="-78"/>
                        </a:rPr>
                        <a:t> </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توسط </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PC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توسط </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MCU</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خیر</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توپولوژی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سلول به سلول (تکی و گروهی)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سلول به سلول </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a:effectLst/>
                          <a:latin typeface="Times New Roman" panose="02020603050405020304" pitchFamily="18" charset="0"/>
                          <a:ea typeface="Times New Roman" panose="02020603050405020304" pitchFamily="18" charset="0"/>
                          <a:cs typeface="B Nazanin" panose="00000400000000000000" pitchFamily="2" charset="-78"/>
                        </a:rPr>
                        <a:t>سلول به سلول (تکی و گروهی)</a:t>
                      </a:r>
                      <a:endParaRPr lang="en-US" sz="120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سلول به سلول و ماژول به ماژول</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متغیر همسان‌سازی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SOC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SOC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ولتاژ</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algn="ctr" rtl="1">
                        <a:spcAft>
                          <a:spcPts val="300"/>
                        </a:spcAft>
                      </a:pP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SOC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اهداف همسان‌سازی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زمان اتمام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یکپارچگی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روی‌هم‌رفت</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زمان اتمام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یکپارچگی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یکپارچگی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زمان اتمام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یکپارچگی</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381000">
                <a:tc>
                  <a:txBody>
                    <a:bodyPr/>
                    <a:lstStyle/>
                    <a:p>
                      <a:pPr algn="ctr" rtl="1">
                        <a:spcAft>
                          <a:spcPts val="300"/>
                        </a:spcAft>
                      </a:pP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زمان اجرای الگوریتم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متوسط</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زیاد</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algn="ctr" rtl="1">
                        <a:spcAft>
                          <a:spcPts val="3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c>
                  <a:txBody>
                    <a:bodyPr/>
                    <a:lstStyle/>
                    <a:p>
                      <a:pPr algn="ctr" rtl="1">
                        <a:spcAft>
                          <a:spcPts val="300"/>
                        </a:spcAft>
                      </a:pPr>
                      <a:r>
                        <a:rPr lang="fa-IR" sz="1800" dirty="0" smtClean="0">
                          <a:effectLst/>
                          <a:latin typeface="Times New Roman" panose="02020603050405020304" pitchFamily="18" charset="0"/>
                          <a:ea typeface="Times New Roman" panose="02020603050405020304" pitchFamily="18" charset="0"/>
                          <a:cs typeface="B Nazanin" panose="00000400000000000000" pitchFamily="2" charset="-78"/>
                        </a:rPr>
                        <a:t>کم</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FFB9"/>
                    </a:solidFill>
                  </a:tcPr>
                </a:tc>
              </a:tr>
            </a:tbl>
          </a:graphicData>
        </a:graphic>
      </p:graphicFrame>
      <p:sp>
        <p:nvSpPr>
          <p:cNvPr id="19" name="Rectangle 18"/>
          <p:cNvSpPr/>
          <p:nvPr/>
        </p:nvSpPr>
        <p:spPr>
          <a:xfrm>
            <a:off x="1400810" y="748495"/>
            <a:ext cx="6540500" cy="369332"/>
          </a:xfrm>
          <a:prstGeom prst="rect">
            <a:avLst/>
          </a:prstGeom>
        </p:spPr>
        <p:txBody>
          <a:bodyPr wrap="square">
            <a:spAutoFit/>
          </a:bodyPr>
          <a:lstStyle/>
          <a:p>
            <a:pPr algn="ctr" rtl="1"/>
            <a:r>
              <a:rPr lang="ar-SA" dirty="0" smtClean="0">
                <a:latin typeface="Times New Roman" panose="02020603050405020304" pitchFamily="18" charset="0"/>
                <a:ea typeface="Times New Roman" panose="02020603050405020304" pitchFamily="18" charset="0"/>
                <a:cs typeface="B Nazanin" panose="00000400000000000000" pitchFamily="2" charset="-78"/>
              </a:rPr>
              <a:t>جدول ‏</a:t>
            </a:r>
            <a:r>
              <a:rPr lang="fa-IR" dirty="0" smtClean="0">
                <a:latin typeface="Times New Roman" panose="02020603050405020304" pitchFamily="18" charset="0"/>
                <a:ea typeface="Times New Roman" panose="02020603050405020304" pitchFamily="18" charset="0"/>
                <a:cs typeface="B Nazanin" panose="00000400000000000000" pitchFamily="2" charset="-78"/>
              </a:rPr>
              <a:t>2 مقایسه طرح پیشنهادی با پژوهش های اخیر</a:t>
            </a:r>
            <a:r>
              <a:rPr lang="ar-SA" dirty="0" smtClean="0">
                <a:latin typeface="Times New Roman" panose="02020603050405020304" pitchFamily="18" charset="0"/>
                <a:ea typeface="Times New Roman" panose="02020603050405020304" pitchFamily="18" charset="0"/>
                <a:cs typeface="B Nazanin" panose="00000400000000000000" pitchFamily="2" charset="-78"/>
              </a:rPr>
              <a:t>.</a:t>
            </a:r>
            <a:endParaRPr lang="en-US" dirty="0"/>
          </a:p>
        </p:txBody>
      </p:sp>
      <p:sp>
        <p:nvSpPr>
          <p:cNvPr id="3" name="Rectangle 2"/>
          <p:cNvSpPr/>
          <p:nvPr/>
        </p:nvSpPr>
        <p:spPr>
          <a:xfrm>
            <a:off x="228600" y="5635258"/>
            <a:ext cx="8915400" cy="1277273"/>
          </a:xfrm>
          <a:prstGeom prst="rect">
            <a:avLst/>
          </a:prstGeom>
        </p:spPr>
        <p:txBody>
          <a:bodyPr wrap="square">
            <a:spAutoFit/>
          </a:bodyPr>
          <a:lstStyle/>
          <a:p>
            <a:pPr lvl="0">
              <a:defRPr/>
            </a:pPr>
            <a:r>
              <a:rPr lang="en-US" sz="1100" dirty="0">
                <a:solidFill>
                  <a:srgbClr val="292934"/>
                </a:solidFill>
                <a:latin typeface="Times New Roman" panose="02020603050405020304" pitchFamily="18" charset="0"/>
                <a:cs typeface="B Nazanin" panose="00000400000000000000" pitchFamily="2" charset="-78"/>
              </a:rPr>
              <a:t>[1]	W. </a:t>
            </a:r>
            <a:r>
              <a:rPr lang="en-US" sz="1100" dirty="0" err="1">
                <a:solidFill>
                  <a:srgbClr val="292934"/>
                </a:solidFill>
                <a:latin typeface="Times New Roman" panose="02020603050405020304" pitchFamily="18" charset="0"/>
                <a:cs typeface="B Nazanin" panose="00000400000000000000" pitchFamily="2" charset="-78"/>
              </a:rPr>
              <a:t>Lujun</a:t>
            </a:r>
            <a:r>
              <a:rPr lang="en-US" sz="1100" i="1" dirty="0">
                <a:solidFill>
                  <a:srgbClr val="292934"/>
                </a:solidFill>
                <a:latin typeface="Times New Roman" panose="02020603050405020304" pitchFamily="18" charset="0"/>
                <a:cs typeface="B Nazanin" panose="00000400000000000000" pitchFamily="2" charset="-78"/>
              </a:rPr>
              <a:t> et al.</a:t>
            </a:r>
            <a:r>
              <a:rPr lang="en-US" sz="1100" dirty="0">
                <a:solidFill>
                  <a:srgbClr val="292934"/>
                </a:solidFill>
                <a:latin typeface="Times New Roman" panose="02020603050405020304" pitchFamily="18" charset="0"/>
                <a:cs typeface="B Nazanin" panose="00000400000000000000" pitchFamily="2" charset="-78"/>
              </a:rPr>
              <a:t>, "Efficient and fast active equalization method for retired battery pack using wide voltage range bidirectional converter and DBSCAN clustering algorithm," </a:t>
            </a:r>
            <a:r>
              <a:rPr lang="en-US" sz="1100" i="1" dirty="0">
                <a:solidFill>
                  <a:srgbClr val="292934"/>
                </a:solidFill>
                <a:latin typeface="Times New Roman" panose="02020603050405020304" pitchFamily="18" charset="0"/>
                <a:cs typeface="B Nazanin" panose="00000400000000000000" pitchFamily="2" charset="-78"/>
              </a:rPr>
              <a:t>IEEE Transactions on Power Electronics, </a:t>
            </a:r>
            <a:r>
              <a:rPr lang="en-US" sz="1100" dirty="0">
                <a:solidFill>
                  <a:srgbClr val="292934"/>
                </a:solidFill>
                <a:latin typeface="Times New Roman" panose="02020603050405020304" pitchFamily="18" charset="0"/>
                <a:cs typeface="B Nazanin" panose="00000400000000000000" pitchFamily="2" charset="-78"/>
              </a:rPr>
              <a:t>vol. 37, no. 11, pp. 13824-13833, 2022.</a:t>
            </a:r>
          </a:p>
          <a:p>
            <a:pPr lvl="0">
              <a:defRPr/>
            </a:pPr>
            <a:r>
              <a:rPr lang="en-US" sz="1100" dirty="0">
                <a:solidFill>
                  <a:srgbClr val="292934"/>
                </a:solidFill>
                <a:latin typeface="Times New Roman" panose="02020603050405020304" pitchFamily="18" charset="0"/>
                <a:cs typeface="B Nazanin" panose="00000400000000000000" pitchFamily="2" charset="-78"/>
              </a:rPr>
              <a:t>[2]	L. Liao and H. Chen, "Research on two-stage equalization strategy based on fuzzy logic control for lithium-ion battery packs," </a:t>
            </a:r>
            <a:r>
              <a:rPr lang="en-US" sz="1100" i="1" dirty="0">
                <a:solidFill>
                  <a:srgbClr val="292934"/>
                </a:solidFill>
                <a:latin typeface="Times New Roman" panose="02020603050405020304" pitchFamily="18" charset="0"/>
                <a:cs typeface="B Nazanin" panose="00000400000000000000" pitchFamily="2" charset="-78"/>
              </a:rPr>
              <a:t>Journal of Energy Storage, </a:t>
            </a:r>
            <a:r>
              <a:rPr lang="nl-NL" sz="1100" dirty="0">
                <a:solidFill>
                  <a:srgbClr val="292934"/>
                </a:solidFill>
                <a:latin typeface="Times New Roman" panose="02020603050405020304" pitchFamily="18" charset="0"/>
                <a:cs typeface="B Nazanin" panose="00000400000000000000" pitchFamily="2" charset="-78"/>
              </a:rPr>
              <a:t>vol. 50, p. 104321, 2022.</a:t>
            </a:r>
          </a:p>
          <a:p>
            <a:pPr lvl="0">
              <a:defRPr/>
            </a:pPr>
            <a:r>
              <a:rPr lang="en-US" sz="1100" dirty="0">
                <a:solidFill>
                  <a:srgbClr val="292934"/>
                </a:solidFill>
                <a:latin typeface="Times New Roman" panose="02020603050405020304" pitchFamily="18" charset="0"/>
                <a:cs typeface="B Nazanin" panose="00000400000000000000" pitchFamily="2" charset="-78"/>
              </a:rPr>
              <a:t>[3]	S. </a:t>
            </a:r>
            <a:r>
              <a:rPr lang="en-US" sz="1100" dirty="0" err="1">
                <a:solidFill>
                  <a:srgbClr val="292934"/>
                </a:solidFill>
                <a:latin typeface="Times New Roman" panose="02020603050405020304" pitchFamily="18" charset="0"/>
                <a:cs typeface="B Nazanin" panose="00000400000000000000" pitchFamily="2" charset="-78"/>
              </a:rPr>
              <a:t>Jinlei</a:t>
            </a:r>
            <a:r>
              <a:rPr lang="en-US" sz="1100" dirty="0">
                <a:solidFill>
                  <a:srgbClr val="292934"/>
                </a:solidFill>
                <a:latin typeface="Times New Roman" panose="02020603050405020304" pitchFamily="18" charset="0"/>
                <a:cs typeface="B Nazanin" panose="00000400000000000000" pitchFamily="2" charset="-78"/>
              </a:rPr>
              <a:t>, L. Wei, T. </a:t>
            </a:r>
            <a:r>
              <a:rPr lang="en-US" sz="1100" dirty="0" err="1">
                <a:solidFill>
                  <a:srgbClr val="292934"/>
                </a:solidFill>
                <a:latin typeface="Times New Roman" panose="02020603050405020304" pitchFamily="18" charset="0"/>
                <a:cs typeface="B Nazanin" panose="00000400000000000000" pitchFamily="2" charset="-78"/>
              </a:rPr>
              <a:t>Chuanyu</a:t>
            </a:r>
            <a:r>
              <a:rPr lang="en-US" sz="1100" dirty="0">
                <a:solidFill>
                  <a:srgbClr val="292934"/>
                </a:solidFill>
                <a:latin typeface="Times New Roman" panose="02020603050405020304" pitchFamily="18" charset="0"/>
                <a:cs typeface="B Nazanin" panose="00000400000000000000" pitchFamily="2" charset="-78"/>
              </a:rPr>
              <a:t>, W. </a:t>
            </a:r>
            <a:r>
              <a:rPr lang="en-US" sz="1100" dirty="0" err="1">
                <a:solidFill>
                  <a:srgbClr val="292934"/>
                </a:solidFill>
                <a:latin typeface="Times New Roman" panose="02020603050405020304" pitchFamily="18" charset="0"/>
                <a:cs typeface="B Nazanin" panose="00000400000000000000" pitchFamily="2" charset="-78"/>
              </a:rPr>
              <a:t>Tianru</a:t>
            </a:r>
            <a:r>
              <a:rPr lang="en-US" sz="1100" dirty="0">
                <a:solidFill>
                  <a:srgbClr val="292934"/>
                </a:solidFill>
                <a:latin typeface="Times New Roman" panose="02020603050405020304" pitchFamily="18" charset="0"/>
                <a:cs typeface="B Nazanin" panose="00000400000000000000" pitchFamily="2" charset="-78"/>
              </a:rPr>
              <a:t>, J. Tao, and T. Yong, "A novel active equalization method for series-connected battery packs based on clustering analysis with genetic algorithm," </a:t>
            </a:r>
            <a:r>
              <a:rPr lang="en-US" sz="1100" i="1" dirty="0">
                <a:solidFill>
                  <a:srgbClr val="292934"/>
                </a:solidFill>
                <a:latin typeface="Times New Roman" panose="02020603050405020304" pitchFamily="18" charset="0"/>
                <a:cs typeface="B Nazanin" panose="00000400000000000000" pitchFamily="2" charset="-78"/>
              </a:rPr>
              <a:t>IEEE Transactions on Power Electronics, </a:t>
            </a:r>
            <a:r>
              <a:rPr lang="en-US" sz="1100" dirty="0">
                <a:solidFill>
                  <a:srgbClr val="292934"/>
                </a:solidFill>
                <a:latin typeface="Times New Roman" panose="02020603050405020304" pitchFamily="18" charset="0"/>
                <a:cs typeface="B Nazanin" panose="00000400000000000000" pitchFamily="2" charset="-78"/>
              </a:rPr>
              <a:t>vol. 36, no. 7, pp. 7853-7865, 2021.</a:t>
            </a:r>
          </a:p>
          <a:p>
            <a:pPr lvl="0">
              <a:defRPr/>
            </a:pPr>
            <a:endParaRPr lang="en-US" sz="1100" i="1" dirty="0">
              <a:solidFill>
                <a:srgbClr val="292934"/>
              </a:solidFill>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473886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 name="Rectangle 1"/>
          <p:cNvSpPr/>
          <p:nvPr/>
        </p:nvSpPr>
        <p:spPr>
          <a:xfrm>
            <a:off x="1930091" y="2967335"/>
            <a:ext cx="5283819" cy="923330"/>
          </a:xfrm>
          <a:prstGeom prst="rect">
            <a:avLst/>
          </a:prstGeom>
          <a:noFill/>
        </p:spPr>
        <p:txBody>
          <a:bodyPr wrap="none" lIns="91440" tIns="45720" rIns="91440" bIns="45720">
            <a:spAutoFit/>
          </a:bodyPr>
          <a:lstStyle/>
          <a:p>
            <a:pPr algn="ctr"/>
            <a:r>
              <a:rPr lang="fa-IR" sz="5400" b="1" dirty="0">
                <a:ln w="9525">
                  <a:solidFill>
                    <a:schemeClr val="bg1"/>
                  </a:solidFill>
                  <a:prstDash val="solid"/>
                </a:ln>
                <a:solidFill>
                  <a:schemeClr val="accent1">
                    <a:lumMod val="75000"/>
                  </a:schemeClr>
                </a:solidFill>
                <a:effectLst>
                  <a:outerShdw blurRad="12700" dist="38100" dir="2700000" algn="tl" rotWithShape="0">
                    <a:schemeClr val="bg1">
                      <a:lumMod val="50000"/>
                    </a:schemeClr>
                  </a:outerShdw>
                </a:effectLst>
                <a:cs typeface="B Nazanin" panose="00000400000000000000" pitchFamily="2" charset="-78"/>
              </a:rPr>
              <a:t>سپاس از همراهی شما</a:t>
            </a:r>
            <a:endParaRPr lang="en-US" sz="5400" b="1" dirty="0">
              <a:ln w="9525">
                <a:solidFill>
                  <a:schemeClr val="bg1"/>
                </a:solidFill>
                <a:prstDash val="solid"/>
              </a:ln>
              <a:solidFill>
                <a:schemeClr val="accent1">
                  <a:lumMod val="75000"/>
                </a:schemeClr>
              </a:solidFill>
              <a:effectLst>
                <a:outerShdw blurRad="12700" dist="38100" dir="2700000" algn="tl" rotWithShape="0">
                  <a:schemeClr val="bg1">
                    <a:lumMod val="50000"/>
                  </a:schemeClr>
                </a:outerShdw>
              </a:effectLst>
              <a:cs typeface="B Nazanin" panose="00000400000000000000" pitchFamily="2" charset="-78"/>
            </a:endParaRPr>
          </a:p>
        </p:txBody>
      </p:sp>
      <p:sp>
        <p:nvSpPr>
          <p:cNvPr id="5"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25</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9518668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258398" y="1417182"/>
            <a:ext cx="5433533" cy="4815247"/>
          </a:xfrm>
          <a:prstGeom prst="rect">
            <a:avLst/>
          </a:prstGeom>
        </p:spPr>
      </p:pic>
      <p:sp>
        <p:nvSpPr>
          <p:cNvPr id="40" name="AutoShape 8">
            <a:extLst>
              <a:ext uri="{FF2B5EF4-FFF2-40B4-BE49-F238E27FC236}">
                <a16:creationId xmlns:a16="http://schemas.microsoft.com/office/drawing/2014/main" xmlns="" id="{8F20B4C9-B3D8-4F53-B706-ABAA7A1E1148}"/>
              </a:ext>
            </a:extLst>
          </p:cNvPr>
          <p:cNvSpPr>
            <a:spLocks noChangeAspect="1" noChangeArrowheads="1"/>
          </p:cNvSpPr>
          <p:nvPr/>
        </p:nvSpPr>
        <p:spPr bwMode="gray">
          <a:xfrm>
            <a:off x="6666177" y="3612490"/>
            <a:ext cx="17184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غیر </a:t>
            </a:r>
            <a:r>
              <a:rPr lang="fa-IR" b="1" dirty="0" err="1">
                <a:cs typeface="B Nazanin" panose="00000400000000000000" pitchFamily="2" charset="-78"/>
              </a:rPr>
              <a:t>اتلافی</a:t>
            </a:r>
            <a:r>
              <a:rPr lang="fa-IR" b="1" dirty="0">
                <a:cs typeface="B Nazanin" panose="00000400000000000000" pitchFamily="2" charset="-78"/>
              </a:rPr>
              <a:t> (فعال)</a:t>
            </a:r>
            <a:endParaRPr lang="en-US" b="1" dirty="0">
              <a:solidFill>
                <a:srgbClr val="000000"/>
              </a:solidFill>
              <a:latin typeface="Times New Roman" panose="02020603050405020304" pitchFamily="18" charset="0"/>
              <a:cs typeface="B Nazanin" pitchFamily="2" charset="-78"/>
            </a:endParaRPr>
          </a:p>
        </p:txBody>
      </p:sp>
      <p:sp>
        <p:nvSpPr>
          <p:cNvPr id="36"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8373283" y="2731839"/>
            <a:ext cx="1558261" cy="154082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7"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8492801" y="2851475"/>
            <a:ext cx="1302398" cy="1269069"/>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pic>
        <p:nvPicPr>
          <p:cNvPr id="4" name="Picture 3">
            <a:extLst>
              <a:ext uri="{FF2B5EF4-FFF2-40B4-BE49-F238E27FC236}">
                <a16:creationId xmlns:a16="http://schemas.microsoft.com/office/drawing/2014/main" xmlns="" id="{CA4B7323-47E7-4CC4-91B7-36AF4E6EAE28}"/>
              </a:ext>
            </a:extLst>
          </p:cNvPr>
          <p:cNvPicPr>
            <a:picLocks noChangeAspect="1"/>
          </p:cNvPicPr>
          <p:nvPr/>
        </p:nvPicPr>
        <p:blipFill>
          <a:blip r:embed="rId4"/>
          <a:stretch>
            <a:fillRect/>
          </a:stretch>
        </p:blipFill>
        <p:spPr>
          <a:xfrm>
            <a:off x="141988" y="915374"/>
            <a:ext cx="1077212" cy="721184"/>
          </a:xfrm>
          <a:prstGeom prst="rect">
            <a:avLst/>
          </a:prstGeom>
        </p:spPr>
      </p:pic>
      <p:sp>
        <p:nvSpPr>
          <p:cNvPr id="147" name="TextBox 146">
            <a:extLst>
              <a:ext uri="{FF2B5EF4-FFF2-40B4-BE49-F238E27FC236}">
                <a16:creationId xmlns:a16="http://schemas.microsoft.com/office/drawing/2014/main" xmlns="" id="{F43469DC-7F5B-471E-BD74-ED709E621F63}"/>
              </a:ext>
            </a:extLst>
          </p:cNvPr>
          <p:cNvSpPr txBox="1"/>
          <p:nvPr/>
        </p:nvSpPr>
        <p:spPr>
          <a:xfrm>
            <a:off x="5562600" y="1803113"/>
            <a:ext cx="3506089" cy="369332"/>
          </a:xfrm>
          <a:prstGeom prst="rect">
            <a:avLst/>
          </a:prstGeom>
          <a:noFill/>
        </p:spPr>
        <p:txBody>
          <a:bodyPr wrap="none" rtlCol="0">
            <a:spAutoFit/>
          </a:bodyPr>
          <a:lstStyle/>
          <a:p>
            <a:pPr algn="r" rtl="1"/>
            <a:r>
              <a:rPr lang="fa-IR" b="1" dirty="0">
                <a:cs typeface="B Nazanin" panose="00000400000000000000" pitchFamily="2" charset="-78"/>
              </a:rPr>
              <a:t>دسته بندی سیستم مدیریت همسان سازی</a:t>
            </a:r>
          </a:p>
        </p:txBody>
      </p:sp>
      <p:sp>
        <p:nvSpPr>
          <p:cNvPr id="148"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6663515" y="2884430"/>
            <a:ext cx="17184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err="1">
                <a:cs typeface="B Nazanin" panose="00000400000000000000" pitchFamily="2" charset="-78"/>
              </a:rPr>
              <a:t>اتلافی</a:t>
            </a:r>
            <a:r>
              <a:rPr lang="fa-IR" b="1" dirty="0">
                <a:cs typeface="B Nazanin" panose="00000400000000000000" pitchFamily="2" charset="-78"/>
              </a:rPr>
              <a:t> (منفعل)</a:t>
            </a:r>
            <a:endParaRPr lang="en-US" b="1" dirty="0">
              <a:solidFill>
                <a:srgbClr val="000000"/>
              </a:solidFill>
              <a:latin typeface="Times New Roman" panose="02020603050405020304" pitchFamily="18" charset="0"/>
              <a:cs typeface="B Nazanin" pitchFamily="2" charset="-78"/>
            </a:endParaRPr>
          </a:p>
        </p:txBody>
      </p:sp>
      <p:grpSp>
        <p:nvGrpSpPr>
          <p:cNvPr id="149"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8249898" y="2959794"/>
            <a:ext cx="381000" cy="381000"/>
            <a:chOff x="2078" y="1680"/>
            <a:chExt cx="1615" cy="1615"/>
          </a:xfrm>
        </p:grpSpPr>
        <p:sp>
          <p:nvSpPr>
            <p:cNvPr id="150"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1"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2"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3"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4"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5"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156" name="TextBox 155">
            <a:extLst>
              <a:ext uri="{FF2B5EF4-FFF2-40B4-BE49-F238E27FC236}">
                <a16:creationId xmlns:a16="http://schemas.microsoft.com/office/drawing/2014/main" xmlns="" id="{90C43403-B77E-474E-A638-C5BD6540DB40}"/>
              </a:ext>
            </a:extLst>
          </p:cNvPr>
          <p:cNvSpPr txBox="1"/>
          <p:nvPr/>
        </p:nvSpPr>
        <p:spPr>
          <a:xfrm>
            <a:off x="7619388" y="6074218"/>
            <a:ext cx="53172" cy="61471"/>
          </a:xfrm>
          <a:prstGeom prst="rect">
            <a:avLst/>
          </a:prstGeom>
          <a:noFill/>
        </p:spPr>
        <p:txBody>
          <a:bodyPr wrap="square" lIns="0" tIns="0" rIns="0" bIns="0" rtlCol="0">
            <a:spAutoFit/>
          </a:bodyPr>
          <a:lstStyle/>
          <a:p>
            <a:endParaRPr lang="en-US" dirty="0"/>
          </a:p>
        </p:txBody>
      </p:sp>
      <p:grpSp>
        <p:nvGrpSpPr>
          <p:cNvPr id="168" name="Group 23">
            <a:extLst>
              <a:ext uri="{FF2B5EF4-FFF2-40B4-BE49-F238E27FC236}">
                <a16:creationId xmlns:a16="http://schemas.microsoft.com/office/drawing/2014/main" xmlns="" id="{480CFC9E-AE3C-48F6-BC4D-4934E415B67E}"/>
              </a:ext>
            </a:extLst>
          </p:cNvPr>
          <p:cNvGrpSpPr>
            <a:grpSpLocks noChangeAspect="1"/>
          </p:cNvGrpSpPr>
          <p:nvPr/>
        </p:nvGrpSpPr>
        <p:grpSpPr bwMode="auto">
          <a:xfrm>
            <a:off x="8226635" y="3674700"/>
            <a:ext cx="381000" cy="381000"/>
            <a:chOff x="2078" y="1680"/>
            <a:chExt cx="1615" cy="1615"/>
          </a:xfrm>
        </p:grpSpPr>
        <p:sp>
          <p:nvSpPr>
            <p:cNvPr id="169" name="Oval 24">
              <a:extLst>
                <a:ext uri="{FF2B5EF4-FFF2-40B4-BE49-F238E27FC236}">
                  <a16:creationId xmlns:a16="http://schemas.microsoft.com/office/drawing/2014/main" xmlns="" id="{CACFC30A-9877-4806-9B4C-587ACE15034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0" name="Oval 25">
              <a:extLst>
                <a:ext uri="{FF2B5EF4-FFF2-40B4-BE49-F238E27FC236}">
                  <a16:creationId xmlns:a16="http://schemas.microsoft.com/office/drawing/2014/main" xmlns="" id="{640C1602-143A-456B-BA22-7664A3DEFFCF}"/>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1" name="Oval 26">
              <a:extLst>
                <a:ext uri="{FF2B5EF4-FFF2-40B4-BE49-F238E27FC236}">
                  <a16:creationId xmlns:a16="http://schemas.microsoft.com/office/drawing/2014/main" xmlns="" id="{53792F8F-0D9C-4345-A703-F034640FA7A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2" name="Oval 27">
              <a:extLst>
                <a:ext uri="{FF2B5EF4-FFF2-40B4-BE49-F238E27FC236}">
                  <a16:creationId xmlns:a16="http://schemas.microsoft.com/office/drawing/2014/main" xmlns="" id="{B29790E8-4F4B-4579-8A6B-FE3F9B0CAEF2}"/>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3" name="Oval 28">
              <a:extLst>
                <a:ext uri="{FF2B5EF4-FFF2-40B4-BE49-F238E27FC236}">
                  <a16:creationId xmlns:a16="http://schemas.microsoft.com/office/drawing/2014/main" xmlns="" id="{358C33BB-071D-4F24-839E-CC9C393EF0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4" name="Oval 29">
              <a:extLst>
                <a:ext uri="{FF2B5EF4-FFF2-40B4-BE49-F238E27FC236}">
                  <a16:creationId xmlns:a16="http://schemas.microsoft.com/office/drawing/2014/main" xmlns="" id="{4E06C84A-1EFC-44EA-B29A-11ED722DE85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3" name="Rectangle 42">
            <a:extLst>
              <a:ext uri="{FF2B5EF4-FFF2-40B4-BE49-F238E27FC236}">
                <a16:creationId xmlns:a16="http://schemas.microsoft.com/office/drawing/2014/main" xmlns="" id="{C3F19017-216F-4550-A669-620D7BF54535}"/>
              </a:ext>
            </a:extLst>
          </p:cNvPr>
          <p:cNvSpPr/>
          <p:nvPr/>
        </p:nvSpPr>
        <p:spPr>
          <a:xfrm>
            <a:off x="0" y="6356217"/>
            <a:ext cx="7950328"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4 </a:t>
            </a:r>
            <a:r>
              <a:rPr lang="fa-IR" dirty="0">
                <a:latin typeface="Times New Roman" panose="02020603050405020304" pitchFamily="18" charset="0"/>
                <a:ea typeface="Calibri" panose="020F0502020204030204" pitchFamily="34" charset="0"/>
                <a:cs typeface="B Lotus" panose="00000400000000000000" pitchFamily="2" charset="-78"/>
              </a:rPr>
              <a:t>پیش از همسان سازی (الف)</a:t>
            </a:r>
            <a:r>
              <a:rPr lang="fa-IR" dirty="0"/>
              <a:t> </a:t>
            </a:r>
            <a:r>
              <a:rPr lang="fa-IR" dirty="0">
                <a:latin typeface="Times New Roman" panose="02020603050405020304" pitchFamily="18" charset="0"/>
                <a:ea typeface="Calibri" panose="020F0502020204030204" pitchFamily="34" charset="0"/>
                <a:cs typeface="B Lotus" panose="00000400000000000000" pitchFamily="2" charset="-78"/>
              </a:rPr>
              <a:t>همسان سازی </a:t>
            </a:r>
            <a:r>
              <a:rPr lang="fa-IR" dirty="0">
                <a:cs typeface="B Nazanin" panose="00000400000000000000" pitchFamily="2" charset="-78"/>
              </a:rPr>
              <a:t>اتلافی</a:t>
            </a:r>
            <a:r>
              <a:rPr lang="fa-IR" dirty="0">
                <a:latin typeface="Times New Roman" panose="02020603050405020304" pitchFamily="18" charset="0"/>
                <a:cs typeface="B Lotus" panose="00000400000000000000" pitchFamily="2" charset="-78"/>
              </a:rPr>
              <a:t> </a:t>
            </a:r>
            <a:r>
              <a:rPr lang="fa-IR" dirty="0">
                <a:latin typeface="Times New Roman" panose="02020603050405020304" pitchFamily="18" charset="0"/>
                <a:ea typeface="Calibri" panose="020F0502020204030204" pitchFamily="34" charset="0"/>
                <a:cs typeface="B Lotus" panose="00000400000000000000" pitchFamily="2" charset="-78"/>
              </a:rPr>
              <a:t>(ب) همسان سازی </a:t>
            </a:r>
            <a:r>
              <a:rPr lang="fa-IR" dirty="0">
                <a:cs typeface="B Nazanin" panose="00000400000000000000" pitchFamily="2" charset="-78"/>
              </a:rPr>
              <a:t>غیر اتلافی</a:t>
            </a:r>
            <a:r>
              <a:rPr lang="fa-IR" dirty="0">
                <a:latin typeface="Times New Roman" panose="02020603050405020304" pitchFamily="18" charset="0"/>
                <a:cs typeface="B Lotus" panose="00000400000000000000" pitchFamily="2" charset="-78"/>
              </a:rPr>
              <a:t> </a:t>
            </a:r>
            <a:r>
              <a:rPr lang="fa-IR" dirty="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38"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26</a:t>
            </a:fld>
            <a:endParaRPr lang="fa-IR" sz="1800" dirty="0">
              <a:solidFill>
                <a:schemeClr val="tx1"/>
              </a:solidFill>
              <a:cs typeface="B Lotus" panose="00000400000000000000" pitchFamily="2" charset="-78"/>
            </a:endParaRPr>
          </a:p>
        </p:txBody>
      </p:sp>
      <p:sp>
        <p:nvSpPr>
          <p:cNvPr id="50" name="Rounded Rectangle 175">
            <a:extLst>
              <a:ext uri="{FF2B5EF4-FFF2-40B4-BE49-F238E27FC236}">
                <a16:creationId xmlns:a16="http://schemas.microsoft.com/office/drawing/2014/main" xmlns="" id="{5E717F78-E889-43C7-BE28-20218594366D}"/>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51" name="Picture 50" descr="پرونده:Azad University logo.png - ویکی‌پدیا، دانشنامهٔ آزاد">
            <a:extLst>
              <a:ext uri="{FF2B5EF4-FFF2-40B4-BE49-F238E27FC236}">
                <a16:creationId xmlns:a16="http://schemas.microsoft.com/office/drawing/2014/main" xmlns="" id="{CD3C0576-F09C-4280-8B14-1CCFC26E95B7}"/>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3" name="AutoShape 10">
            <a:extLst>
              <a:ext uri="{FF2B5EF4-FFF2-40B4-BE49-F238E27FC236}">
                <a16:creationId xmlns:a16="http://schemas.microsoft.com/office/drawing/2014/main" xmlns="" id="{D6C9540C-B64F-46A9-8B92-EAB21CE36CDE}"/>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54" name="AutoShape 3">
            <a:extLst>
              <a:ext uri="{FF2B5EF4-FFF2-40B4-BE49-F238E27FC236}">
                <a16:creationId xmlns:a16="http://schemas.microsoft.com/office/drawing/2014/main" xmlns="" id="{485B2B8D-A72E-4A69-89E8-541EC8CA44CC}"/>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57" name="AutoShape 3">
            <a:extLst>
              <a:ext uri="{FF2B5EF4-FFF2-40B4-BE49-F238E27FC236}">
                <a16:creationId xmlns:a16="http://schemas.microsoft.com/office/drawing/2014/main" xmlns="" id="{EF45C0D6-D395-4223-B481-D4FF54657503}"/>
              </a:ext>
            </a:extLst>
          </p:cNvPr>
          <p:cNvSpPr>
            <a:spLocks noChangeArrowheads="1"/>
          </p:cNvSpPr>
          <p:nvPr/>
        </p:nvSpPr>
        <p:spPr bwMode="gray">
          <a:xfrm flipH="1">
            <a:off x="2588411" y="57140"/>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8" name="AutoShape 3">
            <a:extLst>
              <a:ext uri="{FF2B5EF4-FFF2-40B4-BE49-F238E27FC236}">
                <a16:creationId xmlns:a16="http://schemas.microsoft.com/office/drawing/2014/main" xmlns="" id="{A0B0E20F-7FEC-430C-B288-503452C56EBD}"/>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1" name="Rectangle 60">
            <a:extLst>
              <a:ext uri="{FF2B5EF4-FFF2-40B4-BE49-F238E27FC236}">
                <a16:creationId xmlns:a16="http://schemas.microsoft.com/office/drawing/2014/main" xmlns="" id="{7AA3DC7F-EAD5-4970-AC11-56A9269645E3}"/>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62" name="Rectangle 61">
            <a:extLst>
              <a:ext uri="{FF2B5EF4-FFF2-40B4-BE49-F238E27FC236}">
                <a16:creationId xmlns:a16="http://schemas.microsoft.com/office/drawing/2014/main" xmlns="" id="{CF63D6AB-4291-4E90-8A94-4D8D0B518991}"/>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67" name="Rectangle 66">
            <a:extLst>
              <a:ext uri="{FF2B5EF4-FFF2-40B4-BE49-F238E27FC236}">
                <a16:creationId xmlns:a16="http://schemas.microsoft.com/office/drawing/2014/main" xmlns="" id="{2303513B-642F-45E3-9CA3-6690303DB148}"/>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68" name="Rectangle 67">
            <a:extLst>
              <a:ext uri="{FF2B5EF4-FFF2-40B4-BE49-F238E27FC236}">
                <a16:creationId xmlns:a16="http://schemas.microsoft.com/office/drawing/2014/main" xmlns="" id="{77F01E1C-B3E5-47D7-8AFA-D963AF9418D2}"/>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17064856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latin typeface="Times New Roman" panose="02020603050405020304" pitchFamily="18" charset="0"/>
                <a:cs typeface="B Nazanin" panose="00000400000000000000" pitchFamily="2" charset="-78"/>
              </a:rPr>
              <a:pPr rtl="1"/>
              <a:t>27</a:t>
            </a:fld>
            <a:endParaRPr lang="fa-IR" sz="1800" dirty="0">
              <a:solidFill>
                <a:schemeClr val="tx1"/>
              </a:solidFill>
              <a:latin typeface="Times New Roman" panose="02020603050405020304" pitchFamily="18" charset="0"/>
              <a:cs typeface="B Nazanin" panose="00000400000000000000" pitchFamily="2" charset="-78"/>
            </a:endParaRPr>
          </a:p>
        </p:txBody>
      </p:sp>
      <p:sp>
        <p:nvSpPr>
          <p:cNvPr id="2" name="Rectangle 1"/>
          <p:cNvSpPr/>
          <p:nvPr/>
        </p:nvSpPr>
        <p:spPr>
          <a:xfrm>
            <a:off x="52678" y="1044335"/>
            <a:ext cx="8869680" cy="338554"/>
          </a:xfrm>
          <a:prstGeom prst="rect">
            <a:avLst/>
          </a:prstGeom>
        </p:spPr>
        <p:txBody>
          <a:bodyPr wrap="square">
            <a:spAutoFit/>
          </a:bodyPr>
          <a:lstStyle/>
          <a:p>
            <a:pPr algn="ctr" rtl="1"/>
            <a:r>
              <a:rPr lang="ar-SA" sz="1600" dirty="0">
                <a:latin typeface="Times New Roman" panose="02020603050405020304" pitchFamily="18" charset="0"/>
                <a:ea typeface="Times New Roman" panose="02020603050405020304" pitchFamily="18" charset="0"/>
                <a:cs typeface="B Nazanin" panose="00000400000000000000" pitchFamily="2" charset="-78"/>
              </a:rPr>
              <a:t>جدول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3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جدول </a:t>
            </a:r>
            <a:r>
              <a:rPr lang="ar-SA" sz="1600" dirty="0">
                <a:latin typeface="Times New Roman" panose="02020603050405020304" pitchFamily="18" charset="0"/>
                <a:ea typeface="Times New Roman" panose="02020603050405020304" pitchFamily="18" charset="0"/>
                <a:cs typeface="B Nazanin" panose="00000400000000000000" pitchFamily="2" charset="-78"/>
              </a:rPr>
              <a:t>مقایسه‌ی خروجی در همسان‌ساز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پیشنهادی</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 (</a:t>
            </a:r>
            <a:r>
              <a:rPr lang="en-US" sz="1600" dirty="0" smtClean="0">
                <a:latin typeface="Times New Roman" panose="02020603050405020304" pitchFamily="18" charset="0"/>
                <a:ea typeface="Times New Roman" panose="02020603050405020304" pitchFamily="18" charset="0"/>
                <a:cs typeface="B Nazanin" panose="00000400000000000000" pitchFamily="2" charset="-78"/>
              </a:rPr>
              <a:t>PSO-DBSCAN</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 و</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 </a:t>
            </a:r>
            <a:r>
              <a:rPr lang="fa-IR" sz="16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[1] </a:t>
            </a:r>
            <a:r>
              <a:rPr lang="en-US" sz="1600" dirty="0" smtClean="0">
                <a:latin typeface="Times New Roman" panose="02020603050405020304" pitchFamily="18" charset="0"/>
                <a:ea typeface="Times New Roman" panose="02020603050405020304" pitchFamily="18" charset="0"/>
                <a:cs typeface="B Nazanin" panose="00000400000000000000" pitchFamily="2" charset="-78"/>
              </a:rPr>
              <a:t>DBSCAN</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latin typeface="Times New Roman" panose="02020603050405020304" pitchFamily="18" charset="0"/>
              <a:cs typeface="B Nazanin" panose="00000400000000000000" pitchFamily="2" charset="-78"/>
            </a:endParaRPr>
          </a:p>
        </p:txBody>
      </p:sp>
      <p:graphicFrame>
        <p:nvGraphicFramePr>
          <p:cNvPr id="4" name="Table 3"/>
          <p:cNvGraphicFramePr>
            <a:graphicFrameLocks noGrp="1"/>
          </p:cNvGraphicFramePr>
          <p:nvPr>
            <p:extLst>
              <p:ext uri="{D42A27DB-BD31-4B8C-83A1-F6EECF244321}">
                <p14:modId xmlns:p14="http://schemas.microsoft.com/office/powerpoint/2010/main" val="1048750320"/>
              </p:ext>
            </p:extLst>
          </p:nvPr>
        </p:nvGraphicFramePr>
        <p:xfrm>
          <a:off x="235558" y="1346967"/>
          <a:ext cx="8503920" cy="1071058"/>
        </p:xfrm>
        <a:graphic>
          <a:graphicData uri="http://schemas.openxmlformats.org/drawingml/2006/table">
            <a:tbl>
              <a:tblPr rtl="1" firstRow="1" firstCol="1" bandRow="1">
                <a:tableStyleId>{5940675A-B579-460E-94D1-54222C63F5DA}</a:tableStyleId>
              </a:tblPr>
              <a:tblGrid>
                <a:gridCol w="2637365"/>
                <a:gridCol w="2091505"/>
                <a:gridCol w="2490844"/>
                <a:gridCol w="1284206"/>
              </a:tblGrid>
              <a:tr h="339538">
                <a:tc>
                  <a:txBody>
                    <a:bodyPr/>
                    <a:lstStyle/>
                    <a:p>
                      <a:pPr algn="ctr" rtl="1">
                        <a:spcAft>
                          <a:spcPts val="300"/>
                        </a:spcAft>
                      </a:pPr>
                      <a:r>
                        <a:rPr lang="fa-IR" sz="1800" dirty="0">
                          <a:effectLst/>
                          <a:cs typeface="B Nazanin" panose="00000400000000000000" pitchFamily="2" charset="-78"/>
                        </a:rPr>
                        <a:t>پژوهش</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800" dirty="0">
                          <a:effectLst/>
                          <a:cs typeface="B Nazanin" panose="00000400000000000000" pitchFamily="2" charset="-78"/>
                        </a:rPr>
                        <a:t>زمان اتمام همسان‌سازی (</a:t>
                      </a:r>
                      <a:r>
                        <a:rPr lang="en-US" sz="1200" dirty="0">
                          <a:effectLst/>
                          <a:cs typeface="B Nazanin" panose="00000400000000000000" pitchFamily="2" charset="-78"/>
                        </a:rPr>
                        <a:t>S</a:t>
                      </a:r>
                      <a:r>
                        <a:rPr lang="ar-SA" sz="1800" dirty="0">
                          <a:effectLst/>
                          <a:cs typeface="B Nazanin" panose="00000400000000000000" pitchFamily="2" charset="-78"/>
                        </a:rPr>
                        <a:t>)</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800" dirty="0">
                          <a:effectLst/>
                          <a:cs typeface="B Nazanin" panose="00000400000000000000" pitchFamily="2" charset="-78"/>
                        </a:rPr>
                        <a:t>ناهمسانی نهایی (%)</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800" dirty="0">
                          <a:effectLst/>
                          <a:cs typeface="B Nazanin" panose="00000400000000000000" pitchFamily="2" charset="-78"/>
                        </a:rPr>
                        <a:t>روی‌هم رفت (%)</a:t>
                      </a:r>
                      <a:endParaRPr lang="en-US" sz="12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r>
              <a:tr h="365760">
                <a:tc>
                  <a:txBody>
                    <a:bodyPr/>
                    <a:lstStyle/>
                    <a:p>
                      <a:pPr algn="ctr" rtl="1">
                        <a:spcAft>
                          <a:spcPts val="300"/>
                        </a:spcAft>
                      </a:pPr>
                      <a:r>
                        <a:rPr lang="ar-SA" sz="1600" dirty="0">
                          <a:effectLst/>
                          <a:cs typeface="B Nazanin" panose="00000400000000000000" pitchFamily="2" charset="-78"/>
                        </a:rPr>
                        <a:t>روش پیشنهادی </a:t>
                      </a:r>
                      <a:r>
                        <a:rPr lang="fa-IR" sz="1600" dirty="0">
                          <a:effectLst/>
                          <a:cs typeface="B Nazanin" panose="00000400000000000000" pitchFamily="2" charset="-78"/>
                        </a:rPr>
                        <a: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PSO-DBSCAN</a:t>
                      </a:r>
                      <a:r>
                        <a:rPr lang="fa-IR" sz="1600" dirty="0">
                          <a:effectLst/>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tc>
                <a:tc>
                  <a:txBody>
                    <a:bodyPr/>
                    <a:lstStyle/>
                    <a:p>
                      <a:pPr algn="ctr" rtl="1">
                        <a:spcAft>
                          <a:spcPts val="300"/>
                        </a:spcAft>
                      </a:pPr>
                      <a:r>
                        <a:rPr lang="fa-IR"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3800</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algn="ctr" rtl="1">
                        <a:spcAft>
                          <a:spcPts val="300"/>
                        </a:spcAft>
                      </a:pPr>
                      <a:r>
                        <a:rPr lang="fa-IR" sz="16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1/7</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algn="ctr" rtl="1">
                        <a:spcAft>
                          <a:spcPts val="300"/>
                        </a:spcAft>
                      </a:pPr>
                      <a:r>
                        <a:rPr lang="fa-IR" sz="16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9/2</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r>
              <a:tr h="365760">
                <a:tc>
                  <a:txBody>
                    <a:bodyPr/>
                    <a:lstStyle/>
                    <a:p>
                      <a:pPr marL="0" marR="0" lvl="0" indent="0" algn="ctr" defTabSz="914400" rtl="1" eaLnBrk="1" fontAlgn="auto" latinLnBrk="0" hangingPunct="1">
                        <a:lnSpc>
                          <a:spcPct val="100000"/>
                        </a:lnSpc>
                        <a:spcBef>
                          <a:spcPts val="0"/>
                        </a:spcBef>
                        <a:spcAft>
                          <a:spcPts val="30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DBSCAN </a:t>
                      </a:r>
                      <a:r>
                        <a:rPr lang="fa-IR" sz="1600" dirty="0" smtClean="0">
                          <a:effectLst/>
                          <a:latin typeface="Times New Roman" panose="02020603050405020304" pitchFamily="18" charset="0"/>
                          <a:cs typeface="Times New Roman" panose="02020603050405020304" pitchFamily="18" charset="0"/>
                        </a:rPr>
                        <a:t> </a:t>
                      </a:r>
                      <a:r>
                        <a:rPr lang="fa-IR" sz="18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[1]</a:t>
                      </a:r>
                      <a:endParaRPr lang="en-US" sz="1600" i="0" dirty="0" smtClean="0">
                        <a:solidFill>
                          <a:srgbClr val="262626"/>
                        </a:solidFill>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nchor="ctr"/>
                </a:tc>
                <a:tc>
                  <a:txBody>
                    <a:bodyPr/>
                    <a:lstStyle/>
                    <a:p>
                      <a:pPr algn="ctr" rtl="1">
                        <a:spcAft>
                          <a:spcPts val="300"/>
                        </a:spcAft>
                      </a:pPr>
                      <a:r>
                        <a:rPr lang="ar-SA" sz="1600" dirty="0" smtClean="0">
                          <a:effectLst/>
                          <a:latin typeface="Times New Roman" panose="02020603050405020304" pitchFamily="18" charset="0"/>
                          <a:ea typeface="Times New Roman" panose="02020603050405020304" pitchFamily="18" charset="0"/>
                          <a:cs typeface="B Nazanin" panose="00000400000000000000" pitchFamily="2" charset="-78"/>
                        </a:rPr>
                        <a:t>4200</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FFCC"/>
                    </a:solidFill>
                  </a:tcPr>
                </a:tc>
                <a:tc>
                  <a:txBody>
                    <a:bodyPr/>
                    <a:lstStyle/>
                    <a:p>
                      <a:pPr algn="ctr" rtl="1">
                        <a:spcAft>
                          <a:spcPts val="300"/>
                        </a:spcAft>
                      </a:pPr>
                      <a:r>
                        <a:rPr lang="fa-IR" sz="1600" dirty="0" smtClean="0">
                          <a:effectLst/>
                          <a:latin typeface="Times New Roman" panose="02020603050405020304" pitchFamily="18" charset="0"/>
                          <a:ea typeface="Times New Roman" panose="02020603050405020304" pitchFamily="18" charset="0"/>
                          <a:cs typeface="B Nazanin" panose="00000400000000000000" pitchFamily="2" charset="-78"/>
                        </a:rPr>
                        <a:t>نامشخص</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CCCC"/>
                    </a:solidFill>
                  </a:tcPr>
                </a:tc>
                <a:tc>
                  <a:txBody>
                    <a:bodyPr/>
                    <a:lstStyle/>
                    <a:p>
                      <a:pPr algn="ctr" rtl="1">
                        <a:spcAft>
                          <a:spcPts val="300"/>
                        </a:spcAft>
                      </a:pPr>
                      <a:r>
                        <a:rPr lang="fa-IR" sz="1600" dirty="0" smtClean="0">
                          <a:effectLst/>
                          <a:latin typeface="Times New Roman" panose="02020603050405020304" pitchFamily="18" charset="0"/>
                          <a:ea typeface="Times New Roman" panose="02020603050405020304" pitchFamily="18" charset="0"/>
                          <a:cs typeface="B Nazanin" panose="00000400000000000000" pitchFamily="2" charset="-78"/>
                        </a:rPr>
                        <a:t>نامشخص</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CCCC"/>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268161171"/>
              </p:ext>
            </p:extLst>
          </p:nvPr>
        </p:nvGraphicFramePr>
        <p:xfrm>
          <a:off x="235558" y="2762935"/>
          <a:ext cx="8503920" cy="1097280"/>
        </p:xfrm>
        <a:graphic>
          <a:graphicData uri="http://schemas.openxmlformats.org/drawingml/2006/table">
            <a:tbl>
              <a:tblPr rtl="1" firstRow="1" firstCol="1" bandRow="1">
                <a:tableStyleId>{5940675A-B579-460E-94D1-54222C63F5DA}</a:tableStyleId>
              </a:tblPr>
              <a:tblGrid>
                <a:gridCol w="2637365"/>
                <a:gridCol w="2091505"/>
                <a:gridCol w="2490844"/>
                <a:gridCol w="1284206"/>
              </a:tblGrid>
              <a:tr h="365760">
                <a:tc>
                  <a:txBody>
                    <a:bodyPr/>
                    <a:lstStyle/>
                    <a:p>
                      <a:pPr algn="ctr" rtl="1">
                        <a:spcAft>
                          <a:spcPts val="300"/>
                        </a:spcAft>
                      </a:pPr>
                      <a:r>
                        <a:rPr lang="fa-IR" sz="1600" dirty="0">
                          <a:effectLst/>
                          <a:cs typeface="B Nazanin" panose="00000400000000000000" pitchFamily="2" charset="-78"/>
                        </a:rPr>
                        <a:t>پژوهش</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600" dirty="0">
                          <a:effectLst/>
                          <a:cs typeface="B Nazanin" panose="00000400000000000000" pitchFamily="2" charset="-78"/>
                        </a:rPr>
                        <a:t>زمان اتمام همسان‌سازی (</a:t>
                      </a:r>
                      <a:r>
                        <a:rPr lang="en-US" sz="1600" dirty="0">
                          <a:effectLst/>
                          <a:cs typeface="B Nazanin" panose="00000400000000000000" pitchFamily="2" charset="-78"/>
                        </a:rPr>
                        <a:t>S</a:t>
                      </a:r>
                      <a:r>
                        <a:rPr lang="ar-SA" sz="1600" dirty="0">
                          <a:effectLst/>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600" dirty="0">
                          <a:effectLst/>
                          <a:cs typeface="B Nazanin" panose="00000400000000000000" pitchFamily="2" charset="-78"/>
                        </a:rPr>
                        <a:t>ناهمسانی نهایی (%)</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600" dirty="0">
                          <a:effectLst/>
                          <a:cs typeface="B Nazanin" panose="00000400000000000000" pitchFamily="2" charset="-78"/>
                        </a:rPr>
                        <a:t>روی‌هم رفت (%)</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r>
              <a:tr h="365760">
                <a:tc>
                  <a:txBody>
                    <a:bodyPr/>
                    <a:lstStyle/>
                    <a:p>
                      <a:pPr algn="ctr" rtl="1">
                        <a:spcAft>
                          <a:spcPts val="300"/>
                        </a:spcAft>
                      </a:pPr>
                      <a:r>
                        <a:rPr lang="ar-SA" sz="1600" dirty="0">
                          <a:effectLst/>
                          <a:cs typeface="B Nazanin" panose="00000400000000000000" pitchFamily="2" charset="-78"/>
                        </a:rPr>
                        <a:t>روش پیشنهادی </a:t>
                      </a:r>
                      <a:r>
                        <a:rPr lang="fa-IR" sz="1600" dirty="0">
                          <a:effectLst/>
                          <a:cs typeface="B Nazanin" panose="00000400000000000000" pitchFamily="2" charset="-78"/>
                        </a:rPr>
                        <a: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PSO-DBSCAN</a:t>
                      </a:r>
                      <a:r>
                        <a:rPr lang="fa-IR" sz="1600" dirty="0">
                          <a:effectLst/>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tc>
                <a:tc>
                  <a:txBody>
                    <a:bodyPr/>
                    <a:lstStyle/>
                    <a:p>
                      <a:pPr algn="ctr" rtl="1">
                        <a:spcAft>
                          <a:spcPts val="300"/>
                        </a:spcAft>
                      </a:pPr>
                      <a:r>
                        <a:rPr lang="fa-IR" sz="1600" dirty="0">
                          <a:effectLst/>
                          <a:latin typeface="Times New Roman" panose="02020603050405020304" pitchFamily="18" charset="0"/>
                          <a:ea typeface="Times New Roman" panose="02020603050405020304" pitchFamily="18" charset="0"/>
                          <a:cs typeface="B Nazanin" panose="00000400000000000000" pitchFamily="2" charset="-78"/>
                        </a:rPr>
                        <a:t>1099</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algn="ctr" rtl="1">
                        <a:spcAft>
                          <a:spcPts val="300"/>
                        </a:spcAft>
                      </a:pPr>
                      <a:r>
                        <a:rPr lang="fa-IR" sz="1600" dirty="0" smtClean="0">
                          <a:effectLst/>
                          <a:latin typeface="Times New Roman" panose="02020603050405020304" pitchFamily="18" charset="0"/>
                          <a:ea typeface="Times New Roman" panose="02020603050405020304" pitchFamily="18" charset="0"/>
                          <a:cs typeface="B Nazanin" panose="00000400000000000000" pitchFamily="2" charset="-78"/>
                        </a:rPr>
                        <a:t>0/2</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algn="ctr" rtl="1">
                        <a:spcAft>
                          <a:spcPts val="300"/>
                        </a:spcAft>
                      </a:pPr>
                      <a:r>
                        <a:rPr lang="ar-SA" sz="1600" dirty="0">
                          <a:effectLst/>
                          <a:latin typeface="Times New Roman" panose="02020603050405020304" pitchFamily="18" charset="0"/>
                          <a:ea typeface="Times New Roman" panose="02020603050405020304" pitchFamily="18" charset="0"/>
                          <a:cs typeface="B Nazanin" panose="00000400000000000000" pitchFamily="2" charset="-78"/>
                        </a:rPr>
                        <a:t>2/2</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r>
              <a:tr h="365760">
                <a:tc>
                  <a:txBody>
                    <a:bodyPr/>
                    <a:lstStyle/>
                    <a:p>
                      <a:pPr algn="ctr" rtl="1">
                        <a:spcAft>
                          <a:spcPts val="30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FLC</a:t>
                      </a:r>
                      <a:r>
                        <a:rPr lang="en-US" sz="1600" dirty="0">
                          <a:effectLst/>
                          <a:cs typeface="B Nazanin" panose="00000400000000000000" pitchFamily="2" charset="-78"/>
                        </a:rPr>
                        <a:t> </a:t>
                      </a:r>
                      <a:r>
                        <a:rPr lang="fa-IR" sz="1600" dirty="0" smtClean="0">
                          <a:effectLst/>
                          <a:cs typeface="B Nazanin" panose="00000400000000000000" pitchFamily="2" charset="-78"/>
                        </a:rPr>
                        <a:t> </a:t>
                      </a:r>
                      <a:r>
                        <a:rPr lang="fa-IR" sz="16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[2]</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tc>
                <a:tc>
                  <a:txBody>
                    <a:bodyPr/>
                    <a:lstStyle/>
                    <a:p>
                      <a:pPr algn="ctr" rtl="1">
                        <a:spcAft>
                          <a:spcPts val="300"/>
                        </a:spcAft>
                      </a:pPr>
                      <a:r>
                        <a:rPr lang="ar-SA" sz="1600" dirty="0">
                          <a:effectLst/>
                          <a:latin typeface="Times New Roman" panose="02020603050405020304" pitchFamily="18" charset="0"/>
                          <a:ea typeface="Times New Roman" panose="02020603050405020304" pitchFamily="18" charset="0"/>
                          <a:cs typeface="B Nazanin" panose="00000400000000000000" pitchFamily="2" charset="-78"/>
                        </a:rPr>
                        <a:t>2932</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algn="ctr" rtl="1">
                        <a:spcAft>
                          <a:spcPts val="300"/>
                        </a:spcAft>
                      </a:pPr>
                      <a:r>
                        <a:rPr lang="fa-IR" sz="1600" dirty="0" smtClean="0">
                          <a:effectLst/>
                          <a:latin typeface="Times New Roman" panose="02020603050405020304" pitchFamily="18" charset="0"/>
                          <a:ea typeface="Times New Roman" panose="02020603050405020304" pitchFamily="18" charset="0"/>
                          <a:cs typeface="B Nazanin" panose="00000400000000000000" pitchFamily="2" charset="-78"/>
                        </a:rPr>
                        <a:t>1/78</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FFCC"/>
                    </a:solidFill>
                  </a:tcPr>
                </a:tc>
                <a:tc>
                  <a:txBody>
                    <a:bodyPr/>
                    <a:lstStyle/>
                    <a:p>
                      <a:pPr algn="ctr" rtl="1">
                        <a:spcAft>
                          <a:spcPts val="300"/>
                        </a:spcAft>
                      </a:pPr>
                      <a:r>
                        <a:rPr lang="fa-IR" sz="1600" dirty="0">
                          <a:effectLst/>
                          <a:latin typeface="Times New Roman" panose="02020603050405020304" pitchFamily="18" charset="0"/>
                          <a:ea typeface="Times New Roman" panose="02020603050405020304" pitchFamily="18" charset="0"/>
                          <a:cs typeface="B Nazanin" panose="00000400000000000000" pitchFamily="2" charset="-78"/>
                        </a:rPr>
                        <a:t>10</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CCCC"/>
                    </a:solidFill>
                  </a:tcPr>
                </a:tc>
              </a:tr>
            </a:tbl>
          </a:graphicData>
        </a:graphic>
      </p:graphicFrame>
      <p:sp>
        <p:nvSpPr>
          <p:cNvPr id="21" name="Rectangle 20"/>
          <p:cNvSpPr/>
          <p:nvPr/>
        </p:nvSpPr>
        <p:spPr>
          <a:xfrm>
            <a:off x="250798" y="2400564"/>
            <a:ext cx="8488680" cy="338554"/>
          </a:xfrm>
          <a:prstGeom prst="rect">
            <a:avLst/>
          </a:prstGeom>
        </p:spPr>
        <p:txBody>
          <a:bodyPr wrap="square">
            <a:spAutoFit/>
          </a:bodyPr>
          <a:lstStyle/>
          <a:p>
            <a:pPr algn="ctr" rtl="1"/>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جدول ‏4 جدول مقایسه‌ی خروجی در همسان‌ساز پیشنهادی</a:t>
            </a:r>
            <a:r>
              <a:rPr lang="en-US" sz="1600" dirty="0" smtClean="0">
                <a:latin typeface="Times New Roman" panose="02020603050405020304" pitchFamily="18" charset="0"/>
                <a:ea typeface="Times New Roman" panose="02020603050405020304" pitchFamily="18" charset="0"/>
                <a:cs typeface="B Nazanin" panose="00000400000000000000" pitchFamily="2" charset="-78"/>
              </a:rPr>
              <a:t>PSO-DBSCAN)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و </a:t>
            </a:r>
            <a:r>
              <a:rPr lang="en-US" sz="1600" dirty="0" smtClean="0">
                <a:latin typeface="Times New Roman" panose="02020603050405020304" pitchFamily="18" charset="0"/>
                <a:ea typeface="Times New Roman" panose="02020603050405020304" pitchFamily="18" charset="0"/>
                <a:cs typeface="B Nazanin" panose="00000400000000000000" pitchFamily="2" charset="-78"/>
              </a:rPr>
              <a:t>FLC</a:t>
            </a:r>
            <a:r>
              <a:rPr lang="fa-IR" sz="16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[2]</a:t>
            </a:r>
            <a:r>
              <a:rPr lang="en-US" sz="1600" dirty="0">
                <a:latin typeface="Times New Roman" panose="02020603050405020304" pitchFamily="18" charset="0"/>
                <a:ea typeface="Calibri" panose="020F0502020204030204" pitchFamily="34" charset="0"/>
                <a:cs typeface="B Nazanin" panose="00000400000000000000" pitchFamily="2" charset="-78"/>
              </a:rPr>
              <a:t>(</a:t>
            </a:r>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p:txBody>
      </p:sp>
      <p:graphicFrame>
        <p:nvGraphicFramePr>
          <p:cNvPr id="27" name="Table 26"/>
          <p:cNvGraphicFramePr>
            <a:graphicFrameLocks noGrp="1"/>
          </p:cNvGraphicFramePr>
          <p:nvPr>
            <p:extLst>
              <p:ext uri="{D42A27DB-BD31-4B8C-83A1-F6EECF244321}">
                <p14:modId xmlns:p14="http://schemas.microsoft.com/office/powerpoint/2010/main" val="2475471194"/>
              </p:ext>
            </p:extLst>
          </p:nvPr>
        </p:nvGraphicFramePr>
        <p:xfrm>
          <a:off x="250798" y="4220620"/>
          <a:ext cx="8503920" cy="1097280"/>
        </p:xfrm>
        <a:graphic>
          <a:graphicData uri="http://schemas.openxmlformats.org/drawingml/2006/table">
            <a:tbl>
              <a:tblPr rtl="1" firstRow="1" firstCol="1" bandRow="1">
                <a:tableStyleId>{5940675A-B579-460E-94D1-54222C63F5DA}</a:tableStyleId>
              </a:tblPr>
              <a:tblGrid>
                <a:gridCol w="2637365"/>
                <a:gridCol w="2091505"/>
                <a:gridCol w="2490844"/>
                <a:gridCol w="1284206"/>
              </a:tblGrid>
              <a:tr h="365760">
                <a:tc>
                  <a:txBody>
                    <a:bodyPr/>
                    <a:lstStyle/>
                    <a:p>
                      <a:pPr algn="ctr" rtl="1">
                        <a:spcAft>
                          <a:spcPts val="300"/>
                        </a:spcAft>
                      </a:pPr>
                      <a:r>
                        <a:rPr lang="fa-IR" sz="1600" dirty="0" smtClean="0">
                          <a:effectLst/>
                          <a:cs typeface="B Nazanin" panose="00000400000000000000" pitchFamily="2" charset="-78"/>
                        </a:rPr>
                        <a:t>پژوهش</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600" dirty="0">
                          <a:effectLst/>
                          <a:cs typeface="B Nazanin" panose="00000400000000000000" pitchFamily="2" charset="-78"/>
                        </a:rPr>
                        <a:t>زمان اتمام همسان‌سازی (</a:t>
                      </a:r>
                      <a:r>
                        <a:rPr lang="en-US" sz="1600" dirty="0">
                          <a:effectLst/>
                          <a:cs typeface="B Nazanin" panose="00000400000000000000" pitchFamily="2" charset="-78"/>
                        </a:rPr>
                        <a:t>S</a:t>
                      </a:r>
                      <a:r>
                        <a:rPr lang="ar-SA" sz="1600" dirty="0">
                          <a:effectLst/>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600" dirty="0">
                          <a:effectLst/>
                          <a:cs typeface="B Nazanin" panose="00000400000000000000" pitchFamily="2" charset="-78"/>
                        </a:rPr>
                        <a:t>ناهمسانی نهایی (%)</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c>
                  <a:txBody>
                    <a:bodyPr/>
                    <a:lstStyle/>
                    <a:p>
                      <a:pPr algn="ctr" rtl="1">
                        <a:spcAft>
                          <a:spcPts val="300"/>
                        </a:spcAft>
                      </a:pPr>
                      <a:r>
                        <a:rPr lang="ar-SA" sz="1600" dirty="0">
                          <a:effectLst/>
                          <a:cs typeface="B Nazanin" panose="00000400000000000000" pitchFamily="2" charset="-78"/>
                        </a:rPr>
                        <a:t>روی‌هم رفت (%)</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D867C"/>
                    </a:solidFill>
                  </a:tcPr>
                </a:tc>
              </a:tr>
              <a:tr h="365760">
                <a:tc>
                  <a:txBody>
                    <a:bodyPr/>
                    <a:lstStyle/>
                    <a:p>
                      <a:pPr marL="0" algn="ctr" defTabSz="914400" rtl="1" eaLnBrk="1" latinLnBrk="0" hangingPunct="1">
                        <a:spcAft>
                          <a:spcPts val="300"/>
                        </a:spcAft>
                      </a:pPr>
                      <a:r>
                        <a:rPr lang="ar-SA"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روش پیشنهادی </a:t>
                      </a:r>
                      <a:r>
                        <a:rPr lang="fa-IR"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r>
                        <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PSO-DBSCAN</a:t>
                      </a:r>
                      <a:r>
                        <a:rPr lang="fa-IR"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tc>
                <a:tc>
                  <a:txBody>
                    <a:bodyPr/>
                    <a:lstStyle/>
                    <a:p>
                      <a:pPr marL="0" algn="ctr" defTabSz="914400" rtl="1" eaLnBrk="1" latinLnBrk="0" hangingPunct="1">
                        <a:spcAft>
                          <a:spcPts val="300"/>
                        </a:spcAft>
                      </a:pPr>
                      <a:r>
                        <a:rPr lang="fa-IR"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601</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marL="0" algn="ctr" defTabSz="914400" rtl="1" eaLnBrk="1" latinLnBrk="0" hangingPunct="1">
                        <a:spcAft>
                          <a:spcPts val="300"/>
                        </a:spcAft>
                      </a:pPr>
                      <a:r>
                        <a:rPr lang="ar-SA"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14</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FFCC"/>
                    </a:solidFill>
                  </a:tcPr>
                </a:tc>
                <a:tc>
                  <a:txBody>
                    <a:bodyPr/>
                    <a:lstStyle/>
                    <a:p>
                      <a:pPr marL="0" algn="ctr" defTabSz="914400" rtl="1" eaLnBrk="1" latinLnBrk="0" hangingPunct="1">
                        <a:spcAft>
                          <a:spcPts val="300"/>
                        </a:spcAft>
                      </a:pPr>
                      <a:r>
                        <a:rPr lang="ar-SA"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r>
              <a:tr h="365760">
                <a:tc>
                  <a:txBody>
                    <a:bodyPr/>
                    <a:lstStyle/>
                    <a:p>
                      <a:pPr marL="0" algn="ctr" defTabSz="914400" rtl="1" eaLnBrk="1" latinLnBrk="0" hangingPunct="1">
                        <a:spcAft>
                          <a:spcPts val="300"/>
                        </a:spcAft>
                      </a:pPr>
                      <a:r>
                        <a:rPr lang="en-US" sz="16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GA</a:t>
                      </a:r>
                      <a:r>
                        <a:rPr lang="fa-IR" sz="16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fa-IR" sz="16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[3]</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tc>
                <a:tc>
                  <a:txBody>
                    <a:bodyPr/>
                    <a:lstStyle/>
                    <a:p>
                      <a:pPr marL="0" algn="ctr" defTabSz="914400" rtl="1" eaLnBrk="1" latinLnBrk="0" hangingPunct="1">
                        <a:spcAft>
                          <a:spcPts val="300"/>
                        </a:spcAft>
                      </a:pPr>
                      <a:r>
                        <a:rPr lang="ar-SA"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1325</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marL="0" algn="ctr" defTabSz="914400" rtl="1" eaLnBrk="1" latinLnBrk="0" hangingPunct="1">
                        <a:spcAft>
                          <a:spcPts val="300"/>
                        </a:spcAft>
                      </a:pPr>
                      <a:r>
                        <a:rPr lang="fa-IR"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5</a:t>
                      </a:r>
                      <a:endParaRPr lang="en-US" sz="16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B9FFB9"/>
                    </a:solidFill>
                  </a:tcPr>
                </a:tc>
                <a:tc>
                  <a:txBody>
                    <a:bodyPr/>
                    <a:lstStyle/>
                    <a:p>
                      <a:pPr algn="ctr" rtl="1">
                        <a:spcAft>
                          <a:spcPts val="300"/>
                        </a:spcAft>
                      </a:pPr>
                      <a:r>
                        <a:rPr lang="fa-IR" sz="1600" dirty="0">
                          <a:effectLst/>
                          <a:latin typeface="Times New Roman" panose="02020603050405020304" pitchFamily="18" charset="0"/>
                          <a:ea typeface="Times New Roman" panose="02020603050405020304" pitchFamily="18" charset="0"/>
                          <a:cs typeface="B Nazanin" panose="00000400000000000000" pitchFamily="2" charset="-78"/>
                        </a:rPr>
                        <a:t>نامشخص</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solidFill>
                      <a:srgbClr val="FFCCCC"/>
                    </a:solidFill>
                  </a:tcPr>
                </a:tc>
              </a:tr>
            </a:tbl>
          </a:graphicData>
        </a:graphic>
      </p:graphicFrame>
      <p:sp>
        <p:nvSpPr>
          <p:cNvPr id="28" name="Rectangle 27"/>
          <p:cNvSpPr/>
          <p:nvPr/>
        </p:nvSpPr>
        <p:spPr>
          <a:xfrm>
            <a:off x="250798" y="3854061"/>
            <a:ext cx="8519160" cy="584775"/>
          </a:xfrm>
          <a:prstGeom prst="rect">
            <a:avLst/>
          </a:prstGeom>
        </p:spPr>
        <p:txBody>
          <a:bodyPr wrap="square">
            <a:spAutoFit/>
          </a:bodyPr>
          <a:lstStyle/>
          <a:p>
            <a:pPr algn="ctr" rtl="1"/>
            <a:r>
              <a:rPr lang="ar-SA" sz="1600" dirty="0">
                <a:latin typeface="Times New Roman" panose="02020603050405020304" pitchFamily="18" charset="0"/>
                <a:ea typeface="Times New Roman" panose="02020603050405020304" pitchFamily="18" charset="0"/>
                <a:cs typeface="B Nazanin" panose="00000400000000000000" pitchFamily="2" charset="-78"/>
              </a:rPr>
              <a:t>جدول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5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جدول </a:t>
            </a:r>
            <a:r>
              <a:rPr lang="ar-SA" sz="1600" dirty="0">
                <a:latin typeface="Times New Roman" panose="02020603050405020304" pitchFamily="18" charset="0"/>
                <a:ea typeface="Times New Roman" panose="02020603050405020304" pitchFamily="18" charset="0"/>
                <a:cs typeface="B Nazanin" panose="00000400000000000000" pitchFamily="2" charset="-78"/>
              </a:rPr>
              <a:t>مقایسه‌ی خروجی در همسان‌ساز پیشنهادی</a:t>
            </a:r>
            <a:r>
              <a:rPr lang="en-US" sz="1600" dirty="0" smtClean="0">
                <a:latin typeface="Times New Roman" panose="02020603050405020304" pitchFamily="18" charset="0"/>
                <a:ea typeface="Times New Roman" panose="02020603050405020304" pitchFamily="18" charset="0"/>
                <a:cs typeface="B Nazanin" panose="00000400000000000000" pitchFamily="2" charset="-78"/>
              </a:rPr>
              <a:t>PSO-DBSCAN) </a:t>
            </a:r>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 </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و </a:t>
            </a:r>
            <a:r>
              <a:rPr lang="en-US" sz="1600" dirty="0" smtClean="0">
                <a:latin typeface="Times New Roman" panose="02020603050405020304" pitchFamily="18" charset="0"/>
                <a:ea typeface="Times New Roman" panose="02020603050405020304" pitchFamily="18" charset="0"/>
                <a:cs typeface="B Nazanin" panose="00000400000000000000" pitchFamily="2" charset="-78"/>
              </a:rPr>
              <a:t>GA</a:t>
            </a:r>
            <a:r>
              <a:rPr lang="fa-IR" sz="1600" dirty="0" smtClean="0">
                <a:solidFill>
                  <a:srgbClr val="61D6FF"/>
                </a:solidFill>
                <a:latin typeface="Times New Roman" panose="02020603050405020304" pitchFamily="18" charset="0"/>
                <a:ea typeface="Calibri" panose="020F0502020204030204" pitchFamily="34" charset="0"/>
                <a:cs typeface="B Nazanin" panose="00000400000000000000" pitchFamily="2" charset="-78"/>
              </a:rPr>
              <a:t>[3]</a:t>
            </a:r>
            <a:r>
              <a:rPr lang="en-US" sz="1600" dirty="0" smtClean="0">
                <a:latin typeface="Times New Roman" panose="02020603050405020304" pitchFamily="18" charset="0"/>
                <a:ea typeface="Calibri" panose="020F0502020204030204" pitchFamily="34" charset="0"/>
                <a:cs typeface="B Nazanin" panose="00000400000000000000" pitchFamily="2" charset="-78"/>
              </a:rPr>
              <a:t>(</a:t>
            </a:r>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a:p>
            <a:pPr algn="ctr" rtl="1"/>
            <a:endParaRPr lang="en-US" sz="1600" dirty="0">
              <a:latin typeface="Times New Roman" panose="02020603050405020304" pitchFamily="18" charset="0"/>
              <a:ea typeface="Times New Roman" panose="02020603050405020304" pitchFamily="18" charset="0"/>
              <a:cs typeface="B Nazanin" panose="00000400000000000000" pitchFamily="2" charset="-78"/>
            </a:endParaRPr>
          </a:p>
        </p:txBody>
      </p:sp>
      <p:sp>
        <p:nvSpPr>
          <p:cNvPr id="22" name="Rectangle 21"/>
          <p:cNvSpPr/>
          <p:nvPr/>
        </p:nvSpPr>
        <p:spPr>
          <a:xfrm>
            <a:off x="347382" y="5370458"/>
            <a:ext cx="8725328" cy="1277273"/>
          </a:xfrm>
          <a:prstGeom prst="rect">
            <a:avLst/>
          </a:prstGeom>
        </p:spPr>
        <p:txBody>
          <a:bodyPr wrap="square">
            <a:spAutoFit/>
          </a:bodyPr>
          <a:lstStyle/>
          <a:p>
            <a:pPr lvl="0">
              <a:defRPr/>
            </a:pPr>
            <a:r>
              <a:rPr lang="en-US" sz="1100" dirty="0">
                <a:latin typeface="Times New Roman" panose="02020603050405020304" pitchFamily="18" charset="0"/>
                <a:cs typeface="B Nazanin" panose="00000400000000000000" pitchFamily="2" charset="-78"/>
              </a:rPr>
              <a:t>[1]	W. </a:t>
            </a:r>
            <a:r>
              <a:rPr lang="en-US" sz="1100" dirty="0" err="1">
                <a:latin typeface="Times New Roman" panose="02020603050405020304" pitchFamily="18" charset="0"/>
                <a:cs typeface="B Nazanin" panose="00000400000000000000" pitchFamily="2" charset="-78"/>
              </a:rPr>
              <a:t>Lujun</a:t>
            </a:r>
            <a:r>
              <a:rPr lang="en-US" sz="1100" i="1" dirty="0">
                <a:latin typeface="Times New Roman" panose="02020603050405020304" pitchFamily="18" charset="0"/>
                <a:cs typeface="B Nazanin" panose="00000400000000000000" pitchFamily="2" charset="-78"/>
              </a:rPr>
              <a:t> et al.</a:t>
            </a:r>
            <a:r>
              <a:rPr lang="en-US" sz="1100" dirty="0">
                <a:latin typeface="Times New Roman" panose="02020603050405020304" pitchFamily="18" charset="0"/>
                <a:cs typeface="B Nazanin" panose="00000400000000000000" pitchFamily="2" charset="-78"/>
              </a:rPr>
              <a:t>, "Efficient and fast active equalization method for retired battery pack using wide voltage range bidirectional converter and DBSCAN clustering algorithm," </a:t>
            </a:r>
            <a:r>
              <a:rPr lang="en-US" sz="1100" i="1" dirty="0">
                <a:latin typeface="Times New Roman" panose="02020603050405020304" pitchFamily="18" charset="0"/>
                <a:cs typeface="B Nazanin" panose="00000400000000000000" pitchFamily="2" charset="-78"/>
              </a:rPr>
              <a:t>IEEE Transactions on Power Electronics, </a:t>
            </a:r>
            <a:r>
              <a:rPr lang="en-US" sz="1100" dirty="0">
                <a:latin typeface="Times New Roman" panose="02020603050405020304" pitchFamily="18" charset="0"/>
                <a:cs typeface="B Nazanin" panose="00000400000000000000" pitchFamily="2" charset="-78"/>
              </a:rPr>
              <a:t>vol. 37, no. 11, pp. 13824-13833, 2022</a:t>
            </a:r>
            <a:r>
              <a:rPr lang="en-US" sz="1100" dirty="0" smtClean="0">
                <a:latin typeface="Times New Roman" panose="02020603050405020304" pitchFamily="18" charset="0"/>
                <a:cs typeface="B Nazanin" panose="00000400000000000000" pitchFamily="2" charset="-78"/>
              </a:rPr>
              <a:t>.</a:t>
            </a:r>
          </a:p>
          <a:p>
            <a:pPr lvl="0">
              <a:defRPr/>
            </a:pPr>
            <a:r>
              <a:rPr lang="en-US" sz="1100" dirty="0" smtClean="0">
                <a:latin typeface="Times New Roman" panose="02020603050405020304" pitchFamily="18" charset="0"/>
                <a:cs typeface="B Nazanin" panose="00000400000000000000" pitchFamily="2" charset="-78"/>
              </a:rPr>
              <a:t>[2]	L. Liao and H. Chen, "Research on two-stage equalization strategy based on fuzzy logic control for lithium-ion battery packs," </a:t>
            </a:r>
            <a:r>
              <a:rPr lang="en-US" sz="1100" i="1" dirty="0" smtClean="0">
                <a:latin typeface="Times New Roman" panose="02020603050405020304" pitchFamily="18" charset="0"/>
                <a:cs typeface="B Nazanin" panose="00000400000000000000" pitchFamily="2" charset="-78"/>
              </a:rPr>
              <a:t>Journal of Energy Storage, </a:t>
            </a:r>
            <a:r>
              <a:rPr lang="nl-NL" sz="1100" dirty="0" smtClean="0">
                <a:latin typeface="Times New Roman" panose="02020603050405020304" pitchFamily="18" charset="0"/>
                <a:cs typeface="B Nazanin" panose="00000400000000000000" pitchFamily="2" charset="-78"/>
              </a:rPr>
              <a:t>vol. 50, p. 104321, 2022.</a:t>
            </a:r>
          </a:p>
          <a:p>
            <a:pPr lvl="0">
              <a:defRPr/>
            </a:pPr>
            <a:r>
              <a:rPr lang="en-US" sz="1100" dirty="0" smtClean="0">
                <a:latin typeface="Times New Roman" panose="02020603050405020304" pitchFamily="18" charset="0"/>
                <a:cs typeface="B Nazanin" panose="00000400000000000000" pitchFamily="2" charset="-78"/>
              </a:rPr>
              <a:t>[3]	S. </a:t>
            </a:r>
            <a:r>
              <a:rPr lang="en-US" sz="1100" dirty="0" err="1" smtClean="0">
                <a:latin typeface="Times New Roman" panose="02020603050405020304" pitchFamily="18" charset="0"/>
                <a:cs typeface="B Nazanin" panose="00000400000000000000" pitchFamily="2" charset="-78"/>
              </a:rPr>
              <a:t>Jinlei</a:t>
            </a:r>
            <a:r>
              <a:rPr lang="en-US" sz="1100" dirty="0" smtClean="0">
                <a:latin typeface="Times New Roman" panose="02020603050405020304" pitchFamily="18" charset="0"/>
                <a:cs typeface="B Nazanin" panose="00000400000000000000" pitchFamily="2" charset="-78"/>
              </a:rPr>
              <a:t>, L. Wei, T. </a:t>
            </a:r>
            <a:r>
              <a:rPr lang="en-US" sz="1100" dirty="0" err="1" smtClean="0">
                <a:latin typeface="Times New Roman" panose="02020603050405020304" pitchFamily="18" charset="0"/>
                <a:cs typeface="B Nazanin" panose="00000400000000000000" pitchFamily="2" charset="-78"/>
              </a:rPr>
              <a:t>Chuanyu</a:t>
            </a:r>
            <a:r>
              <a:rPr lang="en-US" sz="1100" dirty="0" smtClean="0">
                <a:latin typeface="Times New Roman" panose="02020603050405020304" pitchFamily="18" charset="0"/>
                <a:cs typeface="B Nazanin" panose="00000400000000000000" pitchFamily="2" charset="-78"/>
              </a:rPr>
              <a:t>, W. </a:t>
            </a:r>
            <a:r>
              <a:rPr lang="en-US" sz="1100" dirty="0" err="1" smtClean="0">
                <a:latin typeface="Times New Roman" panose="02020603050405020304" pitchFamily="18" charset="0"/>
                <a:cs typeface="B Nazanin" panose="00000400000000000000" pitchFamily="2" charset="-78"/>
              </a:rPr>
              <a:t>Tianru</a:t>
            </a:r>
            <a:r>
              <a:rPr lang="en-US" sz="1100" dirty="0" smtClean="0">
                <a:latin typeface="Times New Roman" panose="02020603050405020304" pitchFamily="18" charset="0"/>
                <a:cs typeface="B Nazanin" panose="00000400000000000000" pitchFamily="2" charset="-78"/>
              </a:rPr>
              <a:t>, J. Tao, and T. Yong, "A novel active equalization method for series-connected battery packs based on clustering analysis with genetic algorithm," </a:t>
            </a:r>
            <a:r>
              <a:rPr lang="en-US" sz="1100" i="1" dirty="0" smtClean="0">
                <a:latin typeface="Times New Roman" panose="02020603050405020304" pitchFamily="18" charset="0"/>
                <a:cs typeface="B Nazanin" panose="00000400000000000000" pitchFamily="2" charset="-78"/>
              </a:rPr>
              <a:t>IEEE Transactions on Power Electronics, </a:t>
            </a:r>
            <a:r>
              <a:rPr lang="en-US" sz="1100" dirty="0" smtClean="0">
                <a:latin typeface="Times New Roman" panose="02020603050405020304" pitchFamily="18" charset="0"/>
                <a:cs typeface="B Nazanin" panose="00000400000000000000" pitchFamily="2" charset="-78"/>
              </a:rPr>
              <a:t>vol. 36, no. 7, pp. 7853-7865, 2021.</a:t>
            </a:r>
          </a:p>
          <a:p>
            <a:pPr lvl="0">
              <a:defRPr/>
            </a:pPr>
            <a:endParaRPr lang="en-US" sz="1100" i="1" dirty="0">
              <a:latin typeface="Times New Roman" panose="02020603050405020304" pitchFamily="18" charset="0"/>
              <a:cs typeface="B Nazanin" panose="00000400000000000000" pitchFamily="2" charset="-78"/>
            </a:endParaRPr>
          </a:p>
        </p:txBody>
      </p:sp>
      <p:sp>
        <p:nvSpPr>
          <p:cNvPr id="2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pic>
        <p:nvPicPr>
          <p:cNvPr id="24" name="Picture 23"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29"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1"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2" name="Rectangle 31">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3" name="Rectangle 32">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34" name="Rectangle 33">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2" name="Rectangle 41">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33510995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 name="Rectangle 2">
            <a:extLst>
              <a:ext uri="{FF2B5EF4-FFF2-40B4-BE49-F238E27FC236}">
                <a16:creationId xmlns:a16="http://schemas.microsoft.com/office/drawing/2014/main" xmlns="" id="{DBC95E25-1BC4-4BA6-800E-CB747C68872A}"/>
              </a:ext>
            </a:extLst>
          </p:cNvPr>
          <p:cNvSpPr/>
          <p:nvPr/>
        </p:nvSpPr>
        <p:spPr>
          <a:xfrm>
            <a:off x="943062" y="6291506"/>
            <a:ext cx="6442789"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7  </a:t>
            </a:r>
            <a:r>
              <a:rPr lang="fa-IR" dirty="0">
                <a:latin typeface="Times New Roman" panose="02020603050405020304" pitchFamily="18" charset="0"/>
                <a:ea typeface="Calibri" panose="020F0502020204030204" pitchFamily="34" charset="0"/>
                <a:cs typeface="B Lotus" panose="00000400000000000000" pitchFamily="2" charset="-78"/>
              </a:rPr>
              <a:t>مقایسه </a:t>
            </a:r>
            <a:r>
              <a:rPr lang="fa-IR" dirty="0" smtClean="0">
                <a:latin typeface="Times New Roman" panose="02020603050405020304" pitchFamily="18" charset="0"/>
                <a:ea typeface="Calibri" panose="020F0502020204030204" pitchFamily="34" charset="0"/>
                <a:cs typeface="B Lotus" panose="00000400000000000000" pitchFamily="2" charset="-78"/>
              </a:rPr>
              <a:t>ضریب </a:t>
            </a:r>
            <a:r>
              <a:rPr lang="fa-IR" dirty="0">
                <a:latin typeface="Times New Roman" panose="02020603050405020304" pitchFamily="18" charset="0"/>
                <a:ea typeface="Calibri" panose="020F0502020204030204" pitchFamily="34" charset="0"/>
                <a:cs typeface="B Lotus" panose="00000400000000000000" pitchFamily="2" charset="-78"/>
              </a:rPr>
              <a:t>اپسیلون در خوشه بندی </a:t>
            </a:r>
            <a:r>
              <a:rPr lang="en-US" dirty="0">
                <a:latin typeface="Times New Roman" panose="02020603050405020304" pitchFamily="18" charset="0"/>
                <a:ea typeface="Calibri" panose="020F0502020204030204" pitchFamily="34" charset="0"/>
                <a:cs typeface="B Lotus" panose="00000400000000000000" pitchFamily="2" charset="-78"/>
              </a:rPr>
              <a:t>DBSCAN</a:t>
            </a:r>
            <a:r>
              <a:rPr lang="fa-IR" dirty="0">
                <a:latin typeface="Times New Roman" panose="02020603050405020304" pitchFamily="18" charset="0"/>
                <a:ea typeface="Calibri" panose="020F0502020204030204" pitchFamily="34" charset="0"/>
                <a:cs typeface="B Lotus" panose="00000400000000000000" pitchFamily="2" charset="-78"/>
              </a:rPr>
              <a:t> با در نظر گرفتن 5 = </a:t>
            </a:r>
            <a:r>
              <a:rPr lang="en-US" dirty="0" err="1">
                <a:latin typeface="Times New Roman" panose="02020603050405020304" pitchFamily="18" charset="0"/>
                <a:ea typeface="Calibri" panose="020F0502020204030204" pitchFamily="34" charset="0"/>
                <a:cs typeface="B Lotus" panose="00000400000000000000" pitchFamily="2" charset="-78"/>
              </a:rPr>
              <a:t>mp</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28</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64242" y="54759"/>
            <a:ext cx="1600202"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پیشنهادی</a:t>
            </a:r>
          </a:p>
        </p:txBody>
      </p:sp>
      <p:pic>
        <p:nvPicPr>
          <p:cNvPr id="9" name="Picture 8">
            <a:extLst>
              <a:ext uri="{FF2B5EF4-FFF2-40B4-BE49-F238E27FC236}">
                <a16:creationId xmlns:a16="http://schemas.microsoft.com/office/drawing/2014/main" xmlns="" id="{2B4C75A0-C110-4706-A399-1BE002E200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65" y="1698668"/>
            <a:ext cx="9144000" cy="4586287"/>
          </a:xfrm>
          <a:prstGeom prst="rect">
            <a:avLst/>
          </a:prstGeom>
        </p:spPr>
      </p:pic>
      <p:sp>
        <p:nvSpPr>
          <p:cNvPr id="19" name="Rectangle 18"/>
          <p:cNvSpPr/>
          <p:nvPr/>
        </p:nvSpPr>
        <p:spPr>
          <a:xfrm>
            <a:off x="8235762" y="5495026"/>
            <a:ext cx="599844"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(الف)</a:t>
            </a:r>
            <a:endParaRPr lang="en-US" dirty="0"/>
          </a:p>
        </p:txBody>
      </p:sp>
      <p:sp>
        <p:nvSpPr>
          <p:cNvPr id="20" name="Rectangle 19"/>
          <p:cNvSpPr/>
          <p:nvPr/>
        </p:nvSpPr>
        <p:spPr>
          <a:xfrm>
            <a:off x="5638800" y="5486400"/>
            <a:ext cx="503664" cy="369332"/>
          </a:xfrm>
          <a:prstGeom prst="rect">
            <a:avLst/>
          </a:prstGeom>
        </p:spPr>
        <p:txBody>
          <a:bodyPr wrap="none">
            <a:spAutoFit/>
          </a:bodyPr>
          <a:lstStyle/>
          <a:p>
            <a:r>
              <a:rPr lang="fa-IR" dirty="0">
                <a:latin typeface="Times New Roman" panose="02020603050405020304" pitchFamily="18" charset="0"/>
                <a:ea typeface="Calibri" panose="020F0502020204030204" pitchFamily="34" charset="0"/>
                <a:cs typeface="B Lotus" panose="00000400000000000000" pitchFamily="2" charset="-78"/>
              </a:rPr>
              <a:t>(ب)</a:t>
            </a:r>
            <a:endParaRPr lang="en-US" dirty="0"/>
          </a:p>
        </p:txBody>
      </p:sp>
      <p:sp>
        <p:nvSpPr>
          <p:cNvPr id="21" name="Rectangle 20"/>
          <p:cNvSpPr/>
          <p:nvPr/>
        </p:nvSpPr>
        <p:spPr>
          <a:xfrm>
            <a:off x="3112511" y="5486400"/>
            <a:ext cx="457176" cy="369332"/>
          </a:xfrm>
          <a:prstGeom prst="rect">
            <a:avLst/>
          </a:prstGeom>
        </p:spPr>
        <p:txBody>
          <a:bodyPr wrap="none">
            <a:spAutoFit/>
          </a:bodyPr>
          <a:lstStyle/>
          <a:p>
            <a:r>
              <a:rPr lang="fa-IR" dirty="0" smtClean="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Tree>
    <p:extLst>
      <p:ext uri="{BB962C8B-B14F-4D97-AF65-F5344CB8AC3E}">
        <p14:creationId xmlns:p14="http://schemas.microsoft.com/office/powerpoint/2010/main" val="37086430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29</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4953000" y="1066930"/>
            <a:ext cx="4294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2000" b="1" dirty="0">
              <a:solidFill>
                <a:srgbClr val="FFFFFF"/>
              </a:solidFill>
              <a:latin typeface="Times New Roman" panose="02020603050405020304" pitchFamily="18" charset="0"/>
              <a:cs typeface="B Nazanin" panose="00000400000000000000" pitchFamily="2" charset="-78"/>
            </a:endParaRPr>
          </a:p>
        </p:txBody>
      </p:sp>
      <p:sp>
        <p:nvSpPr>
          <p:cNvPr id="17" name="Rectangle 16"/>
          <p:cNvSpPr/>
          <p:nvPr/>
        </p:nvSpPr>
        <p:spPr>
          <a:xfrm>
            <a:off x="148663" y="916237"/>
            <a:ext cx="4051420" cy="523220"/>
          </a:xfrm>
          <a:prstGeom prst="rect">
            <a:avLst/>
          </a:prstGeom>
        </p:spPr>
        <p:txBody>
          <a:bodyPr wrap="square">
            <a:spAutoFit/>
          </a:bodyPr>
          <a:lstStyle/>
          <a:p>
            <a:pPr rtl="1" fontAlgn="base">
              <a:spcBef>
                <a:spcPct val="0"/>
              </a:spcBef>
              <a:spcAft>
                <a:spcPct val="0"/>
              </a:spcAft>
            </a:pPr>
            <a:r>
              <a:rPr lang="fa-IR" sz="2800" dirty="0" smtClean="0">
                <a:cs typeface="B Lotus" panose="00000400000000000000" pitchFamily="2" charset="-78"/>
              </a:rPr>
              <a:t>تابع هزینه</a:t>
            </a:r>
            <a:endParaRPr 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Rectangle 7"/>
              <p:cNvSpPr/>
              <p:nvPr/>
            </p:nvSpPr>
            <p:spPr>
              <a:xfrm>
                <a:off x="-152400" y="2184883"/>
                <a:ext cx="8915400" cy="5439310"/>
              </a:xfrm>
              <a:prstGeom prst="rect">
                <a:avLst/>
              </a:prstGeom>
            </p:spPr>
            <p:txBody>
              <a:bodyPr wrap="square">
                <a:spAutoFit/>
              </a:bodyPr>
              <a:lstStyle/>
              <a:p>
                <a:pPr marL="180340">
                  <a:lnSpc>
                    <a:spcPct val="115000"/>
                  </a:lnSpc>
                  <a:tabLst>
                    <a:tab pos="1924050" algn="l"/>
                  </a:tabLst>
                </a:pPr>
                <a:r>
                  <a:rPr lang="en-US" sz="2400" dirty="0" smtClean="0">
                    <a:latin typeface="Times New Roman" panose="02020603050405020304" pitchFamily="18" charset="0"/>
                    <a:ea typeface="Times New Roman" panose="02020603050405020304" pitchFamily="18" charset="0"/>
                  </a:rPr>
                  <a:t>α </a:t>
                </a:r>
                <a:r>
                  <a:rPr lang="en-US" sz="2400" dirty="0">
                    <a:latin typeface="Times New Roman" panose="02020603050405020304" pitchFamily="18" charset="0"/>
                    <a:ea typeface="Times New Roman" panose="02020603050405020304" pitchFamily="18" charset="0"/>
                    <a:cs typeface="B Nazanin" panose="00000400000000000000" pitchFamily="2" charset="-78"/>
                  </a:rPr>
                  <a:t>= total balancing </a:t>
                </a:r>
                <a:r>
                  <a:rPr lang="en-US" sz="2400" dirty="0" smtClean="0">
                    <a:latin typeface="Times New Roman" panose="02020603050405020304" pitchFamily="18" charset="0"/>
                    <a:ea typeface="Times New Roman" panose="02020603050405020304" pitchFamily="18" charset="0"/>
                    <a:cs typeface="B Nazanin" panose="00000400000000000000" pitchFamily="2" charset="-78"/>
                  </a:rPr>
                  <a:t>time</a:t>
                </a:r>
                <a:r>
                  <a:rPr lang="fa-IR" sz="2400" dirty="0" smtClean="0">
                    <a:latin typeface="Times New Roman" panose="02020603050405020304" pitchFamily="18" charset="0"/>
                    <a:ea typeface="Times New Roman" panose="02020603050405020304" pitchFamily="18" charset="0"/>
                    <a:cs typeface="B Nazanin" panose="00000400000000000000" pitchFamily="2" charset="-78"/>
                  </a:rPr>
                  <a:t>					(1)</a:t>
                </a:r>
                <a:endParaRPr lang="en-US" sz="2400" dirty="0" smtClean="0">
                  <a:latin typeface="Times New Roman" panose="02020603050405020304" pitchFamily="18" charset="0"/>
                  <a:ea typeface="Times New Roman" panose="02020603050405020304" pitchFamily="18" charset="0"/>
                  <a:cs typeface="B Nazanin" panose="00000400000000000000" pitchFamily="2" charset="-78"/>
                </a:endParaRPr>
              </a:p>
              <a:p>
                <a:pPr marL="180340">
                  <a:lnSpc>
                    <a:spcPct val="115000"/>
                  </a:lnSpc>
                  <a:tabLst>
                    <a:tab pos="1924050" algn="l"/>
                  </a:tabLst>
                </a:pPr>
                <a:endParaRPr lang="en-US" sz="2400" dirty="0" smtClean="0">
                  <a:latin typeface="Cambria Math" panose="02040503050406030204" pitchFamily="18" charset="0"/>
                  <a:ea typeface="Calibri" panose="020F0502020204030204" pitchFamily="34" charset="0"/>
                  <a:cs typeface="B Lotus" panose="00000400000000000000" pitchFamily="2" charset="-78"/>
                </a:endParaRPr>
              </a:p>
              <a:p>
                <a:pPr marL="180340">
                  <a:lnSpc>
                    <a:spcPct val="115000"/>
                  </a:lnSpc>
                  <a:tabLst>
                    <a:tab pos="1924050" algn="l"/>
                  </a:tabLst>
                </a:pPr>
                <a:r>
                  <a:rPr lang="en-US" sz="2400" dirty="0" smtClean="0">
                    <a:latin typeface="Cambria Math" panose="02040503050406030204" pitchFamily="18" charset="0"/>
                    <a:ea typeface="Calibri" panose="020F0502020204030204" pitchFamily="34" charset="0"/>
                    <a:cs typeface="B Lotus" panose="00000400000000000000" pitchFamily="2" charset="-78"/>
                  </a:rPr>
                  <a:t>β = maximum inconsistency</a:t>
                </a:r>
                <a:r>
                  <a:rPr lang="fa-IR" sz="2400" dirty="0" smtClean="0">
                    <a:latin typeface="Cambria Math" panose="02040503050406030204" pitchFamily="18" charset="0"/>
                    <a:ea typeface="Calibri" panose="020F0502020204030204" pitchFamily="34" charset="0"/>
                    <a:cs typeface="B Lotus" panose="00000400000000000000" pitchFamily="2" charset="-78"/>
                  </a:rPr>
                  <a:t>				</a:t>
                </a:r>
                <a:r>
                  <a:rPr lang="fa-IR" sz="2400" dirty="0" smtClean="0">
                    <a:latin typeface="Times New Roman" panose="02020603050405020304" pitchFamily="18" charset="0"/>
                    <a:ea typeface="Times New Roman" panose="02020603050405020304" pitchFamily="18" charset="0"/>
                    <a:cs typeface="B Nazanin" panose="00000400000000000000" pitchFamily="2" charset="-78"/>
                  </a:rPr>
                  <a:t>(2)</a:t>
                </a:r>
                <a:endParaRPr lang="en-US" sz="2400" dirty="0" smtClean="0">
                  <a:latin typeface="Cambria Math" panose="020405030504060302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fa-IR" sz="2400" dirty="0" smtClean="0">
                  <a:latin typeface="Cambria Math" panose="02040503050406030204" pitchFamily="18" charset="0"/>
                  <a:ea typeface="Calibri" panose="020F0502020204030204" pitchFamily="34" charset="0"/>
                  <a:cs typeface="B Lotus" panose="00000400000000000000" pitchFamily="2" charset="-78"/>
                </a:endParaRPr>
              </a:p>
              <a:p>
                <a:pPr marL="180340">
                  <a:lnSpc>
                    <a:spcPct val="115000"/>
                  </a:lnSpc>
                  <a:tabLst>
                    <a:tab pos="1924050" algn="l"/>
                  </a:tabLst>
                </a:pPr>
                <a14:m>
                  <m:oMath xmlns:m="http://schemas.openxmlformats.org/officeDocument/2006/math">
                    <m:r>
                      <a:rPr lang="en-US" sz="2400">
                        <a:latin typeface="Cambria Math" panose="02040503050406030204" pitchFamily="18" charset="0"/>
                        <a:ea typeface="Calibri" panose="020F0502020204030204" pitchFamily="34" charset="0"/>
                        <a:cs typeface="B Lotus" panose="00000400000000000000" pitchFamily="2" charset="-78"/>
                      </a:rPr>
                      <m:t>𝛾</m:t>
                    </m:r>
                    <m:r>
                      <a:rPr lang="en-US" sz="2400">
                        <a:latin typeface="Cambria Math" panose="02040503050406030204" pitchFamily="18" charset="0"/>
                        <a:ea typeface="Calibri" panose="020F0502020204030204" pitchFamily="34" charset="0"/>
                        <a:cs typeface="B Lotus" panose="00000400000000000000" pitchFamily="2" charset="-78"/>
                      </a:rPr>
                      <m:t>=</m:t>
                    </m:r>
                    <m:r>
                      <a:rPr lang="en-US" sz="2400">
                        <a:latin typeface="Cambria Math" panose="02040503050406030204" pitchFamily="18" charset="0"/>
                        <a:ea typeface="Calibri" panose="020F0502020204030204" pitchFamily="34" charset="0"/>
                        <a:cs typeface="B Lotus" panose="00000400000000000000" pitchFamily="2" charset="-78"/>
                      </a:rPr>
                      <m:t>𝑠𝑢𝑚</m:t>
                    </m:r>
                    <m:r>
                      <a:rPr lang="en-US" sz="2400">
                        <a:latin typeface="Cambria Math" panose="02040503050406030204" pitchFamily="18" charset="0"/>
                        <a:ea typeface="Calibri" panose="020F0502020204030204" pitchFamily="34" charset="0"/>
                        <a:cs typeface="B Lotus" panose="00000400000000000000" pitchFamily="2" charset="-78"/>
                      </a:rPr>
                      <m:t> </m:t>
                    </m:r>
                    <m:r>
                      <a:rPr lang="en-US" sz="2400">
                        <a:latin typeface="Cambria Math" panose="02040503050406030204" pitchFamily="18" charset="0"/>
                        <a:ea typeface="Calibri" panose="020F0502020204030204" pitchFamily="34" charset="0"/>
                        <a:cs typeface="B Lotus" panose="00000400000000000000" pitchFamily="2" charset="-78"/>
                      </a:rPr>
                      <m:t>𝑜𝑓</m:t>
                    </m:r>
                    <m:r>
                      <a:rPr lang="en-US" sz="2400">
                        <a:latin typeface="Cambria Math" panose="02040503050406030204" pitchFamily="18" charset="0"/>
                        <a:ea typeface="Calibri" panose="020F0502020204030204" pitchFamily="34" charset="0"/>
                        <a:cs typeface="B Lotus" panose="00000400000000000000" pitchFamily="2" charset="-78"/>
                      </a:rPr>
                      <m:t> </m:t>
                    </m:r>
                    <m:r>
                      <a:rPr lang="en-US" sz="2400">
                        <a:latin typeface="Cambria Math" panose="02040503050406030204" pitchFamily="18" charset="0"/>
                        <a:ea typeface="Calibri" panose="020F0502020204030204" pitchFamily="34" charset="0"/>
                        <a:cs typeface="B Lotus" panose="00000400000000000000" pitchFamily="2" charset="-78"/>
                      </a:rPr>
                      <m:t>𝑜𝑣𝑒𝑟𝑙𝑎𝑝</m:t>
                    </m:r>
                    <m:r>
                      <a:rPr lang="en-US" sz="2400">
                        <a:latin typeface="Cambria Math" panose="02040503050406030204" pitchFamily="18" charset="0"/>
                        <a:ea typeface="Calibri" panose="020F0502020204030204" pitchFamily="34" charset="0"/>
                        <a:cs typeface="B Lotus" panose="00000400000000000000" pitchFamily="2" charset="-78"/>
                      </a:rPr>
                      <m:t> </m:t>
                    </m:r>
                    <m:r>
                      <a:rPr lang="en-US" sz="2400">
                        <a:latin typeface="Cambria Math" panose="02040503050406030204" pitchFamily="18" charset="0"/>
                        <a:ea typeface="Calibri" panose="020F0502020204030204" pitchFamily="34" charset="0"/>
                        <a:cs typeface="B Lotus" panose="00000400000000000000" pitchFamily="2" charset="-78"/>
                      </a:rPr>
                      <m:t>𝑣𝑎𝑙𝑢𝑒𝑠</m:t>
                    </m:r>
                  </m:oMath>
                </a14:m>
                <a:r>
                  <a:rPr lang="fa-IR" sz="2400" dirty="0" smtClean="0">
                    <a:latin typeface="Times New Roman" panose="02020603050405020304" pitchFamily="18" charset="0"/>
                    <a:ea typeface="Calibri" panose="020F0502020204030204" pitchFamily="34" charset="0"/>
                    <a:cs typeface="B Lotus" panose="00000400000000000000" pitchFamily="2" charset="-78"/>
                  </a:rPr>
                  <a:t>				(3)			</a:t>
                </a:r>
                <a:endParaRPr lang="en-US" sz="2400" dirty="0" smtClean="0">
                  <a:latin typeface="Times New Roman" panose="020206030504050203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en-US" sz="2400" dirty="0" smtClean="0">
                  <a:latin typeface="Times New Roman" panose="020206030504050203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en-US" sz="2400" dirty="0" smtClean="0">
                  <a:latin typeface="Times New Roman" panose="02020603050405020304" pitchFamily="18" charset="0"/>
                  <a:ea typeface="Calibri" panose="020F0502020204030204" pitchFamily="34" charset="0"/>
                  <a:cs typeface="B Lotus" panose="00000400000000000000" pitchFamily="2" charset="-78"/>
                </a:endParaRPr>
              </a:p>
              <a:p>
                <a:pPr marL="180340">
                  <a:lnSpc>
                    <a:spcPct val="115000"/>
                  </a:lnSpc>
                  <a:tabLst>
                    <a:tab pos="1924050" algn="l"/>
                  </a:tabLst>
                </a:pPr>
                <a14:m>
                  <m:oMath xmlns:m="http://schemas.openxmlformats.org/officeDocument/2006/math">
                    <m:r>
                      <a:rPr lang="en-US" sz="2400">
                        <a:latin typeface="Cambria Math" panose="02040503050406030204" pitchFamily="18" charset="0"/>
                        <a:ea typeface="Calibri" panose="020F0502020204030204" pitchFamily="34" charset="0"/>
                        <a:cs typeface="B Lotus" panose="00000400000000000000" pitchFamily="2" charset="-78"/>
                      </a:rPr>
                      <m:t>𝑐𝑜𝑠𝑡</m:t>
                    </m:r>
                    <m:r>
                      <a:rPr lang="en-US" sz="2400">
                        <a:latin typeface="Cambria Math" panose="02040503050406030204" pitchFamily="18" charset="0"/>
                        <a:ea typeface="Calibri" panose="020F0502020204030204" pitchFamily="34" charset="0"/>
                        <a:cs typeface="B Lotus" panose="00000400000000000000" pitchFamily="2" charset="-78"/>
                      </a:rPr>
                      <m:t>(</m:t>
                    </m:r>
                    <m:r>
                      <a:rPr lang="en-US" sz="2400">
                        <a:latin typeface="Cambria Math" panose="02040503050406030204" pitchFamily="18" charset="0"/>
                        <a:ea typeface="Calibri" panose="020F0502020204030204" pitchFamily="34" charset="0"/>
                        <a:cs typeface="B Lotus" panose="00000400000000000000" pitchFamily="2" charset="-78"/>
                      </a:rPr>
                      <m:t>𝜀</m:t>
                    </m:r>
                    <m:r>
                      <a:rPr lang="en-US" sz="2400">
                        <a:latin typeface="Cambria Math" panose="02040503050406030204" pitchFamily="18" charset="0"/>
                        <a:ea typeface="Calibri" panose="020F0502020204030204" pitchFamily="34" charset="0"/>
                        <a:cs typeface="B Lotus" panose="00000400000000000000" pitchFamily="2" charset="-78"/>
                      </a:rPr>
                      <m:t>)=</m:t>
                    </m:r>
                    <m:sSub>
                      <m:sSubPr>
                        <m:ctrlPr>
                          <a:rPr lang="en-US" sz="2400" i="1">
                            <a:latin typeface="Cambria Math" panose="02040503050406030204" pitchFamily="18" charset="0"/>
                            <a:ea typeface="Calibri" panose="020F0502020204030204" pitchFamily="34" charset="0"/>
                            <a:cs typeface="B Lotus" panose="00000400000000000000" pitchFamily="2" charset="-78"/>
                          </a:rPr>
                        </m:ctrlPr>
                      </m:sSubPr>
                      <m:e>
                        <m:r>
                          <a:rPr lang="en-US" sz="2400">
                            <a:latin typeface="Cambria Math" panose="02040503050406030204" pitchFamily="18" charset="0"/>
                            <a:ea typeface="Calibri" panose="020F0502020204030204" pitchFamily="34" charset="0"/>
                            <a:cs typeface="B Lotus" panose="00000400000000000000" pitchFamily="2" charset="-78"/>
                          </a:rPr>
                          <m:t>𝑤</m:t>
                        </m:r>
                      </m:e>
                      <m:sub>
                        <m:r>
                          <a:rPr lang="en-US" sz="2400">
                            <a:latin typeface="Cambria Math" panose="02040503050406030204" pitchFamily="18" charset="0"/>
                            <a:ea typeface="Calibri" panose="020F0502020204030204" pitchFamily="34" charset="0"/>
                            <a:cs typeface="B Lotus" panose="00000400000000000000" pitchFamily="2" charset="-78"/>
                          </a:rPr>
                          <m:t>𝛼</m:t>
                        </m:r>
                      </m:sub>
                    </m:sSub>
                    <m:r>
                      <a:rPr lang="en-US" sz="2400">
                        <a:latin typeface="Cambria Math" panose="02040503050406030204" pitchFamily="18" charset="0"/>
                        <a:ea typeface="Calibri" panose="020F0502020204030204" pitchFamily="34" charset="0"/>
                        <a:cs typeface="B Lotus" panose="00000400000000000000" pitchFamily="2" charset="-78"/>
                      </a:rPr>
                      <m:t>⋅</m:t>
                    </m:r>
                    <m:sSub>
                      <m:sSubPr>
                        <m:ctrlPr>
                          <a:rPr lang="en-US" sz="2400" i="1">
                            <a:latin typeface="Cambria Math" panose="02040503050406030204" pitchFamily="18" charset="0"/>
                            <a:ea typeface="Calibri" panose="020F0502020204030204" pitchFamily="34" charset="0"/>
                            <a:cs typeface="B Lotus" panose="00000400000000000000" pitchFamily="2" charset="-78"/>
                          </a:rPr>
                        </m:ctrlPr>
                      </m:sSubPr>
                      <m:e>
                        <m:r>
                          <a:rPr lang="en-US" sz="2400">
                            <a:latin typeface="Cambria Math" panose="02040503050406030204" pitchFamily="18" charset="0"/>
                            <a:ea typeface="Calibri" panose="020F0502020204030204" pitchFamily="34" charset="0"/>
                            <a:cs typeface="B Lotus" panose="00000400000000000000" pitchFamily="2" charset="-78"/>
                          </a:rPr>
                          <m:t>𝛼</m:t>
                        </m:r>
                      </m:e>
                      <m:sub>
                        <m:r>
                          <a:rPr lang="en-US" sz="2400">
                            <a:latin typeface="Cambria Math" panose="02040503050406030204" pitchFamily="18" charset="0"/>
                            <a:ea typeface="Calibri" panose="020F0502020204030204" pitchFamily="34" charset="0"/>
                            <a:cs typeface="B Lotus" panose="00000400000000000000" pitchFamily="2" charset="-78"/>
                          </a:rPr>
                          <m:t>𝑛𝑜𝑟𝑚</m:t>
                        </m:r>
                      </m:sub>
                    </m:sSub>
                    <m:r>
                      <a:rPr lang="en-US" sz="2400">
                        <a:latin typeface="Cambria Math" panose="02040503050406030204" pitchFamily="18" charset="0"/>
                        <a:ea typeface="Calibri" panose="020F0502020204030204" pitchFamily="34" charset="0"/>
                        <a:cs typeface="B Lotus" panose="00000400000000000000" pitchFamily="2" charset="-78"/>
                      </a:rPr>
                      <m:t>+</m:t>
                    </m:r>
                    <m:sSub>
                      <m:sSubPr>
                        <m:ctrlPr>
                          <a:rPr lang="en-US" sz="2400" i="1">
                            <a:latin typeface="Cambria Math" panose="02040503050406030204" pitchFamily="18" charset="0"/>
                            <a:ea typeface="Calibri" panose="020F0502020204030204" pitchFamily="34" charset="0"/>
                            <a:cs typeface="B Lotus" panose="00000400000000000000" pitchFamily="2" charset="-78"/>
                          </a:rPr>
                        </m:ctrlPr>
                      </m:sSubPr>
                      <m:e>
                        <m:r>
                          <a:rPr lang="en-US" sz="2400">
                            <a:latin typeface="Cambria Math" panose="02040503050406030204" pitchFamily="18" charset="0"/>
                            <a:ea typeface="Calibri" panose="020F0502020204030204" pitchFamily="34" charset="0"/>
                            <a:cs typeface="B Lotus" panose="00000400000000000000" pitchFamily="2" charset="-78"/>
                          </a:rPr>
                          <m:t>𝑤</m:t>
                        </m:r>
                      </m:e>
                      <m:sub>
                        <m:r>
                          <a:rPr lang="en-US" sz="2400">
                            <a:latin typeface="Cambria Math" panose="02040503050406030204" pitchFamily="18" charset="0"/>
                            <a:ea typeface="Calibri" panose="020F0502020204030204" pitchFamily="34" charset="0"/>
                            <a:cs typeface="B Lotus" panose="00000400000000000000" pitchFamily="2" charset="-78"/>
                          </a:rPr>
                          <m:t>𝛽</m:t>
                        </m:r>
                      </m:sub>
                    </m:sSub>
                    <m:r>
                      <a:rPr lang="en-US" sz="2400">
                        <a:latin typeface="Cambria Math" panose="02040503050406030204" pitchFamily="18" charset="0"/>
                        <a:ea typeface="Calibri" panose="020F0502020204030204" pitchFamily="34" charset="0"/>
                        <a:cs typeface="B Lotus" panose="00000400000000000000" pitchFamily="2" charset="-78"/>
                      </a:rPr>
                      <m:t>⋅</m:t>
                    </m:r>
                    <m:sSub>
                      <m:sSubPr>
                        <m:ctrlPr>
                          <a:rPr lang="en-US" sz="2400" i="1">
                            <a:latin typeface="Cambria Math" panose="02040503050406030204" pitchFamily="18" charset="0"/>
                            <a:ea typeface="Calibri" panose="020F0502020204030204" pitchFamily="34" charset="0"/>
                            <a:cs typeface="B Lotus" panose="00000400000000000000" pitchFamily="2" charset="-78"/>
                          </a:rPr>
                        </m:ctrlPr>
                      </m:sSubPr>
                      <m:e>
                        <m:r>
                          <a:rPr lang="en-US" sz="2400">
                            <a:latin typeface="Cambria Math" panose="02040503050406030204" pitchFamily="18" charset="0"/>
                            <a:ea typeface="Calibri" panose="020F0502020204030204" pitchFamily="34" charset="0"/>
                            <a:cs typeface="B Lotus" panose="00000400000000000000" pitchFamily="2" charset="-78"/>
                          </a:rPr>
                          <m:t>𝛽</m:t>
                        </m:r>
                      </m:e>
                      <m:sub>
                        <m:r>
                          <a:rPr lang="en-US" sz="2400">
                            <a:latin typeface="Cambria Math" panose="02040503050406030204" pitchFamily="18" charset="0"/>
                            <a:ea typeface="Calibri" panose="020F0502020204030204" pitchFamily="34" charset="0"/>
                            <a:cs typeface="B Lotus" panose="00000400000000000000" pitchFamily="2" charset="-78"/>
                          </a:rPr>
                          <m:t>𝑛𝑜𝑟𝑚</m:t>
                        </m:r>
                      </m:sub>
                    </m:sSub>
                    <m:r>
                      <a:rPr lang="en-US" sz="2400">
                        <a:latin typeface="Cambria Math" panose="02040503050406030204" pitchFamily="18" charset="0"/>
                        <a:ea typeface="Calibri" panose="020F0502020204030204" pitchFamily="34" charset="0"/>
                        <a:cs typeface="B Lotus" panose="00000400000000000000" pitchFamily="2" charset="-78"/>
                      </a:rPr>
                      <m:t>+</m:t>
                    </m:r>
                    <m:sSub>
                      <m:sSubPr>
                        <m:ctrlPr>
                          <a:rPr lang="en-US" sz="2400" i="1">
                            <a:latin typeface="Cambria Math" panose="02040503050406030204" pitchFamily="18" charset="0"/>
                            <a:ea typeface="Calibri" panose="020F0502020204030204" pitchFamily="34" charset="0"/>
                            <a:cs typeface="B Lotus" panose="00000400000000000000" pitchFamily="2" charset="-78"/>
                          </a:rPr>
                        </m:ctrlPr>
                      </m:sSubPr>
                      <m:e>
                        <m:r>
                          <a:rPr lang="en-US" sz="2400">
                            <a:latin typeface="Cambria Math" panose="02040503050406030204" pitchFamily="18" charset="0"/>
                            <a:ea typeface="Calibri" panose="020F0502020204030204" pitchFamily="34" charset="0"/>
                            <a:cs typeface="B Lotus" panose="00000400000000000000" pitchFamily="2" charset="-78"/>
                          </a:rPr>
                          <m:t>𝑤</m:t>
                        </m:r>
                      </m:e>
                      <m:sub>
                        <m:r>
                          <a:rPr lang="en-US" sz="2400">
                            <a:latin typeface="Cambria Math" panose="02040503050406030204" pitchFamily="18" charset="0"/>
                            <a:ea typeface="Calibri" panose="020F0502020204030204" pitchFamily="34" charset="0"/>
                            <a:cs typeface="B Lotus" panose="00000400000000000000" pitchFamily="2" charset="-78"/>
                          </a:rPr>
                          <m:t>𝛾</m:t>
                        </m:r>
                      </m:sub>
                    </m:sSub>
                    <m:r>
                      <a:rPr lang="en-US" sz="2400">
                        <a:latin typeface="Cambria Math" panose="02040503050406030204" pitchFamily="18" charset="0"/>
                        <a:ea typeface="Calibri" panose="020F0502020204030204" pitchFamily="34" charset="0"/>
                        <a:cs typeface="B Lotus" panose="00000400000000000000" pitchFamily="2" charset="-78"/>
                      </a:rPr>
                      <m:t>⋅</m:t>
                    </m:r>
                    <m:sSub>
                      <m:sSubPr>
                        <m:ctrlPr>
                          <a:rPr lang="en-US" sz="2400" i="1">
                            <a:latin typeface="Cambria Math" panose="02040503050406030204" pitchFamily="18" charset="0"/>
                            <a:ea typeface="Calibri" panose="020F0502020204030204" pitchFamily="34" charset="0"/>
                            <a:cs typeface="B Lotus" panose="00000400000000000000" pitchFamily="2" charset="-78"/>
                          </a:rPr>
                        </m:ctrlPr>
                      </m:sSubPr>
                      <m:e>
                        <m:r>
                          <a:rPr lang="en-US" sz="2400">
                            <a:latin typeface="Cambria Math" panose="02040503050406030204" pitchFamily="18" charset="0"/>
                            <a:ea typeface="Calibri" panose="020F0502020204030204" pitchFamily="34" charset="0"/>
                            <a:cs typeface="B Lotus" panose="00000400000000000000" pitchFamily="2" charset="-78"/>
                          </a:rPr>
                          <m:t>𝛾</m:t>
                        </m:r>
                      </m:e>
                      <m:sub>
                        <m:r>
                          <a:rPr lang="en-US" sz="2400">
                            <a:latin typeface="Cambria Math" panose="02040503050406030204" pitchFamily="18" charset="0"/>
                            <a:ea typeface="Calibri" panose="020F0502020204030204" pitchFamily="34" charset="0"/>
                            <a:cs typeface="B Lotus" panose="00000400000000000000" pitchFamily="2" charset="-78"/>
                          </a:rPr>
                          <m:t>𝑛𝑜𝑟𝑚</m:t>
                        </m:r>
                      </m:sub>
                    </m:sSub>
                  </m:oMath>
                </a14:m>
                <a:r>
                  <a:rPr lang="fa-IR" sz="2400" dirty="0" smtClean="0">
                    <a:latin typeface="Times New Roman" panose="02020603050405020304" pitchFamily="18" charset="0"/>
                    <a:ea typeface="Calibri" panose="020F0502020204030204" pitchFamily="34" charset="0"/>
                    <a:cs typeface="B Lotus" panose="00000400000000000000" pitchFamily="2" charset="-78"/>
                  </a:rPr>
                  <a:t>		(4)</a:t>
                </a:r>
                <a:endParaRPr lang="en-US" sz="2400" dirty="0">
                  <a:latin typeface="Times New Roman" panose="020206030504050203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en-US" sz="2400" dirty="0">
                  <a:latin typeface="Times New Roman" panose="020206030504050203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en-US" sz="2400" dirty="0" smtClean="0">
                  <a:latin typeface="Times New Roman" panose="020206030504050203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en-US" dirty="0" smtClean="0">
                  <a:latin typeface="Cambria Math" panose="02040503050406030204" pitchFamily="18" charset="0"/>
                  <a:ea typeface="Calibri" panose="020F0502020204030204" pitchFamily="34" charset="0"/>
                  <a:cs typeface="B Lotus" panose="00000400000000000000" pitchFamily="2" charset="-78"/>
                </a:endParaRPr>
              </a:p>
              <a:p>
                <a:pPr marL="180340">
                  <a:lnSpc>
                    <a:spcPct val="115000"/>
                  </a:lnSpc>
                  <a:tabLst>
                    <a:tab pos="1924050" algn="l"/>
                  </a:tabLst>
                </a:pPr>
                <a:endParaRPr lang="en-US" dirty="0" smtClean="0">
                  <a:latin typeface="Cambria Math" panose="02040503050406030204" pitchFamily="18" charset="0"/>
                  <a:ea typeface="Calibri" panose="020F0502020204030204" pitchFamily="34" charset="0"/>
                  <a:cs typeface="B Lotus" panose="00000400000000000000" pitchFamily="2" charset="-78"/>
                </a:endParaRPr>
              </a:p>
            </p:txBody>
          </p:sp>
        </mc:Choice>
        <mc:Fallback xmlns="">
          <p:sp>
            <p:nvSpPr>
              <p:cNvPr id="8" name="Rectangle 7"/>
              <p:cNvSpPr>
                <a:spLocks noRot="1" noChangeAspect="1" noMove="1" noResize="1" noEditPoints="1" noAdjustHandles="1" noChangeArrowheads="1" noChangeShapeType="1" noTextEdit="1"/>
              </p:cNvSpPr>
              <p:nvPr/>
            </p:nvSpPr>
            <p:spPr>
              <a:xfrm>
                <a:off x="-152400" y="2184883"/>
                <a:ext cx="8915400" cy="5439310"/>
              </a:xfrm>
              <a:prstGeom prst="rect">
                <a:avLst/>
              </a:prstGeom>
              <a:blipFill rotWithShape="0">
                <a:blip r:embed="rId4"/>
                <a:stretch>
                  <a:fillRect t="-560"/>
                </a:stretch>
              </a:blipFill>
            </p:spPr>
            <p:txBody>
              <a:bodyPr/>
              <a:lstStyle/>
              <a:p>
                <a:r>
                  <a:rPr lang="en-US">
                    <a:noFill/>
                  </a:rPr>
                  <a:t> </a:t>
                </a:r>
              </a:p>
            </p:txBody>
          </p:sp>
        </mc:Fallback>
      </mc:AlternateContent>
      <p:pic>
        <p:nvPicPr>
          <p:cNvPr id="12" name="Picture 11"/>
          <p:cNvPicPr>
            <a:picLocks noChangeAspect="1"/>
          </p:cNvPicPr>
          <p:nvPr/>
        </p:nvPicPr>
        <p:blipFill>
          <a:blip r:embed="rId5"/>
          <a:stretch>
            <a:fillRect/>
          </a:stretch>
        </p:blipFill>
        <p:spPr>
          <a:xfrm>
            <a:off x="8251276" y="2175892"/>
            <a:ext cx="487719" cy="487151"/>
          </a:xfrm>
          <a:prstGeom prst="rect">
            <a:avLst/>
          </a:prstGeom>
        </p:spPr>
      </p:pic>
      <p:pic>
        <p:nvPicPr>
          <p:cNvPr id="13" name="Picture 12"/>
          <p:cNvPicPr>
            <a:picLocks noChangeAspect="1"/>
          </p:cNvPicPr>
          <p:nvPr/>
        </p:nvPicPr>
        <p:blipFill>
          <a:blip r:embed="rId6"/>
          <a:stretch>
            <a:fillRect/>
          </a:stretch>
        </p:blipFill>
        <p:spPr>
          <a:xfrm>
            <a:off x="8125175" y="3037623"/>
            <a:ext cx="739923" cy="481249"/>
          </a:xfrm>
          <a:prstGeom prst="rect">
            <a:avLst/>
          </a:prstGeom>
        </p:spPr>
      </p:pic>
      <p:pic>
        <p:nvPicPr>
          <p:cNvPr id="14" name="Picture 13"/>
          <p:cNvPicPr>
            <a:picLocks noChangeAspect="1"/>
          </p:cNvPicPr>
          <p:nvPr/>
        </p:nvPicPr>
        <p:blipFill>
          <a:blip r:embed="rId7"/>
          <a:stretch>
            <a:fillRect/>
          </a:stretch>
        </p:blipFill>
        <p:spPr>
          <a:xfrm>
            <a:off x="8140415" y="3893452"/>
            <a:ext cx="709440" cy="498366"/>
          </a:xfrm>
          <a:prstGeom prst="rect">
            <a:avLst/>
          </a:prstGeom>
        </p:spPr>
      </p:pic>
      <p:pic>
        <p:nvPicPr>
          <p:cNvPr id="18" name="Picture 17">
            <a:extLst>
              <a:ext uri="{FF2B5EF4-FFF2-40B4-BE49-F238E27FC236}">
                <a16:creationId xmlns:a16="http://schemas.microsoft.com/office/drawing/2014/main" xmlns="" id="{6C503396-79A2-47A1-92ED-C6AE4EA9FF7E}"/>
              </a:ext>
            </a:extLst>
          </p:cNvPr>
          <p:cNvPicPr>
            <a:picLocks noChangeAspect="1"/>
          </p:cNvPicPr>
          <p:nvPr/>
        </p:nvPicPr>
        <p:blipFill>
          <a:blip r:embed="rId8"/>
          <a:stretch>
            <a:fillRect/>
          </a:stretch>
        </p:blipFill>
        <p:spPr>
          <a:xfrm>
            <a:off x="7901160" y="5181600"/>
            <a:ext cx="1258383" cy="1131441"/>
          </a:xfrm>
          <a:prstGeom prst="rect">
            <a:avLst/>
          </a:prstGeom>
        </p:spPr>
      </p:pic>
    </p:spTree>
    <p:extLst>
      <p:ext uri="{BB962C8B-B14F-4D97-AF65-F5344CB8AC3E}">
        <p14:creationId xmlns:p14="http://schemas.microsoft.com/office/powerpoint/2010/main" val="20365192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xmlns="" id="{371C0AE6-C772-4760-8F2C-92733C382053}"/>
              </a:ext>
            </a:extLst>
          </p:cNvPr>
          <p:cNvPicPr/>
          <p:nvPr/>
        </p:nvPicPr>
        <p:blipFill>
          <a:blip r:embed="rId3">
            <a:extLst>
              <a:ext uri="{28A0092B-C50C-407E-A947-70E740481C1C}">
                <a14:useLocalDpi xmlns:a14="http://schemas.microsoft.com/office/drawing/2010/main" val="0"/>
              </a:ext>
            </a:extLst>
          </a:blip>
          <a:stretch>
            <a:fillRect/>
          </a:stretch>
        </p:blipFill>
        <p:spPr>
          <a:xfrm>
            <a:off x="857165" y="1496489"/>
            <a:ext cx="7010400" cy="4451218"/>
          </a:xfrm>
          <a:prstGeom prst="rect">
            <a:avLst/>
          </a:prstGeom>
        </p:spPr>
      </p:pic>
      <p:sp>
        <p:nvSpPr>
          <p:cNvPr id="20" name="Text Box 63">
            <a:extLst>
              <a:ext uri="{FF2B5EF4-FFF2-40B4-BE49-F238E27FC236}">
                <a16:creationId xmlns:a16="http://schemas.microsoft.com/office/drawing/2014/main" xmlns="" id="{7DE4DEE4-712A-4CFA-A055-E6C6E9E30DE0}"/>
              </a:ext>
            </a:extLst>
          </p:cNvPr>
          <p:cNvSpPr txBox="1"/>
          <p:nvPr/>
        </p:nvSpPr>
        <p:spPr>
          <a:xfrm>
            <a:off x="1957029" y="5951813"/>
            <a:ext cx="4579620" cy="276999"/>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rtl="1">
              <a:spcAft>
                <a:spcPts val="1000"/>
              </a:spcAft>
            </a:pPr>
            <a:r>
              <a:rPr lang="fa-IR" dirty="0">
                <a:latin typeface="Times New Roman" panose="02020603050405020304" pitchFamily="18" charset="0"/>
                <a:ea typeface="Calibri" panose="020F0502020204030204" pitchFamily="34" charset="0"/>
                <a:cs typeface="B Lotus" panose="00000400000000000000" pitchFamily="2" charset="-78"/>
              </a:rPr>
              <a:t>شکل </a:t>
            </a:r>
            <a:r>
              <a:rPr lang="fa-IR" dirty="0" smtClean="0">
                <a:latin typeface="Times New Roman" panose="02020603050405020304" pitchFamily="18" charset="0"/>
                <a:ea typeface="Calibri" panose="020F0502020204030204" pitchFamily="34" charset="0"/>
                <a:cs typeface="B Lotus" panose="00000400000000000000" pitchFamily="2" charset="-78"/>
              </a:rPr>
              <a:t>5 </a:t>
            </a:r>
            <a:r>
              <a:rPr lang="fa-IR" i="0" dirty="0" smtClean="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دیاگرام </a:t>
            </a:r>
            <a:r>
              <a:rPr lang="fa-IR" sz="16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الگوریتم</a:t>
            </a:r>
            <a:r>
              <a:rPr lang="fa-IR"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 </a:t>
            </a:r>
            <a:r>
              <a:rPr lang="fa-IR" i="0" dirty="0" smtClean="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همسان‌سازی پیشنهادی </a:t>
            </a:r>
            <a:r>
              <a:rPr lang="fa-IR" dirty="0" smtClean="0">
                <a:solidFill>
                  <a:srgbClr val="61D6FF"/>
                </a:solidFill>
                <a:latin typeface="Times New Roman" panose="02020603050405020304" pitchFamily="18" charset="0"/>
                <a:ea typeface="Calibri" panose="020F0502020204030204" pitchFamily="34" charset="0"/>
                <a:cs typeface="B Lotus" panose="00000400000000000000" pitchFamily="2" charset="-78"/>
              </a:rPr>
              <a:t>[1]</a:t>
            </a:r>
            <a:r>
              <a:rPr lang="fa-IR" dirty="0" smtClean="0">
                <a:latin typeface="Times New Roman" panose="02020603050405020304" pitchFamily="18" charset="0"/>
                <a:ea typeface="Calibri" panose="020F0502020204030204" pitchFamily="34" charset="0"/>
                <a:cs typeface="B Lotus" panose="00000400000000000000" pitchFamily="2" charset="-78"/>
              </a:rPr>
              <a:t>.</a:t>
            </a:r>
            <a:r>
              <a:rPr lang="fa-IR" i="0" dirty="0" smtClean="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 </a:t>
            </a:r>
            <a:endParaRPr lang="en-US"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endParaRPr>
          </a:p>
        </p:txBody>
      </p:sp>
      <p:sp>
        <p:nvSpPr>
          <p:cNvPr id="51" name="Rectangle 50"/>
          <p:cNvSpPr/>
          <p:nvPr/>
        </p:nvSpPr>
        <p:spPr>
          <a:xfrm>
            <a:off x="-76200" y="1153249"/>
            <a:ext cx="6861738" cy="523220"/>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روشی بهینه و سریع برای همسان‌سازی فعال پک باتری مستهلک با استفاده از مبدل ولتاژ</a:t>
            </a:r>
            <a:r>
              <a:rPr lang="en-US" sz="1400" dirty="0">
                <a:cs typeface="B Lotus" panose="00000400000000000000" pitchFamily="2" charset="-78"/>
              </a:rPr>
              <a:t> </a:t>
            </a:r>
            <a:r>
              <a:rPr lang="fa-IR" sz="1400" dirty="0">
                <a:cs typeface="B Lotus" panose="00000400000000000000" pitchFamily="2" charset="-78"/>
              </a:rPr>
              <a:t>دوطرفه با دامنه ولتاژ کاری وسیع و الگوریتم خوشه‌بندی </a:t>
            </a:r>
            <a:r>
              <a:rPr lang="en-US" sz="1400" i="1" dirty="0">
                <a:latin typeface="Times New Roman" panose="02020603050405020304" pitchFamily="18" charset="0"/>
                <a:cs typeface="Times New Roman" panose="02020603050405020304" pitchFamily="18" charset="0"/>
              </a:rPr>
              <a:t>DBSCAN</a:t>
            </a:r>
            <a:endParaRPr lang="en-US" sz="1400" dirty="0">
              <a:latin typeface="Times New Roman" panose="02020603050405020304" pitchFamily="18" charset="0"/>
              <a:cs typeface="Times New Roman" panose="02020603050405020304" pitchFamily="18" charset="0"/>
            </a:endParaRPr>
          </a:p>
        </p:txBody>
      </p:sp>
      <p:sp>
        <p:nvSpPr>
          <p:cNvPr id="18"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30</a:t>
            </a:fld>
            <a:endParaRPr lang="fa-IR" sz="1800" dirty="0">
              <a:solidFill>
                <a:schemeClr val="tx1"/>
              </a:solidFill>
              <a:cs typeface="B Lotus" panose="00000400000000000000" pitchFamily="2" charset="-78"/>
            </a:endParaRPr>
          </a:p>
        </p:txBody>
      </p:sp>
      <p:sp>
        <p:nvSpPr>
          <p:cNvPr id="21" name="Rectangle 20"/>
          <p:cNvSpPr/>
          <p:nvPr/>
        </p:nvSpPr>
        <p:spPr>
          <a:xfrm>
            <a:off x="433912" y="6404253"/>
            <a:ext cx="8725328" cy="430887"/>
          </a:xfrm>
          <a:prstGeom prst="rect">
            <a:avLst/>
          </a:prstGeom>
        </p:spPr>
        <p:txBody>
          <a:bodyPr wrap="square">
            <a:spAutoFit/>
          </a:bodyPr>
          <a:lstStyle/>
          <a:p>
            <a:pPr lvl="0">
              <a:defRPr/>
            </a:pPr>
            <a:r>
              <a:rPr lang="en-US" sz="1100" dirty="0"/>
              <a:t>[1]	W. </a:t>
            </a:r>
            <a:r>
              <a:rPr lang="en-US" sz="1100" dirty="0" err="1"/>
              <a:t>Lujun</a:t>
            </a:r>
            <a:r>
              <a:rPr lang="en-US" sz="1100" i="1" dirty="0"/>
              <a:t> et al.</a:t>
            </a:r>
            <a:r>
              <a:rPr lang="en-US" sz="1100" dirty="0"/>
              <a:t>, "Efficient and fast active equalization method for retired battery pack using wide voltage range bidirectional converter and DBSCAN clustering algorithm," </a:t>
            </a:r>
            <a:r>
              <a:rPr lang="en-US" sz="1100" i="1" dirty="0"/>
              <a:t>IEEE Transactions on Power Electronics, </a:t>
            </a:r>
            <a:r>
              <a:rPr lang="en-US" sz="1100" dirty="0"/>
              <a:t>vol. 37, no. 11, pp. 13824-13833, 2022.</a:t>
            </a:r>
          </a:p>
        </p:txBody>
      </p:sp>
      <p:sp>
        <p:nvSpPr>
          <p:cNvPr id="32" name="AutoShape 3">
            <a:extLst>
              <a:ext uri="{FF2B5EF4-FFF2-40B4-BE49-F238E27FC236}">
                <a16:creationId xmlns:a16="http://schemas.microsoft.com/office/drawing/2014/main" xmlns="" id="{C53EA03E-4D17-4BD5-A1D3-CA779876F9A1}"/>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pic>
        <p:nvPicPr>
          <p:cNvPr id="33" name="Picture 32" descr="پرونده:Azad University logo.png - ویکی‌پدیا، دانشنامهٔ آزاد">
            <a:extLst>
              <a:ext uri="{FF2B5EF4-FFF2-40B4-BE49-F238E27FC236}">
                <a16:creationId xmlns:a16="http://schemas.microsoft.com/office/drawing/2014/main" xmlns="" id="{551027E7-59DE-4013-9F55-C99B19434F5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4" name="AutoShape 10">
            <a:extLst>
              <a:ext uri="{FF2B5EF4-FFF2-40B4-BE49-F238E27FC236}">
                <a16:creationId xmlns:a16="http://schemas.microsoft.com/office/drawing/2014/main" xmlns="" id="{24F8D050-FD93-4E88-A90B-610AEE6684EB}"/>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5" name="AutoShape 3">
            <a:extLst>
              <a:ext uri="{FF2B5EF4-FFF2-40B4-BE49-F238E27FC236}">
                <a16:creationId xmlns:a16="http://schemas.microsoft.com/office/drawing/2014/main" xmlns="" id="{F98670FB-AB73-4AA8-88C0-C2D4EEFC9BE3}"/>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49" name="AutoShape 3">
            <a:extLst>
              <a:ext uri="{FF2B5EF4-FFF2-40B4-BE49-F238E27FC236}">
                <a16:creationId xmlns:a16="http://schemas.microsoft.com/office/drawing/2014/main" xmlns="" id="{3C3D4D9F-E024-4576-B473-4B1EE7214194}"/>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0" name="Rectangle 49">
            <a:extLst>
              <a:ext uri="{FF2B5EF4-FFF2-40B4-BE49-F238E27FC236}">
                <a16:creationId xmlns:a16="http://schemas.microsoft.com/office/drawing/2014/main" xmlns="" id="{A8AAFECE-A791-4B82-98F2-159C643F76B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52" name="Rectangle 51">
            <a:extLst>
              <a:ext uri="{FF2B5EF4-FFF2-40B4-BE49-F238E27FC236}">
                <a16:creationId xmlns:a16="http://schemas.microsoft.com/office/drawing/2014/main" xmlns="" id="{36E5427D-8796-4624-BDEE-54E00504AEB2}"/>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53" name="Rectangle 52">
            <a:extLst>
              <a:ext uri="{FF2B5EF4-FFF2-40B4-BE49-F238E27FC236}">
                <a16:creationId xmlns:a16="http://schemas.microsoft.com/office/drawing/2014/main" xmlns="" id="{753064DC-3B18-47CB-A6BB-170B09C37269}"/>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54" name="Rectangle 53">
            <a:extLst>
              <a:ext uri="{FF2B5EF4-FFF2-40B4-BE49-F238E27FC236}">
                <a16:creationId xmlns:a16="http://schemas.microsoft.com/office/drawing/2014/main" xmlns="" id="{E881CACA-1B7E-46AA-9B9F-9DAF54C6D0B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55" name="Rounded Rectangle 175">
            <a:extLst>
              <a:ext uri="{FF2B5EF4-FFF2-40B4-BE49-F238E27FC236}">
                <a16:creationId xmlns:a16="http://schemas.microsoft.com/office/drawing/2014/main" xmlns="" id="{30EF608F-7EC5-4F68-8931-4D9CB88CD230}"/>
              </a:ext>
            </a:extLst>
          </p:cNvPr>
          <p:cNvSpPr/>
          <p:nvPr/>
        </p:nvSpPr>
        <p:spPr bwMode="auto">
          <a:xfrm>
            <a:off x="6324600" y="964925"/>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Tree>
    <p:extLst>
      <p:ext uri="{BB962C8B-B14F-4D97-AF65-F5344CB8AC3E}">
        <p14:creationId xmlns:p14="http://schemas.microsoft.com/office/powerpoint/2010/main" val="1916511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Box 146">
            <a:extLst>
              <a:ext uri="{FF2B5EF4-FFF2-40B4-BE49-F238E27FC236}">
                <a16:creationId xmlns:a16="http://schemas.microsoft.com/office/drawing/2014/main" xmlns="" id="{F43469DC-7F5B-471E-BD74-ED709E621F63}"/>
              </a:ext>
            </a:extLst>
          </p:cNvPr>
          <p:cNvSpPr txBox="1"/>
          <p:nvPr/>
        </p:nvSpPr>
        <p:spPr>
          <a:xfrm>
            <a:off x="7154382" y="1803113"/>
            <a:ext cx="1914307" cy="369332"/>
          </a:xfrm>
          <a:prstGeom prst="rect">
            <a:avLst/>
          </a:prstGeom>
          <a:noFill/>
        </p:spPr>
        <p:txBody>
          <a:bodyPr wrap="none" rtlCol="0">
            <a:spAutoFit/>
          </a:bodyPr>
          <a:lstStyle/>
          <a:p>
            <a:pPr algn="r" rtl="1"/>
            <a:r>
              <a:rPr lang="fa-IR" b="1" dirty="0">
                <a:cs typeface="B Nazanin" panose="00000400000000000000" pitchFamily="2" charset="-78"/>
              </a:rPr>
              <a:t>پدیده ی روی هم رفت</a:t>
            </a:r>
          </a:p>
        </p:txBody>
      </p:sp>
      <p:sp>
        <p:nvSpPr>
          <p:cNvPr id="41" name="Rectangle 40"/>
          <p:cNvSpPr/>
          <p:nvPr/>
        </p:nvSpPr>
        <p:spPr>
          <a:xfrm>
            <a:off x="843406" y="6325547"/>
            <a:ext cx="6776594"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 شکل </a:t>
            </a:r>
            <a:r>
              <a:rPr lang="fa-IR" dirty="0" smtClean="0">
                <a:latin typeface="Times New Roman" panose="02020603050405020304" pitchFamily="18" charset="0"/>
                <a:ea typeface="Calibri" panose="020F0502020204030204" pitchFamily="34" charset="0"/>
                <a:cs typeface="B Lotus" panose="00000400000000000000" pitchFamily="2" charset="-78"/>
              </a:rPr>
              <a:t>2 پدیده </a:t>
            </a:r>
            <a:r>
              <a:rPr lang="fa-IR" dirty="0">
                <a:latin typeface="Times New Roman" panose="02020603050405020304" pitchFamily="18" charset="0"/>
                <a:ea typeface="Calibri" panose="020F0502020204030204" pitchFamily="34" charset="0"/>
                <a:cs typeface="B Lotus" panose="00000400000000000000" pitchFamily="2" charset="-78"/>
              </a:rPr>
              <a:t>ی روی هم رفت در حین فرآیند همسان سازی فعال.</a:t>
            </a:r>
            <a:endParaRPr lang="en-US" dirty="0">
              <a:latin typeface="Times New Roman" panose="02020603050405020304" pitchFamily="18" charset="0"/>
              <a:ea typeface="Calibri" panose="020F0502020204030204" pitchFamily="34" charset="0"/>
              <a:cs typeface="B Lotus" panose="00000400000000000000" pitchFamily="2" charset="-78"/>
            </a:endParaRPr>
          </a:p>
        </p:txBody>
      </p:sp>
      <p:sp>
        <p:nvSpPr>
          <p:cNvPr id="1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31</a:t>
            </a:fld>
            <a:endParaRPr lang="fa-IR" sz="1800" dirty="0">
              <a:solidFill>
                <a:schemeClr val="tx1"/>
              </a:solidFill>
              <a:cs typeface="B Lotus" panose="00000400000000000000" pitchFamily="2" charset="-78"/>
            </a:endParaRPr>
          </a:p>
        </p:txBody>
      </p:sp>
      <p:pic>
        <p:nvPicPr>
          <p:cNvPr id="19" name="Picture 18">
            <a:extLst>
              <a:ext uri="{FF2B5EF4-FFF2-40B4-BE49-F238E27FC236}">
                <a16:creationId xmlns:a16="http://schemas.microsoft.com/office/drawing/2014/main" xmlns="" id="{EFB98B88-D9A5-47D3-A423-8E82A2475FF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8965" y="2216166"/>
            <a:ext cx="8915399" cy="3946260"/>
          </a:xfrm>
          <a:prstGeom prst="rect">
            <a:avLst/>
          </a:prstGeom>
        </p:spPr>
      </p:pic>
      <p:sp>
        <p:nvSpPr>
          <p:cNvPr id="18" name="AutoShape 12" descr="5 Things That Affect Your Charging Speed | EVgo"/>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10">
            <a:extLst>
              <a:ext uri="{FF2B5EF4-FFF2-40B4-BE49-F238E27FC236}">
                <a16:creationId xmlns:a16="http://schemas.microsoft.com/office/drawing/2014/main" xmlns="" id="{11A20114-C948-4DAF-A269-D7BF1A2ECCA0}"/>
              </a:ext>
            </a:extLst>
          </p:cNvPr>
          <p:cNvSpPr>
            <a:spLocks noChangeArrowheads="1"/>
          </p:cNvSpPr>
          <p:nvPr/>
        </p:nvSpPr>
        <p:spPr bwMode="gray">
          <a:xfrm flipH="1">
            <a:off x="6244699" y="57140"/>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1" name="AutoShape 3">
            <a:extLst>
              <a:ext uri="{FF2B5EF4-FFF2-40B4-BE49-F238E27FC236}">
                <a16:creationId xmlns:a16="http://schemas.microsoft.com/office/drawing/2014/main" xmlns="" id="{0B1385E1-F22C-4E22-B9F0-ABF9FDBFB523}"/>
              </a:ext>
            </a:extLst>
          </p:cNvPr>
          <p:cNvSpPr>
            <a:spLocks noChangeArrowheads="1"/>
          </p:cNvSpPr>
          <p:nvPr/>
        </p:nvSpPr>
        <p:spPr bwMode="gray">
          <a:xfrm flipH="1">
            <a:off x="4188613" y="57140"/>
            <a:ext cx="2056086"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2" name="AutoShape 3">
            <a:extLst>
              <a:ext uri="{FF2B5EF4-FFF2-40B4-BE49-F238E27FC236}">
                <a16:creationId xmlns:a16="http://schemas.microsoft.com/office/drawing/2014/main" xmlns="" id="{1CD00EE2-C4EE-4D69-8F26-AAC81AE4FD2D}"/>
              </a:ext>
            </a:extLst>
          </p:cNvPr>
          <p:cNvSpPr>
            <a:spLocks noChangeArrowheads="1"/>
          </p:cNvSpPr>
          <p:nvPr/>
        </p:nvSpPr>
        <p:spPr bwMode="gray">
          <a:xfrm flipH="1">
            <a:off x="2588411" y="57140"/>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a:extLst>
              <a:ext uri="{FF2B5EF4-FFF2-40B4-BE49-F238E27FC236}">
                <a16:creationId xmlns:a16="http://schemas.microsoft.com/office/drawing/2014/main" xmlns="" id="{20876701-2968-48DD-B50F-5C9094C03348}"/>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4" name="Rectangle 23">
            <a:extLst>
              <a:ext uri="{FF2B5EF4-FFF2-40B4-BE49-F238E27FC236}">
                <a16:creationId xmlns:a16="http://schemas.microsoft.com/office/drawing/2014/main" xmlns="" id="{F2243B26-1BE2-43AD-8F71-213A0F7242A7}"/>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a:extLst>
              <a:ext uri="{FF2B5EF4-FFF2-40B4-BE49-F238E27FC236}">
                <a16:creationId xmlns:a16="http://schemas.microsoft.com/office/drawing/2014/main" xmlns="" id="{8499BA6C-A469-45E7-8896-73165F3CE066}"/>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26" name="Rectangle 25">
            <a:extLst>
              <a:ext uri="{FF2B5EF4-FFF2-40B4-BE49-F238E27FC236}">
                <a16:creationId xmlns:a16="http://schemas.microsoft.com/office/drawing/2014/main" xmlns="" id="{88B0CAF5-84F0-44BE-BF0F-DBA7B08A5139}"/>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27" name="Rectangle 26">
            <a:extLst>
              <a:ext uri="{FF2B5EF4-FFF2-40B4-BE49-F238E27FC236}">
                <a16:creationId xmlns:a16="http://schemas.microsoft.com/office/drawing/2014/main" xmlns="" id="{080A61E5-91DA-486A-AFFC-B76A86A698DD}"/>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28" name="Picture 27" descr="پرونده:Azad University logo.png - ویکی‌پدیا، دانشنامهٔ آزاد">
            <a:extLst>
              <a:ext uri="{FF2B5EF4-FFF2-40B4-BE49-F238E27FC236}">
                <a16:creationId xmlns:a16="http://schemas.microsoft.com/office/drawing/2014/main" xmlns="" id="{4BBC7487-44D3-400B-AF80-552EEB9DBB2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9" name="Rounded Rectangle 175">
            <a:extLst>
              <a:ext uri="{FF2B5EF4-FFF2-40B4-BE49-F238E27FC236}">
                <a16:creationId xmlns:a16="http://schemas.microsoft.com/office/drawing/2014/main" xmlns="" id="{B38C8568-40F1-4259-922B-CCD5A8161046}"/>
              </a:ext>
            </a:extLst>
          </p:cNvPr>
          <p:cNvSpPr/>
          <p:nvPr/>
        </p:nvSpPr>
        <p:spPr bwMode="auto">
          <a:xfrm>
            <a:off x="7689952" y="938628"/>
            <a:ext cx="1384096" cy="4240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lang="fa-IR" sz="2200" b="1" kern="0" dirty="0">
                <a:solidFill>
                  <a:srgbClr val="FFFFFF"/>
                </a:solidFill>
                <a:latin typeface="Times New Roman" panose="02020603050405020304" pitchFamily="18" charset="0"/>
                <a:cs typeface="B Nazanin" pitchFamily="2" charset="-78"/>
              </a:rPr>
              <a:t>باتری ها</a:t>
            </a:r>
            <a:endParaRPr kumimoji="0" lang="en-US" sz="2200" b="1" i="0" u="none" strike="noStrike" kern="0" cap="none" spc="0" normalizeH="0" baseline="0" noProof="0" dirty="0">
              <a:ln>
                <a:noFill/>
              </a:ln>
              <a:solidFill>
                <a:srgbClr val="FFFFFF"/>
              </a:solidFill>
              <a:effectLst/>
              <a:uLnTx/>
              <a:uFillTx/>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16977667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32</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72F1F36F-BC0F-4EAB-B733-3BEB63BA174F}"/>
              </a:ext>
            </a:extLst>
          </p:cNvPr>
          <p:cNvSpPr/>
          <p:nvPr/>
        </p:nvSpPr>
        <p:spPr bwMode="auto">
          <a:xfrm>
            <a:off x="5181600" y="1066930"/>
            <a:ext cx="4065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2000" b="1" dirty="0">
              <a:solidFill>
                <a:srgbClr val="FFFFFF"/>
              </a:solidFill>
              <a:latin typeface="Times New Roman" panose="02020603050405020304" pitchFamily="18" charset="0"/>
              <a:cs typeface="B Nazanin" panose="00000400000000000000" pitchFamily="2" charset="-78"/>
            </a:endParaRPr>
          </a:p>
        </p:txBody>
      </p:sp>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extLst>
                  <p:ext uri="{D42A27DB-BD31-4B8C-83A1-F6EECF244321}">
                    <p14:modId xmlns:p14="http://schemas.microsoft.com/office/powerpoint/2010/main" val="1050813322"/>
                  </p:ext>
                </p:extLst>
              </p:nvPr>
            </p:nvGraphicFramePr>
            <p:xfrm>
              <a:off x="173132" y="2895600"/>
              <a:ext cx="8869680" cy="1905000"/>
            </p:xfrm>
            <a:graphic>
              <a:graphicData uri="http://schemas.openxmlformats.org/drawingml/2006/table">
                <a:tbl>
                  <a:tblPr rtl="1" firstRow="1" firstCol="1" bandRow="1"/>
                  <a:tblGrid>
                    <a:gridCol w="2360886"/>
                    <a:gridCol w="932156">
                      <a:extLst>
                        <a:ext uri="{9D8B030D-6E8A-4147-A177-3AD203B41FA5}">
                          <a16:colId xmlns:a16="http://schemas.microsoft.com/office/drawing/2014/main" xmlns="" val="20001"/>
                        </a:ext>
                      </a:extLst>
                    </a:gridCol>
                    <a:gridCol w="1248792">
                      <a:extLst>
                        <a:ext uri="{9D8B030D-6E8A-4147-A177-3AD203B41FA5}">
                          <a16:colId xmlns:a16="http://schemas.microsoft.com/office/drawing/2014/main" xmlns="" val="20002"/>
                        </a:ext>
                      </a:extLst>
                    </a:gridCol>
                    <a:gridCol w="1446320">
                      <a:extLst>
                        <a:ext uri="{9D8B030D-6E8A-4147-A177-3AD203B41FA5}">
                          <a16:colId xmlns:a16="http://schemas.microsoft.com/office/drawing/2014/main" xmlns="" val="20003"/>
                        </a:ext>
                      </a:extLst>
                    </a:gridCol>
                    <a:gridCol w="1172592">
                      <a:extLst>
                        <a:ext uri="{9D8B030D-6E8A-4147-A177-3AD203B41FA5}">
                          <a16:colId xmlns:a16="http://schemas.microsoft.com/office/drawing/2014/main" xmlns="" val="20004"/>
                        </a:ext>
                      </a:extLst>
                    </a:gridCol>
                    <a:gridCol w="1708934">
                      <a:extLst>
                        <a:ext uri="{9D8B030D-6E8A-4147-A177-3AD203B41FA5}">
                          <a16:colId xmlns:a16="http://schemas.microsoft.com/office/drawing/2014/main" xmlns="" val="20005"/>
                        </a:ext>
                      </a:extLst>
                    </a:gridCol>
                  </a:tblGrid>
                  <a:tr h="381000">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ضرایب</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بهترین </a:t>
                          </a:r>
                          <a:r>
                            <a:rPr lang="en-US"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ε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بهترین هزینه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روی‌هم‌رفت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ناهمسانی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زمان </a:t>
                          </a: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فرآیند </a:t>
                          </a: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S</a:t>
                          </a: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lvl="0" indent="0" algn="ctr" defTabSz="914400" rtl="1" eaLnBrk="1" fontAlgn="auto" latinLnBrk="0" hangingPunct="1">
                            <a:lnSpc>
                              <a:spcPct val="100000"/>
                            </a:lnSpc>
                            <a:spcBef>
                              <a:spcPts val="0"/>
                            </a:spcBef>
                            <a:spcAft>
                              <a:spcPts val="300"/>
                            </a:spcAft>
                            <a:buClrTx/>
                            <a:buSzTx/>
                            <a:buFontTx/>
                            <a:buNone/>
                            <a:tabLst/>
                            <a:defRPr/>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a:t>
                          </a: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𝛾</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0/8=</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𝛽</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و 0/1=</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𝛼</m:t>
                              </m:r>
                            </m:oMath>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3/67</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8013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381000">
                    <a:tc>
                      <a:txBody>
                        <a:bodyPr/>
                        <a:lstStyle/>
                        <a:p>
                          <a:pPr marL="0" marR="0" lvl="0" indent="0" algn="ctr" defTabSz="914400" rtl="1" eaLnBrk="1" fontAlgn="auto" latinLnBrk="0" hangingPunct="1">
                            <a:lnSpc>
                              <a:spcPct val="100000"/>
                            </a:lnSpc>
                            <a:spcBef>
                              <a:spcPts val="0"/>
                            </a:spcBef>
                            <a:spcAft>
                              <a:spcPts val="300"/>
                            </a:spcAft>
                            <a:buClrTx/>
                            <a:buSzTx/>
                            <a:buFontTx/>
                            <a:buNone/>
                            <a:tabLst/>
                            <a:defRPr/>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0/0</a:t>
                          </a: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𝛾</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0/5=</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𝛽</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و 0/5=</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𝛼</m:t>
                              </m:r>
                            </m:oMath>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12/2</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4225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pPr marL="0" marR="0" lvl="0" indent="0" algn="ctr" defTabSz="914400" rtl="1" eaLnBrk="1" fontAlgn="auto" latinLnBrk="0" hangingPunct="1">
                            <a:lnSpc>
                              <a:spcPct val="100000"/>
                            </a:lnSpc>
                            <a:spcBef>
                              <a:spcPts val="0"/>
                            </a:spcBef>
                            <a:spcAft>
                              <a:spcPts val="300"/>
                            </a:spcAft>
                            <a:buClrTx/>
                            <a:buSzTx/>
                            <a:buFontTx/>
                            <a:buNone/>
                            <a:tabLst/>
                            <a:defRPr/>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0/5</a:t>
                          </a: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𝛾</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0/5=</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𝛽</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و 0/0=</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𝛼</m:t>
                              </m:r>
                            </m:oMath>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9/1</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0/148</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28/9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4396</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pPr marL="0" marR="0" lvl="0" indent="0" algn="ctr" defTabSz="914400" rtl="1" eaLnBrk="1" fontAlgn="auto" latinLnBrk="0" hangingPunct="1">
                            <a:lnSpc>
                              <a:spcPct val="100000"/>
                            </a:lnSpc>
                            <a:spcBef>
                              <a:spcPts val="0"/>
                            </a:spcBef>
                            <a:spcAft>
                              <a:spcPts val="300"/>
                            </a:spcAft>
                            <a:buClrTx/>
                            <a:buSzTx/>
                            <a:buFontTx/>
                            <a:buNone/>
                            <a:tabLst/>
                            <a:defRPr/>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0/33</a:t>
                          </a:r>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𝛾</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0/33=</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𝛽</m:t>
                              </m:r>
                            </m:oMath>
                          </a14:m>
                          <a:r>
                            <a:rPr lang="fa-IR" sz="1800" kern="1200" baseline="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و 0/33=</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B Nazanin" panose="00000400000000000000" pitchFamily="2" charset="-78"/>
                                </a:rPr>
                                <m:t>𝛼</m:t>
                              </m:r>
                            </m:oMath>
                          </a14:m>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0/264</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3540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xmlns="">
          <p:graphicFrame>
            <p:nvGraphicFramePr>
              <p:cNvPr id="22" name="Table 21"/>
              <p:cNvGraphicFramePr>
                <a:graphicFrameLocks noGrp="1"/>
              </p:cNvGraphicFramePr>
              <p:nvPr>
                <p:extLst>
                  <p:ext uri="{D42A27DB-BD31-4B8C-83A1-F6EECF244321}">
                    <p14:modId xmlns:p14="http://schemas.microsoft.com/office/powerpoint/2010/main" val="1050813322"/>
                  </p:ext>
                </p:extLst>
              </p:nvPr>
            </p:nvGraphicFramePr>
            <p:xfrm>
              <a:off x="173132" y="2895600"/>
              <a:ext cx="8869680" cy="1905000"/>
            </p:xfrm>
            <a:graphic>
              <a:graphicData uri="http://schemas.openxmlformats.org/drawingml/2006/table">
                <a:tbl>
                  <a:tblPr rtl="1" firstRow="1" firstCol="1" bandRow="1"/>
                  <a:tblGrid>
                    <a:gridCol w="2360886"/>
                    <a:gridCol w="932156">
                      <a:extLst>
                        <a:ext uri="{9D8B030D-6E8A-4147-A177-3AD203B41FA5}">
                          <a16:colId xmlns:a16="http://schemas.microsoft.com/office/drawing/2014/main" xmlns="" xmlns:a14="http://schemas.microsoft.com/office/drawing/2010/main" val="20001"/>
                        </a:ext>
                      </a:extLst>
                    </a:gridCol>
                    <a:gridCol w="1248792">
                      <a:extLst>
                        <a:ext uri="{9D8B030D-6E8A-4147-A177-3AD203B41FA5}">
                          <a16:colId xmlns:a16="http://schemas.microsoft.com/office/drawing/2014/main" xmlns="" xmlns:a14="http://schemas.microsoft.com/office/drawing/2010/main" val="20002"/>
                        </a:ext>
                      </a:extLst>
                    </a:gridCol>
                    <a:gridCol w="1446320">
                      <a:extLst>
                        <a:ext uri="{9D8B030D-6E8A-4147-A177-3AD203B41FA5}">
                          <a16:colId xmlns:a16="http://schemas.microsoft.com/office/drawing/2014/main" xmlns="" xmlns:a14="http://schemas.microsoft.com/office/drawing/2010/main" val="20003"/>
                        </a:ext>
                      </a:extLst>
                    </a:gridCol>
                    <a:gridCol w="1172592">
                      <a:extLst>
                        <a:ext uri="{9D8B030D-6E8A-4147-A177-3AD203B41FA5}">
                          <a16:colId xmlns:a16="http://schemas.microsoft.com/office/drawing/2014/main" xmlns="" xmlns:a14="http://schemas.microsoft.com/office/drawing/2010/main" val="20004"/>
                        </a:ext>
                      </a:extLst>
                    </a:gridCol>
                    <a:gridCol w="1708934">
                      <a:extLst>
                        <a:ext uri="{9D8B030D-6E8A-4147-A177-3AD203B41FA5}">
                          <a16:colId xmlns:a16="http://schemas.microsoft.com/office/drawing/2014/main" xmlns="" xmlns:a14="http://schemas.microsoft.com/office/drawing/2010/main" val="20005"/>
                        </a:ext>
                      </a:extLst>
                    </a:gridCol>
                  </a:tblGrid>
                  <a:tr h="381000">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ضرایب</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 بهترین </a:t>
                          </a:r>
                          <a:r>
                            <a:rPr lang="en-US"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ε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بهترین هزینه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روی‌هم‌رفت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ناهمسانی (%)</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زمان </a:t>
                          </a: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فرآیند </a:t>
                          </a: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S</a:t>
                          </a: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xmlns:a14="http://schemas.microsoft.com/office/drawing/2010/main" val="10000"/>
                      </a:ext>
                    </a:extLst>
                  </a:tr>
                  <a:tr h="381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58" t="-114516" r="-275773" b="-330645"/>
                          </a:stretch>
                        </a:blipFill>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13/9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3/67</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8013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xmlns:a14="http://schemas.microsoft.com/office/drawing/2010/main" val="10004"/>
                      </a:ext>
                    </a:extLst>
                  </a:tr>
                  <a:tr h="381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58" t="-211111" r="-275773" b="-225397"/>
                          </a:stretch>
                        </a:blipFill>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12/2</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0/349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11/3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4225</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58" t="-316129" r="-275773" b="-129032"/>
                          </a:stretch>
                        </a:blipFill>
                      </a:tcPr>
                    </a:tc>
                    <a:tc>
                      <a:txBody>
                        <a:bodyPr/>
                        <a:lstStyle/>
                        <a:p>
                          <a:pPr algn="ctr" rtl="1">
                            <a:spcAft>
                              <a:spcPts val="300"/>
                            </a:spcAft>
                          </a:pPr>
                          <a:r>
                            <a:rPr lang="fa-IR" sz="1800" kern="120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9/1</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0/148</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28/9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4396</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1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58" t="-409524" r="-275773" b="-26984"/>
                          </a:stretch>
                        </a:blipFill>
                      </a:tcPr>
                    </a:tc>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14/9</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0/264</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1" eaLnBrk="1" latinLnBrk="0" hangingPunct="1">
                            <a:spcAft>
                              <a:spcPts val="300"/>
                            </a:spcAft>
                          </a:pPr>
                          <a:r>
                            <a:rPr lang="fa-IR" sz="1800" kern="1200" dirty="0" smtClean="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36/3</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1" eaLnBrk="1" latinLnBrk="0" hangingPunct="1">
                            <a:spcAft>
                              <a:spcPts val="300"/>
                            </a:spcAft>
                          </a:pPr>
                          <a:r>
                            <a:rPr lang="ar-SA"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rPr>
                            <a:t>3540</a:t>
                          </a:r>
                          <a:endParaRPr lang="en-US" sz="1800" kern="1200" dirty="0">
                            <a:solidFill>
                              <a:schemeClr val="tx1"/>
                            </a:solidFill>
                            <a:effectLst/>
                            <a:latin typeface="Times New Roman" panose="02020603050405020304" pitchFamily="18" charset="0"/>
                            <a:ea typeface="Times New Roman" panose="02020603050405020304" pitchFamily="18" charset="0"/>
                            <a:cs typeface="B Nazanin"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2" name="Rectangle 1"/>
          <p:cNvSpPr/>
          <p:nvPr/>
        </p:nvSpPr>
        <p:spPr>
          <a:xfrm>
            <a:off x="173132" y="2506212"/>
            <a:ext cx="8869680" cy="369332"/>
          </a:xfrm>
          <a:prstGeom prst="rect">
            <a:avLst/>
          </a:prstGeom>
        </p:spPr>
        <p:txBody>
          <a:bodyPr wrap="square">
            <a:spAutoFit/>
          </a:bodyPr>
          <a:lstStyle/>
          <a:p>
            <a:pPr algn="ctr" rtl="1"/>
            <a:r>
              <a:rPr lang="ar-SA" dirty="0" smtClean="0">
                <a:latin typeface="Times New Roman" panose="02020603050405020304" pitchFamily="18" charset="0"/>
                <a:ea typeface="Times New Roman" panose="02020603050405020304" pitchFamily="18" charset="0"/>
                <a:cs typeface="B Nazanin" panose="00000400000000000000" pitchFamily="2" charset="-78"/>
              </a:rPr>
              <a:t>خروجی</a:t>
            </a:r>
            <a:r>
              <a:rPr lang="fa-IR" dirty="0" smtClean="0">
                <a:latin typeface="Times New Roman" panose="02020603050405020304" pitchFamily="18" charset="0"/>
                <a:ea typeface="Times New Roman" panose="02020603050405020304" pitchFamily="18" charset="0"/>
                <a:cs typeface="B Nazanin" panose="00000400000000000000" pitchFamily="2" charset="-78"/>
              </a:rPr>
              <a:t> نهایی</a:t>
            </a:r>
            <a:r>
              <a:rPr lang="ar-SA" dirty="0" smtClean="0">
                <a:latin typeface="Times New Roman" panose="02020603050405020304" pitchFamily="18" charset="0"/>
                <a:ea typeface="Times New Roman" panose="02020603050405020304" pitchFamily="18" charset="0"/>
                <a:cs typeface="B Nazanin" panose="00000400000000000000" pitchFamily="2" charset="-78"/>
              </a:rPr>
              <a:t> </a:t>
            </a:r>
            <a:r>
              <a:rPr lang="ar-SA" dirty="0">
                <a:latin typeface="Times New Roman" panose="02020603050405020304" pitchFamily="18" charset="0"/>
                <a:ea typeface="Times New Roman" panose="02020603050405020304" pitchFamily="18" charset="0"/>
                <a:cs typeface="B Nazanin" panose="00000400000000000000" pitchFamily="2" charset="-78"/>
              </a:rPr>
              <a:t>به دست آمده توسط الگوریتم </a:t>
            </a:r>
            <a:r>
              <a:rPr lang="ar-SA" dirty="0" smtClean="0">
                <a:latin typeface="Times New Roman" panose="02020603050405020304" pitchFamily="18" charset="0"/>
                <a:ea typeface="Times New Roman" panose="02020603050405020304" pitchFamily="18" charset="0"/>
                <a:cs typeface="B Nazanin" panose="00000400000000000000" pitchFamily="2" charset="-78"/>
              </a:rPr>
              <a:t>پیشنهادی</a:t>
            </a:r>
            <a:r>
              <a:rPr lang="fa-IR" dirty="0" smtClean="0">
                <a:latin typeface="Times New Roman" panose="02020603050405020304" pitchFamily="18" charset="0"/>
                <a:ea typeface="Times New Roman" panose="02020603050405020304" pitchFamily="18" charset="0"/>
                <a:cs typeface="B Nazanin" panose="00000400000000000000" pitchFamily="2" charset="-78"/>
              </a:rPr>
              <a:t> به ازای ضرایب مختلف</a:t>
            </a:r>
            <a:endParaRPr lang="en-US" dirty="0"/>
          </a:p>
        </p:txBody>
      </p:sp>
    </p:spTree>
    <p:extLst>
      <p:ext uri="{BB962C8B-B14F-4D97-AF65-F5344CB8AC3E}">
        <p14:creationId xmlns:p14="http://schemas.microsoft.com/office/powerpoint/2010/main" val="12334975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533" y="17033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4"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8181" y="21391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6" name="AutoShape 5">
            <a:extLst>
              <a:ext uri="{FF2B5EF4-FFF2-40B4-BE49-F238E27FC236}">
                <a16:creationId xmlns:a16="http://schemas.microsoft.com/office/drawing/2014/main" xmlns="" id="{A1924C9B-0919-470E-9298-E5DFCF302DF3}"/>
              </a:ext>
            </a:extLst>
          </p:cNvPr>
          <p:cNvSpPr>
            <a:spLocks noChangeAspect="1" noChangeArrowheads="1"/>
          </p:cNvSpPr>
          <p:nvPr/>
        </p:nvSpPr>
        <p:spPr bwMode="gray">
          <a:xfrm>
            <a:off x="3397853" y="5484630"/>
            <a:ext cx="3920947" cy="508000"/>
          </a:xfrm>
          <a:prstGeom prst="roundRect">
            <a:avLst>
              <a:gd name="adj" fmla="val 50000"/>
            </a:avLst>
          </a:prstGeom>
          <a:gradFill flip="none" rotWithShape="1">
            <a:gsLst>
              <a:gs pos="0">
                <a:srgbClr val="C4E59F">
                  <a:tint val="66000"/>
                  <a:satMod val="160000"/>
                </a:srgbClr>
              </a:gs>
              <a:gs pos="50000">
                <a:srgbClr val="C4E59F">
                  <a:tint val="44500"/>
                  <a:satMod val="160000"/>
                </a:srgbClr>
              </a:gs>
              <a:gs pos="100000">
                <a:srgbClr val="C4E59F">
                  <a:tint val="23500"/>
                  <a:satMod val="160000"/>
                </a:srgbClr>
              </a:gs>
            </a:gsLst>
            <a:lin ang="0" scaled="1"/>
            <a:tileRect/>
          </a:gradFill>
          <a:ln w="28575" algn="ctr">
            <a:solidFill>
              <a:srgbClr val="C4E59F"/>
            </a:solidFill>
            <a:round/>
            <a:headEnd/>
            <a:tailEnd/>
          </a:ln>
          <a:effectLst/>
        </p:spPr>
        <p:txBody>
          <a:bodyPr wrap="none" anchor="ctr"/>
          <a:lstStyle/>
          <a:p>
            <a:pPr algn="r" fontAlgn="base">
              <a:spcBef>
                <a:spcPct val="0"/>
              </a:spcBef>
              <a:spcAft>
                <a:spcPct val="0"/>
              </a:spcAft>
            </a:pPr>
            <a:r>
              <a:rPr lang="fa-IR" b="1" dirty="0" smtClean="0">
                <a:solidFill>
                  <a:srgbClr val="FF0000"/>
                </a:solidFill>
                <a:latin typeface="Times New Roman" panose="02020603050405020304" pitchFamily="18" charset="0"/>
                <a:cs typeface="B Nazanin" pitchFamily="2" charset="-78"/>
              </a:rPr>
              <a:t> </a:t>
            </a:r>
            <a:r>
              <a:rPr lang="en-US" b="1" dirty="0">
                <a:solidFill>
                  <a:srgbClr val="FF0000"/>
                </a:solidFill>
                <a:latin typeface="Times New Roman" panose="02020603050405020304" pitchFamily="18" charset="0"/>
                <a:cs typeface="B Nazanin" pitchFamily="2" charset="-78"/>
              </a:rPr>
              <a:t>[67] (DBSCAN)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17" name="AutoShape 6">
            <a:extLst>
              <a:ext uri="{FF2B5EF4-FFF2-40B4-BE49-F238E27FC236}">
                <a16:creationId xmlns:a16="http://schemas.microsoft.com/office/drawing/2014/main" xmlns="" id="{1F8AE669-1568-4178-BF56-57E58EA0C127}"/>
              </a:ext>
            </a:extLst>
          </p:cNvPr>
          <p:cNvSpPr>
            <a:spLocks noChangeAspect="1" noChangeArrowheads="1"/>
          </p:cNvSpPr>
          <p:nvPr/>
        </p:nvSpPr>
        <p:spPr bwMode="gray">
          <a:xfrm>
            <a:off x="2373921" y="4483708"/>
            <a:ext cx="4461912"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en-US" b="1" dirty="0" smtClean="0">
                <a:solidFill>
                  <a:srgbClr val="000000"/>
                </a:solidFill>
                <a:latin typeface="Times New Roman" panose="02020603050405020304" pitchFamily="18" charset="0"/>
                <a:cs typeface="B Nazanin" pitchFamily="2" charset="-78"/>
              </a:rPr>
              <a:t>FLC</a:t>
            </a:r>
            <a:endParaRPr lang="en-US" b="1" dirty="0">
              <a:solidFill>
                <a:srgbClr val="000000"/>
              </a:solidFill>
              <a:latin typeface="Times New Roman" panose="02020603050405020304" pitchFamily="18" charset="0"/>
              <a:cs typeface="B Nazanin" pitchFamily="2" charset="-78"/>
            </a:endParaRPr>
          </a:p>
        </p:txBody>
      </p:sp>
      <p:sp>
        <p:nvSpPr>
          <p:cNvPr id="18" name="AutoShape 7">
            <a:extLst>
              <a:ext uri="{FF2B5EF4-FFF2-40B4-BE49-F238E27FC236}">
                <a16:creationId xmlns:a16="http://schemas.microsoft.com/office/drawing/2014/main" xmlns="" id="{3C597848-6C50-46C7-91D1-A520128CFE55}"/>
              </a:ext>
            </a:extLst>
          </p:cNvPr>
          <p:cNvSpPr>
            <a:spLocks noChangeAspect="1" noChangeArrowheads="1"/>
          </p:cNvSpPr>
          <p:nvPr/>
        </p:nvSpPr>
        <p:spPr bwMode="gray">
          <a:xfrm>
            <a:off x="2373920" y="3405732"/>
            <a:ext cx="4419600" cy="508000"/>
          </a:xfrm>
          <a:prstGeom prst="roundRect">
            <a:avLst>
              <a:gd name="adj" fmla="val 50000"/>
            </a:avLst>
          </a:prstGeom>
          <a:gradFill flip="none" rotWithShape="1">
            <a:gsLst>
              <a:gs pos="0">
                <a:srgbClr val="C4E59F">
                  <a:tint val="66000"/>
                  <a:satMod val="160000"/>
                </a:srgbClr>
              </a:gs>
              <a:gs pos="50000">
                <a:srgbClr val="C4E59F">
                  <a:tint val="44500"/>
                  <a:satMod val="160000"/>
                </a:srgbClr>
              </a:gs>
              <a:gs pos="100000">
                <a:srgbClr val="C4E59F">
                  <a:tint val="23500"/>
                  <a:satMod val="160000"/>
                </a:srgbClr>
              </a:gs>
            </a:gsLst>
            <a:lin ang="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en-US" b="1" dirty="0" smtClean="0">
                <a:solidFill>
                  <a:srgbClr val="000000"/>
                </a:solidFill>
                <a:latin typeface="Times New Roman" panose="02020603050405020304" pitchFamily="18" charset="0"/>
                <a:cs typeface="B Nazanin" pitchFamily="2" charset="-78"/>
              </a:rPr>
              <a:t>GA</a:t>
            </a:r>
            <a:endParaRPr lang="en-US" b="1" dirty="0">
              <a:solidFill>
                <a:srgbClr val="000000"/>
              </a:solidFill>
              <a:latin typeface="Times New Roman" panose="02020603050405020304" pitchFamily="18" charset="0"/>
              <a:cs typeface="B Nazanin" pitchFamily="2" charset="-78"/>
            </a:endParaRPr>
          </a:p>
        </p:txBody>
      </p:sp>
      <p:sp>
        <p:nvSpPr>
          <p:cNvPr id="19"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3397854" y="2317319"/>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en-US" b="1" dirty="0" smtClean="0">
                <a:solidFill>
                  <a:srgbClr val="FF0000"/>
                </a:solidFill>
                <a:latin typeface="Times New Roman" panose="02020603050405020304" pitchFamily="18" charset="0"/>
                <a:cs typeface="B Nazanin" pitchFamily="2" charset="-78"/>
              </a:rPr>
              <a:t>PSO-DBSCAN</a:t>
            </a:r>
            <a:endParaRPr lang="en-US" b="1" dirty="0">
              <a:solidFill>
                <a:srgbClr val="FF0000"/>
              </a:solidFill>
              <a:latin typeface="Times New Roman" panose="02020603050405020304" pitchFamily="18" charset="0"/>
              <a:cs typeface="B Nazanin" pitchFamily="2" charset="-78"/>
            </a:endParaRPr>
          </a:p>
        </p:txBody>
      </p:sp>
      <p:grpSp>
        <p:nvGrpSpPr>
          <p:cNvPr id="20" name="Group 9">
            <a:extLst>
              <a:ext uri="{FF2B5EF4-FFF2-40B4-BE49-F238E27FC236}">
                <a16:creationId xmlns:a16="http://schemas.microsoft.com/office/drawing/2014/main" xmlns="" id="{51B5EA01-02D3-45B4-9350-81B3B8CE0AC3}"/>
              </a:ext>
            </a:extLst>
          </p:cNvPr>
          <p:cNvGrpSpPr>
            <a:grpSpLocks noChangeAspect="1"/>
          </p:cNvGrpSpPr>
          <p:nvPr/>
        </p:nvGrpSpPr>
        <p:grpSpPr bwMode="auto">
          <a:xfrm>
            <a:off x="7206270" y="2381173"/>
            <a:ext cx="381000" cy="381000"/>
            <a:chOff x="2078" y="1680"/>
            <a:chExt cx="1615" cy="1615"/>
          </a:xfrm>
        </p:grpSpPr>
        <p:sp>
          <p:nvSpPr>
            <p:cNvPr id="21" name="Oval 10">
              <a:extLst>
                <a:ext uri="{FF2B5EF4-FFF2-40B4-BE49-F238E27FC236}">
                  <a16:creationId xmlns:a16="http://schemas.microsoft.com/office/drawing/2014/main" xmlns="" id="{951593A2-3CCA-4150-9C26-8F0E2FB50DBC}"/>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2" name="Oval 11">
              <a:extLst>
                <a:ext uri="{FF2B5EF4-FFF2-40B4-BE49-F238E27FC236}">
                  <a16:creationId xmlns:a16="http://schemas.microsoft.com/office/drawing/2014/main" xmlns="" id="{974192FD-32BD-4151-BC3E-0B42B578C87B}"/>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3" name="Oval 12">
              <a:extLst>
                <a:ext uri="{FF2B5EF4-FFF2-40B4-BE49-F238E27FC236}">
                  <a16:creationId xmlns:a16="http://schemas.microsoft.com/office/drawing/2014/main" xmlns="" id="{BDD4DA04-B88B-4B07-BF6E-B1C272F0F4CC}"/>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4" name="Oval 13">
              <a:extLst>
                <a:ext uri="{FF2B5EF4-FFF2-40B4-BE49-F238E27FC236}">
                  <a16:creationId xmlns:a16="http://schemas.microsoft.com/office/drawing/2014/main" xmlns="" id="{7DDEB6C7-DF12-4B56-A15E-5719879C0767}"/>
                </a:ext>
              </a:extLst>
            </p:cNvPr>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5" name="Oval 14">
              <a:extLst>
                <a:ext uri="{FF2B5EF4-FFF2-40B4-BE49-F238E27FC236}">
                  <a16:creationId xmlns:a16="http://schemas.microsoft.com/office/drawing/2014/main" xmlns="" id="{05CB5150-2AB3-496D-9A01-7BD9677B178F}"/>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6" name="Oval 15">
              <a:extLst>
                <a:ext uri="{FF2B5EF4-FFF2-40B4-BE49-F238E27FC236}">
                  <a16:creationId xmlns:a16="http://schemas.microsoft.com/office/drawing/2014/main" xmlns="" id="{CF5DA36E-72FD-4186-95B0-3E592580924C}"/>
                </a:ext>
              </a:extLst>
            </p:cNvPr>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27" name="Group 16">
            <a:extLst>
              <a:ext uri="{FF2B5EF4-FFF2-40B4-BE49-F238E27FC236}">
                <a16:creationId xmlns:a16="http://schemas.microsoft.com/office/drawing/2014/main" xmlns="" id="{804576A5-4B7C-42A1-81B7-81F80837382F}"/>
              </a:ext>
            </a:extLst>
          </p:cNvPr>
          <p:cNvGrpSpPr>
            <a:grpSpLocks noChangeAspect="1"/>
          </p:cNvGrpSpPr>
          <p:nvPr/>
        </p:nvGrpSpPr>
        <p:grpSpPr bwMode="auto">
          <a:xfrm>
            <a:off x="6682346" y="3445241"/>
            <a:ext cx="381000" cy="381000"/>
            <a:chOff x="2078" y="1680"/>
            <a:chExt cx="1615" cy="1615"/>
          </a:xfrm>
        </p:grpSpPr>
        <p:sp>
          <p:nvSpPr>
            <p:cNvPr id="29" name="Oval 17">
              <a:extLst>
                <a:ext uri="{FF2B5EF4-FFF2-40B4-BE49-F238E27FC236}">
                  <a16:creationId xmlns:a16="http://schemas.microsoft.com/office/drawing/2014/main" xmlns="" id="{6398C46E-DA7F-490D-9472-87BE268989F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2" name="Oval 18">
              <a:extLst>
                <a:ext uri="{FF2B5EF4-FFF2-40B4-BE49-F238E27FC236}">
                  <a16:creationId xmlns:a16="http://schemas.microsoft.com/office/drawing/2014/main" xmlns="" id="{E110742C-193F-493E-9A71-A02F844D2828}"/>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3" name="Oval 19">
              <a:extLst>
                <a:ext uri="{FF2B5EF4-FFF2-40B4-BE49-F238E27FC236}">
                  <a16:creationId xmlns:a16="http://schemas.microsoft.com/office/drawing/2014/main" xmlns="" id="{36CD726D-CF07-41C5-B7A4-710136BAB1FC}"/>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4" name="Oval 20">
              <a:extLst>
                <a:ext uri="{FF2B5EF4-FFF2-40B4-BE49-F238E27FC236}">
                  <a16:creationId xmlns:a16="http://schemas.microsoft.com/office/drawing/2014/main" xmlns="" id="{9D8BE50C-A6BB-4D5D-B7FF-3AEBD6CD7D2E}"/>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5" name="Oval 21">
              <a:extLst>
                <a:ext uri="{FF2B5EF4-FFF2-40B4-BE49-F238E27FC236}">
                  <a16:creationId xmlns:a16="http://schemas.microsoft.com/office/drawing/2014/main" xmlns="" id="{96AB8031-737F-41E7-9E4B-34DC61B7FA4B}"/>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6" name="Oval 22">
              <a:extLst>
                <a:ext uri="{FF2B5EF4-FFF2-40B4-BE49-F238E27FC236}">
                  <a16:creationId xmlns:a16="http://schemas.microsoft.com/office/drawing/2014/main" xmlns="" id="{8500B833-9307-4836-B55A-C402EA8CFDAC}"/>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37"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6689262" y="4509223"/>
            <a:ext cx="381000" cy="381000"/>
            <a:chOff x="2078" y="1680"/>
            <a:chExt cx="1615" cy="1615"/>
          </a:xfrm>
        </p:grpSpPr>
        <p:sp>
          <p:nvSpPr>
            <p:cNvPr id="38"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39"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44" name="Group 30">
            <a:extLst>
              <a:ext uri="{FF2B5EF4-FFF2-40B4-BE49-F238E27FC236}">
                <a16:creationId xmlns:a16="http://schemas.microsoft.com/office/drawing/2014/main" xmlns="" id="{D8A0650F-6DD3-4C51-ACCA-8D5BB33B1046}"/>
              </a:ext>
            </a:extLst>
          </p:cNvPr>
          <p:cNvGrpSpPr>
            <a:grpSpLocks noChangeAspect="1"/>
          </p:cNvGrpSpPr>
          <p:nvPr/>
        </p:nvGrpSpPr>
        <p:grpSpPr bwMode="auto">
          <a:xfrm>
            <a:off x="7206152" y="5557868"/>
            <a:ext cx="381000" cy="381000"/>
            <a:chOff x="2078" y="1680"/>
            <a:chExt cx="1615" cy="1615"/>
          </a:xfrm>
        </p:grpSpPr>
        <p:sp>
          <p:nvSpPr>
            <p:cNvPr id="45" name="Oval 31">
              <a:extLst>
                <a:ext uri="{FF2B5EF4-FFF2-40B4-BE49-F238E27FC236}">
                  <a16:creationId xmlns:a16="http://schemas.microsoft.com/office/drawing/2014/main" xmlns="" id="{25288F4D-41F2-42AF-B1C2-9A7B3EF5B7D3}"/>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6" name="Oval 32">
              <a:extLst>
                <a:ext uri="{FF2B5EF4-FFF2-40B4-BE49-F238E27FC236}">
                  <a16:creationId xmlns:a16="http://schemas.microsoft.com/office/drawing/2014/main" xmlns="" id="{CF97BF37-BB79-4B18-9D98-AF071CF14C1A}"/>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7" name="Oval 33">
              <a:extLst>
                <a:ext uri="{FF2B5EF4-FFF2-40B4-BE49-F238E27FC236}">
                  <a16:creationId xmlns:a16="http://schemas.microsoft.com/office/drawing/2014/main" xmlns="" id="{7279C661-406B-43C8-92AE-751AD25DED0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8" name="Oval 34">
              <a:extLst>
                <a:ext uri="{FF2B5EF4-FFF2-40B4-BE49-F238E27FC236}">
                  <a16:creationId xmlns:a16="http://schemas.microsoft.com/office/drawing/2014/main" xmlns="" id="{E99053BE-A9C7-411F-ADC0-7B78C2D5F070}"/>
                </a:ext>
              </a:extLst>
            </p:cNvPr>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9" name="Oval 35">
              <a:extLst>
                <a:ext uri="{FF2B5EF4-FFF2-40B4-BE49-F238E27FC236}">
                  <a16:creationId xmlns:a16="http://schemas.microsoft.com/office/drawing/2014/main" xmlns="" id="{A01C5860-00E7-4C78-9CF1-950C8C0864A1}"/>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0" name="Oval 36">
              <a:extLst>
                <a:ext uri="{FF2B5EF4-FFF2-40B4-BE49-F238E27FC236}">
                  <a16:creationId xmlns:a16="http://schemas.microsoft.com/office/drawing/2014/main" xmlns="" id="{474AA11F-5B14-4FC0-974D-5499A704DD68}"/>
                </a:ext>
              </a:extLst>
            </p:cNvPr>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1" name="TextBox 50">
            <a:extLst>
              <a:ext uri="{FF2B5EF4-FFF2-40B4-BE49-F238E27FC236}">
                <a16:creationId xmlns:a16="http://schemas.microsoft.com/office/drawing/2014/main" xmlns="" id="{0D7C9433-5674-4BC9-A282-6D982E5B3065}"/>
              </a:ext>
            </a:extLst>
          </p:cNvPr>
          <p:cNvSpPr txBox="1"/>
          <p:nvPr/>
        </p:nvSpPr>
        <p:spPr>
          <a:xfrm>
            <a:off x="4119282" y="2971800"/>
            <a:ext cx="65" cy="276999"/>
          </a:xfrm>
          <a:prstGeom prst="rect">
            <a:avLst/>
          </a:prstGeom>
          <a:noFill/>
        </p:spPr>
        <p:txBody>
          <a:bodyPr wrap="none" lIns="0" tIns="0" rIns="0" bIns="0" rtlCol="0">
            <a:spAutoFit/>
          </a:bodyPr>
          <a:lstStyle/>
          <a:p>
            <a:endParaRPr lang="en-US" dirty="0"/>
          </a:p>
        </p:txBody>
      </p:sp>
      <p:sp>
        <p:nvSpPr>
          <p:cNvPr id="56" name="Slide Number Placeholder 3">
            <a:extLst>
              <a:ext uri="{FF2B5EF4-FFF2-40B4-BE49-F238E27FC236}">
                <a16:creationId xmlns:a16="http://schemas.microsoft.com/office/drawing/2014/main" xmlns="" id="{FEFB061F-8AAB-4535-B272-1BA4D5A77191}"/>
              </a:ext>
            </a:extLst>
          </p:cNvPr>
          <p:cNvSpPr>
            <a:spLocks noGrp="1"/>
          </p:cNvSpPr>
          <p:nvPr>
            <p:ph type="sldNum" sz="quarter" idx="12"/>
          </p:nvPr>
        </p:nvSpPr>
        <p:spPr>
          <a:xfrm>
            <a:off x="8965" y="6090313"/>
            <a:ext cx="676835" cy="767687"/>
          </a:xfrm>
        </p:spPr>
        <p:txBody>
          <a:bodyPr/>
          <a:lstStyle/>
          <a:p>
            <a:pPr rtl="1"/>
            <a:fld id="{E8ADF199-8047-440E-B02B-E80683B392F2}" type="slidenum">
              <a:rPr lang="fa-IR" sz="1800" smtClean="0">
                <a:solidFill>
                  <a:schemeClr val="tx1"/>
                </a:solidFill>
                <a:cs typeface="B Lotus" panose="00000400000000000000" pitchFamily="2" charset="-78"/>
              </a:rPr>
              <a:t>33</a:t>
            </a:fld>
            <a:endParaRPr lang="fa-IR" sz="1800" dirty="0">
              <a:solidFill>
                <a:schemeClr val="tx1"/>
              </a:solidFill>
              <a:cs typeface="B Lotus" panose="00000400000000000000" pitchFamily="2" charset="-78"/>
            </a:endParaRPr>
          </a:p>
        </p:txBody>
      </p:sp>
      <p:sp>
        <p:nvSpPr>
          <p:cNvPr id="65"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pic>
        <p:nvPicPr>
          <p:cNvPr id="66" name="Picture 65"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67"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8"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9"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70" name="Rectangle 69">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71" name="Rectangle 70">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72" name="Rectangle 71">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73" name="Rectangle 72">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52" name="Rounded Rectangle 175">
            <a:extLst>
              <a:ext uri="{FF2B5EF4-FFF2-40B4-BE49-F238E27FC236}">
                <a16:creationId xmlns:a16="http://schemas.microsoft.com/office/drawing/2014/main" xmlns="" id="{72F1F36F-BC0F-4EAB-B733-3BEB63BA174F}"/>
              </a:ext>
            </a:extLst>
          </p:cNvPr>
          <p:cNvSpPr/>
          <p:nvPr/>
        </p:nvSpPr>
        <p:spPr bwMode="auto">
          <a:xfrm>
            <a:off x="5181600" y="1066930"/>
            <a:ext cx="4065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2000" b="1" dirty="0">
              <a:solidFill>
                <a:srgbClr val="FFFFFF"/>
              </a:solidFill>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13765298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34</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2" name="Rectangle 1"/>
          <p:cNvSpPr/>
          <p:nvPr/>
        </p:nvSpPr>
        <p:spPr>
          <a:xfrm>
            <a:off x="163316" y="5325003"/>
            <a:ext cx="8869680" cy="338554"/>
          </a:xfrm>
          <a:prstGeom prst="rect">
            <a:avLst/>
          </a:prstGeom>
        </p:spPr>
        <p:txBody>
          <a:bodyPr wrap="square">
            <a:spAutoFit/>
          </a:bodyPr>
          <a:lstStyle/>
          <a:p>
            <a:pPr algn="ctr" rtl="1"/>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شکل</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 مقایسه‌ی </a:t>
            </a:r>
            <a:r>
              <a:rPr lang="ar-SA" sz="1600" dirty="0">
                <a:latin typeface="Times New Roman" panose="02020603050405020304" pitchFamily="18" charset="0"/>
                <a:ea typeface="Times New Roman" panose="02020603050405020304" pitchFamily="18" charset="0"/>
                <a:cs typeface="B Nazanin" panose="00000400000000000000" pitchFamily="2" charset="-78"/>
              </a:rPr>
              <a:t>خروجی در همسان‌ساز پیشنهادی خروجی در همسان‌ساز پیشنهادی</a:t>
            </a:r>
            <a:r>
              <a:rPr lang="fa-IR" sz="1600" dirty="0">
                <a:latin typeface="Times New Roman" panose="02020603050405020304" pitchFamily="18" charset="0"/>
                <a:ea typeface="Times New Roman" panose="02020603050405020304" pitchFamily="18" charset="0"/>
                <a:cs typeface="B Nazanin" panose="00000400000000000000" pitchFamily="2" charset="-78"/>
              </a:rPr>
              <a:t> (</a:t>
            </a:r>
            <a:r>
              <a:rPr lang="en-US" sz="1600" dirty="0">
                <a:latin typeface="Times New Roman" panose="02020603050405020304" pitchFamily="18" charset="0"/>
                <a:ea typeface="Times New Roman" panose="02020603050405020304" pitchFamily="18" charset="0"/>
                <a:cs typeface="B Nazanin" panose="00000400000000000000" pitchFamily="2" charset="-78"/>
              </a:rPr>
              <a:t>PSO-DBSCAN</a:t>
            </a:r>
            <a:r>
              <a:rPr lang="fa-IR" sz="1600" dirty="0">
                <a:latin typeface="Times New Roman" panose="02020603050405020304" pitchFamily="18" charset="0"/>
                <a:ea typeface="Times New Roman" panose="02020603050405020304" pitchFamily="18" charset="0"/>
                <a:cs typeface="B Nazanin" panose="00000400000000000000" pitchFamily="2" charset="-78"/>
              </a:rPr>
              <a:t> و</a:t>
            </a:r>
            <a:r>
              <a:rPr lang="ar-SA" sz="1600" dirty="0">
                <a:latin typeface="Times New Roman" panose="02020603050405020304" pitchFamily="18" charset="0"/>
                <a:ea typeface="Times New Roman" panose="02020603050405020304" pitchFamily="18" charset="0"/>
                <a:cs typeface="B Nazanin" panose="00000400000000000000" pitchFamily="2" charset="-78"/>
              </a:rPr>
              <a:t> </a:t>
            </a:r>
            <a:r>
              <a:rPr lang="fa-IR" sz="1600" dirty="0">
                <a:solidFill>
                  <a:srgbClr val="61D6FF"/>
                </a:solidFill>
                <a:latin typeface="Times New Roman" panose="02020603050405020304" pitchFamily="18" charset="0"/>
                <a:ea typeface="Calibri" panose="020F0502020204030204" pitchFamily="34" charset="0"/>
                <a:cs typeface="B Nazanin" panose="00000400000000000000" pitchFamily="2" charset="-78"/>
              </a:rPr>
              <a:t>[1] </a:t>
            </a:r>
            <a:r>
              <a:rPr lang="en-US" sz="1600" dirty="0">
                <a:latin typeface="Times New Roman" panose="02020603050405020304" pitchFamily="18" charset="0"/>
                <a:ea typeface="Times New Roman" panose="02020603050405020304" pitchFamily="18" charset="0"/>
                <a:cs typeface="B Nazanin" panose="00000400000000000000" pitchFamily="2" charset="-78"/>
              </a:rPr>
              <a:t>DBSCAN</a:t>
            </a:r>
            <a:r>
              <a:rPr lang="fa-IR" sz="1600" dirty="0">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latin typeface="Times New Roman" panose="02020603050405020304" pitchFamily="18" charset="0"/>
              <a:cs typeface="B Nazanin" panose="00000400000000000000" pitchFamily="2" charset="-78"/>
            </a:endParaRPr>
          </a:p>
        </p:txBody>
      </p:sp>
      <p:sp>
        <p:nvSpPr>
          <p:cNvPr id="19" name="Rectangle 18"/>
          <p:cNvSpPr/>
          <p:nvPr/>
        </p:nvSpPr>
        <p:spPr>
          <a:xfrm>
            <a:off x="173132" y="815330"/>
            <a:ext cx="700378" cy="369332"/>
          </a:xfrm>
          <a:prstGeom prst="rect">
            <a:avLst/>
          </a:prstGeom>
        </p:spPr>
        <p:txBody>
          <a:bodyPr wrap="square">
            <a:spAutoFit/>
          </a:bodyPr>
          <a:lstStyle/>
          <a:p>
            <a:pPr algn="ctr" rtl="1"/>
            <a:r>
              <a:rPr lang="fa-IR" dirty="0" smtClean="0">
                <a:latin typeface="Times New Roman" panose="02020603050405020304" pitchFamily="18" charset="0"/>
                <a:cs typeface="B Nazanin" panose="00000400000000000000" pitchFamily="2" charset="-78"/>
              </a:rPr>
              <a:t>مقایسه</a:t>
            </a:r>
            <a:endParaRPr lang="en-US" dirty="0"/>
          </a:p>
        </p:txBody>
      </p:sp>
      <p:pic>
        <p:nvPicPr>
          <p:cNvPr id="23" name="Picture 22"/>
          <p:cNvPicPr/>
          <p:nvPr/>
        </p:nvPicPr>
        <p:blipFill rotWithShape="1">
          <a:blip r:embed="rId4" cstate="print">
            <a:extLst>
              <a:ext uri="{28A0092B-C50C-407E-A947-70E740481C1C}">
                <a14:useLocalDpi xmlns:a14="http://schemas.microsoft.com/office/drawing/2010/main" val="0"/>
              </a:ext>
            </a:extLst>
          </a:blip>
          <a:srcRect l="9374" r="6251"/>
          <a:stretch/>
        </p:blipFill>
        <p:spPr bwMode="auto">
          <a:xfrm>
            <a:off x="163316" y="2438400"/>
            <a:ext cx="4475068" cy="2651516"/>
          </a:xfrm>
          <a:prstGeom prst="rect">
            <a:avLst/>
          </a:prstGeom>
          <a:noFill/>
          <a:ln>
            <a:noFill/>
          </a:ln>
        </p:spPr>
      </p:pic>
      <p:pic>
        <p:nvPicPr>
          <p:cNvPr id="25" name="Picture 24"/>
          <p:cNvPicPr/>
          <p:nvPr/>
        </p:nvPicPr>
        <p:blipFill>
          <a:blip r:embed="rId5"/>
          <a:stretch>
            <a:fillRect/>
          </a:stretch>
        </p:blipFill>
        <p:spPr>
          <a:xfrm>
            <a:off x="4662778" y="2438400"/>
            <a:ext cx="4481222" cy="2830574"/>
          </a:xfrm>
          <a:prstGeom prst="rect">
            <a:avLst/>
          </a:prstGeom>
        </p:spPr>
      </p:pic>
    </p:spTree>
    <p:extLst>
      <p:ext uri="{BB962C8B-B14F-4D97-AF65-F5344CB8AC3E}">
        <p14:creationId xmlns:p14="http://schemas.microsoft.com/office/powerpoint/2010/main" val="24592752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3">
            <a:extLst>
              <a:ext uri="{FF2B5EF4-FFF2-40B4-BE49-F238E27FC236}">
                <a16:creationId xmlns:a16="http://schemas.microsoft.com/office/drawing/2014/main" xmlns="" id="{2E7CFF1D-4628-454A-8E3A-7632D84A13A7}"/>
              </a:ext>
            </a:extLst>
          </p:cNvPr>
          <p:cNvSpPr>
            <a:spLocks noChangeArrowheads="1"/>
          </p:cNvSpPr>
          <p:nvPr/>
        </p:nvSpPr>
        <p:spPr bwMode="gray">
          <a:xfrm flipH="1">
            <a:off x="173132" y="59232"/>
            <a:ext cx="2426749" cy="649224"/>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35</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2F67C891-7A76-4BAB-A300-B54DFBDD987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5" name="AutoShape 10">
            <a:extLst>
              <a:ext uri="{FF2B5EF4-FFF2-40B4-BE49-F238E27FC236}">
                <a16:creationId xmlns:a16="http://schemas.microsoft.com/office/drawing/2014/main" xmlns="" id="{2A2EA850-A064-4A9D-9C26-C017D368DF1D}"/>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6" name="AutoShape 3">
            <a:extLst>
              <a:ext uri="{FF2B5EF4-FFF2-40B4-BE49-F238E27FC236}">
                <a16:creationId xmlns:a16="http://schemas.microsoft.com/office/drawing/2014/main" xmlns="" id="{B742D6B4-C2BA-456D-8EF1-01FC0D22E95C}"/>
              </a:ext>
            </a:extLst>
          </p:cNvPr>
          <p:cNvSpPr>
            <a:spLocks noChangeArrowheads="1"/>
          </p:cNvSpPr>
          <p:nvPr/>
        </p:nvSpPr>
        <p:spPr bwMode="gray">
          <a:xfrm flipH="1">
            <a:off x="4200083" y="65559"/>
            <a:ext cx="2056086"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A5531835-C6DF-4085-9BDC-A727B5CE3B64}"/>
              </a:ext>
            </a:extLst>
          </p:cNvPr>
          <p:cNvSpPr>
            <a:spLocks noChangeArrowheads="1"/>
          </p:cNvSpPr>
          <p:nvPr/>
        </p:nvSpPr>
        <p:spPr bwMode="gray">
          <a:xfrm flipH="1">
            <a:off x="2599881" y="59232"/>
            <a:ext cx="1600202" cy="649224"/>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51F10B5-E430-4BC2-858C-405C3B009988}"/>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A7FD763-7392-4FB3-B13F-EF9D935A7C24}"/>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0" name="Rectangle 39">
            <a:extLst>
              <a:ext uri="{FF2B5EF4-FFF2-40B4-BE49-F238E27FC236}">
                <a16:creationId xmlns:a16="http://schemas.microsoft.com/office/drawing/2014/main" xmlns="" id="{4E566E01-C2D9-408C-9484-C0EBBF4D2C3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1" name="Rectangle 40">
            <a:extLst>
              <a:ext uri="{FF2B5EF4-FFF2-40B4-BE49-F238E27FC236}">
                <a16:creationId xmlns:a16="http://schemas.microsoft.com/office/drawing/2014/main" xmlns="" id="{4574B186-F112-4A6C-ADFE-E46D302B236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2" name="Rectangle 1"/>
          <p:cNvSpPr/>
          <p:nvPr/>
        </p:nvSpPr>
        <p:spPr>
          <a:xfrm>
            <a:off x="163316" y="5325003"/>
            <a:ext cx="8869680" cy="338554"/>
          </a:xfrm>
          <a:prstGeom prst="rect">
            <a:avLst/>
          </a:prstGeom>
        </p:spPr>
        <p:txBody>
          <a:bodyPr wrap="square">
            <a:spAutoFit/>
          </a:bodyPr>
          <a:lstStyle/>
          <a:p>
            <a:pPr algn="ctr" rtl="1"/>
            <a:r>
              <a:rPr lang="fa-IR" sz="1600" dirty="0" smtClean="0">
                <a:latin typeface="Times New Roman" panose="02020603050405020304" pitchFamily="18" charset="0"/>
                <a:ea typeface="Times New Roman" panose="02020603050405020304" pitchFamily="18" charset="0"/>
                <a:cs typeface="B Nazanin" panose="00000400000000000000" pitchFamily="2" charset="-78"/>
              </a:rPr>
              <a:t>شکل</a:t>
            </a:r>
            <a:r>
              <a:rPr lang="ar-SA" sz="1600" dirty="0" smtClean="0">
                <a:latin typeface="Times New Roman" panose="02020603050405020304" pitchFamily="18" charset="0"/>
                <a:ea typeface="Times New Roman" panose="02020603050405020304" pitchFamily="18" charset="0"/>
                <a:cs typeface="B Nazanin" panose="00000400000000000000" pitchFamily="2" charset="-78"/>
              </a:rPr>
              <a:t> مقایسه‌ی </a:t>
            </a:r>
            <a:r>
              <a:rPr lang="ar-SA" sz="1600" dirty="0">
                <a:latin typeface="Times New Roman" panose="02020603050405020304" pitchFamily="18" charset="0"/>
                <a:ea typeface="Times New Roman" panose="02020603050405020304" pitchFamily="18" charset="0"/>
                <a:cs typeface="B Nazanin" panose="00000400000000000000" pitchFamily="2" charset="-78"/>
              </a:rPr>
              <a:t>خروجی در همسان‌ساز پیشنهادی با روش  </a:t>
            </a:r>
            <a:r>
              <a:rPr lang="en-US" sz="1600" dirty="0">
                <a:latin typeface="Times New Roman" panose="02020603050405020304" pitchFamily="18" charset="0"/>
                <a:ea typeface="Times New Roman" panose="02020603050405020304" pitchFamily="18" charset="0"/>
                <a:cs typeface="B Nazanin" panose="00000400000000000000" pitchFamily="2" charset="-78"/>
              </a:rPr>
              <a:t>FLC [71]</a:t>
            </a:r>
            <a:endParaRPr lang="en-US" sz="1600" dirty="0"/>
          </a:p>
        </p:txBody>
      </p:sp>
      <p:sp>
        <p:nvSpPr>
          <p:cNvPr id="19" name="Rectangle 18"/>
          <p:cNvSpPr/>
          <p:nvPr/>
        </p:nvSpPr>
        <p:spPr>
          <a:xfrm>
            <a:off x="173132" y="815330"/>
            <a:ext cx="700378" cy="369332"/>
          </a:xfrm>
          <a:prstGeom prst="rect">
            <a:avLst/>
          </a:prstGeom>
        </p:spPr>
        <p:txBody>
          <a:bodyPr wrap="square">
            <a:spAutoFit/>
          </a:bodyPr>
          <a:lstStyle/>
          <a:p>
            <a:pPr algn="ctr" rtl="1"/>
            <a:r>
              <a:rPr lang="fa-IR" dirty="0" smtClean="0">
                <a:latin typeface="Times New Roman" panose="02020603050405020304" pitchFamily="18" charset="0"/>
                <a:cs typeface="B Nazanin" panose="00000400000000000000" pitchFamily="2" charset="-78"/>
              </a:rPr>
              <a:t>مقایسه</a:t>
            </a:r>
            <a:endParaRPr lang="en-US" dirty="0"/>
          </a:p>
        </p:txBody>
      </p:sp>
      <p:pic>
        <p:nvPicPr>
          <p:cNvPr id="16" name="Picture 15"/>
          <p:cNvPicPr/>
          <p:nvPr/>
        </p:nvPicPr>
        <p:blipFill rotWithShape="1">
          <a:blip r:embed="rId4" cstate="print">
            <a:extLst>
              <a:ext uri="{28A0092B-C50C-407E-A947-70E740481C1C}">
                <a14:useLocalDpi xmlns:a14="http://schemas.microsoft.com/office/drawing/2010/main" val="0"/>
              </a:ext>
            </a:extLst>
          </a:blip>
          <a:srcRect l="8572" t="-768" r="7131" b="768"/>
          <a:stretch/>
        </p:blipFill>
        <p:spPr bwMode="auto">
          <a:xfrm>
            <a:off x="163316" y="2438400"/>
            <a:ext cx="4495800" cy="2808605"/>
          </a:xfrm>
          <a:prstGeom prst="rect">
            <a:avLst/>
          </a:prstGeom>
          <a:noFill/>
          <a:ln>
            <a:noFill/>
          </a:ln>
        </p:spPr>
      </p:pic>
      <p:pic>
        <p:nvPicPr>
          <p:cNvPr id="17" name="Picture 16"/>
          <p:cNvPicPr/>
          <p:nvPr/>
        </p:nvPicPr>
        <p:blipFill>
          <a:blip r:embed="rId5"/>
          <a:stretch>
            <a:fillRect/>
          </a:stretch>
        </p:blipFill>
        <p:spPr>
          <a:xfrm>
            <a:off x="4724400" y="2219325"/>
            <a:ext cx="4308596" cy="3027680"/>
          </a:xfrm>
          <a:prstGeom prst="rect">
            <a:avLst/>
          </a:prstGeom>
        </p:spPr>
      </p:pic>
    </p:spTree>
    <p:extLst>
      <p:ext uri="{BB962C8B-B14F-4D97-AF65-F5344CB8AC3E}">
        <p14:creationId xmlns:p14="http://schemas.microsoft.com/office/powerpoint/2010/main" val="25185017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8">
            <a:extLst>
              <a:ext uri="{FF2B5EF4-FFF2-40B4-BE49-F238E27FC236}">
                <a16:creationId xmlns:a16="http://schemas.microsoft.com/office/drawing/2014/main" xmlns="" id="{2F35A0BE-ACAE-464F-966C-4598FD947DFB}"/>
              </a:ext>
            </a:extLst>
          </p:cNvPr>
          <p:cNvSpPr>
            <a:spLocks noChangeArrowheads="1"/>
          </p:cNvSpPr>
          <p:nvPr/>
        </p:nvSpPr>
        <p:spPr bwMode="gray">
          <a:xfrm>
            <a:off x="4208971" y="4041816"/>
            <a:ext cx="2496312"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انتقال غیر</a:t>
            </a:r>
            <a:r>
              <a:rPr lang="en-US" b="1" dirty="0">
                <a:cs typeface="B Nazanin" panose="00000400000000000000" pitchFamily="2" charset="-78"/>
              </a:rPr>
              <a:t> </a:t>
            </a:r>
            <a:r>
              <a:rPr lang="fa-IR" b="1" dirty="0">
                <a:cs typeface="B Nazanin" panose="00000400000000000000" pitchFamily="2" charset="-78"/>
              </a:rPr>
              <a:t>مجاور</a:t>
            </a:r>
            <a:endParaRPr lang="en-US" b="1" dirty="0">
              <a:solidFill>
                <a:srgbClr val="000000"/>
              </a:solidFill>
              <a:latin typeface="Times New Roman" panose="02020603050405020304" pitchFamily="18" charset="0"/>
              <a:cs typeface="B Nazanin" pitchFamily="2" charset="-78"/>
            </a:endParaRPr>
          </a:p>
        </p:txBody>
      </p:sp>
      <p:sp>
        <p:nvSpPr>
          <p:cNvPr id="131" name="AutoShape 8">
            <a:extLst>
              <a:ext uri="{FF2B5EF4-FFF2-40B4-BE49-F238E27FC236}">
                <a16:creationId xmlns:a16="http://schemas.microsoft.com/office/drawing/2014/main" xmlns="" id="{1D001561-C43A-44D9-81F9-A023B7BC3B1F}"/>
              </a:ext>
            </a:extLst>
          </p:cNvPr>
          <p:cNvSpPr>
            <a:spLocks noChangeArrowheads="1"/>
          </p:cNvSpPr>
          <p:nvPr/>
        </p:nvSpPr>
        <p:spPr bwMode="gray">
          <a:xfrm>
            <a:off x="4577930" y="2727042"/>
            <a:ext cx="2496312" cy="512064"/>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انتقال مجاور</a:t>
            </a:r>
            <a:endParaRPr lang="en-US" b="1" dirty="0">
              <a:solidFill>
                <a:srgbClr val="000000"/>
              </a:solidFill>
              <a:latin typeface="Times New Roman" panose="02020603050405020304" pitchFamily="18" charset="0"/>
              <a:cs typeface="B Nazanin" pitchFamily="2" charset="-78"/>
            </a:endParaRPr>
          </a:p>
        </p:txBody>
      </p:sp>
      <p:sp>
        <p:nvSpPr>
          <p:cNvPr id="139" name="AutoShape 8">
            <a:extLst>
              <a:ext uri="{FF2B5EF4-FFF2-40B4-BE49-F238E27FC236}">
                <a16:creationId xmlns:a16="http://schemas.microsoft.com/office/drawing/2014/main" xmlns="" id="{AD67BECF-64ED-4C10-BDF8-B54A15D16C17}"/>
              </a:ext>
            </a:extLst>
          </p:cNvPr>
          <p:cNvSpPr>
            <a:spLocks noChangeAspect="1" noChangeArrowheads="1"/>
          </p:cNvSpPr>
          <p:nvPr/>
        </p:nvSpPr>
        <p:spPr bwMode="gray">
          <a:xfrm>
            <a:off x="4595159" y="5378530"/>
            <a:ext cx="249967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انتقال سلول به سلول</a:t>
            </a:r>
            <a:endParaRPr lang="en-US" b="1" dirty="0">
              <a:solidFill>
                <a:srgbClr val="000000"/>
              </a:solidFill>
              <a:latin typeface="Times New Roman" panose="02020603050405020304" pitchFamily="18" charset="0"/>
              <a:cs typeface="B Nazanin" pitchFamily="2" charset="-78"/>
            </a:endParaRPr>
          </a:p>
        </p:txBody>
      </p:sp>
      <p:sp>
        <p:nvSpPr>
          <p:cNvPr id="148"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36</a:t>
            </a:fld>
            <a:endParaRPr lang="fa-IR" sz="1800" dirty="0">
              <a:solidFill>
                <a:schemeClr val="tx1"/>
              </a:solidFill>
              <a:cs typeface="B Lotus" panose="00000400000000000000" pitchFamily="2" charset="-78"/>
            </a:endParaRPr>
          </a:p>
        </p:txBody>
      </p:sp>
      <p:pic>
        <p:nvPicPr>
          <p:cNvPr id="149" name="Picture 148">
            <a:extLst>
              <a:ext uri="{FF2B5EF4-FFF2-40B4-BE49-F238E27FC236}">
                <a16:creationId xmlns:a16="http://schemas.microsoft.com/office/drawing/2014/main" xmlns="" id="{E448CBB6-205F-4A19-B760-D7DB914CD91E}"/>
              </a:ext>
            </a:extLst>
          </p:cNvPr>
          <p:cNvPicPr>
            <a:picLocks noChangeAspect="1"/>
          </p:cNvPicPr>
          <p:nvPr/>
        </p:nvPicPr>
        <p:blipFill>
          <a:blip r:embed="rId3"/>
          <a:stretch>
            <a:fillRect/>
          </a:stretch>
        </p:blipFill>
        <p:spPr>
          <a:xfrm>
            <a:off x="408982" y="923807"/>
            <a:ext cx="1676480" cy="1122389"/>
          </a:xfrm>
          <a:prstGeom prst="rect">
            <a:avLst/>
          </a:prstGeom>
        </p:spPr>
      </p:pic>
      <p:sp>
        <p:nvSpPr>
          <p:cNvPr id="182"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228" y="1783192"/>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83"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7876" y="2218960"/>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85" name="TextBox 184">
            <a:extLst>
              <a:ext uri="{FF2B5EF4-FFF2-40B4-BE49-F238E27FC236}">
                <a16:creationId xmlns:a16="http://schemas.microsoft.com/office/drawing/2014/main" xmlns="" id="{F43469DC-7F5B-471E-BD74-ED709E621F63}"/>
              </a:ext>
            </a:extLst>
          </p:cNvPr>
          <p:cNvSpPr txBox="1"/>
          <p:nvPr/>
        </p:nvSpPr>
        <p:spPr>
          <a:xfrm>
            <a:off x="5139383" y="2092656"/>
            <a:ext cx="2392001" cy="369332"/>
          </a:xfrm>
          <a:prstGeom prst="rect">
            <a:avLst/>
          </a:prstGeom>
          <a:noFill/>
        </p:spPr>
        <p:txBody>
          <a:bodyPr wrap="none" rtlCol="0">
            <a:spAutoFit/>
          </a:bodyPr>
          <a:lstStyle/>
          <a:p>
            <a:pPr algn="r" rtl="1"/>
            <a:r>
              <a:rPr lang="fa-IR" b="1" dirty="0">
                <a:cs typeface="B Nazanin" panose="00000400000000000000" pitchFamily="2" charset="-78"/>
              </a:rPr>
              <a:t>توپولوژی های همسان سازی</a:t>
            </a:r>
          </a:p>
        </p:txBody>
      </p:sp>
      <p:grpSp>
        <p:nvGrpSpPr>
          <p:cNvPr id="187"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7028955" y="2792456"/>
            <a:ext cx="381000" cy="381000"/>
            <a:chOff x="2078" y="1680"/>
            <a:chExt cx="1615" cy="1615"/>
          </a:xfrm>
        </p:grpSpPr>
        <p:sp>
          <p:nvSpPr>
            <p:cNvPr id="188"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89"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90"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91"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92"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93"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197" name="Group 23">
            <a:extLst>
              <a:ext uri="{FF2B5EF4-FFF2-40B4-BE49-F238E27FC236}">
                <a16:creationId xmlns:a16="http://schemas.microsoft.com/office/drawing/2014/main" xmlns="" id="{480CFC9E-AE3C-48F6-BC4D-4934E415B67E}"/>
              </a:ext>
            </a:extLst>
          </p:cNvPr>
          <p:cNvGrpSpPr>
            <a:grpSpLocks noChangeAspect="1"/>
          </p:cNvGrpSpPr>
          <p:nvPr/>
        </p:nvGrpSpPr>
        <p:grpSpPr bwMode="auto">
          <a:xfrm>
            <a:off x="6644181" y="4105317"/>
            <a:ext cx="381000" cy="381000"/>
            <a:chOff x="2078" y="1680"/>
            <a:chExt cx="1615" cy="1615"/>
          </a:xfrm>
        </p:grpSpPr>
        <p:sp>
          <p:nvSpPr>
            <p:cNvPr id="198" name="Oval 24">
              <a:extLst>
                <a:ext uri="{FF2B5EF4-FFF2-40B4-BE49-F238E27FC236}">
                  <a16:creationId xmlns:a16="http://schemas.microsoft.com/office/drawing/2014/main" xmlns="" id="{CACFC30A-9877-4806-9B4C-587ACE15034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99" name="Oval 25">
              <a:extLst>
                <a:ext uri="{FF2B5EF4-FFF2-40B4-BE49-F238E27FC236}">
                  <a16:creationId xmlns:a16="http://schemas.microsoft.com/office/drawing/2014/main" xmlns="" id="{640C1602-143A-456B-BA22-7664A3DEFFCF}"/>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0" name="Oval 26">
              <a:extLst>
                <a:ext uri="{FF2B5EF4-FFF2-40B4-BE49-F238E27FC236}">
                  <a16:creationId xmlns:a16="http://schemas.microsoft.com/office/drawing/2014/main" xmlns="" id="{53792F8F-0D9C-4345-A703-F034640FA7A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1" name="Oval 27">
              <a:extLst>
                <a:ext uri="{FF2B5EF4-FFF2-40B4-BE49-F238E27FC236}">
                  <a16:creationId xmlns:a16="http://schemas.microsoft.com/office/drawing/2014/main" xmlns="" id="{B29790E8-4F4B-4579-8A6B-FE3F9B0CAEF2}"/>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2" name="Oval 28">
              <a:extLst>
                <a:ext uri="{FF2B5EF4-FFF2-40B4-BE49-F238E27FC236}">
                  <a16:creationId xmlns:a16="http://schemas.microsoft.com/office/drawing/2014/main" xmlns="" id="{358C33BB-071D-4F24-839E-CC9C393EF0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3" name="Oval 29">
              <a:extLst>
                <a:ext uri="{FF2B5EF4-FFF2-40B4-BE49-F238E27FC236}">
                  <a16:creationId xmlns:a16="http://schemas.microsoft.com/office/drawing/2014/main" xmlns="" id="{4E06C84A-1EFC-44EA-B29A-11ED722DE85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204" name="Group 23">
            <a:extLst>
              <a:ext uri="{FF2B5EF4-FFF2-40B4-BE49-F238E27FC236}">
                <a16:creationId xmlns:a16="http://schemas.microsoft.com/office/drawing/2014/main" xmlns="" id="{DBD88F74-281E-49A6-BC26-B30CBBAE64C9}"/>
              </a:ext>
            </a:extLst>
          </p:cNvPr>
          <p:cNvGrpSpPr>
            <a:grpSpLocks noChangeAspect="1"/>
          </p:cNvGrpSpPr>
          <p:nvPr/>
        </p:nvGrpSpPr>
        <p:grpSpPr bwMode="auto">
          <a:xfrm>
            <a:off x="7050659" y="5431096"/>
            <a:ext cx="381000" cy="381000"/>
            <a:chOff x="2078" y="1680"/>
            <a:chExt cx="1615" cy="1615"/>
          </a:xfrm>
        </p:grpSpPr>
        <p:sp>
          <p:nvSpPr>
            <p:cNvPr id="205" name="Oval 24">
              <a:extLst>
                <a:ext uri="{FF2B5EF4-FFF2-40B4-BE49-F238E27FC236}">
                  <a16:creationId xmlns:a16="http://schemas.microsoft.com/office/drawing/2014/main" xmlns="" id="{8B6A68AB-47EE-4BEB-9563-FC726BE4E43A}"/>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6" name="Oval 25">
              <a:extLst>
                <a:ext uri="{FF2B5EF4-FFF2-40B4-BE49-F238E27FC236}">
                  <a16:creationId xmlns:a16="http://schemas.microsoft.com/office/drawing/2014/main" xmlns="" id="{004826CD-E5CF-47B8-BD5C-D81E5D353CD7}"/>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7" name="Oval 26">
              <a:extLst>
                <a:ext uri="{FF2B5EF4-FFF2-40B4-BE49-F238E27FC236}">
                  <a16:creationId xmlns:a16="http://schemas.microsoft.com/office/drawing/2014/main" xmlns="" id="{3B71C91A-95B1-48A6-8F6E-2BCE30BA506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8" name="Oval 27">
              <a:extLst>
                <a:ext uri="{FF2B5EF4-FFF2-40B4-BE49-F238E27FC236}">
                  <a16:creationId xmlns:a16="http://schemas.microsoft.com/office/drawing/2014/main" xmlns="" id="{4B68C4BF-098A-4123-BB53-98CECA7F4A81}"/>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09" name="Oval 28">
              <a:extLst>
                <a:ext uri="{FF2B5EF4-FFF2-40B4-BE49-F238E27FC236}">
                  <a16:creationId xmlns:a16="http://schemas.microsoft.com/office/drawing/2014/main" xmlns="" id="{3C5FE447-2DEF-4C03-AA66-D8D7E4B6E8E3}"/>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10" name="Oval 29">
              <a:extLst>
                <a:ext uri="{FF2B5EF4-FFF2-40B4-BE49-F238E27FC236}">
                  <a16:creationId xmlns:a16="http://schemas.microsoft.com/office/drawing/2014/main" xmlns="" id="{A8ADD6E4-DB30-4BEC-98B9-1D2EAA799DA1}"/>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1"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42" name="Picture 41"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3"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44"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45"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6"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7" name="Rectangle 46">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48" name="Rectangle 47">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9" name="Rectangle 48">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50" name="Rectangle 49">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2061254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3">
            <a:extLst>
              <a:ext uri="{28A0092B-C50C-407E-A947-70E740481C1C}">
                <a14:useLocalDpi xmlns:a14="http://schemas.microsoft.com/office/drawing/2010/main" val="0"/>
              </a:ext>
            </a:extLst>
          </a:blip>
          <a:stretch>
            <a:fillRect/>
          </a:stretch>
        </p:blipFill>
        <p:spPr bwMode="auto">
          <a:xfrm>
            <a:off x="304800" y="2050503"/>
            <a:ext cx="8683490" cy="4057300"/>
          </a:xfrm>
          <a:prstGeom prst="rect">
            <a:avLst/>
          </a:prstGeom>
          <a:noFill/>
          <a:ln>
            <a:noFill/>
          </a:ln>
        </p:spPr>
      </p:pic>
      <p:sp>
        <p:nvSpPr>
          <p:cNvPr id="44" name="Rectangle 43"/>
          <p:cNvSpPr/>
          <p:nvPr/>
        </p:nvSpPr>
        <p:spPr>
          <a:xfrm>
            <a:off x="2221390" y="6172200"/>
            <a:ext cx="3988592"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cs typeface="B Lotus" panose="00000400000000000000" pitchFamily="2" charset="-78"/>
              </a:rPr>
              <a:t>شماتیک دیاگرام همسان سازی ماژولار سلول به سلول.</a:t>
            </a:r>
            <a:endParaRPr lang="en-US" dirty="0">
              <a:latin typeface="Times New Roman" panose="02020603050405020304" pitchFamily="18" charset="0"/>
              <a:cs typeface="B Lotus" panose="00000400000000000000" pitchFamily="2" charset="-78"/>
            </a:endParaRPr>
          </a:p>
        </p:txBody>
      </p:sp>
      <p:sp>
        <p:nvSpPr>
          <p:cNvPr id="45" name="TextBox 44">
            <a:extLst>
              <a:ext uri="{FF2B5EF4-FFF2-40B4-BE49-F238E27FC236}">
                <a16:creationId xmlns:a16="http://schemas.microsoft.com/office/drawing/2014/main" xmlns="" id="{F43469DC-7F5B-471E-BD74-ED709E621F63}"/>
              </a:ext>
            </a:extLst>
          </p:cNvPr>
          <p:cNvSpPr txBox="1"/>
          <p:nvPr/>
        </p:nvSpPr>
        <p:spPr>
          <a:xfrm>
            <a:off x="7741141" y="1726687"/>
            <a:ext cx="1151276" cy="369332"/>
          </a:xfrm>
          <a:prstGeom prst="rect">
            <a:avLst/>
          </a:prstGeom>
          <a:noFill/>
        </p:spPr>
        <p:txBody>
          <a:bodyPr wrap="none" rtlCol="0">
            <a:spAutoFit/>
          </a:bodyPr>
          <a:lstStyle/>
          <a:p>
            <a:pPr algn="r" rtl="1"/>
            <a:r>
              <a:rPr lang="fa-IR" b="1" dirty="0">
                <a:cs typeface="B Nazanin" panose="00000400000000000000" pitchFamily="2" charset="-78"/>
              </a:rPr>
              <a:t>انتقال مجاور</a:t>
            </a:r>
          </a:p>
        </p:txBody>
      </p:sp>
      <p:sp>
        <p:nvSpPr>
          <p:cNvPr id="1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37</a:t>
            </a:fld>
            <a:endParaRPr lang="fa-IR" sz="1800" dirty="0">
              <a:solidFill>
                <a:schemeClr val="tx1"/>
              </a:solidFill>
              <a:cs typeface="B Lotus" panose="00000400000000000000" pitchFamily="2" charset="-78"/>
            </a:endParaRPr>
          </a:p>
        </p:txBody>
      </p:sp>
      <p:sp>
        <p:nvSpPr>
          <p:cNvPr id="20"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21" name="Picture 20"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2"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23"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0"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4"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5" name="Rectangle 34">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6" name="Rectangle 35">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37" name="Rectangle 36">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38" name="Rectangle 37">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33528424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3">
            <a:extLst>
              <a:ext uri="{28A0092B-C50C-407E-A947-70E740481C1C}">
                <a14:useLocalDpi xmlns:a14="http://schemas.microsoft.com/office/drawing/2010/main" val="0"/>
              </a:ext>
            </a:extLst>
          </a:blip>
          <a:stretch>
            <a:fillRect/>
          </a:stretch>
        </p:blipFill>
        <p:spPr bwMode="auto">
          <a:xfrm>
            <a:off x="640257" y="2054475"/>
            <a:ext cx="7778650" cy="4296544"/>
          </a:xfrm>
          <a:prstGeom prst="rect">
            <a:avLst/>
          </a:prstGeom>
          <a:noFill/>
          <a:ln>
            <a:noFill/>
          </a:ln>
        </p:spPr>
      </p:pic>
      <p:sp>
        <p:nvSpPr>
          <p:cNvPr id="34" name="TextBox 33">
            <a:extLst>
              <a:ext uri="{FF2B5EF4-FFF2-40B4-BE49-F238E27FC236}">
                <a16:creationId xmlns:a16="http://schemas.microsoft.com/office/drawing/2014/main" xmlns="" id="{F43469DC-7F5B-471E-BD74-ED709E621F63}"/>
              </a:ext>
            </a:extLst>
          </p:cNvPr>
          <p:cNvSpPr txBox="1"/>
          <p:nvPr/>
        </p:nvSpPr>
        <p:spPr>
          <a:xfrm>
            <a:off x="7404509" y="1726687"/>
            <a:ext cx="1487908" cy="369332"/>
          </a:xfrm>
          <a:prstGeom prst="rect">
            <a:avLst/>
          </a:prstGeom>
          <a:noFill/>
        </p:spPr>
        <p:txBody>
          <a:bodyPr wrap="none" rtlCol="0">
            <a:spAutoFit/>
          </a:bodyPr>
          <a:lstStyle/>
          <a:p>
            <a:pPr algn="r" rtl="1"/>
            <a:r>
              <a:rPr lang="fa-IR" b="1" dirty="0">
                <a:cs typeface="B Nazanin" panose="00000400000000000000" pitchFamily="2" charset="-78"/>
              </a:rPr>
              <a:t>انتقال غیر مجاور</a:t>
            </a:r>
          </a:p>
        </p:txBody>
      </p:sp>
      <p:sp>
        <p:nvSpPr>
          <p:cNvPr id="35" name="Rectangle 34"/>
          <p:cNvSpPr/>
          <p:nvPr/>
        </p:nvSpPr>
        <p:spPr>
          <a:xfrm>
            <a:off x="2812605" y="6351019"/>
            <a:ext cx="3820277" cy="369332"/>
          </a:xfrm>
          <a:prstGeom prst="rect">
            <a:avLst/>
          </a:prstGeom>
        </p:spPr>
        <p:txBody>
          <a:bodyPr wrap="none">
            <a:spAutoFit/>
          </a:bodyPr>
          <a:lstStyle/>
          <a:p>
            <a:pPr algn="r" rtl="1" fontAlgn="base">
              <a:spcBef>
                <a:spcPct val="0"/>
              </a:spcBef>
              <a:spcAft>
                <a:spcPct val="0"/>
              </a:spcAft>
            </a:pPr>
            <a:r>
              <a:rPr lang="fa-IR" dirty="0">
                <a:latin typeface="Times New Roman" panose="02020603050405020304" pitchFamily="18" charset="0"/>
                <a:ea typeface="Calibri" panose="020F0502020204030204" pitchFamily="34" charset="0"/>
                <a:cs typeface="B Lotus" panose="00000400000000000000" pitchFamily="2" charset="-78"/>
              </a:rPr>
              <a:t>شماتیک دیاگرام همسان سازی سلول و پک ماژولار.</a:t>
            </a:r>
            <a:endParaRPr lang="en-US" b="1" dirty="0">
              <a:solidFill>
                <a:srgbClr val="000000"/>
              </a:solidFill>
              <a:latin typeface="Times New Roman" panose="02020603050405020304" pitchFamily="18" charset="0"/>
              <a:cs typeface="B Nazanin" pitchFamily="2" charset="-78"/>
            </a:endParaRPr>
          </a:p>
        </p:txBody>
      </p:sp>
      <p:sp>
        <p:nvSpPr>
          <p:cNvPr id="20"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38</a:t>
            </a:fld>
            <a:endParaRPr lang="fa-IR" sz="1800" dirty="0">
              <a:solidFill>
                <a:schemeClr val="tx1"/>
              </a:solidFill>
              <a:cs typeface="B Lotus" panose="00000400000000000000" pitchFamily="2" charset="-78"/>
            </a:endParaRPr>
          </a:p>
        </p:txBody>
      </p:sp>
      <p:sp>
        <p:nvSpPr>
          <p:cNvPr id="41"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42" name="Picture 41"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3"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44"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45"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6"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7" name="Rectangle 46">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48" name="Rectangle 47">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9" name="Rectangle 48">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50" name="Rectangle 49">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15997679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xmlns="" id="{F43469DC-7F5B-471E-BD74-ED709E621F63}"/>
              </a:ext>
            </a:extLst>
          </p:cNvPr>
          <p:cNvSpPr txBox="1"/>
          <p:nvPr/>
        </p:nvSpPr>
        <p:spPr>
          <a:xfrm>
            <a:off x="7055055" y="1726687"/>
            <a:ext cx="1837362" cy="369332"/>
          </a:xfrm>
          <a:prstGeom prst="rect">
            <a:avLst/>
          </a:prstGeom>
          <a:noFill/>
        </p:spPr>
        <p:txBody>
          <a:bodyPr wrap="none" rtlCol="0">
            <a:spAutoFit/>
          </a:bodyPr>
          <a:lstStyle/>
          <a:p>
            <a:pPr algn="r" rtl="1"/>
            <a:r>
              <a:rPr lang="fa-IR" b="1" dirty="0">
                <a:cs typeface="B Nazanin" panose="00000400000000000000" pitchFamily="2" charset="-78"/>
              </a:rPr>
              <a:t>انتقال سلول به سلول</a:t>
            </a:r>
          </a:p>
        </p:txBody>
      </p:sp>
      <p:sp>
        <p:nvSpPr>
          <p:cNvPr id="1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39</a:t>
            </a:fld>
            <a:endParaRPr lang="fa-IR" sz="1800" dirty="0">
              <a:solidFill>
                <a:schemeClr val="tx1"/>
              </a:solidFill>
              <a:cs typeface="B Lotus" panose="00000400000000000000" pitchFamily="2" charset="-78"/>
            </a:endParaRPr>
          </a:p>
        </p:txBody>
      </p:sp>
      <p:pic>
        <p:nvPicPr>
          <p:cNvPr id="21" name="Picture 20"/>
          <p:cNvPicPr/>
          <p:nvPr/>
        </p:nvPicPr>
        <p:blipFill>
          <a:blip r:embed="rId3">
            <a:extLst>
              <a:ext uri="{28A0092B-C50C-407E-A947-70E740481C1C}">
                <a14:useLocalDpi xmlns:a14="http://schemas.microsoft.com/office/drawing/2010/main" val="0"/>
              </a:ext>
            </a:extLst>
          </a:blip>
          <a:stretch>
            <a:fillRect/>
          </a:stretch>
        </p:blipFill>
        <p:spPr bwMode="auto">
          <a:xfrm>
            <a:off x="567182" y="2108678"/>
            <a:ext cx="7924800" cy="3916079"/>
          </a:xfrm>
          <a:prstGeom prst="rect">
            <a:avLst/>
          </a:prstGeom>
          <a:noFill/>
          <a:ln>
            <a:noFill/>
          </a:ln>
        </p:spPr>
      </p:pic>
      <p:sp>
        <p:nvSpPr>
          <p:cNvPr id="22" name="Rectangle 21"/>
          <p:cNvSpPr/>
          <p:nvPr/>
        </p:nvSpPr>
        <p:spPr>
          <a:xfrm>
            <a:off x="2455855" y="6154049"/>
            <a:ext cx="4011034"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ea typeface="Calibri" panose="020F0502020204030204" pitchFamily="34" charset="0"/>
                <a:cs typeface="B Lotus" panose="00000400000000000000" pitchFamily="2" charset="-78"/>
              </a:rPr>
              <a:t>شکل 7 </a:t>
            </a:r>
            <a:r>
              <a:rPr lang="fa-IR" dirty="0">
                <a:latin typeface="Times New Roman" panose="02020603050405020304" pitchFamily="18" charset="0"/>
                <a:cs typeface="B Lotus" panose="00000400000000000000" pitchFamily="2" charset="-78"/>
              </a:rPr>
              <a:t>شماتیک دیاگرام همسان سازی سلول به سلول.</a:t>
            </a:r>
            <a:endParaRPr lang="en-US" dirty="0">
              <a:latin typeface="Times New Roman" panose="02020603050405020304" pitchFamily="18" charset="0"/>
              <a:cs typeface="B Lotus" panose="00000400000000000000" pitchFamily="2" charset="-78"/>
            </a:endParaRPr>
          </a:p>
        </p:txBody>
      </p:sp>
      <p:sp>
        <p:nvSpPr>
          <p:cNvPr id="44"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45" name="Picture 44"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6"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47"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48"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9"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0" name="Rectangle 49">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51" name="Rectangle 50">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52" name="Rectangle 51">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53" name="Rectangle 52">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2122306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xmlns="" id="{90C43403-B77E-474E-A638-C5BD6540DB40}"/>
              </a:ext>
            </a:extLst>
          </p:cNvPr>
          <p:cNvSpPr txBox="1"/>
          <p:nvPr/>
        </p:nvSpPr>
        <p:spPr>
          <a:xfrm>
            <a:off x="-635497" y="2998200"/>
            <a:ext cx="65" cy="276999"/>
          </a:xfrm>
          <a:prstGeom prst="rect">
            <a:avLst/>
          </a:prstGeom>
          <a:noFill/>
        </p:spPr>
        <p:txBody>
          <a:bodyPr wrap="none" lIns="0" tIns="0" rIns="0" bIns="0" rtlCol="0">
            <a:spAutoFit/>
          </a:bodyPr>
          <a:lstStyle/>
          <a:p>
            <a:endParaRPr lang="en-US" dirty="0"/>
          </a:p>
        </p:txBody>
      </p:sp>
      <p:pic>
        <p:nvPicPr>
          <p:cNvPr id="5" name="Picture 4"/>
          <p:cNvPicPr>
            <a:picLocks noChangeAspect="1"/>
          </p:cNvPicPr>
          <p:nvPr/>
        </p:nvPicPr>
        <p:blipFill>
          <a:blip r:embed="rId3"/>
          <a:stretch>
            <a:fillRect/>
          </a:stretch>
        </p:blipFill>
        <p:spPr>
          <a:xfrm>
            <a:off x="148662" y="921845"/>
            <a:ext cx="1234508" cy="1234508"/>
          </a:xfrm>
          <a:prstGeom prst="rect">
            <a:avLst/>
          </a:prstGeom>
        </p:spPr>
      </p:pic>
      <p:sp>
        <p:nvSpPr>
          <p:cNvPr id="45"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228" y="1901826"/>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6"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7876" y="2337594"/>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8"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685800" y="2534512"/>
            <a:ext cx="6459816"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روشی نو برای همسان‌سازی باتری پک با اتصال سری بر مبنای تجزیه و تحلیل خوشه‌بندی</a:t>
            </a:r>
          </a:p>
          <a:p>
            <a:pPr algn="r" rtl="1" fontAlgn="base">
              <a:spcBef>
                <a:spcPct val="0"/>
              </a:spcBef>
              <a:spcAft>
                <a:spcPct val="0"/>
              </a:spcAft>
            </a:pPr>
            <a:r>
              <a:rPr lang="fa-IR" dirty="0">
                <a:cs typeface="B Lotus" panose="00000400000000000000" pitchFamily="2" charset="-78"/>
              </a:rPr>
              <a:t> همراه با الگوریتم ژنتیک</a:t>
            </a:r>
            <a:endParaRPr lang="en-US" dirty="0">
              <a:cs typeface="B Lotus" panose="00000400000000000000" pitchFamily="2" charset="-78"/>
            </a:endParaRPr>
          </a:p>
        </p:txBody>
      </p:sp>
      <p:grpSp>
        <p:nvGrpSpPr>
          <p:cNvPr id="49"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7102750" y="2610712"/>
            <a:ext cx="381000" cy="381000"/>
            <a:chOff x="2078" y="1680"/>
            <a:chExt cx="1615" cy="1615"/>
          </a:xfrm>
        </p:grpSpPr>
        <p:sp>
          <p:nvSpPr>
            <p:cNvPr id="50"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1"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2"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3"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4"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5"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6" name="TextBox 55">
            <a:extLst>
              <a:ext uri="{FF2B5EF4-FFF2-40B4-BE49-F238E27FC236}">
                <a16:creationId xmlns:a16="http://schemas.microsoft.com/office/drawing/2014/main" xmlns="" id="{90C43403-B77E-474E-A638-C5BD6540DB40}"/>
              </a:ext>
            </a:extLst>
          </p:cNvPr>
          <p:cNvSpPr txBox="1"/>
          <p:nvPr/>
        </p:nvSpPr>
        <p:spPr>
          <a:xfrm>
            <a:off x="2992949" y="3228549"/>
            <a:ext cx="65" cy="276999"/>
          </a:xfrm>
          <a:prstGeom prst="rect">
            <a:avLst/>
          </a:prstGeom>
          <a:noFill/>
        </p:spPr>
        <p:txBody>
          <a:bodyPr wrap="none" lIns="0" tIns="0" rIns="0" bIns="0" rtlCol="0">
            <a:spAutoFit/>
          </a:bodyPr>
          <a:lstStyle/>
          <a:p>
            <a:endParaRPr lang="en-US" dirty="0"/>
          </a:p>
        </p:txBody>
      </p:sp>
      <p:sp>
        <p:nvSpPr>
          <p:cNvPr id="57" name="AutoShape 8">
            <a:extLst>
              <a:ext uri="{FF2B5EF4-FFF2-40B4-BE49-F238E27FC236}">
                <a16:creationId xmlns:a16="http://schemas.microsoft.com/office/drawing/2014/main" xmlns="" id="{B5862EDC-452E-4DF3-BF8D-680DE0577504}"/>
              </a:ext>
            </a:extLst>
          </p:cNvPr>
          <p:cNvSpPr>
            <a:spLocks noChangeAspect="1" noChangeArrowheads="1"/>
          </p:cNvSpPr>
          <p:nvPr/>
        </p:nvSpPr>
        <p:spPr bwMode="gray">
          <a:xfrm>
            <a:off x="148662" y="3953150"/>
            <a:ext cx="6575687" cy="595352"/>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پژوهشی بر روی همسان ساز باتری پک </a:t>
            </a:r>
            <a:r>
              <a:rPr lang="fa-IR" dirty="0" err="1">
                <a:cs typeface="B Lotus" panose="00000400000000000000" pitchFamily="2" charset="-78"/>
              </a:rPr>
              <a:t>لیتیوم</a:t>
            </a:r>
            <a:r>
              <a:rPr lang="fa-IR" dirty="0">
                <a:cs typeface="B Lotus" panose="00000400000000000000" pitchFamily="2" charset="-78"/>
              </a:rPr>
              <a:t> </a:t>
            </a:r>
            <a:r>
              <a:rPr lang="fa-IR" dirty="0" err="1">
                <a:cs typeface="B Lotus" panose="00000400000000000000" pitchFamily="2" charset="-78"/>
              </a:rPr>
              <a:t>یونی</a:t>
            </a:r>
            <a:r>
              <a:rPr lang="fa-IR" dirty="0">
                <a:cs typeface="B Lotus" panose="00000400000000000000" pitchFamily="2" charset="-78"/>
              </a:rPr>
              <a:t> با دو مرحله ای بر مبنای</a:t>
            </a:r>
            <a:r>
              <a:rPr lang="en-US" dirty="0">
                <a:cs typeface="B Lotus" panose="00000400000000000000" pitchFamily="2" charset="-78"/>
              </a:rPr>
              <a:t/>
            </a:r>
            <a:br>
              <a:rPr lang="en-US" dirty="0">
                <a:cs typeface="B Lotus" panose="00000400000000000000" pitchFamily="2" charset="-78"/>
              </a:rPr>
            </a:br>
            <a:r>
              <a:rPr lang="fa-IR" dirty="0">
                <a:cs typeface="B Lotus" panose="00000400000000000000" pitchFamily="2" charset="-78"/>
              </a:rPr>
              <a:t> کنترل منطق </a:t>
            </a:r>
            <a:r>
              <a:rPr lang="fa-IR" dirty="0" err="1">
                <a:cs typeface="B Lotus" panose="00000400000000000000" pitchFamily="2" charset="-78"/>
              </a:rPr>
              <a:t>فازی</a:t>
            </a:r>
            <a:endParaRPr lang="en-US" dirty="0">
              <a:latin typeface="Times New Roman" panose="02020603050405020304" pitchFamily="18" charset="0"/>
              <a:cs typeface="Times New Roman" panose="02020603050405020304" pitchFamily="18" charset="0"/>
            </a:endParaRPr>
          </a:p>
        </p:txBody>
      </p:sp>
      <p:sp>
        <p:nvSpPr>
          <p:cNvPr id="58" name="AutoShape 8">
            <a:extLst>
              <a:ext uri="{FF2B5EF4-FFF2-40B4-BE49-F238E27FC236}">
                <a16:creationId xmlns:a16="http://schemas.microsoft.com/office/drawing/2014/main" xmlns="" id="{3B3A499C-E5A4-4F32-9CCC-AD714CA7AEF7}"/>
              </a:ext>
            </a:extLst>
          </p:cNvPr>
          <p:cNvSpPr>
            <a:spLocks noChangeAspect="1" noChangeArrowheads="1"/>
          </p:cNvSpPr>
          <p:nvPr/>
        </p:nvSpPr>
        <p:spPr bwMode="gray">
          <a:xfrm>
            <a:off x="777499" y="5459140"/>
            <a:ext cx="6383614" cy="654499"/>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روشی بهینه و سریع برای </a:t>
            </a:r>
            <a:r>
              <a:rPr lang="fa-IR" dirty="0" err="1">
                <a:cs typeface="B Lotus" panose="00000400000000000000" pitchFamily="2" charset="-78"/>
              </a:rPr>
              <a:t>همسان‌سازی</a:t>
            </a:r>
            <a:r>
              <a:rPr lang="fa-IR" dirty="0">
                <a:cs typeface="B Lotus" panose="00000400000000000000" pitchFamily="2" charset="-78"/>
              </a:rPr>
              <a:t> فعال پک باتری مستهلک با استفاده از مبدل ولتاژ</a:t>
            </a:r>
            <a:r>
              <a:rPr lang="en-US" dirty="0">
                <a:cs typeface="B Lotus" panose="00000400000000000000" pitchFamily="2" charset="-78"/>
              </a:rPr>
              <a:t/>
            </a:r>
            <a:br>
              <a:rPr lang="en-US" dirty="0">
                <a:cs typeface="B Lotus" panose="00000400000000000000" pitchFamily="2" charset="-78"/>
              </a:rPr>
            </a:br>
            <a:r>
              <a:rPr lang="fa-IR" dirty="0">
                <a:cs typeface="B Lotus" panose="00000400000000000000" pitchFamily="2" charset="-78"/>
              </a:rPr>
              <a:t> دوطرفه با دامنه ولتاژ کاری وسیع و </a:t>
            </a:r>
            <a:r>
              <a:rPr lang="fa-IR" dirty="0" err="1">
                <a:cs typeface="B Lotus" panose="00000400000000000000" pitchFamily="2" charset="-78"/>
              </a:rPr>
              <a:t>الگوریتم</a:t>
            </a:r>
            <a:r>
              <a:rPr lang="fa-IR" dirty="0">
                <a:cs typeface="B Lotus" panose="00000400000000000000" pitchFamily="2" charset="-78"/>
              </a:rPr>
              <a:t> </a:t>
            </a:r>
            <a:r>
              <a:rPr lang="fa-IR" dirty="0" err="1">
                <a:cs typeface="B Lotus" panose="00000400000000000000" pitchFamily="2" charset="-78"/>
              </a:rPr>
              <a:t>خوشه‌بندی</a:t>
            </a:r>
            <a:r>
              <a:rPr lang="fa-IR" dirty="0">
                <a:cs typeface="B Lotus" panose="00000400000000000000" pitchFamily="2" charset="-78"/>
              </a:rPr>
              <a:t> </a:t>
            </a:r>
            <a:r>
              <a:rPr lang="en-US" i="1" dirty="0">
                <a:latin typeface="Times New Roman" panose="02020603050405020304" pitchFamily="18" charset="0"/>
                <a:cs typeface="Times New Roman" panose="02020603050405020304" pitchFamily="18" charset="0"/>
              </a:rPr>
              <a:t>DBSCAN</a:t>
            </a:r>
            <a:endParaRPr lang="en-US" dirty="0">
              <a:latin typeface="Times New Roman" panose="02020603050405020304" pitchFamily="18" charset="0"/>
              <a:cs typeface="Times New Roman" panose="02020603050405020304" pitchFamily="18" charset="0"/>
            </a:endParaRPr>
          </a:p>
        </p:txBody>
      </p:sp>
      <p:grpSp>
        <p:nvGrpSpPr>
          <p:cNvPr id="59" name="Group 23">
            <a:extLst>
              <a:ext uri="{FF2B5EF4-FFF2-40B4-BE49-F238E27FC236}">
                <a16:creationId xmlns:a16="http://schemas.microsoft.com/office/drawing/2014/main" xmlns="" id="{480CFC9E-AE3C-48F6-BC4D-4934E415B67E}"/>
              </a:ext>
            </a:extLst>
          </p:cNvPr>
          <p:cNvGrpSpPr>
            <a:grpSpLocks noChangeAspect="1"/>
          </p:cNvGrpSpPr>
          <p:nvPr/>
        </p:nvGrpSpPr>
        <p:grpSpPr bwMode="auto">
          <a:xfrm>
            <a:off x="6629139" y="4057157"/>
            <a:ext cx="381000" cy="381000"/>
            <a:chOff x="2078" y="1680"/>
            <a:chExt cx="1615" cy="1615"/>
          </a:xfrm>
        </p:grpSpPr>
        <p:sp>
          <p:nvSpPr>
            <p:cNvPr id="60" name="Oval 24">
              <a:extLst>
                <a:ext uri="{FF2B5EF4-FFF2-40B4-BE49-F238E27FC236}">
                  <a16:creationId xmlns:a16="http://schemas.microsoft.com/office/drawing/2014/main" xmlns="" id="{CACFC30A-9877-4806-9B4C-587ACE15034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1" name="Oval 25">
              <a:extLst>
                <a:ext uri="{FF2B5EF4-FFF2-40B4-BE49-F238E27FC236}">
                  <a16:creationId xmlns:a16="http://schemas.microsoft.com/office/drawing/2014/main" xmlns="" id="{640C1602-143A-456B-BA22-7664A3DEFFCF}"/>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2" name="Oval 26">
              <a:extLst>
                <a:ext uri="{FF2B5EF4-FFF2-40B4-BE49-F238E27FC236}">
                  <a16:creationId xmlns:a16="http://schemas.microsoft.com/office/drawing/2014/main" xmlns="" id="{53792F8F-0D9C-4345-A703-F034640FA7A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3" name="Oval 27">
              <a:extLst>
                <a:ext uri="{FF2B5EF4-FFF2-40B4-BE49-F238E27FC236}">
                  <a16:creationId xmlns:a16="http://schemas.microsoft.com/office/drawing/2014/main" xmlns="" id="{B29790E8-4F4B-4579-8A6B-FE3F9B0CAEF2}"/>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4" name="Oval 28">
              <a:extLst>
                <a:ext uri="{FF2B5EF4-FFF2-40B4-BE49-F238E27FC236}">
                  <a16:creationId xmlns:a16="http://schemas.microsoft.com/office/drawing/2014/main" xmlns="" id="{358C33BB-071D-4F24-839E-CC9C393EF0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5" name="Oval 29">
              <a:extLst>
                <a:ext uri="{FF2B5EF4-FFF2-40B4-BE49-F238E27FC236}">
                  <a16:creationId xmlns:a16="http://schemas.microsoft.com/office/drawing/2014/main" xmlns="" id="{4E06C84A-1EFC-44EA-B29A-11ED722DE85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66" name="Group 23">
            <a:extLst>
              <a:ext uri="{FF2B5EF4-FFF2-40B4-BE49-F238E27FC236}">
                <a16:creationId xmlns:a16="http://schemas.microsoft.com/office/drawing/2014/main" xmlns="" id="{DBD88F74-281E-49A6-BC26-B30CBBAE64C9}"/>
              </a:ext>
            </a:extLst>
          </p:cNvPr>
          <p:cNvGrpSpPr>
            <a:grpSpLocks noChangeAspect="1"/>
          </p:cNvGrpSpPr>
          <p:nvPr/>
        </p:nvGrpSpPr>
        <p:grpSpPr bwMode="auto">
          <a:xfrm>
            <a:off x="7066156" y="5621597"/>
            <a:ext cx="381000" cy="381000"/>
            <a:chOff x="2078" y="1680"/>
            <a:chExt cx="1615" cy="1615"/>
          </a:xfrm>
        </p:grpSpPr>
        <p:sp>
          <p:nvSpPr>
            <p:cNvPr id="67" name="Oval 24">
              <a:extLst>
                <a:ext uri="{FF2B5EF4-FFF2-40B4-BE49-F238E27FC236}">
                  <a16:creationId xmlns:a16="http://schemas.microsoft.com/office/drawing/2014/main" xmlns="" id="{8B6A68AB-47EE-4BEB-9563-FC726BE4E43A}"/>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8" name="Oval 25">
              <a:extLst>
                <a:ext uri="{FF2B5EF4-FFF2-40B4-BE49-F238E27FC236}">
                  <a16:creationId xmlns:a16="http://schemas.microsoft.com/office/drawing/2014/main" xmlns="" id="{004826CD-E5CF-47B8-BD5C-D81E5D353CD7}"/>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9" name="Oval 26">
              <a:extLst>
                <a:ext uri="{FF2B5EF4-FFF2-40B4-BE49-F238E27FC236}">
                  <a16:creationId xmlns:a16="http://schemas.microsoft.com/office/drawing/2014/main" xmlns="" id="{3B71C91A-95B1-48A6-8F6E-2BCE30BA506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0" name="Oval 27">
              <a:extLst>
                <a:ext uri="{FF2B5EF4-FFF2-40B4-BE49-F238E27FC236}">
                  <a16:creationId xmlns:a16="http://schemas.microsoft.com/office/drawing/2014/main" xmlns="" id="{4B68C4BF-098A-4123-BB53-98CECA7F4A81}"/>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1" name="Oval 28">
              <a:extLst>
                <a:ext uri="{FF2B5EF4-FFF2-40B4-BE49-F238E27FC236}">
                  <a16:creationId xmlns:a16="http://schemas.microsoft.com/office/drawing/2014/main" xmlns="" id="{3C5FE447-2DEF-4C03-AA66-D8D7E4B6E8E3}"/>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2" name="Oval 29">
              <a:extLst>
                <a:ext uri="{FF2B5EF4-FFF2-40B4-BE49-F238E27FC236}">
                  <a16:creationId xmlns:a16="http://schemas.microsoft.com/office/drawing/2014/main" xmlns="" id="{A8ADD6E4-DB30-4BEC-98B9-1D2EAA799DA1}"/>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3"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40</a:t>
            </a:fld>
            <a:endParaRPr lang="fa-IR" sz="1800" dirty="0">
              <a:solidFill>
                <a:schemeClr val="tx1"/>
              </a:solidFill>
              <a:cs typeface="B Lotus" panose="00000400000000000000" pitchFamily="2" charset="-78"/>
            </a:endParaRPr>
          </a:p>
        </p:txBody>
      </p:sp>
      <p:pic>
        <p:nvPicPr>
          <p:cNvPr id="107" name="Picture 106"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108"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109"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110"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11"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12" name="Rectangle 111">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113" name="Rectangle 112">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114" name="Rectangle 113">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115" name="Rectangle 114">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116"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117" name="TextBox 116">
            <a:extLst>
              <a:ext uri="{FF2B5EF4-FFF2-40B4-BE49-F238E27FC236}">
                <a16:creationId xmlns:a16="http://schemas.microsoft.com/office/drawing/2014/main" xmlns="" id="{F43469DC-7F5B-471E-BD74-ED709E621F63}"/>
              </a:ext>
            </a:extLst>
          </p:cNvPr>
          <p:cNvSpPr txBox="1"/>
          <p:nvPr/>
        </p:nvSpPr>
        <p:spPr>
          <a:xfrm>
            <a:off x="7055055" y="1726687"/>
            <a:ext cx="1837362" cy="369332"/>
          </a:xfrm>
          <a:prstGeom prst="rect">
            <a:avLst/>
          </a:prstGeom>
          <a:noFill/>
        </p:spPr>
        <p:txBody>
          <a:bodyPr wrap="none" rtlCol="0">
            <a:spAutoFit/>
          </a:bodyPr>
          <a:lstStyle/>
          <a:p>
            <a:pPr algn="r" rtl="1"/>
            <a:r>
              <a:rPr lang="fa-IR" b="1" dirty="0">
                <a:cs typeface="B Nazanin" panose="00000400000000000000" pitchFamily="2" charset="-78"/>
              </a:rPr>
              <a:t>انتقال سلول به سلول</a:t>
            </a:r>
          </a:p>
        </p:txBody>
      </p:sp>
    </p:spTree>
    <p:extLst>
      <p:ext uri="{BB962C8B-B14F-4D97-AF65-F5344CB8AC3E}">
        <p14:creationId xmlns:p14="http://schemas.microsoft.com/office/powerpoint/2010/main" val="784317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p:cNvSpPr txBox="1"/>
          <p:nvPr/>
        </p:nvSpPr>
        <p:spPr>
          <a:xfrm>
            <a:off x="486680" y="4496953"/>
            <a:ext cx="1962396" cy="307777"/>
          </a:xfrm>
          <a:prstGeom prst="rect">
            <a:avLst/>
          </a:prstGeom>
          <a:noFill/>
        </p:spPr>
        <p:txBody>
          <a:bodyPr wrap="none" rtlCol="0">
            <a:spAutoFit/>
          </a:bodyPr>
          <a:lstStyle/>
          <a:p>
            <a:pPr algn="ctr" rtl="1"/>
            <a:r>
              <a:rPr lang="fa-IR" sz="1400" dirty="0">
                <a:latin typeface="Times New Roman" panose="02020603050405020304" pitchFamily="18" charset="0"/>
                <a:cs typeface="B Lotus" panose="00000400000000000000" pitchFamily="2" charset="-78"/>
              </a:rPr>
              <a:t>توپولوژی سلول به سلول مستقیم</a:t>
            </a:r>
          </a:p>
        </p:txBody>
      </p:sp>
      <p:pic>
        <p:nvPicPr>
          <p:cNvPr id="18" name="Picture 17"/>
          <p:cNvPicPr/>
          <p:nvPr/>
        </p:nvPicPr>
        <p:blipFill>
          <a:blip r:embed="rId3" cstate="print">
            <a:extLst>
              <a:ext uri="{28A0092B-C50C-407E-A947-70E740481C1C}">
                <a14:useLocalDpi xmlns:a14="http://schemas.microsoft.com/office/drawing/2010/main" val="0"/>
              </a:ext>
            </a:extLst>
          </a:blip>
          <a:stretch>
            <a:fillRect/>
          </a:stretch>
        </p:blipFill>
        <p:spPr bwMode="auto">
          <a:xfrm>
            <a:off x="242586" y="2714641"/>
            <a:ext cx="2206490" cy="1428979"/>
          </a:xfrm>
          <a:prstGeom prst="rect">
            <a:avLst/>
          </a:prstGeom>
          <a:noFill/>
          <a:ln>
            <a:noFill/>
          </a:ln>
        </p:spPr>
      </p:pic>
      <p:sp>
        <p:nvSpPr>
          <p:cNvPr id="19" name="TextBox 18"/>
          <p:cNvSpPr txBox="1"/>
          <p:nvPr/>
        </p:nvSpPr>
        <p:spPr>
          <a:xfrm>
            <a:off x="2964074" y="3011266"/>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grpSp>
        <p:nvGrpSpPr>
          <p:cNvPr id="11" name="Group 10"/>
          <p:cNvGrpSpPr/>
          <p:nvPr/>
        </p:nvGrpSpPr>
        <p:grpSpPr>
          <a:xfrm>
            <a:off x="3941058" y="2708408"/>
            <a:ext cx="1977889" cy="1631758"/>
            <a:chOff x="3352800" y="2129958"/>
            <a:chExt cx="2469779" cy="1962379"/>
          </a:xfrm>
        </p:grpSpPr>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12509" y="2129958"/>
              <a:ext cx="1970413" cy="1962379"/>
            </a:xfrm>
            <a:prstGeom prst="rect">
              <a:avLst/>
            </a:prstGeom>
          </p:spPr>
        </p:pic>
        <p:pic>
          <p:nvPicPr>
            <p:cNvPr id="6" name="Picture 5"/>
            <p:cNvPicPr>
              <a:picLocks noChangeAspect="1"/>
            </p:cNvPicPr>
            <p:nvPr/>
          </p:nvPicPr>
          <p:blipFill>
            <a:blip r:embed="rId5"/>
            <a:stretch>
              <a:fillRect/>
            </a:stretch>
          </p:blipFill>
          <p:spPr>
            <a:xfrm>
              <a:off x="3352800" y="2711192"/>
              <a:ext cx="691014" cy="521361"/>
            </a:xfrm>
            <a:prstGeom prst="rect">
              <a:avLst/>
            </a:prstGeom>
          </p:spPr>
        </p:pic>
        <p:pic>
          <p:nvPicPr>
            <p:cNvPr id="9" name="Picture 8"/>
            <p:cNvPicPr>
              <a:picLocks noChangeAspect="1"/>
            </p:cNvPicPr>
            <p:nvPr/>
          </p:nvPicPr>
          <p:blipFill>
            <a:blip r:embed="rId6"/>
            <a:stretch>
              <a:fillRect/>
            </a:stretch>
          </p:blipFill>
          <p:spPr>
            <a:xfrm>
              <a:off x="5029200" y="3217313"/>
              <a:ext cx="793379" cy="368852"/>
            </a:xfrm>
            <a:prstGeom prst="rect">
              <a:avLst/>
            </a:prstGeom>
          </p:spPr>
        </p:pic>
      </p:grpSp>
      <p:sp>
        <p:nvSpPr>
          <p:cNvPr id="28" name="TextBox 27"/>
          <p:cNvSpPr txBox="1"/>
          <p:nvPr/>
        </p:nvSpPr>
        <p:spPr>
          <a:xfrm>
            <a:off x="3769419" y="4506152"/>
            <a:ext cx="2272812" cy="738664"/>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الگوریتم </a:t>
            </a:r>
            <a:r>
              <a:rPr lang="en-US" sz="1400" dirty="0">
                <a:latin typeface="Times New Roman" panose="02020603050405020304" pitchFamily="18" charset="0"/>
                <a:cs typeface="B Lotus" panose="00000400000000000000" pitchFamily="2" charset="-78"/>
              </a:rPr>
              <a:t>GA</a:t>
            </a:r>
            <a:r>
              <a:rPr lang="fa-IR" sz="1400" dirty="0">
                <a:latin typeface="Times New Roman" panose="02020603050405020304" pitchFamily="18" charset="0"/>
                <a:cs typeface="B Lotus" panose="00000400000000000000" pitchFamily="2" charset="-78"/>
              </a:rPr>
              <a:t> و </a:t>
            </a:r>
            <a:r>
              <a:rPr lang="en-US" sz="1400" dirty="0">
                <a:latin typeface="Times New Roman" panose="02020603050405020304" pitchFamily="18" charset="0"/>
                <a:cs typeface="B Lotus" panose="00000400000000000000" pitchFamily="2" charset="-78"/>
              </a:rPr>
              <a:t>K-means</a:t>
            </a:r>
            <a:r>
              <a:rPr lang="fa-IR" sz="1400" dirty="0">
                <a:latin typeface="Times New Roman" panose="02020603050405020304" pitchFamily="18" charset="0"/>
                <a:cs typeface="B Lotus" panose="00000400000000000000" pitchFamily="2" charset="-78"/>
              </a:rPr>
              <a:t> بمنظور یافتن حد وسط زمان سازی و میزان همسان سازی</a:t>
            </a:r>
            <a:endParaRPr lang="en-US" sz="1400" dirty="0">
              <a:latin typeface="Times New Roman" panose="02020603050405020304" pitchFamily="18" charset="0"/>
              <a:cs typeface="B Lotus" panose="00000400000000000000" pitchFamily="2" charset="-78"/>
            </a:endParaRPr>
          </a:p>
        </p:txBody>
      </p:sp>
      <p:grpSp>
        <p:nvGrpSpPr>
          <p:cNvPr id="25" name="Group 24"/>
          <p:cNvGrpSpPr/>
          <p:nvPr/>
        </p:nvGrpSpPr>
        <p:grpSpPr>
          <a:xfrm>
            <a:off x="7410928" y="3007766"/>
            <a:ext cx="1057224" cy="1198909"/>
            <a:chOff x="7554537" y="3065788"/>
            <a:chExt cx="1057224" cy="1198909"/>
          </a:xfrm>
        </p:grpSpPr>
        <p:pic>
          <p:nvPicPr>
            <p:cNvPr id="21" name="Picture 20"/>
            <p:cNvPicPr>
              <a:picLocks noChangeAspect="1"/>
            </p:cNvPicPr>
            <p:nvPr/>
          </p:nvPicPr>
          <p:blipFill>
            <a:blip r:embed="rId7"/>
            <a:stretch>
              <a:fillRect/>
            </a:stretch>
          </p:blipFill>
          <p:spPr>
            <a:xfrm>
              <a:off x="7554537" y="3194958"/>
              <a:ext cx="247650" cy="250160"/>
            </a:xfrm>
            <a:prstGeom prst="rect">
              <a:avLst/>
            </a:prstGeom>
          </p:spPr>
        </p:pic>
        <p:pic>
          <p:nvPicPr>
            <p:cNvPr id="22" name="Picture 21"/>
            <p:cNvPicPr>
              <a:picLocks noChangeAspect="1"/>
            </p:cNvPicPr>
            <p:nvPr/>
          </p:nvPicPr>
          <p:blipFill>
            <a:blip r:embed="rId8"/>
            <a:stretch>
              <a:fillRect/>
            </a:stretch>
          </p:blipFill>
          <p:spPr>
            <a:xfrm>
              <a:off x="7999857" y="3065788"/>
              <a:ext cx="610743" cy="586411"/>
            </a:xfrm>
            <a:prstGeom prst="rect">
              <a:avLst/>
            </a:prstGeom>
          </p:spPr>
        </p:pic>
        <p:pic>
          <p:nvPicPr>
            <p:cNvPr id="24" name="Picture 23"/>
            <p:cNvPicPr>
              <a:picLocks noChangeAspect="1"/>
            </p:cNvPicPr>
            <p:nvPr/>
          </p:nvPicPr>
          <p:blipFill>
            <a:blip r:embed="rId9"/>
            <a:stretch>
              <a:fillRect/>
            </a:stretch>
          </p:blipFill>
          <p:spPr>
            <a:xfrm>
              <a:off x="7999857" y="3783397"/>
              <a:ext cx="611904" cy="481300"/>
            </a:xfrm>
            <a:prstGeom prst="rect">
              <a:avLst/>
            </a:prstGeom>
          </p:spPr>
        </p:pic>
        <p:pic>
          <p:nvPicPr>
            <p:cNvPr id="38" name="Picture 37"/>
            <p:cNvPicPr>
              <a:picLocks noChangeAspect="1"/>
            </p:cNvPicPr>
            <p:nvPr/>
          </p:nvPicPr>
          <p:blipFill>
            <a:blip r:embed="rId7"/>
            <a:stretch>
              <a:fillRect/>
            </a:stretch>
          </p:blipFill>
          <p:spPr>
            <a:xfrm>
              <a:off x="7560281" y="3895149"/>
              <a:ext cx="247650" cy="250160"/>
            </a:xfrm>
            <a:prstGeom prst="rect">
              <a:avLst/>
            </a:prstGeom>
          </p:spPr>
        </p:pic>
      </p:grpSp>
      <p:sp>
        <p:nvSpPr>
          <p:cNvPr id="39" name="TextBox 38"/>
          <p:cNvSpPr txBox="1"/>
          <p:nvPr/>
        </p:nvSpPr>
        <p:spPr>
          <a:xfrm>
            <a:off x="6433945" y="3011266"/>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41" name="TextBox 40"/>
          <p:cNvSpPr txBox="1"/>
          <p:nvPr/>
        </p:nvSpPr>
        <p:spPr>
          <a:xfrm>
            <a:off x="6871188" y="4405850"/>
            <a:ext cx="2272812" cy="307777"/>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شبیه سازی و پیاده سازی عملی</a:t>
            </a:r>
            <a:endParaRPr lang="en-US" sz="1400" dirty="0">
              <a:latin typeface="Times New Roman" panose="02020603050405020304" pitchFamily="18" charset="0"/>
              <a:cs typeface="B Lotus" panose="00000400000000000000" pitchFamily="2" charset="-78"/>
            </a:endParaRPr>
          </a:p>
        </p:txBody>
      </p:sp>
      <p:sp>
        <p:nvSpPr>
          <p:cNvPr id="70" name="TextBox 69">
            <a:extLst>
              <a:ext uri="{FF2B5EF4-FFF2-40B4-BE49-F238E27FC236}">
                <a16:creationId xmlns:a16="http://schemas.microsoft.com/office/drawing/2014/main" xmlns="" id="{F43469DC-7F5B-471E-BD74-ED709E621F63}"/>
              </a:ext>
            </a:extLst>
          </p:cNvPr>
          <p:cNvSpPr txBox="1"/>
          <p:nvPr/>
        </p:nvSpPr>
        <p:spPr>
          <a:xfrm>
            <a:off x="-900706" y="941383"/>
            <a:ext cx="7315201" cy="307777"/>
          </a:xfrm>
          <a:prstGeom prst="rect">
            <a:avLst/>
          </a:prstGeom>
          <a:noFill/>
        </p:spPr>
        <p:txBody>
          <a:bodyPr wrap="square" rtlCol="0">
            <a:spAutoFit/>
          </a:bodyPr>
          <a:lstStyle/>
          <a:p>
            <a:pPr algn="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2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41</a:t>
            </a:fld>
            <a:endParaRPr lang="fa-IR" sz="1800" dirty="0">
              <a:solidFill>
                <a:schemeClr val="tx1"/>
              </a:solidFill>
              <a:cs typeface="B Lotus" panose="00000400000000000000" pitchFamily="2" charset="-78"/>
            </a:endParaRPr>
          </a:p>
        </p:txBody>
      </p:sp>
      <p:pic>
        <p:nvPicPr>
          <p:cNvPr id="30" name="Picture 29"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1"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2"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3"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4"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5" name="Rectangle 34">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36" name="Rectangle 35">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37" name="Rectangle 36">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0" name="Rectangle 39">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2"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Tree>
    <p:extLst>
      <p:ext uri="{BB962C8B-B14F-4D97-AF65-F5344CB8AC3E}">
        <p14:creationId xmlns:p14="http://schemas.microsoft.com/office/powerpoint/2010/main" val="2572194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42</a:t>
            </a:fld>
            <a:endParaRPr lang="fa-IR" sz="1800" dirty="0">
              <a:solidFill>
                <a:schemeClr val="tx1"/>
              </a:solidFill>
              <a:cs typeface="B Lotus" panose="00000400000000000000" pitchFamily="2" charset="-78"/>
            </a:endParaRPr>
          </a:p>
        </p:txBody>
      </p:sp>
      <p:pic>
        <p:nvPicPr>
          <p:cNvPr id="4" name="Picture 3"/>
          <p:cNvPicPr>
            <a:picLocks noChangeAspect="1"/>
          </p:cNvPicPr>
          <p:nvPr/>
        </p:nvPicPr>
        <p:blipFill>
          <a:blip r:embed="rId3"/>
          <a:stretch>
            <a:fillRect/>
          </a:stretch>
        </p:blipFill>
        <p:spPr>
          <a:xfrm>
            <a:off x="85165" y="1830481"/>
            <a:ext cx="8906435" cy="4132315"/>
          </a:xfrm>
          <a:prstGeom prst="rect">
            <a:avLst/>
          </a:prstGeom>
        </p:spPr>
      </p:pic>
      <p:sp>
        <p:nvSpPr>
          <p:cNvPr id="37" name="TextBox 36"/>
          <p:cNvSpPr txBox="1"/>
          <p:nvPr/>
        </p:nvSpPr>
        <p:spPr>
          <a:xfrm>
            <a:off x="936768" y="5943746"/>
            <a:ext cx="7176965" cy="369332"/>
          </a:xfrm>
          <a:prstGeom prst="rect">
            <a:avLst/>
          </a:prstGeom>
          <a:noFill/>
        </p:spPr>
        <p:txBody>
          <a:bodyPr wrap="none" rtlCol="0">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11</a:t>
            </a:r>
            <a:r>
              <a:rPr lang="fa-IR" dirty="0">
                <a:latin typeface="Times New Roman" panose="02020603050405020304" pitchFamily="18" charset="0"/>
                <a:cs typeface="B Lotus" panose="00000400000000000000" pitchFamily="2" charset="-78"/>
              </a:rPr>
              <a:t>فلوچارت الگوریتم خوشه بندی باتری ها به روش </a:t>
            </a:r>
            <a:r>
              <a:rPr lang="en-US" dirty="0">
                <a:latin typeface="Times New Roman" panose="02020603050405020304" pitchFamily="18" charset="0"/>
                <a:cs typeface="B Lotus" panose="00000400000000000000" pitchFamily="2" charset="-78"/>
              </a:rPr>
              <a:t>k-means</a:t>
            </a:r>
            <a:r>
              <a:rPr lang="fa-IR" dirty="0">
                <a:latin typeface="Times New Roman" panose="02020603050405020304" pitchFamily="18" charset="0"/>
                <a:cs typeface="B Lotus" panose="00000400000000000000" pitchFamily="2" charset="-78"/>
              </a:rPr>
              <a:t> با نقاط حاصل از </a:t>
            </a:r>
            <a:r>
              <a:rPr lang="en-US" dirty="0">
                <a:latin typeface="Times New Roman" panose="02020603050405020304" pitchFamily="18" charset="0"/>
                <a:cs typeface="B Lotus" panose="00000400000000000000" pitchFamily="2" charset="-78"/>
              </a:rPr>
              <a:t>GA</a:t>
            </a:r>
            <a:r>
              <a:rPr lang="fa-IR" dirty="0">
                <a:solidFill>
                  <a:srgbClr val="61D6FF"/>
                </a:solidFill>
                <a:latin typeface="Times New Roman" panose="02020603050405020304" pitchFamily="18" charset="0"/>
                <a:cs typeface="B Lotus" panose="00000400000000000000" pitchFamily="2" charset="-78"/>
              </a:rPr>
              <a:t> [3]</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sp>
        <p:nvSpPr>
          <p:cNvPr id="38" name="Rectangle 37"/>
          <p:cNvSpPr/>
          <p:nvPr/>
        </p:nvSpPr>
        <p:spPr>
          <a:xfrm>
            <a:off x="418672" y="6427113"/>
            <a:ext cx="8725328" cy="430887"/>
          </a:xfrm>
          <a:prstGeom prst="rect">
            <a:avLst/>
          </a:prstGeom>
        </p:spPr>
        <p:txBody>
          <a:bodyPr wrap="square">
            <a:spAutoFit/>
          </a:bodyPr>
          <a:lstStyle/>
          <a:p>
            <a:pPr lvl="0">
              <a:defRPr/>
            </a:pPr>
            <a:r>
              <a:rPr lang="en-US" sz="1100" dirty="0"/>
              <a:t>[3]      S. </a:t>
            </a:r>
            <a:r>
              <a:rPr lang="en-US" sz="1100" dirty="0" err="1"/>
              <a:t>Jinlei</a:t>
            </a:r>
            <a:r>
              <a:rPr lang="en-US" sz="1100" dirty="0"/>
              <a:t>, L. Wei, T. </a:t>
            </a:r>
            <a:r>
              <a:rPr lang="en-US" sz="1100" dirty="0" err="1"/>
              <a:t>Chuanyu</a:t>
            </a:r>
            <a:r>
              <a:rPr lang="en-US" sz="1100" dirty="0"/>
              <a:t>, W. </a:t>
            </a:r>
            <a:r>
              <a:rPr lang="en-US" sz="1100" dirty="0" err="1"/>
              <a:t>Tianru</a:t>
            </a:r>
            <a:r>
              <a:rPr lang="en-US" sz="1100" dirty="0"/>
              <a:t>, J. Tao, and T. Yong, "A novel active equalization method for series-connected battery packs based on clustering analysis with genetic algorithm," </a:t>
            </a:r>
            <a:r>
              <a:rPr lang="en-US" sz="1100" i="1" dirty="0"/>
              <a:t>IEEE Transactions on Power Electronics, </a:t>
            </a:r>
            <a:r>
              <a:rPr lang="en-US" sz="1100" dirty="0"/>
              <a:t>vol. 36, no. 7, pp. 7853-7865, 2021.</a:t>
            </a:r>
          </a:p>
        </p:txBody>
      </p:sp>
      <p:sp>
        <p:nvSpPr>
          <p:cNvPr id="40" name="TextBox 39">
            <a:extLst>
              <a:ext uri="{FF2B5EF4-FFF2-40B4-BE49-F238E27FC236}">
                <a16:creationId xmlns:a16="http://schemas.microsoft.com/office/drawing/2014/main" xmlns="" id="{F43469DC-7F5B-471E-BD74-ED709E621F63}"/>
              </a:ext>
            </a:extLst>
          </p:cNvPr>
          <p:cNvSpPr txBox="1"/>
          <p:nvPr/>
        </p:nvSpPr>
        <p:spPr>
          <a:xfrm>
            <a:off x="-900706" y="941383"/>
            <a:ext cx="7315201" cy="307777"/>
          </a:xfrm>
          <a:prstGeom prst="rect">
            <a:avLst/>
          </a:prstGeom>
          <a:noFill/>
        </p:spPr>
        <p:txBody>
          <a:bodyPr wrap="square" rtlCol="0">
            <a:spAutoFit/>
          </a:bodyPr>
          <a:lstStyle/>
          <a:p>
            <a:pPr algn="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pic>
        <p:nvPicPr>
          <p:cNvPr id="41" name="Picture 40"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2"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43"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44"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5"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6" name="Rectangle 45">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47" name="Rectangle 46">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8" name="Rectangle 47">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9" name="Rectangle 48">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50"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Tree>
    <p:extLst>
      <p:ext uri="{BB962C8B-B14F-4D97-AF65-F5344CB8AC3E}">
        <p14:creationId xmlns:p14="http://schemas.microsoft.com/office/powerpoint/2010/main" val="3106795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p:cNvSpPr txBox="1"/>
          <p:nvPr/>
        </p:nvSpPr>
        <p:spPr>
          <a:xfrm>
            <a:off x="482367" y="4830312"/>
            <a:ext cx="1962396" cy="307777"/>
          </a:xfrm>
          <a:prstGeom prst="rect">
            <a:avLst/>
          </a:prstGeom>
          <a:noFill/>
        </p:spPr>
        <p:txBody>
          <a:bodyPr wrap="none" rtlCol="0">
            <a:spAutoFit/>
          </a:bodyPr>
          <a:lstStyle/>
          <a:p>
            <a:pPr algn="ctr" rtl="1"/>
            <a:r>
              <a:rPr lang="fa-IR" sz="1400" dirty="0">
                <a:latin typeface="Times New Roman" panose="02020603050405020304" pitchFamily="18" charset="0"/>
                <a:cs typeface="B Lotus" panose="00000400000000000000" pitchFamily="2" charset="-78"/>
              </a:rPr>
              <a:t>توپولوژی سلول به سلول مستقیم</a:t>
            </a:r>
          </a:p>
        </p:txBody>
      </p:sp>
      <p:pic>
        <p:nvPicPr>
          <p:cNvPr id="18" name="Picture 17"/>
          <p:cNvPicPr/>
          <p:nvPr/>
        </p:nvPicPr>
        <p:blipFill>
          <a:blip r:embed="rId3" cstate="print">
            <a:extLst>
              <a:ext uri="{28A0092B-C50C-407E-A947-70E740481C1C}">
                <a14:useLocalDpi xmlns:a14="http://schemas.microsoft.com/office/drawing/2010/main" val="0"/>
              </a:ext>
            </a:extLst>
          </a:blip>
          <a:stretch>
            <a:fillRect/>
          </a:stretch>
        </p:blipFill>
        <p:spPr bwMode="auto">
          <a:xfrm>
            <a:off x="238273" y="3048000"/>
            <a:ext cx="2206490" cy="1428979"/>
          </a:xfrm>
          <a:prstGeom prst="rect">
            <a:avLst/>
          </a:prstGeom>
          <a:noFill/>
          <a:ln>
            <a:noFill/>
          </a:ln>
        </p:spPr>
      </p:pic>
      <p:sp>
        <p:nvSpPr>
          <p:cNvPr id="19" name="TextBox 18"/>
          <p:cNvSpPr txBox="1"/>
          <p:nvPr/>
        </p:nvSpPr>
        <p:spPr>
          <a:xfrm>
            <a:off x="2959761" y="3344625"/>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28" name="TextBox 27"/>
          <p:cNvSpPr txBox="1"/>
          <p:nvPr/>
        </p:nvSpPr>
        <p:spPr>
          <a:xfrm>
            <a:off x="3744631" y="4830312"/>
            <a:ext cx="2272812" cy="738664"/>
          </a:xfrm>
          <a:prstGeom prst="rect">
            <a:avLst/>
          </a:prstGeom>
          <a:noFill/>
        </p:spPr>
        <p:txBody>
          <a:bodyPr wrap="square" rtlCol="0">
            <a:spAutoFit/>
          </a:bodyPr>
          <a:lstStyle/>
          <a:p>
            <a:pPr algn="ctr" rtl="1"/>
            <a:r>
              <a:rPr lang="fa-IR" sz="1400" dirty="0">
                <a:solidFill>
                  <a:srgbClr val="C00000"/>
                </a:solidFill>
                <a:latin typeface="Times New Roman" panose="02020603050405020304" pitchFamily="18" charset="0"/>
                <a:cs typeface="B Lotus" panose="00000400000000000000" pitchFamily="2" charset="-78"/>
              </a:rPr>
              <a:t>همسان سازی </a:t>
            </a:r>
            <a:r>
              <a:rPr lang="en-US" sz="1400" dirty="0">
                <a:solidFill>
                  <a:srgbClr val="C00000"/>
                </a:solidFill>
                <a:latin typeface="Times New Roman" panose="02020603050405020304" pitchFamily="18" charset="0"/>
                <a:cs typeface="B Lotus" panose="00000400000000000000" pitchFamily="2" charset="-78"/>
              </a:rPr>
              <a:t>FLC</a:t>
            </a:r>
            <a:r>
              <a:rPr lang="fa-IR" sz="1400" dirty="0">
                <a:solidFill>
                  <a:srgbClr val="C00000"/>
                </a:solidFill>
                <a:latin typeface="Times New Roman" panose="02020603050405020304" pitchFamily="18" charset="0"/>
                <a:cs typeface="B Lotus" panose="00000400000000000000" pitchFamily="2" charset="-78"/>
              </a:rPr>
              <a:t> بمنظور یافتن بهینه ترین جریان همسان سازی بین سلول ها و ماژول ها</a:t>
            </a:r>
            <a:endParaRPr lang="en-US" sz="1400" dirty="0">
              <a:solidFill>
                <a:srgbClr val="C00000"/>
              </a:solidFill>
              <a:latin typeface="Times New Roman" panose="02020603050405020304" pitchFamily="18" charset="0"/>
              <a:cs typeface="B Lotus" panose="00000400000000000000" pitchFamily="2" charset="-78"/>
            </a:endParaRPr>
          </a:p>
        </p:txBody>
      </p:sp>
      <p:grpSp>
        <p:nvGrpSpPr>
          <p:cNvPr id="25" name="Group 24"/>
          <p:cNvGrpSpPr/>
          <p:nvPr/>
        </p:nvGrpSpPr>
        <p:grpSpPr>
          <a:xfrm>
            <a:off x="7406615" y="3341125"/>
            <a:ext cx="1057224" cy="1198909"/>
            <a:chOff x="7554537" y="3065788"/>
            <a:chExt cx="1057224" cy="1198909"/>
          </a:xfrm>
        </p:grpSpPr>
        <p:pic>
          <p:nvPicPr>
            <p:cNvPr id="21" name="Picture 20"/>
            <p:cNvPicPr>
              <a:picLocks noChangeAspect="1"/>
            </p:cNvPicPr>
            <p:nvPr/>
          </p:nvPicPr>
          <p:blipFill>
            <a:blip r:embed="rId4"/>
            <a:stretch>
              <a:fillRect/>
            </a:stretch>
          </p:blipFill>
          <p:spPr>
            <a:xfrm>
              <a:off x="7554537" y="3194958"/>
              <a:ext cx="247650" cy="250160"/>
            </a:xfrm>
            <a:prstGeom prst="rect">
              <a:avLst/>
            </a:prstGeom>
          </p:spPr>
        </p:pic>
        <p:pic>
          <p:nvPicPr>
            <p:cNvPr id="22" name="Picture 21"/>
            <p:cNvPicPr>
              <a:picLocks noChangeAspect="1"/>
            </p:cNvPicPr>
            <p:nvPr/>
          </p:nvPicPr>
          <p:blipFill>
            <a:blip r:embed="rId5"/>
            <a:stretch>
              <a:fillRect/>
            </a:stretch>
          </p:blipFill>
          <p:spPr>
            <a:xfrm>
              <a:off x="7999857" y="3065788"/>
              <a:ext cx="610743" cy="586411"/>
            </a:xfrm>
            <a:prstGeom prst="rect">
              <a:avLst/>
            </a:prstGeom>
          </p:spPr>
        </p:pic>
        <p:pic>
          <p:nvPicPr>
            <p:cNvPr id="24" name="Picture 23"/>
            <p:cNvPicPr>
              <a:picLocks noChangeAspect="1"/>
            </p:cNvPicPr>
            <p:nvPr/>
          </p:nvPicPr>
          <p:blipFill>
            <a:blip r:embed="rId6"/>
            <a:stretch>
              <a:fillRect/>
            </a:stretch>
          </p:blipFill>
          <p:spPr>
            <a:xfrm>
              <a:off x="7999857" y="3783397"/>
              <a:ext cx="611904" cy="481300"/>
            </a:xfrm>
            <a:prstGeom prst="rect">
              <a:avLst/>
            </a:prstGeom>
          </p:spPr>
        </p:pic>
      </p:grpSp>
      <p:sp>
        <p:nvSpPr>
          <p:cNvPr id="39" name="TextBox 38"/>
          <p:cNvSpPr txBox="1"/>
          <p:nvPr/>
        </p:nvSpPr>
        <p:spPr>
          <a:xfrm>
            <a:off x="6429632" y="3344625"/>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41" name="TextBox 40"/>
          <p:cNvSpPr txBox="1"/>
          <p:nvPr/>
        </p:nvSpPr>
        <p:spPr>
          <a:xfrm>
            <a:off x="6866875" y="4739209"/>
            <a:ext cx="2272812" cy="307777"/>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شبیه سازی و پیاده سازی عملی</a:t>
            </a:r>
            <a:endParaRPr lang="en-US" sz="1400" dirty="0">
              <a:latin typeface="Times New Roman" panose="02020603050405020304" pitchFamily="18" charset="0"/>
              <a:cs typeface="B Lotus" panose="00000400000000000000" pitchFamily="2" charset="-78"/>
            </a:endParaRPr>
          </a:p>
        </p:txBody>
      </p:sp>
      <p:sp>
        <p:nvSpPr>
          <p:cNvPr id="40"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914399" y="1546002"/>
            <a:ext cx="7740651" cy="556259"/>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sz="1600" dirty="0">
                <a:cs typeface="B Lotus" panose="00000400000000000000" pitchFamily="2" charset="-78"/>
              </a:rPr>
              <a:t>پژوهشی بر روی همسان ساز باتری پک لیتیوم یونی با دو مرحله ای بر مبنای کنترل منطق فازی</a:t>
            </a:r>
            <a:endParaRPr lang="en-US" sz="1600" dirty="0">
              <a:latin typeface="Times New Roman" panose="02020603050405020304" pitchFamily="18" charset="0"/>
              <a:cs typeface="Times New Roman" panose="02020603050405020304" pitchFamily="18" charset="0"/>
            </a:endParaRPr>
          </a:p>
        </p:txBody>
      </p:sp>
      <p:grpSp>
        <p:nvGrpSpPr>
          <p:cNvPr id="42"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8473468" y="1620134"/>
            <a:ext cx="381000" cy="381000"/>
            <a:chOff x="2078" y="1680"/>
            <a:chExt cx="1615" cy="1615"/>
          </a:xfrm>
        </p:grpSpPr>
        <p:sp>
          <p:nvSpPr>
            <p:cNvPr id="43"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5"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6"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7"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1"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43</a:t>
            </a:fld>
            <a:endParaRPr lang="fa-IR" sz="1800" dirty="0">
              <a:solidFill>
                <a:schemeClr val="tx1"/>
              </a:solidFill>
              <a:cs typeface="B Lotus" panose="00000400000000000000" pitchFamily="2" charset="-78"/>
            </a:endParaRPr>
          </a:p>
        </p:txBody>
      </p:sp>
      <p:pic>
        <p:nvPicPr>
          <p:cNvPr id="58" name="Picture 57"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9"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0"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61"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2"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3" name="Rectangle 62">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64" name="Rectangle 63">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65" name="Rectangle 64">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66" name="Rectangle 65">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67"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pic>
        <p:nvPicPr>
          <p:cNvPr id="1026" name="Picture 2" descr="Fuzzy Logic Icons - Free SVG &amp; PNG Fuzzy Logic Images - Noun Projec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18026" y="2835557"/>
            <a:ext cx="1726022" cy="172602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p:cNvPicPr>
            <a:picLocks noChangeAspect="1"/>
          </p:cNvPicPr>
          <p:nvPr/>
        </p:nvPicPr>
        <p:blipFill>
          <a:blip r:embed="rId9"/>
          <a:stretch>
            <a:fillRect/>
          </a:stretch>
        </p:blipFill>
        <p:spPr>
          <a:xfrm>
            <a:off x="7406615" y="4167785"/>
            <a:ext cx="247650" cy="263198"/>
          </a:xfrm>
          <a:prstGeom prst="rect">
            <a:avLst/>
          </a:prstGeom>
        </p:spPr>
      </p:pic>
    </p:spTree>
    <p:extLst>
      <p:ext uri="{BB962C8B-B14F-4D97-AF65-F5344CB8AC3E}">
        <p14:creationId xmlns:p14="http://schemas.microsoft.com/office/powerpoint/2010/main" val="8843902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44</a:t>
            </a:fld>
            <a:endParaRPr lang="fa-IR" sz="1800" dirty="0">
              <a:solidFill>
                <a:schemeClr val="tx1"/>
              </a:solidFill>
              <a:cs typeface="B Lotus" panose="00000400000000000000" pitchFamily="2" charset="-78"/>
            </a:endParaRPr>
          </a:p>
        </p:txBody>
      </p:sp>
      <p:pic>
        <p:nvPicPr>
          <p:cNvPr id="58" name="Picture 57"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9"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0"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61"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2"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3" name="Rectangle 62">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64" name="Rectangle 63">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65" name="Rectangle 64">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66" name="Rectangle 65">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67"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35" name="Rectangle 34"/>
          <p:cNvSpPr/>
          <p:nvPr/>
        </p:nvSpPr>
        <p:spPr>
          <a:xfrm>
            <a:off x="-923562" y="913041"/>
            <a:ext cx="6861738" cy="307777"/>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پژوهشی بر روی همسان ساز باتری پک لیتیوم یونی با دو مرحله ای بر مبنای کنترل منطق فازی</a:t>
            </a:r>
            <a:endParaRPr lang="en-US" sz="1400" dirty="0">
              <a:latin typeface="Times New Roman" panose="02020603050405020304" pitchFamily="18" charset="0"/>
              <a:cs typeface="Times New Roman" panose="02020603050405020304" pitchFamily="18" charset="0"/>
            </a:endParaRPr>
          </a:p>
        </p:txBody>
      </p:sp>
      <p:sp>
        <p:nvSpPr>
          <p:cNvPr id="3" name="Rectangle 2"/>
          <p:cNvSpPr/>
          <p:nvPr/>
        </p:nvSpPr>
        <p:spPr>
          <a:xfrm>
            <a:off x="37438" y="5610426"/>
            <a:ext cx="8915399"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11</a:t>
            </a:r>
            <a:r>
              <a:rPr lang="fa-IR" dirty="0">
                <a:latin typeface="Times New Roman" panose="02020603050405020304" pitchFamily="18" charset="0"/>
                <a:cs typeface="B Lotus" panose="00000400000000000000" pitchFamily="2" charset="-78"/>
              </a:rPr>
              <a:t>فلوچارت الگوریتم همسان سازی دو مرحله ای باتری ها باتری ها با </a:t>
            </a:r>
            <a:r>
              <a:rPr lang="en-US" dirty="0">
                <a:latin typeface="Times New Roman" panose="02020603050405020304" pitchFamily="18" charset="0"/>
                <a:cs typeface="B Lotus" panose="00000400000000000000" pitchFamily="2" charset="-78"/>
              </a:rPr>
              <a:t>FLC</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pic>
        <p:nvPicPr>
          <p:cNvPr id="4" name="Picture 3"/>
          <p:cNvPicPr>
            <a:picLocks noChangeAspect="1"/>
          </p:cNvPicPr>
          <p:nvPr/>
        </p:nvPicPr>
        <p:blipFill>
          <a:blip r:embed="rId4"/>
          <a:stretch>
            <a:fillRect/>
          </a:stretch>
        </p:blipFill>
        <p:spPr>
          <a:xfrm>
            <a:off x="8965" y="1999199"/>
            <a:ext cx="9144000" cy="3432968"/>
          </a:xfrm>
          <a:prstGeom prst="rect">
            <a:avLst/>
          </a:prstGeom>
        </p:spPr>
      </p:pic>
    </p:spTree>
    <p:extLst>
      <p:ext uri="{BB962C8B-B14F-4D97-AF65-F5344CB8AC3E}">
        <p14:creationId xmlns:p14="http://schemas.microsoft.com/office/powerpoint/2010/main" val="958893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45</a:t>
            </a:fld>
            <a:endParaRPr lang="fa-IR" sz="1800" dirty="0">
              <a:solidFill>
                <a:schemeClr val="tx1"/>
              </a:solidFill>
              <a:cs typeface="B Lotus" panose="00000400000000000000" pitchFamily="2" charset="-78"/>
            </a:endParaRPr>
          </a:p>
        </p:txBody>
      </p:sp>
      <p:pic>
        <p:nvPicPr>
          <p:cNvPr id="58" name="Picture 57"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9"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60"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61"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2"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3" name="Rectangle 62">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64" name="Rectangle 63">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65" name="Rectangle 64">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66" name="Rectangle 65">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67"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35" name="Rectangle 34"/>
          <p:cNvSpPr/>
          <p:nvPr/>
        </p:nvSpPr>
        <p:spPr>
          <a:xfrm>
            <a:off x="-923562" y="913041"/>
            <a:ext cx="6861738" cy="307777"/>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پژوهشی بر روی همسان ساز باتری پک لیتیوم یونی با دو مرحله ای بر مبنای کنترل منطق فازی</a:t>
            </a:r>
            <a:endParaRPr lang="en-US" sz="1400" dirty="0">
              <a:latin typeface="Times New Roman" panose="02020603050405020304" pitchFamily="18" charset="0"/>
              <a:cs typeface="Times New Roman" panose="02020603050405020304" pitchFamily="18" charset="0"/>
            </a:endParaRPr>
          </a:p>
        </p:txBody>
      </p:sp>
      <p:sp>
        <p:nvSpPr>
          <p:cNvPr id="3" name="Rectangle 2"/>
          <p:cNvSpPr/>
          <p:nvPr/>
        </p:nvSpPr>
        <p:spPr>
          <a:xfrm>
            <a:off x="-152400" y="5720981"/>
            <a:ext cx="8915399" cy="369332"/>
          </a:xfrm>
          <a:prstGeom prst="rect">
            <a:avLst/>
          </a:prstGeom>
        </p:spPr>
        <p:txBody>
          <a:bodyPr wrap="square">
            <a:spAutoFit/>
          </a:bodyPr>
          <a:lstStyle/>
          <a:p>
            <a:pPr algn="ctr" rtl="1"/>
            <a:r>
              <a:rPr lang="fa-IR" dirty="0">
                <a:latin typeface="Times New Roman" panose="02020603050405020304" pitchFamily="18" charset="0"/>
                <a:cs typeface="B Lotus" panose="00000400000000000000" pitchFamily="2" charset="-78"/>
              </a:rPr>
              <a:t>عکس نمودار سه بعدی و ج یک مرحله همسان سازی</a:t>
            </a:r>
            <a:endParaRPr lang="en-US" dirty="0">
              <a:latin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6341880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46</a:t>
            </a:fld>
            <a:endParaRPr lang="fa-IR" sz="1800" dirty="0">
              <a:solidFill>
                <a:schemeClr val="tx1"/>
              </a:solidFill>
              <a:cs typeface="B Lotus" panose="00000400000000000000" pitchFamily="2" charset="-78"/>
            </a:endParaRPr>
          </a:p>
        </p:txBody>
      </p:sp>
      <p:pic>
        <p:nvPicPr>
          <p:cNvPr id="4" name="Picture 3"/>
          <p:cNvPicPr>
            <a:picLocks noChangeAspect="1"/>
          </p:cNvPicPr>
          <p:nvPr/>
        </p:nvPicPr>
        <p:blipFill>
          <a:blip r:embed="rId3"/>
          <a:stretch>
            <a:fillRect/>
          </a:stretch>
        </p:blipFill>
        <p:spPr>
          <a:xfrm>
            <a:off x="85165" y="1830481"/>
            <a:ext cx="8906435" cy="4132315"/>
          </a:xfrm>
          <a:prstGeom prst="rect">
            <a:avLst/>
          </a:prstGeom>
        </p:spPr>
      </p:pic>
      <p:grpSp>
        <p:nvGrpSpPr>
          <p:cNvPr id="26" name="Group 25"/>
          <p:cNvGrpSpPr/>
          <p:nvPr/>
        </p:nvGrpSpPr>
        <p:grpSpPr>
          <a:xfrm>
            <a:off x="4922520" y="4372036"/>
            <a:ext cx="4191000" cy="1511418"/>
            <a:chOff x="9102590" y="2006844"/>
            <a:chExt cx="4495800" cy="1786464"/>
          </a:xfrm>
        </p:grpSpPr>
        <p:pic>
          <p:nvPicPr>
            <p:cNvPr id="30" name="Picture 29"/>
            <p:cNvPicPr/>
            <p:nvPr/>
          </p:nvPicPr>
          <p:blipFill>
            <a:blip r:embed="rId4" cstate="print">
              <a:extLst>
                <a:ext uri="{28A0092B-C50C-407E-A947-70E740481C1C}">
                  <a14:useLocalDpi xmlns:a14="http://schemas.microsoft.com/office/drawing/2010/main" val="0"/>
                </a:ext>
              </a:extLst>
            </a:blip>
            <a:stretch>
              <a:fillRect/>
            </a:stretch>
          </p:blipFill>
          <p:spPr>
            <a:xfrm>
              <a:off x="9144000" y="3048001"/>
              <a:ext cx="4454390" cy="745307"/>
            </a:xfrm>
            <a:prstGeom prst="rect">
              <a:avLst/>
            </a:prstGeom>
          </p:spPr>
        </p:pic>
        <p:sp>
          <p:nvSpPr>
            <p:cNvPr id="33" name="Rounded Rectangle 32"/>
            <p:cNvSpPr/>
            <p:nvPr/>
          </p:nvSpPr>
          <p:spPr>
            <a:xfrm>
              <a:off x="9102590" y="2998331"/>
              <a:ext cx="4495800" cy="794977"/>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34" name="Straight Connector 33"/>
            <p:cNvCxnSpPr/>
            <p:nvPr/>
          </p:nvCxnSpPr>
          <p:spPr>
            <a:xfrm flipV="1">
              <a:off x="9144000" y="2006844"/>
              <a:ext cx="154770" cy="1008739"/>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p:cNvCxnSpPr/>
            <p:nvPr/>
          </p:nvCxnSpPr>
          <p:spPr>
            <a:xfrm flipH="1" flipV="1">
              <a:off x="9298771" y="2006845"/>
              <a:ext cx="4210242" cy="991486"/>
            </a:xfrm>
            <a:prstGeom prst="line">
              <a:avLst/>
            </a:prstGeom>
          </p:spPr>
          <p:style>
            <a:lnRef idx="2">
              <a:schemeClr val="dk1"/>
            </a:lnRef>
            <a:fillRef idx="0">
              <a:schemeClr val="dk1"/>
            </a:fillRef>
            <a:effectRef idx="1">
              <a:schemeClr val="dk1"/>
            </a:effectRef>
            <a:fontRef idx="minor">
              <a:schemeClr val="tx1"/>
            </a:fontRef>
          </p:style>
        </p:cxnSp>
      </p:grpSp>
      <p:sp>
        <p:nvSpPr>
          <p:cNvPr id="36" name="TextBox 35"/>
          <p:cNvSpPr txBox="1"/>
          <p:nvPr/>
        </p:nvSpPr>
        <p:spPr>
          <a:xfrm>
            <a:off x="936768" y="5943746"/>
            <a:ext cx="7176965" cy="369332"/>
          </a:xfrm>
          <a:prstGeom prst="rect">
            <a:avLst/>
          </a:prstGeom>
          <a:noFill/>
        </p:spPr>
        <p:txBody>
          <a:bodyPr wrap="none" rtlCol="0">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11 </a:t>
            </a:r>
            <a:r>
              <a:rPr lang="fa-IR" dirty="0">
                <a:latin typeface="Times New Roman" panose="02020603050405020304" pitchFamily="18" charset="0"/>
                <a:cs typeface="B Lotus" panose="00000400000000000000" pitchFamily="2" charset="-78"/>
              </a:rPr>
              <a:t>فلوچارت الگوریتم خوشه بندی باتری ها به روش </a:t>
            </a:r>
            <a:r>
              <a:rPr lang="en-US" dirty="0">
                <a:latin typeface="Times New Roman" panose="02020603050405020304" pitchFamily="18" charset="0"/>
                <a:cs typeface="B Lotus" panose="00000400000000000000" pitchFamily="2" charset="-78"/>
              </a:rPr>
              <a:t>k-means</a:t>
            </a:r>
            <a:r>
              <a:rPr lang="fa-IR" dirty="0">
                <a:latin typeface="Times New Roman" panose="02020603050405020304" pitchFamily="18" charset="0"/>
                <a:cs typeface="B Lotus" panose="00000400000000000000" pitchFamily="2" charset="-78"/>
              </a:rPr>
              <a:t> با نقاط حاصل از </a:t>
            </a:r>
            <a:r>
              <a:rPr lang="en-US" dirty="0">
                <a:latin typeface="Times New Roman" panose="02020603050405020304" pitchFamily="18" charset="0"/>
                <a:cs typeface="B Lotus" panose="00000400000000000000" pitchFamily="2" charset="-78"/>
              </a:rPr>
              <a:t>GA</a:t>
            </a:r>
            <a:r>
              <a:rPr lang="fa-IR" dirty="0">
                <a:solidFill>
                  <a:srgbClr val="61D6FF"/>
                </a:solidFill>
                <a:latin typeface="Times New Roman" panose="02020603050405020304" pitchFamily="18" charset="0"/>
                <a:cs typeface="B Lotus" panose="00000400000000000000" pitchFamily="2" charset="-78"/>
              </a:rPr>
              <a:t> [3]</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sp>
        <p:nvSpPr>
          <p:cNvPr id="37" name="Rectangle 36"/>
          <p:cNvSpPr/>
          <p:nvPr/>
        </p:nvSpPr>
        <p:spPr>
          <a:xfrm>
            <a:off x="418672" y="6427113"/>
            <a:ext cx="8725328" cy="430887"/>
          </a:xfrm>
          <a:prstGeom prst="rect">
            <a:avLst/>
          </a:prstGeom>
        </p:spPr>
        <p:txBody>
          <a:bodyPr wrap="square">
            <a:spAutoFit/>
          </a:bodyPr>
          <a:lstStyle/>
          <a:p>
            <a:pPr lvl="0">
              <a:defRPr/>
            </a:pPr>
            <a:r>
              <a:rPr lang="en-US" sz="1100" dirty="0"/>
              <a:t>[3]      S. </a:t>
            </a:r>
            <a:r>
              <a:rPr lang="en-US" sz="1100" dirty="0" err="1"/>
              <a:t>Jinlei</a:t>
            </a:r>
            <a:r>
              <a:rPr lang="en-US" sz="1100" dirty="0"/>
              <a:t>, L. Wei, T. </a:t>
            </a:r>
            <a:r>
              <a:rPr lang="en-US" sz="1100" dirty="0" err="1"/>
              <a:t>Chuanyu</a:t>
            </a:r>
            <a:r>
              <a:rPr lang="en-US" sz="1100" dirty="0"/>
              <a:t>, W. </a:t>
            </a:r>
            <a:r>
              <a:rPr lang="en-US" sz="1100" dirty="0" err="1"/>
              <a:t>Tianru</a:t>
            </a:r>
            <a:r>
              <a:rPr lang="en-US" sz="1100" dirty="0"/>
              <a:t>, J. Tao, and T. Yong, "A novel active equalization method for series-connected battery packs based on clustering analysis with genetic algorithm," </a:t>
            </a:r>
            <a:r>
              <a:rPr lang="en-US" sz="1100" i="1" dirty="0"/>
              <a:t>IEEE Transactions on Power Electronics, </a:t>
            </a:r>
            <a:r>
              <a:rPr lang="en-US" sz="1100" dirty="0"/>
              <a:t>vol. 36, no. 7, pp. 7853-7865, 2021.</a:t>
            </a:r>
          </a:p>
        </p:txBody>
      </p:sp>
      <p:sp>
        <p:nvSpPr>
          <p:cNvPr id="38" name="TextBox 37">
            <a:extLst>
              <a:ext uri="{FF2B5EF4-FFF2-40B4-BE49-F238E27FC236}">
                <a16:creationId xmlns:a16="http://schemas.microsoft.com/office/drawing/2014/main" xmlns="" id="{F43469DC-7F5B-471E-BD74-ED709E621F63}"/>
              </a:ext>
            </a:extLst>
          </p:cNvPr>
          <p:cNvSpPr txBox="1"/>
          <p:nvPr/>
        </p:nvSpPr>
        <p:spPr>
          <a:xfrm>
            <a:off x="-900706" y="941383"/>
            <a:ext cx="7315201" cy="307777"/>
          </a:xfrm>
          <a:prstGeom prst="rect">
            <a:avLst/>
          </a:prstGeom>
          <a:noFill/>
        </p:spPr>
        <p:txBody>
          <a:bodyPr wrap="square" rtlCol="0">
            <a:spAutoFit/>
          </a:bodyPr>
          <a:lstStyle/>
          <a:p>
            <a:pPr algn="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pic>
        <p:nvPicPr>
          <p:cNvPr id="39" name="Picture 38"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0"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41"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42"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3"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4" name="Rectangle 43">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45" name="Rectangle 44">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6" name="Rectangle 45">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7" name="Rectangle 46">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
        <p:nvSpPr>
          <p:cNvPr id="48" name="Rounded Rectangle 175">
            <a:extLst>
              <a:ext uri="{FF2B5EF4-FFF2-40B4-BE49-F238E27FC236}">
                <a16:creationId xmlns:a16="http://schemas.microsoft.com/office/drawing/2014/main" xmlns="" id="{5ED324C1-9E82-4B7C-8E12-63B5A59FFFC0}"/>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همسان سازی باتری</a:t>
            </a:r>
          </a:p>
        </p:txBody>
      </p:sp>
    </p:spTree>
    <p:extLst>
      <p:ext uri="{BB962C8B-B14F-4D97-AF65-F5344CB8AC3E}">
        <p14:creationId xmlns:p14="http://schemas.microsoft.com/office/powerpoint/2010/main" val="40196387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905436" y="6071674"/>
            <a:ext cx="7095564"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12 مقادیر تابع تناسب و نتایج دسته‌بندی بهینه شده با ضرایب متفاوت در شبیه سازی </a:t>
            </a:r>
            <a:r>
              <a:rPr lang="fa-IR" dirty="0">
                <a:solidFill>
                  <a:srgbClr val="61D6FF"/>
                </a:solidFill>
                <a:latin typeface="Times New Roman" panose="02020603050405020304" pitchFamily="18" charset="0"/>
                <a:cs typeface="B Lotus" panose="00000400000000000000" pitchFamily="2" charset="-78"/>
              </a:rPr>
              <a:t>[3]</a:t>
            </a:r>
            <a:r>
              <a:rPr lang="fa-IR" dirty="0">
                <a:latin typeface="Times New Roman" panose="02020603050405020304" pitchFamily="18" charset="0"/>
                <a:cs typeface="B Lotus" panose="00000400000000000000" pitchFamily="2" charset="-78"/>
              </a:rPr>
              <a:t>.</a:t>
            </a:r>
            <a:endParaRPr lang="en-US" dirty="0"/>
          </a:p>
        </p:txBody>
      </p:sp>
      <p:grpSp>
        <p:nvGrpSpPr>
          <p:cNvPr id="4" name="Group 3"/>
          <p:cNvGrpSpPr/>
          <p:nvPr/>
        </p:nvGrpSpPr>
        <p:grpSpPr>
          <a:xfrm>
            <a:off x="228600" y="904863"/>
            <a:ext cx="8725328" cy="5303188"/>
            <a:chOff x="304800" y="899720"/>
            <a:chExt cx="8725328" cy="5475760"/>
          </a:xfrm>
        </p:grpSpPr>
        <p:pic>
          <p:nvPicPr>
            <p:cNvPr id="19" name="Picture 18"/>
            <p:cNvPicPr/>
            <p:nvPr/>
          </p:nvPicPr>
          <p:blipFill rotWithShape="1">
            <a:blip r:embed="rId3" cstate="print">
              <a:extLst>
                <a:ext uri="{28A0092B-C50C-407E-A947-70E740481C1C}">
                  <a14:useLocalDpi xmlns:a14="http://schemas.microsoft.com/office/drawing/2010/main" val="0"/>
                </a:ext>
              </a:extLst>
            </a:blip>
            <a:srcRect t="66089"/>
            <a:stretch/>
          </p:blipFill>
          <p:spPr bwMode="auto">
            <a:xfrm>
              <a:off x="304800" y="3750487"/>
              <a:ext cx="8725328" cy="2582759"/>
            </a:xfrm>
            <a:prstGeom prst="rect">
              <a:avLst/>
            </a:prstGeom>
            <a:noFill/>
            <a:ln>
              <a:noFill/>
            </a:ln>
          </p:spPr>
        </p:pic>
        <p:pic>
          <p:nvPicPr>
            <p:cNvPr id="31" name="Picture 30"/>
            <p:cNvPicPr/>
            <p:nvPr/>
          </p:nvPicPr>
          <p:blipFill rotWithShape="1">
            <a:blip r:embed="rId3" cstate="print">
              <a:extLst>
                <a:ext uri="{28A0092B-C50C-407E-A947-70E740481C1C}">
                  <a14:useLocalDpi xmlns:a14="http://schemas.microsoft.com/office/drawing/2010/main" val="0"/>
                </a:ext>
              </a:extLst>
            </a:blip>
            <a:srcRect b="66533"/>
            <a:stretch/>
          </p:blipFill>
          <p:spPr bwMode="auto">
            <a:xfrm>
              <a:off x="418672" y="899720"/>
              <a:ext cx="8611456" cy="2890600"/>
            </a:xfrm>
            <a:prstGeom prst="rect">
              <a:avLst/>
            </a:prstGeom>
            <a:noFill/>
            <a:ln>
              <a:noFill/>
            </a:ln>
          </p:spPr>
        </p:pic>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5250" y="3298749"/>
              <a:ext cx="413300" cy="225964"/>
            </a:xfrm>
            <a:prstGeom prst="rect">
              <a:avLst/>
            </a:prstGeom>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3401" y="6161128"/>
              <a:ext cx="336998" cy="214352"/>
            </a:xfrm>
            <a:prstGeom prst="rect">
              <a:avLst/>
            </a:prstGeom>
          </p:spPr>
        </p:pic>
      </p:grpSp>
      <p:sp>
        <p:nvSpPr>
          <p:cNvPr id="22"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47</a:t>
            </a:fld>
            <a:endParaRPr lang="fa-IR" sz="1800" dirty="0">
              <a:solidFill>
                <a:schemeClr val="tx1"/>
              </a:solidFill>
              <a:cs typeface="B Lotus" panose="00000400000000000000" pitchFamily="2" charset="-78"/>
            </a:endParaRPr>
          </a:p>
        </p:txBody>
      </p:sp>
      <p:sp>
        <p:nvSpPr>
          <p:cNvPr id="39" name="Rectangle 38"/>
          <p:cNvSpPr/>
          <p:nvPr/>
        </p:nvSpPr>
        <p:spPr>
          <a:xfrm>
            <a:off x="418672" y="6427113"/>
            <a:ext cx="8725328" cy="430887"/>
          </a:xfrm>
          <a:prstGeom prst="rect">
            <a:avLst/>
          </a:prstGeom>
        </p:spPr>
        <p:txBody>
          <a:bodyPr wrap="square">
            <a:spAutoFit/>
          </a:bodyPr>
          <a:lstStyle/>
          <a:p>
            <a:pPr lvl="0">
              <a:defRPr/>
            </a:pPr>
            <a:r>
              <a:rPr lang="en-US" sz="1100" dirty="0"/>
              <a:t>[3]      S. </a:t>
            </a:r>
            <a:r>
              <a:rPr lang="en-US" sz="1100" dirty="0" err="1"/>
              <a:t>Jinlei</a:t>
            </a:r>
            <a:r>
              <a:rPr lang="en-US" sz="1100" dirty="0"/>
              <a:t>, L. Wei, T. </a:t>
            </a:r>
            <a:r>
              <a:rPr lang="en-US" sz="1100" dirty="0" err="1"/>
              <a:t>Chuanyu</a:t>
            </a:r>
            <a:r>
              <a:rPr lang="en-US" sz="1100" dirty="0"/>
              <a:t>, W. </a:t>
            </a:r>
            <a:r>
              <a:rPr lang="en-US" sz="1100" dirty="0" err="1"/>
              <a:t>Tianru</a:t>
            </a:r>
            <a:r>
              <a:rPr lang="en-US" sz="1100" dirty="0"/>
              <a:t>, J. Tao, and T. Yong, "A novel active equalization method for series-connected battery packs based on clustering analysis with genetic algorithm," </a:t>
            </a:r>
            <a:r>
              <a:rPr lang="en-US" sz="1100" i="1" dirty="0"/>
              <a:t>IEEE Transactions on Power Electronics, </a:t>
            </a:r>
            <a:r>
              <a:rPr lang="en-US" sz="1100" dirty="0"/>
              <a:t>vol. 36, no. 7, pp. 7853-7865, 2021.</a:t>
            </a:r>
          </a:p>
        </p:txBody>
      </p:sp>
      <p:pic>
        <p:nvPicPr>
          <p:cNvPr id="30" name="Picture 29" descr="پرونده:Azad University logo.png - ویکی‌پدیا، دانشنامهٔ آزاد">
            <a:extLst>
              <a:ext uri="{FF2B5EF4-FFF2-40B4-BE49-F238E27FC236}">
                <a16:creationId xmlns:a16="http://schemas.microsoft.com/office/drawing/2014/main" xmlns="" id="{1A9FEE44-0F48-48EE-A201-613E74B88238}"/>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2" name="AutoShape 10">
            <a:extLst>
              <a:ext uri="{FF2B5EF4-FFF2-40B4-BE49-F238E27FC236}">
                <a16:creationId xmlns:a16="http://schemas.microsoft.com/office/drawing/2014/main" xmlns="" id="{F6266893-797F-40B9-B7F1-28B13A3984C3}"/>
              </a:ext>
            </a:extLst>
          </p:cNvPr>
          <p:cNvSpPr>
            <a:spLocks noChangeArrowheads="1"/>
          </p:cNvSpPr>
          <p:nvPr/>
        </p:nvSpPr>
        <p:spPr bwMode="gray">
          <a:xfrm flipH="1">
            <a:off x="6246677" y="59426"/>
            <a:ext cx="2057400"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dirty="0">
              <a:solidFill>
                <a:srgbClr val="3D81BF"/>
              </a:solidFill>
            </a:endParaRPr>
          </a:p>
        </p:txBody>
      </p:sp>
      <p:sp>
        <p:nvSpPr>
          <p:cNvPr id="37" name="AutoShape 3">
            <a:extLst>
              <a:ext uri="{FF2B5EF4-FFF2-40B4-BE49-F238E27FC236}">
                <a16:creationId xmlns:a16="http://schemas.microsoft.com/office/drawing/2014/main" xmlns="" id="{3450B81F-1BA9-4F41-945E-CF31FD6A1BE2}"/>
              </a:ext>
            </a:extLst>
          </p:cNvPr>
          <p:cNvSpPr>
            <a:spLocks noChangeArrowheads="1"/>
          </p:cNvSpPr>
          <p:nvPr/>
        </p:nvSpPr>
        <p:spPr bwMode="gray">
          <a:xfrm flipH="1">
            <a:off x="4188613" y="57140"/>
            <a:ext cx="2056086" cy="651510"/>
          </a:xfrm>
          <a:prstGeom prst="chevron">
            <a:avLst>
              <a:gd name="adj" fmla="val 17009"/>
            </a:avLst>
          </a:prstGeom>
          <a:solidFill>
            <a:srgbClr val="2842AE"/>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D81BF"/>
              </a:solidFill>
              <a:effectLst/>
              <a:uLnTx/>
              <a:uFillTx/>
            </a:endParaRPr>
          </a:p>
        </p:txBody>
      </p:sp>
      <p:sp>
        <p:nvSpPr>
          <p:cNvPr id="38" name="AutoShape 3">
            <a:extLst>
              <a:ext uri="{FF2B5EF4-FFF2-40B4-BE49-F238E27FC236}">
                <a16:creationId xmlns:a16="http://schemas.microsoft.com/office/drawing/2014/main" xmlns="" id="{278C3753-7E5F-4A07-84E8-FA915CB0CE87}"/>
              </a:ext>
            </a:extLst>
          </p:cNvPr>
          <p:cNvSpPr>
            <a:spLocks noChangeArrowheads="1"/>
          </p:cNvSpPr>
          <p:nvPr/>
        </p:nvSpPr>
        <p:spPr bwMode="gray">
          <a:xfrm flipH="1">
            <a:off x="2588411" y="57141"/>
            <a:ext cx="1600202"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0" name="AutoShape 3">
            <a:extLst>
              <a:ext uri="{FF2B5EF4-FFF2-40B4-BE49-F238E27FC236}">
                <a16:creationId xmlns:a16="http://schemas.microsoft.com/office/drawing/2014/main" xmlns="" id="{B202AEB4-F766-4F6D-9D49-804AECBBBB79}"/>
              </a:ext>
            </a:extLst>
          </p:cNvPr>
          <p:cNvSpPr>
            <a:spLocks noChangeArrowheads="1"/>
          </p:cNvSpPr>
          <p:nvPr/>
        </p:nvSpPr>
        <p:spPr bwMode="gray">
          <a:xfrm flipH="1">
            <a:off x="161661" y="57140"/>
            <a:ext cx="2426749"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1" name="Rectangle 40">
            <a:extLst>
              <a:ext uri="{FF2B5EF4-FFF2-40B4-BE49-F238E27FC236}">
                <a16:creationId xmlns:a16="http://schemas.microsoft.com/office/drawing/2014/main" xmlns="" id="{89552ECA-1CA1-40F1-A87E-809897E322A0}"/>
              </a:ext>
            </a:extLst>
          </p:cNvPr>
          <p:cNvSpPr/>
          <p:nvPr/>
        </p:nvSpPr>
        <p:spPr>
          <a:xfrm>
            <a:off x="403231" y="91457"/>
            <a:ext cx="2056085" cy="584775"/>
          </a:xfrm>
          <a:prstGeom prst="rect">
            <a:avLst/>
          </a:prstGeom>
        </p:spPr>
        <p:txBody>
          <a:bodyPr wrap="square">
            <a:spAutoFit/>
          </a:bodyPr>
          <a:lstStyle/>
          <a:p>
            <a:pPr lvl="0" algn="ctr" rtl="1" fontAlgn="base">
              <a:spcBef>
                <a:spcPct val="0"/>
              </a:spcBef>
              <a:spcAft>
                <a:spcPct val="0"/>
              </a:spcAft>
            </a:pPr>
            <a:r>
              <a:rPr lang="fa-IR" sz="1600" b="1" dirty="0" smtClean="0">
                <a:solidFill>
                  <a:srgbClr val="FFFFFF"/>
                </a:solidFill>
                <a:latin typeface="Times New Roman" panose="02020603050405020304" pitchFamily="18" charset="0"/>
                <a:cs typeface="B Nazanin" panose="00000400000000000000" pitchFamily="2" charset="-78"/>
              </a:rPr>
              <a:t> پیاده سازی و ارزیابی همسان ساز پیشنهادی</a:t>
            </a:r>
            <a:endParaRPr lang="fa-IR" sz="1600" b="1" dirty="0">
              <a:solidFill>
                <a:srgbClr val="FFFFFF"/>
              </a:solidFill>
              <a:latin typeface="Times New Roman" panose="02020603050405020304" pitchFamily="18" charset="0"/>
              <a:cs typeface="B Nazanin" panose="00000400000000000000" pitchFamily="2" charset="-78"/>
            </a:endParaRPr>
          </a:p>
        </p:txBody>
      </p:sp>
      <p:sp>
        <p:nvSpPr>
          <p:cNvPr id="42" name="Rectangle 41">
            <a:extLst>
              <a:ext uri="{FF2B5EF4-FFF2-40B4-BE49-F238E27FC236}">
                <a16:creationId xmlns:a16="http://schemas.microsoft.com/office/drawing/2014/main" xmlns="" id="{2A9B9FDD-FEF5-46D3-8995-5604A1B4B80E}"/>
              </a:ext>
            </a:extLst>
          </p:cNvPr>
          <p:cNvSpPr/>
          <p:nvPr/>
        </p:nvSpPr>
        <p:spPr>
          <a:xfrm>
            <a:off x="2636749" y="78259"/>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پیشنهادی</a:t>
            </a:r>
          </a:p>
        </p:txBody>
      </p:sp>
      <p:sp>
        <p:nvSpPr>
          <p:cNvPr id="43" name="Rectangle 42">
            <a:extLst>
              <a:ext uri="{FF2B5EF4-FFF2-40B4-BE49-F238E27FC236}">
                <a16:creationId xmlns:a16="http://schemas.microsoft.com/office/drawing/2014/main" xmlns="" id="{4756B784-8B4C-449F-AE9D-2B6BBC518073}"/>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همسان سازی باتری</a:t>
            </a:r>
          </a:p>
        </p:txBody>
      </p:sp>
      <p:sp>
        <p:nvSpPr>
          <p:cNvPr id="44" name="Rectangle 43">
            <a:extLst>
              <a:ext uri="{FF2B5EF4-FFF2-40B4-BE49-F238E27FC236}">
                <a16:creationId xmlns:a16="http://schemas.microsoft.com/office/drawing/2014/main" xmlns="" id="{E9011965-C922-40BF-B928-2A7E03BC5CDA}"/>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spTree>
    <p:extLst>
      <p:ext uri="{BB962C8B-B14F-4D97-AF65-F5344CB8AC3E}">
        <p14:creationId xmlns:p14="http://schemas.microsoft.com/office/powerpoint/2010/main" val="39658455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1402C14E-057E-4F2D-854C-AF69C4E6CBD7}"/>
              </a:ext>
            </a:extLst>
          </p:cNvPr>
          <p:cNvSpPr/>
          <p:nvPr/>
        </p:nvSpPr>
        <p:spPr>
          <a:xfrm>
            <a:off x="-12231" y="6006516"/>
            <a:ext cx="4475473" cy="600164"/>
          </a:xfrm>
          <a:prstGeom prst="rect">
            <a:avLst/>
          </a:prstGeom>
        </p:spPr>
        <p:txBody>
          <a:bodyPr wrap="square">
            <a:spAutoFit/>
          </a:bodyPr>
          <a:lstStyle/>
          <a:p>
            <a:pPr algn="r" rtl="1"/>
            <a:r>
              <a:rPr lang="fa-IR" sz="1100" dirty="0">
                <a:latin typeface="Times New Roman" panose="02020603050405020304" pitchFamily="18" charset="0"/>
                <a:ea typeface="Calibri" panose="020F0502020204030204" pitchFamily="34" charset="0"/>
                <a:cs typeface="B Lotus" panose="00000400000000000000" pitchFamily="2" charset="-78"/>
              </a:rPr>
              <a:t>شکل 19 وضعیت باتری در شرایط مختلف تعادل (الف) وضعیت باتری در حالت تعادل در ایستا، (ب) وضعیت باتری در حالت تعادل در شارژ، (ج) وضعیت باتری در حالت تعادل در دشارژ در شبیه سازی</a:t>
            </a:r>
            <a:r>
              <a:rPr lang="fa-IR" sz="1100" dirty="0">
                <a:solidFill>
                  <a:srgbClr val="61D6FF"/>
                </a:solidFill>
                <a:latin typeface="Times New Roman" panose="02020603050405020304" pitchFamily="18" charset="0"/>
                <a:ea typeface="Calibri" panose="020F0502020204030204" pitchFamily="34" charset="0"/>
                <a:cs typeface="B Lotus" panose="00000400000000000000" pitchFamily="2" charset="-78"/>
              </a:rPr>
              <a:t> [4]</a:t>
            </a:r>
            <a:r>
              <a:rPr lang="fa-IR" sz="1100" dirty="0">
                <a:latin typeface="Times New Roman" panose="02020603050405020304" pitchFamily="18" charset="0"/>
                <a:ea typeface="Calibri" panose="020F0502020204030204" pitchFamily="34" charset="0"/>
                <a:cs typeface="B Lotus" panose="00000400000000000000" pitchFamily="2" charset="-78"/>
              </a:rPr>
              <a:t>. </a:t>
            </a:r>
            <a:endParaRPr lang="en-US" sz="1100" dirty="0"/>
          </a:p>
        </p:txBody>
      </p:sp>
      <p:pic>
        <p:nvPicPr>
          <p:cNvPr id="19" name="Picture 18"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0" name="TextBox 19">
            <a:extLst>
              <a:ext uri="{FF2B5EF4-FFF2-40B4-BE49-F238E27FC236}">
                <a16:creationId xmlns:a16="http://schemas.microsoft.com/office/drawing/2014/main" xmlns="" id="{90C43403-B77E-474E-A638-C5BD6540DB40}"/>
              </a:ext>
            </a:extLst>
          </p:cNvPr>
          <p:cNvSpPr txBox="1"/>
          <p:nvPr/>
        </p:nvSpPr>
        <p:spPr>
          <a:xfrm>
            <a:off x="2648411" y="686668"/>
            <a:ext cx="65" cy="276999"/>
          </a:xfrm>
          <a:prstGeom prst="rect">
            <a:avLst/>
          </a:prstGeom>
          <a:noFill/>
        </p:spPr>
        <p:txBody>
          <a:bodyPr wrap="none" lIns="0" tIns="0" rIns="0" bIns="0" rtlCol="0">
            <a:spAutoFit/>
          </a:bodyPr>
          <a:lstStyle/>
          <a:p>
            <a:endParaRPr lang="en-US" dirty="0"/>
          </a:p>
        </p:txBody>
      </p:sp>
      <p:sp>
        <p:nvSpPr>
          <p:cNvPr id="21" name="Slide Number Placeholder 4">
            <a:extLst>
              <a:ext uri="{FF2B5EF4-FFF2-40B4-BE49-F238E27FC236}">
                <a16:creationId xmlns:a16="http://schemas.microsoft.com/office/drawing/2014/main" xmlns="" id="{27EA69B3-891D-46E8-8004-444EAE0D2017}"/>
              </a:ext>
            </a:extLst>
          </p:cNvPr>
          <p:cNvSpPr>
            <a:spLocks noGrp="1"/>
          </p:cNvSpPr>
          <p:nvPr>
            <p:ph type="sldNum" sz="quarter" idx="12"/>
          </p:nvPr>
        </p:nvSpPr>
        <p:spPr>
          <a:xfrm>
            <a:off x="7620000" y="18288"/>
            <a:ext cx="1066800" cy="329184"/>
          </a:xfrm>
        </p:spPr>
        <p:txBody>
          <a:bodyPr/>
          <a:lstStyle/>
          <a:p>
            <a:fld id="{7FC2E40A-4446-4E2B-B9AD-16F559E28E02}" type="slidenum">
              <a:rPr lang="en-US" smtClean="0"/>
              <a:t>48</a:t>
            </a:fld>
            <a:endParaRPr lang="en-US"/>
          </a:p>
        </p:txBody>
      </p:sp>
      <p:sp>
        <p:nvSpPr>
          <p:cNvPr id="2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Rectangle 2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7" name="Picture 2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Rectangle 2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grpSp>
        <p:nvGrpSpPr>
          <p:cNvPr id="7" name="Group 6"/>
          <p:cNvGrpSpPr/>
          <p:nvPr/>
        </p:nvGrpSpPr>
        <p:grpSpPr>
          <a:xfrm>
            <a:off x="503855" y="751889"/>
            <a:ext cx="3711832" cy="5316953"/>
            <a:chOff x="631568" y="909186"/>
            <a:chExt cx="3711832" cy="5316953"/>
          </a:xfrm>
        </p:grpSpPr>
        <p:pic>
          <p:nvPicPr>
            <p:cNvPr id="18" name="Picture 17"/>
            <p:cNvPicPr/>
            <p:nvPr/>
          </p:nvPicPr>
          <p:blipFill>
            <a:blip r:embed="rId4" cstate="print">
              <a:extLst>
                <a:ext uri="{28A0092B-C50C-407E-A947-70E740481C1C}">
                  <a14:useLocalDpi xmlns:a14="http://schemas.microsoft.com/office/drawing/2010/main" val="0"/>
                </a:ext>
              </a:extLst>
            </a:blip>
            <a:stretch>
              <a:fillRect/>
            </a:stretch>
          </p:blipFill>
          <p:spPr>
            <a:xfrm>
              <a:off x="631568" y="909186"/>
              <a:ext cx="3711832" cy="5316953"/>
            </a:xfrm>
            <a:prstGeom prst="rect">
              <a:avLst/>
            </a:prstGeom>
          </p:spPr>
        </p:pic>
        <p:grpSp>
          <p:nvGrpSpPr>
            <p:cNvPr id="5" name="Group 4"/>
            <p:cNvGrpSpPr/>
            <p:nvPr/>
          </p:nvGrpSpPr>
          <p:grpSpPr>
            <a:xfrm>
              <a:off x="2393380" y="2545157"/>
              <a:ext cx="288925" cy="3661932"/>
              <a:chOff x="2393380" y="2545157"/>
              <a:chExt cx="288925" cy="3661932"/>
            </a:xfrm>
          </p:grpSpPr>
          <p:pic>
            <p:nvPicPr>
              <p:cNvPr id="40" name="Picture 39"/>
              <p:cNvPicPr/>
              <p:nvPr/>
            </p:nvPicPr>
            <p:blipFill>
              <a:blip r:embed="rId5">
                <a:extLst>
                  <a:ext uri="{28A0092B-C50C-407E-A947-70E740481C1C}">
                    <a14:useLocalDpi xmlns:a14="http://schemas.microsoft.com/office/drawing/2010/main" val="0"/>
                  </a:ext>
                </a:extLst>
              </a:blip>
              <a:stretch>
                <a:fillRect/>
              </a:stretch>
            </p:blipFill>
            <p:spPr>
              <a:xfrm>
                <a:off x="2393380" y="2545157"/>
                <a:ext cx="288925" cy="173355"/>
              </a:xfrm>
              <a:prstGeom prst="rect">
                <a:avLst/>
              </a:prstGeom>
            </p:spPr>
          </p:pic>
          <p:pic>
            <p:nvPicPr>
              <p:cNvPr id="41" name="Picture 40"/>
              <p:cNvPicPr/>
              <p:nvPr/>
            </p:nvPicPr>
            <p:blipFill>
              <a:blip r:embed="rId6">
                <a:extLst>
                  <a:ext uri="{28A0092B-C50C-407E-A947-70E740481C1C}">
                    <a14:useLocalDpi xmlns:a14="http://schemas.microsoft.com/office/drawing/2010/main" val="0"/>
                  </a:ext>
                </a:extLst>
              </a:blip>
              <a:stretch>
                <a:fillRect/>
              </a:stretch>
            </p:blipFill>
            <p:spPr>
              <a:xfrm>
                <a:off x="2421320" y="4297491"/>
                <a:ext cx="233045" cy="162560"/>
              </a:xfrm>
              <a:prstGeom prst="rect">
                <a:avLst/>
              </a:prstGeom>
            </p:spPr>
          </p:pic>
          <p:pic>
            <p:nvPicPr>
              <p:cNvPr id="42" name="Picture 41"/>
              <p:cNvPicPr/>
              <p:nvPr/>
            </p:nvPicPr>
            <p:blipFill>
              <a:blip r:embed="rId7">
                <a:extLst>
                  <a:ext uri="{28A0092B-C50C-407E-A947-70E740481C1C}">
                    <a14:useLocalDpi xmlns:a14="http://schemas.microsoft.com/office/drawing/2010/main" val="0"/>
                  </a:ext>
                </a:extLst>
              </a:blip>
              <a:stretch>
                <a:fillRect/>
              </a:stretch>
            </p:blipFill>
            <p:spPr>
              <a:xfrm>
                <a:off x="2414335" y="6022304"/>
                <a:ext cx="247015" cy="184785"/>
              </a:xfrm>
              <a:prstGeom prst="rect">
                <a:avLst/>
              </a:prstGeom>
            </p:spPr>
          </p:pic>
        </p:grpSp>
      </p:grpSp>
      <p:grpSp>
        <p:nvGrpSpPr>
          <p:cNvPr id="8" name="Group 7"/>
          <p:cNvGrpSpPr/>
          <p:nvPr/>
        </p:nvGrpSpPr>
        <p:grpSpPr>
          <a:xfrm>
            <a:off x="4482051" y="751889"/>
            <a:ext cx="4229436" cy="5316953"/>
            <a:chOff x="4609764" y="909186"/>
            <a:chExt cx="4267536" cy="5309333"/>
          </a:xfrm>
        </p:grpSpPr>
        <p:grpSp>
          <p:nvGrpSpPr>
            <p:cNvPr id="2" name="Group 1"/>
            <p:cNvGrpSpPr/>
            <p:nvPr/>
          </p:nvGrpSpPr>
          <p:grpSpPr>
            <a:xfrm>
              <a:off x="4609764" y="909186"/>
              <a:ext cx="4267536" cy="5186814"/>
              <a:chOff x="4525250" y="748577"/>
              <a:chExt cx="4417060" cy="6042328"/>
            </a:xfrm>
          </p:grpSpPr>
          <p:pic>
            <p:nvPicPr>
              <p:cNvPr id="36" name="Picture 35"/>
              <p:cNvPicPr/>
              <p:nvPr/>
            </p:nvPicPr>
            <p:blipFill>
              <a:blip r:embed="rId8">
                <a:extLst>
                  <a:ext uri="{28A0092B-C50C-407E-A947-70E740481C1C}">
                    <a14:useLocalDpi xmlns:a14="http://schemas.microsoft.com/office/drawing/2010/main" val="0"/>
                  </a:ext>
                </a:extLst>
              </a:blip>
              <a:stretch>
                <a:fillRect/>
              </a:stretch>
            </p:blipFill>
            <p:spPr>
              <a:xfrm>
                <a:off x="4534775" y="748577"/>
                <a:ext cx="4407535" cy="1954530"/>
              </a:xfrm>
              <a:prstGeom prst="rect">
                <a:avLst/>
              </a:prstGeom>
            </p:spPr>
          </p:pic>
          <p:pic>
            <p:nvPicPr>
              <p:cNvPr id="38" name="Picture 37"/>
              <p:cNvPicPr/>
              <p:nvPr/>
            </p:nvPicPr>
            <p:blipFill>
              <a:blip r:embed="rId9">
                <a:extLst>
                  <a:ext uri="{28A0092B-C50C-407E-A947-70E740481C1C}">
                    <a14:useLocalDpi xmlns:a14="http://schemas.microsoft.com/office/drawing/2010/main" val="0"/>
                  </a:ext>
                </a:extLst>
              </a:blip>
              <a:stretch>
                <a:fillRect/>
              </a:stretch>
            </p:blipFill>
            <p:spPr>
              <a:xfrm>
                <a:off x="4525250" y="2703107"/>
                <a:ext cx="4417060" cy="2091055"/>
              </a:xfrm>
              <a:prstGeom prst="rect">
                <a:avLst/>
              </a:prstGeom>
            </p:spPr>
          </p:pic>
          <p:pic>
            <p:nvPicPr>
              <p:cNvPr id="39" name="Picture 38"/>
              <p:cNvPicPr/>
              <p:nvPr/>
            </p:nvPicPr>
            <p:blipFill>
              <a:blip r:embed="rId10">
                <a:extLst>
                  <a:ext uri="{28A0092B-C50C-407E-A947-70E740481C1C}">
                    <a14:useLocalDpi xmlns:a14="http://schemas.microsoft.com/office/drawing/2010/main" val="0"/>
                  </a:ext>
                </a:extLst>
              </a:blip>
              <a:stretch>
                <a:fillRect/>
              </a:stretch>
            </p:blipFill>
            <p:spPr>
              <a:xfrm>
                <a:off x="4534775" y="4795100"/>
                <a:ext cx="4407535" cy="1995805"/>
              </a:xfrm>
              <a:prstGeom prst="rect">
                <a:avLst/>
              </a:prstGeom>
            </p:spPr>
          </p:pic>
        </p:grpSp>
        <p:pic>
          <p:nvPicPr>
            <p:cNvPr id="43" name="Picture 42"/>
            <p:cNvPicPr/>
            <p:nvPr/>
          </p:nvPicPr>
          <p:blipFill>
            <a:blip r:embed="rId5">
              <a:extLst>
                <a:ext uri="{28A0092B-C50C-407E-A947-70E740481C1C}">
                  <a14:useLocalDpi xmlns:a14="http://schemas.microsoft.com/office/drawing/2010/main" val="0"/>
                </a:ext>
              </a:extLst>
            </a:blip>
            <a:stretch>
              <a:fillRect/>
            </a:stretch>
          </p:blipFill>
          <p:spPr>
            <a:xfrm>
              <a:off x="6746428" y="2556587"/>
              <a:ext cx="288925" cy="173355"/>
            </a:xfrm>
            <a:prstGeom prst="rect">
              <a:avLst/>
            </a:prstGeom>
          </p:spPr>
        </p:pic>
        <p:pic>
          <p:nvPicPr>
            <p:cNvPr id="44" name="Picture 43"/>
            <p:cNvPicPr/>
            <p:nvPr/>
          </p:nvPicPr>
          <p:blipFill>
            <a:blip r:embed="rId6">
              <a:extLst>
                <a:ext uri="{28A0092B-C50C-407E-A947-70E740481C1C}">
                  <a14:useLocalDpi xmlns:a14="http://schemas.microsoft.com/office/drawing/2010/main" val="0"/>
                </a:ext>
              </a:extLst>
            </a:blip>
            <a:stretch>
              <a:fillRect/>
            </a:stretch>
          </p:blipFill>
          <p:spPr>
            <a:xfrm>
              <a:off x="6774368" y="4308921"/>
              <a:ext cx="233045" cy="162560"/>
            </a:xfrm>
            <a:prstGeom prst="rect">
              <a:avLst/>
            </a:prstGeom>
          </p:spPr>
        </p:pic>
        <p:pic>
          <p:nvPicPr>
            <p:cNvPr id="45" name="Picture 44"/>
            <p:cNvPicPr/>
            <p:nvPr/>
          </p:nvPicPr>
          <p:blipFill>
            <a:blip r:embed="rId7">
              <a:extLst>
                <a:ext uri="{28A0092B-C50C-407E-A947-70E740481C1C}">
                  <a14:useLocalDpi xmlns:a14="http://schemas.microsoft.com/office/drawing/2010/main" val="0"/>
                </a:ext>
              </a:extLst>
            </a:blip>
            <a:stretch>
              <a:fillRect/>
            </a:stretch>
          </p:blipFill>
          <p:spPr>
            <a:xfrm>
              <a:off x="6767383" y="6033734"/>
              <a:ext cx="247015" cy="184785"/>
            </a:xfrm>
            <a:prstGeom prst="rect">
              <a:avLst/>
            </a:prstGeom>
          </p:spPr>
        </p:pic>
      </p:grpSp>
      <p:sp>
        <p:nvSpPr>
          <p:cNvPr id="47" name="Rectangle 46">
            <a:extLst>
              <a:ext uri="{FF2B5EF4-FFF2-40B4-BE49-F238E27FC236}">
                <a16:creationId xmlns:a16="http://schemas.microsoft.com/office/drawing/2014/main" xmlns="" id="{1402C14E-057E-4F2D-854C-AF69C4E6CBD7}"/>
              </a:ext>
            </a:extLst>
          </p:cNvPr>
          <p:cNvSpPr/>
          <p:nvPr/>
        </p:nvSpPr>
        <p:spPr>
          <a:xfrm>
            <a:off x="4548919" y="6003057"/>
            <a:ext cx="4618750" cy="600164"/>
          </a:xfrm>
          <a:prstGeom prst="rect">
            <a:avLst/>
          </a:prstGeom>
        </p:spPr>
        <p:txBody>
          <a:bodyPr wrap="square">
            <a:spAutoFit/>
          </a:bodyPr>
          <a:lstStyle/>
          <a:p>
            <a:pPr algn="r" rtl="1"/>
            <a:r>
              <a:rPr lang="fa-IR" sz="1100" dirty="0">
                <a:latin typeface="Times New Roman" panose="02020603050405020304" pitchFamily="18" charset="0"/>
                <a:ea typeface="Calibri" panose="020F0502020204030204" pitchFamily="34" charset="0"/>
                <a:cs typeface="B Lotus" panose="00000400000000000000" pitchFamily="2" charset="-78"/>
              </a:rPr>
              <a:t>شکل 18 وضعیت باتری در شرایط مختلف تعادل (الف) وضعیت باتری در حالت تعادل در ایستا، (ب) وضعیت باتری در حالت تعادل در شارژ، (ج) وضعیت باتری در حالت تعادل در دشارژ در پیاده سازی عملی</a:t>
            </a:r>
            <a:r>
              <a:rPr lang="fa-IR" sz="1100" dirty="0">
                <a:solidFill>
                  <a:srgbClr val="61D6FF"/>
                </a:solidFill>
                <a:latin typeface="Times New Roman" panose="02020603050405020304" pitchFamily="18" charset="0"/>
                <a:ea typeface="Calibri" panose="020F0502020204030204" pitchFamily="34" charset="0"/>
                <a:cs typeface="B Lotus" panose="00000400000000000000" pitchFamily="2" charset="-78"/>
              </a:rPr>
              <a:t> [4]</a:t>
            </a:r>
            <a:r>
              <a:rPr lang="fa-IR" sz="1100" dirty="0">
                <a:latin typeface="Times New Roman" panose="02020603050405020304" pitchFamily="18" charset="0"/>
                <a:ea typeface="Calibri" panose="020F0502020204030204" pitchFamily="34" charset="0"/>
                <a:cs typeface="B Lotus" panose="00000400000000000000" pitchFamily="2" charset="-78"/>
              </a:rPr>
              <a:t>. </a:t>
            </a:r>
            <a:endParaRPr lang="en-US" sz="1100" dirty="0"/>
          </a:p>
        </p:txBody>
      </p:sp>
      <p:sp>
        <p:nvSpPr>
          <p:cNvPr id="30" name="Slide Number Placeholder 3">
            <a:extLst>
              <a:ext uri="{FF2B5EF4-FFF2-40B4-BE49-F238E27FC236}">
                <a16:creationId xmlns:a16="http://schemas.microsoft.com/office/drawing/2014/main" xmlns="" id="{FEFB061F-8AAB-4535-B272-1BA4D5A77191}"/>
              </a:ext>
            </a:extLst>
          </p:cNvPr>
          <p:cNvSpPr txBox="1">
            <a:spLocks/>
          </p:cNvSpPr>
          <p:nvPr/>
        </p:nvSpPr>
        <p:spPr>
          <a:xfrm>
            <a:off x="0" y="5573992"/>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48</a:t>
            </a:fld>
            <a:endParaRPr lang="fa-IR" sz="1800" dirty="0">
              <a:solidFill>
                <a:schemeClr val="tx1"/>
              </a:solidFill>
              <a:cs typeface="B Lotus" panose="00000400000000000000" pitchFamily="2" charset="-78"/>
            </a:endParaRPr>
          </a:p>
        </p:txBody>
      </p:sp>
      <p:sp>
        <p:nvSpPr>
          <p:cNvPr id="33" name="Rectangle 32"/>
          <p:cNvSpPr/>
          <p:nvPr/>
        </p:nvSpPr>
        <p:spPr>
          <a:xfrm>
            <a:off x="418672" y="6499576"/>
            <a:ext cx="8725328" cy="369332"/>
          </a:xfrm>
          <a:prstGeom prst="rect">
            <a:avLst/>
          </a:prstGeom>
        </p:spPr>
        <p:txBody>
          <a:bodyPr wrap="square">
            <a:spAutoFit/>
          </a:bodyPr>
          <a:lstStyle/>
          <a:p>
            <a:r>
              <a:rPr lang="en-US" sz="900" dirty="0"/>
              <a:t>[4]         </a:t>
            </a:r>
            <a:r>
              <a:rPr lang="en-US" sz="900" dirty="0" err="1"/>
              <a:t>Difrancesco</a:t>
            </a:r>
            <a:r>
              <a:rPr lang="en-US" sz="900" dirty="0"/>
              <a:t>, Paul-Mark &amp; </a:t>
            </a:r>
            <a:r>
              <a:rPr lang="en-US" sz="900" dirty="0" err="1"/>
              <a:t>Bonneau</a:t>
            </a:r>
            <a:r>
              <a:rPr lang="en-US" sz="900" dirty="0"/>
              <a:t>, David &amp; Hutchinson, D.. (2020). The Implications of M3C2 Projection Diameter on 3D Semi-Automated </a:t>
            </a:r>
            <a:r>
              <a:rPr lang="en-US" sz="900" dirty="0" err="1"/>
              <a:t>Rockfall</a:t>
            </a:r>
            <a:r>
              <a:rPr lang="en-US" sz="900" dirty="0"/>
              <a:t> Extraction from Sequential Terrestrial Laser Scanning Point Clouds. Remote Sensing. 12. 1885. 10.3390/rs12111885. </a:t>
            </a:r>
            <a:endParaRPr lang="en-US" sz="900" i="1" dirty="0"/>
          </a:p>
        </p:txBody>
      </p:sp>
    </p:spTree>
    <p:extLst>
      <p:ext uri="{BB962C8B-B14F-4D97-AF65-F5344CB8AC3E}">
        <p14:creationId xmlns:p14="http://schemas.microsoft.com/office/powerpoint/2010/main" val="1537680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xmlns="" id="{90C43403-B77E-474E-A638-C5BD6540DB40}"/>
              </a:ext>
            </a:extLst>
          </p:cNvPr>
          <p:cNvSpPr txBox="1"/>
          <p:nvPr/>
        </p:nvSpPr>
        <p:spPr>
          <a:xfrm>
            <a:off x="-635497" y="2998200"/>
            <a:ext cx="65" cy="276999"/>
          </a:xfrm>
          <a:prstGeom prst="rect">
            <a:avLst/>
          </a:prstGeom>
          <a:noFill/>
        </p:spPr>
        <p:txBody>
          <a:bodyPr wrap="none" lIns="0" tIns="0" rIns="0" bIns="0" rtlCol="0">
            <a:spAutoFit/>
          </a:bodyPr>
          <a:lstStyle/>
          <a:p>
            <a:endParaRPr lang="en-US" dirty="0"/>
          </a:p>
        </p:txBody>
      </p:sp>
      <p:pic>
        <p:nvPicPr>
          <p:cNvPr id="5" name="Picture 4"/>
          <p:cNvPicPr>
            <a:picLocks noChangeAspect="1"/>
          </p:cNvPicPr>
          <p:nvPr/>
        </p:nvPicPr>
        <p:blipFill>
          <a:blip r:embed="rId3"/>
          <a:stretch>
            <a:fillRect/>
          </a:stretch>
        </p:blipFill>
        <p:spPr>
          <a:xfrm>
            <a:off x="148662" y="921845"/>
            <a:ext cx="1234508" cy="1234508"/>
          </a:xfrm>
          <a:prstGeom prst="rect">
            <a:avLst/>
          </a:prstGeom>
        </p:spPr>
      </p:pic>
      <p:sp>
        <p:nvSpPr>
          <p:cNvPr id="45"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228" y="1901826"/>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6"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7876" y="2337594"/>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8"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835796" y="2534512"/>
            <a:ext cx="6309820"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الگوریتم بهبودیافته و تسریع‌کننده فرآیند همسان‌سازی متناسب خودروهای تجاری کِشنده</a:t>
            </a:r>
            <a:endParaRPr lang="en-US" b="1" dirty="0">
              <a:solidFill>
                <a:srgbClr val="000000"/>
              </a:solidFill>
              <a:latin typeface="Times New Roman" panose="02020603050405020304" pitchFamily="18" charset="0"/>
              <a:cs typeface="B Lotus" panose="00000400000000000000" pitchFamily="2" charset="-78"/>
            </a:endParaRPr>
          </a:p>
        </p:txBody>
      </p:sp>
      <p:grpSp>
        <p:nvGrpSpPr>
          <p:cNvPr id="49"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7102750" y="2610712"/>
            <a:ext cx="381000" cy="381000"/>
            <a:chOff x="2078" y="1680"/>
            <a:chExt cx="1615" cy="1615"/>
          </a:xfrm>
        </p:grpSpPr>
        <p:sp>
          <p:nvSpPr>
            <p:cNvPr id="50"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1"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2"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3"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4"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5"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6" name="TextBox 55">
            <a:extLst>
              <a:ext uri="{FF2B5EF4-FFF2-40B4-BE49-F238E27FC236}">
                <a16:creationId xmlns:a16="http://schemas.microsoft.com/office/drawing/2014/main" xmlns="" id="{90C43403-B77E-474E-A638-C5BD6540DB40}"/>
              </a:ext>
            </a:extLst>
          </p:cNvPr>
          <p:cNvSpPr txBox="1"/>
          <p:nvPr/>
        </p:nvSpPr>
        <p:spPr>
          <a:xfrm>
            <a:off x="2992949" y="3228549"/>
            <a:ext cx="65" cy="276999"/>
          </a:xfrm>
          <a:prstGeom prst="rect">
            <a:avLst/>
          </a:prstGeom>
          <a:noFill/>
        </p:spPr>
        <p:txBody>
          <a:bodyPr wrap="none" lIns="0" tIns="0" rIns="0" bIns="0" rtlCol="0">
            <a:spAutoFit/>
          </a:bodyPr>
          <a:lstStyle/>
          <a:p>
            <a:endParaRPr lang="en-US" dirty="0"/>
          </a:p>
        </p:txBody>
      </p:sp>
      <p:sp>
        <p:nvSpPr>
          <p:cNvPr id="57" name="AutoShape 8">
            <a:extLst>
              <a:ext uri="{FF2B5EF4-FFF2-40B4-BE49-F238E27FC236}">
                <a16:creationId xmlns:a16="http://schemas.microsoft.com/office/drawing/2014/main" xmlns="" id="{B5862EDC-452E-4DF3-BF8D-680DE0577504}"/>
              </a:ext>
            </a:extLst>
          </p:cNvPr>
          <p:cNvSpPr>
            <a:spLocks noChangeAspect="1" noChangeArrowheads="1"/>
          </p:cNvSpPr>
          <p:nvPr/>
        </p:nvSpPr>
        <p:spPr bwMode="gray">
          <a:xfrm>
            <a:off x="148662" y="3953150"/>
            <a:ext cx="6575687" cy="595352"/>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روشی نو برای همسان‌سازی باتری پک با اتصال سری بر مبنای تجزیه و تحلیل </a:t>
            </a:r>
            <a:r>
              <a:rPr lang="fa-IR" dirty="0" err="1">
                <a:cs typeface="B Lotus" panose="00000400000000000000" pitchFamily="2" charset="-78"/>
              </a:rPr>
              <a:t>خوشه‌بندی</a:t>
            </a:r>
            <a:endParaRPr lang="fa-IR" dirty="0">
              <a:cs typeface="B Lotus" panose="00000400000000000000" pitchFamily="2" charset="-78"/>
            </a:endParaRPr>
          </a:p>
          <a:p>
            <a:pPr algn="r" rtl="1" fontAlgn="base">
              <a:spcBef>
                <a:spcPct val="0"/>
              </a:spcBef>
              <a:spcAft>
                <a:spcPct val="0"/>
              </a:spcAft>
            </a:pPr>
            <a:r>
              <a:rPr lang="fa-IR" dirty="0">
                <a:cs typeface="B Lotus" panose="00000400000000000000" pitchFamily="2" charset="-78"/>
              </a:rPr>
              <a:t> همراه با الگوریتم ژنتیک</a:t>
            </a:r>
            <a:endParaRPr lang="en-US" dirty="0">
              <a:cs typeface="B Lotus" panose="00000400000000000000" pitchFamily="2" charset="-78"/>
            </a:endParaRPr>
          </a:p>
        </p:txBody>
      </p:sp>
      <p:sp>
        <p:nvSpPr>
          <p:cNvPr id="58" name="AutoShape 8">
            <a:extLst>
              <a:ext uri="{FF2B5EF4-FFF2-40B4-BE49-F238E27FC236}">
                <a16:creationId xmlns:a16="http://schemas.microsoft.com/office/drawing/2014/main" xmlns="" id="{3B3A499C-E5A4-4F32-9CCC-AD714CA7AEF7}"/>
              </a:ext>
            </a:extLst>
          </p:cNvPr>
          <p:cNvSpPr>
            <a:spLocks noChangeAspect="1" noChangeArrowheads="1"/>
          </p:cNvSpPr>
          <p:nvPr/>
        </p:nvSpPr>
        <p:spPr bwMode="gray">
          <a:xfrm>
            <a:off x="777499" y="5459140"/>
            <a:ext cx="6383614" cy="654499"/>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روشی بهینه و سریع برای همسان‌سازی فعال پک باتری مستهلک با استفاده از مبدل ولتاژ</a:t>
            </a:r>
            <a:r>
              <a:rPr lang="en-US" dirty="0">
                <a:cs typeface="B Lotus" panose="00000400000000000000" pitchFamily="2" charset="-78"/>
              </a:rPr>
              <a:t/>
            </a:r>
            <a:br>
              <a:rPr lang="en-US" dirty="0">
                <a:cs typeface="B Lotus" panose="00000400000000000000" pitchFamily="2" charset="-78"/>
              </a:rPr>
            </a:br>
            <a:r>
              <a:rPr lang="fa-IR" dirty="0">
                <a:cs typeface="B Lotus" panose="00000400000000000000" pitchFamily="2" charset="-78"/>
              </a:rPr>
              <a:t> دوطرفه با دامنه ولتاژ کاری وسیع و الگوریتم خوشه‌بندی </a:t>
            </a:r>
            <a:r>
              <a:rPr lang="en-US" i="1" dirty="0">
                <a:latin typeface="Times New Roman" panose="02020603050405020304" pitchFamily="18" charset="0"/>
                <a:cs typeface="Times New Roman" panose="02020603050405020304" pitchFamily="18" charset="0"/>
              </a:rPr>
              <a:t>DBSCAN</a:t>
            </a:r>
            <a:endParaRPr lang="en-US" dirty="0">
              <a:latin typeface="Times New Roman" panose="02020603050405020304" pitchFamily="18" charset="0"/>
              <a:cs typeface="Times New Roman" panose="02020603050405020304" pitchFamily="18" charset="0"/>
            </a:endParaRPr>
          </a:p>
        </p:txBody>
      </p:sp>
      <p:grpSp>
        <p:nvGrpSpPr>
          <p:cNvPr id="59" name="Group 23">
            <a:extLst>
              <a:ext uri="{FF2B5EF4-FFF2-40B4-BE49-F238E27FC236}">
                <a16:creationId xmlns:a16="http://schemas.microsoft.com/office/drawing/2014/main" xmlns="" id="{480CFC9E-AE3C-48F6-BC4D-4934E415B67E}"/>
              </a:ext>
            </a:extLst>
          </p:cNvPr>
          <p:cNvGrpSpPr>
            <a:grpSpLocks noChangeAspect="1"/>
          </p:cNvGrpSpPr>
          <p:nvPr/>
        </p:nvGrpSpPr>
        <p:grpSpPr bwMode="auto">
          <a:xfrm>
            <a:off x="6629139" y="4057157"/>
            <a:ext cx="381000" cy="381000"/>
            <a:chOff x="2078" y="1680"/>
            <a:chExt cx="1615" cy="1615"/>
          </a:xfrm>
        </p:grpSpPr>
        <p:sp>
          <p:nvSpPr>
            <p:cNvPr id="60" name="Oval 24">
              <a:extLst>
                <a:ext uri="{FF2B5EF4-FFF2-40B4-BE49-F238E27FC236}">
                  <a16:creationId xmlns:a16="http://schemas.microsoft.com/office/drawing/2014/main" xmlns="" id="{CACFC30A-9877-4806-9B4C-587ACE15034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1" name="Oval 25">
              <a:extLst>
                <a:ext uri="{FF2B5EF4-FFF2-40B4-BE49-F238E27FC236}">
                  <a16:creationId xmlns:a16="http://schemas.microsoft.com/office/drawing/2014/main" xmlns="" id="{640C1602-143A-456B-BA22-7664A3DEFFCF}"/>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2" name="Oval 26">
              <a:extLst>
                <a:ext uri="{FF2B5EF4-FFF2-40B4-BE49-F238E27FC236}">
                  <a16:creationId xmlns:a16="http://schemas.microsoft.com/office/drawing/2014/main" xmlns="" id="{53792F8F-0D9C-4345-A703-F034640FA7A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3" name="Oval 27">
              <a:extLst>
                <a:ext uri="{FF2B5EF4-FFF2-40B4-BE49-F238E27FC236}">
                  <a16:creationId xmlns:a16="http://schemas.microsoft.com/office/drawing/2014/main" xmlns="" id="{B29790E8-4F4B-4579-8A6B-FE3F9B0CAEF2}"/>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4" name="Oval 28">
              <a:extLst>
                <a:ext uri="{FF2B5EF4-FFF2-40B4-BE49-F238E27FC236}">
                  <a16:creationId xmlns:a16="http://schemas.microsoft.com/office/drawing/2014/main" xmlns="" id="{358C33BB-071D-4F24-839E-CC9C393EF0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5" name="Oval 29">
              <a:extLst>
                <a:ext uri="{FF2B5EF4-FFF2-40B4-BE49-F238E27FC236}">
                  <a16:creationId xmlns:a16="http://schemas.microsoft.com/office/drawing/2014/main" xmlns="" id="{4E06C84A-1EFC-44EA-B29A-11ED722DE85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66" name="Group 23">
            <a:extLst>
              <a:ext uri="{FF2B5EF4-FFF2-40B4-BE49-F238E27FC236}">
                <a16:creationId xmlns:a16="http://schemas.microsoft.com/office/drawing/2014/main" xmlns="" id="{DBD88F74-281E-49A6-BC26-B30CBBAE64C9}"/>
              </a:ext>
            </a:extLst>
          </p:cNvPr>
          <p:cNvGrpSpPr>
            <a:grpSpLocks noChangeAspect="1"/>
          </p:cNvGrpSpPr>
          <p:nvPr/>
        </p:nvGrpSpPr>
        <p:grpSpPr bwMode="auto">
          <a:xfrm>
            <a:off x="7066156" y="5621597"/>
            <a:ext cx="381000" cy="381000"/>
            <a:chOff x="2078" y="1680"/>
            <a:chExt cx="1615" cy="1615"/>
          </a:xfrm>
        </p:grpSpPr>
        <p:sp>
          <p:nvSpPr>
            <p:cNvPr id="67" name="Oval 24">
              <a:extLst>
                <a:ext uri="{FF2B5EF4-FFF2-40B4-BE49-F238E27FC236}">
                  <a16:creationId xmlns:a16="http://schemas.microsoft.com/office/drawing/2014/main" xmlns="" id="{8B6A68AB-47EE-4BEB-9563-FC726BE4E43A}"/>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8" name="Oval 25">
              <a:extLst>
                <a:ext uri="{FF2B5EF4-FFF2-40B4-BE49-F238E27FC236}">
                  <a16:creationId xmlns:a16="http://schemas.microsoft.com/office/drawing/2014/main" xmlns="" id="{004826CD-E5CF-47B8-BD5C-D81E5D353CD7}"/>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9" name="Oval 26">
              <a:extLst>
                <a:ext uri="{FF2B5EF4-FFF2-40B4-BE49-F238E27FC236}">
                  <a16:creationId xmlns:a16="http://schemas.microsoft.com/office/drawing/2014/main" xmlns="" id="{3B71C91A-95B1-48A6-8F6E-2BCE30BA506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0" name="Oval 27">
              <a:extLst>
                <a:ext uri="{FF2B5EF4-FFF2-40B4-BE49-F238E27FC236}">
                  <a16:creationId xmlns:a16="http://schemas.microsoft.com/office/drawing/2014/main" xmlns="" id="{4B68C4BF-098A-4123-BB53-98CECA7F4A81}"/>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1" name="Oval 28">
              <a:extLst>
                <a:ext uri="{FF2B5EF4-FFF2-40B4-BE49-F238E27FC236}">
                  <a16:creationId xmlns:a16="http://schemas.microsoft.com/office/drawing/2014/main" xmlns="" id="{3C5FE447-2DEF-4C03-AA66-D8D7E4B6E8E3}"/>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2" name="Oval 29">
              <a:extLst>
                <a:ext uri="{FF2B5EF4-FFF2-40B4-BE49-F238E27FC236}">
                  <a16:creationId xmlns:a16="http://schemas.microsoft.com/office/drawing/2014/main" xmlns="" id="{A8ADD6E4-DB30-4BEC-98B9-1D2EAA799DA1}"/>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2"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78"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79"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80" name="Rectangle 79"/>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81" name="Rectangle 80"/>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82" name="Picture 81"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83"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84" name="Rectangle 83">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85"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86" name="Rectangle 85">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3"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49</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0097153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xmlns="" id="{D25F6269-095B-45A9-87C4-41FB340F4A5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04800" y="1619600"/>
            <a:ext cx="8534401" cy="4545820"/>
          </a:xfrm>
          <a:prstGeom prst="rect">
            <a:avLst/>
          </a:prstGeom>
        </p:spPr>
      </p:pic>
      <p:sp>
        <p:nvSpPr>
          <p:cNvPr id="3" name="Rectangle 2">
            <a:extLst>
              <a:ext uri="{FF2B5EF4-FFF2-40B4-BE49-F238E27FC236}">
                <a16:creationId xmlns:a16="http://schemas.microsoft.com/office/drawing/2014/main" xmlns="" id="{E1064F08-C24D-4F6A-BE26-383C44EF2475}"/>
              </a:ext>
            </a:extLst>
          </p:cNvPr>
          <p:cNvSpPr/>
          <p:nvPr/>
        </p:nvSpPr>
        <p:spPr>
          <a:xfrm>
            <a:off x="1667553" y="6052213"/>
            <a:ext cx="4419800" cy="369332"/>
          </a:xfrm>
          <a:prstGeom prst="rect">
            <a:avLst/>
          </a:prstGeom>
        </p:spPr>
        <p:txBody>
          <a:bodyPr wrap="none">
            <a:spAutoFit/>
          </a:bodyPr>
          <a:lstStyle/>
          <a:p>
            <a:pPr algn="r" rtl="1"/>
            <a:r>
              <a:rPr lang="fa-IR" dirty="0">
                <a:latin typeface="Times New Roman" panose="02020603050405020304" pitchFamily="18" charset="0"/>
                <a:ea typeface="Calibri" panose="020F0502020204030204" pitchFamily="34" charset="0"/>
                <a:cs typeface="B Lotus" panose="00000400000000000000" pitchFamily="2" charset="-78"/>
              </a:rPr>
              <a:t>شکل 15 ساختار توپولوژی ارائه شده در طرح پیشنهادی </a:t>
            </a:r>
            <a:r>
              <a:rPr lang="fa-IR" dirty="0">
                <a:solidFill>
                  <a:srgbClr val="61D6FF"/>
                </a:solidFill>
                <a:latin typeface="Times New Roman" panose="02020603050405020304" pitchFamily="18" charset="0"/>
                <a:ea typeface="Calibri" panose="020F0502020204030204" pitchFamily="34" charset="0"/>
                <a:cs typeface="B Lotus" panose="00000400000000000000" pitchFamily="2" charset="-78"/>
              </a:rPr>
              <a:t>[4]</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pic>
        <p:nvPicPr>
          <p:cNvPr id="19" name="Picture 18"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0" name="TextBox 19">
            <a:extLst>
              <a:ext uri="{FF2B5EF4-FFF2-40B4-BE49-F238E27FC236}">
                <a16:creationId xmlns:a16="http://schemas.microsoft.com/office/drawing/2014/main" xmlns="" id="{90C43403-B77E-474E-A638-C5BD6540DB40}"/>
              </a:ext>
            </a:extLst>
          </p:cNvPr>
          <p:cNvSpPr txBox="1"/>
          <p:nvPr/>
        </p:nvSpPr>
        <p:spPr>
          <a:xfrm>
            <a:off x="2648411" y="686668"/>
            <a:ext cx="65" cy="276999"/>
          </a:xfrm>
          <a:prstGeom prst="rect">
            <a:avLst/>
          </a:prstGeom>
          <a:noFill/>
        </p:spPr>
        <p:txBody>
          <a:bodyPr wrap="none" lIns="0" tIns="0" rIns="0" bIns="0" rtlCol="0">
            <a:spAutoFit/>
          </a:bodyPr>
          <a:lstStyle/>
          <a:p>
            <a:endParaRPr lang="en-US" dirty="0"/>
          </a:p>
        </p:txBody>
      </p:sp>
      <p:sp>
        <p:nvSpPr>
          <p:cNvPr id="21" name="Slide Number Placeholder 4">
            <a:extLst>
              <a:ext uri="{FF2B5EF4-FFF2-40B4-BE49-F238E27FC236}">
                <a16:creationId xmlns:a16="http://schemas.microsoft.com/office/drawing/2014/main" xmlns="" id="{27EA69B3-891D-46E8-8004-444EAE0D2017}"/>
              </a:ext>
            </a:extLst>
          </p:cNvPr>
          <p:cNvSpPr>
            <a:spLocks noGrp="1"/>
          </p:cNvSpPr>
          <p:nvPr>
            <p:ph type="sldNum" sz="quarter" idx="12"/>
          </p:nvPr>
        </p:nvSpPr>
        <p:spPr>
          <a:xfrm>
            <a:off x="7620000" y="18288"/>
            <a:ext cx="1066800" cy="329184"/>
          </a:xfrm>
        </p:spPr>
        <p:txBody>
          <a:bodyPr/>
          <a:lstStyle/>
          <a:p>
            <a:fld id="{7FC2E40A-4446-4E2B-B9AD-16F559E28E02}" type="slidenum">
              <a:rPr lang="en-US" smtClean="0"/>
              <a:t>50</a:t>
            </a:fld>
            <a:endParaRPr lang="en-US"/>
          </a:p>
        </p:txBody>
      </p:sp>
      <p:sp>
        <p:nvSpPr>
          <p:cNvPr id="2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Rectangle 2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7" name="Picture 2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Rectangle 2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 name="Rectangle 1"/>
          <p:cNvSpPr/>
          <p:nvPr/>
        </p:nvSpPr>
        <p:spPr>
          <a:xfrm>
            <a:off x="148663" y="916237"/>
            <a:ext cx="6861738" cy="523220"/>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روشی بهینه و سریع برای همسان‌سازی فعال پک باتری مستهلک با استفاده از مبدل ولتاژ</a:t>
            </a:r>
            <a:r>
              <a:rPr lang="en-US" sz="1400" dirty="0">
                <a:cs typeface="B Lotus" panose="00000400000000000000" pitchFamily="2" charset="-78"/>
              </a:rPr>
              <a:t> </a:t>
            </a:r>
            <a:r>
              <a:rPr lang="fa-IR" sz="1400" dirty="0">
                <a:cs typeface="B Lotus" panose="00000400000000000000" pitchFamily="2" charset="-78"/>
              </a:rPr>
              <a:t>دوطرفه با دامنه ولتاژ کاری وسیع و الگوریتم خوشه‌بندی </a:t>
            </a:r>
            <a:r>
              <a:rPr lang="en-US" sz="1400" i="1" dirty="0">
                <a:latin typeface="Times New Roman" panose="02020603050405020304" pitchFamily="18" charset="0"/>
                <a:cs typeface="Times New Roman" panose="02020603050405020304" pitchFamily="18" charset="0"/>
              </a:rPr>
              <a:t>DBSCAN</a:t>
            </a:r>
            <a:endParaRPr lang="en-US" sz="1400" dirty="0">
              <a:latin typeface="Times New Roman" panose="02020603050405020304" pitchFamily="18" charset="0"/>
              <a:cs typeface="Times New Roman" panose="02020603050405020304" pitchFamily="18" charset="0"/>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50</a:t>
            </a:fld>
            <a:endParaRPr lang="fa-IR" sz="1800" dirty="0">
              <a:solidFill>
                <a:schemeClr val="tx1"/>
              </a:solidFill>
              <a:cs typeface="B Lotus" panose="00000400000000000000" pitchFamily="2" charset="-78"/>
            </a:endParaRPr>
          </a:p>
        </p:txBody>
      </p:sp>
      <p:sp>
        <p:nvSpPr>
          <p:cNvPr id="30" name="Rectangle 29"/>
          <p:cNvSpPr/>
          <p:nvPr/>
        </p:nvSpPr>
        <p:spPr>
          <a:xfrm>
            <a:off x="418672" y="6427113"/>
            <a:ext cx="8725328" cy="430887"/>
          </a:xfrm>
          <a:prstGeom prst="rect">
            <a:avLst/>
          </a:prstGeom>
        </p:spPr>
        <p:txBody>
          <a:bodyPr wrap="square">
            <a:spAutoFit/>
          </a:bodyPr>
          <a:lstStyle/>
          <a:p>
            <a:r>
              <a:rPr lang="en-US" sz="1100" dirty="0"/>
              <a:t>[4]         </a:t>
            </a:r>
            <a:r>
              <a:rPr lang="en-US" sz="1100" dirty="0" err="1"/>
              <a:t>Difrancesco</a:t>
            </a:r>
            <a:r>
              <a:rPr lang="en-US" sz="1100" dirty="0"/>
              <a:t>, Paul-Mark &amp; </a:t>
            </a:r>
            <a:r>
              <a:rPr lang="en-US" sz="1100" dirty="0" err="1"/>
              <a:t>Bonneau</a:t>
            </a:r>
            <a:r>
              <a:rPr lang="en-US" sz="1100" dirty="0"/>
              <a:t>, David &amp; Hutchinson, D.. (2020). The Implications of M3C2 Projection Diameter on 3D Semi-Automated </a:t>
            </a:r>
            <a:r>
              <a:rPr lang="en-US" sz="1100" dirty="0" err="1"/>
              <a:t>Rockfall</a:t>
            </a:r>
            <a:r>
              <a:rPr lang="en-US" sz="1100" dirty="0"/>
              <a:t> Extraction from Sequential Terrestrial Laser Scanning Point Clouds. Remote Sensing. 12. 1885. 10.3390/rs12111885. </a:t>
            </a:r>
            <a:endParaRPr lang="en-US" sz="1100" i="1" dirty="0"/>
          </a:p>
        </p:txBody>
      </p:sp>
    </p:spTree>
    <p:extLst>
      <p:ext uri="{BB962C8B-B14F-4D97-AF65-F5344CB8AC3E}">
        <p14:creationId xmlns:p14="http://schemas.microsoft.com/office/powerpoint/2010/main" val="41428666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BC95E25-1BC4-4BA6-800E-CB747C68872A}"/>
              </a:ext>
            </a:extLst>
          </p:cNvPr>
          <p:cNvSpPr/>
          <p:nvPr/>
        </p:nvSpPr>
        <p:spPr>
          <a:xfrm>
            <a:off x="2055148" y="5955820"/>
            <a:ext cx="4140877"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16 نمایی از فرآیند انتقال شارژ سلول به سلول </a:t>
            </a:r>
            <a:r>
              <a:rPr lang="fa-IR" dirty="0">
                <a:solidFill>
                  <a:srgbClr val="61D6FF"/>
                </a:solidFill>
                <a:latin typeface="Times New Roman" panose="02020603050405020304" pitchFamily="18" charset="0"/>
                <a:ea typeface="Calibri" panose="020F0502020204030204" pitchFamily="34" charset="0"/>
                <a:cs typeface="B Lotus" panose="00000400000000000000" pitchFamily="2" charset="-78"/>
              </a:rPr>
              <a:t>[4]</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pic>
        <p:nvPicPr>
          <p:cNvPr id="18" name="Picture 17">
            <a:extLst>
              <a:ext uri="{FF2B5EF4-FFF2-40B4-BE49-F238E27FC236}">
                <a16:creationId xmlns:a16="http://schemas.microsoft.com/office/drawing/2014/main" xmlns="" id="{D6F540C4-43BB-4171-AD37-C1F0B4C57C3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18774" y="1568376"/>
            <a:ext cx="7910548" cy="4387444"/>
          </a:xfrm>
          <a:prstGeom prst="rect">
            <a:avLst/>
          </a:prstGeom>
        </p:spPr>
      </p:pic>
      <p:pic>
        <p:nvPicPr>
          <p:cNvPr id="19" name="Picture 18"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0" name="TextBox 19">
            <a:extLst>
              <a:ext uri="{FF2B5EF4-FFF2-40B4-BE49-F238E27FC236}">
                <a16:creationId xmlns:a16="http://schemas.microsoft.com/office/drawing/2014/main" xmlns="" id="{90C43403-B77E-474E-A638-C5BD6540DB40}"/>
              </a:ext>
            </a:extLst>
          </p:cNvPr>
          <p:cNvSpPr txBox="1"/>
          <p:nvPr/>
        </p:nvSpPr>
        <p:spPr>
          <a:xfrm>
            <a:off x="2648411" y="686668"/>
            <a:ext cx="65" cy="276999"/>
          </a:xfrm>
          <a:prstGeom prst="rect">
            <a:avLst/>
          </a:prstGeom>
          <a:noFill/>
        </p:spPr>
        <p:txBody>
          <a:bodyPr wrap="none" lIns="0" tIns="0" rIns="0" bIns="0" rtlCol="0">
            <a:spAutoFit/>
          </a:bodyPr>
          <a:lstStyle/>
          <a:p>
            <a:endParaRPr lang="en-US" dirty="0"/>
          </a:p>
        </p:txBody>
      </p:sp>
      <p:sp>
        <p:nvSpPr>
          <p:cNvPr id="21" name="Slide Number Placeholder 4">
            <a:extLst>
              <a:ext uri="{FF2B5EF4-FFF2-40B4-BE49-F238E27FC236}">
                <a16:creationId xmlns:a16="http://schemas.microsoft.com/office/drawing/2014/main" xmlns="" id="{27EA69B3-891D-46E8-8004-444EAE0D2017}"/>
              </a:ext>
            </a:extLst>
          </p:cNvPr>
          <p:cNvSpPr>
            <a:spLocks noGrp="1"/>
          </p:cNvSpPr>
          <p:nvPr>
            <p:ph type="sldNum" sz="quarter" idx="12"/>
          </p:nvPr>
        </p:nvSpPr>
        <p:spPr>
          <a:xfrm>
            <a:off x="7620000" y="18288"/>
            <a:ext cx="1066800" cy="329184"/>
          </a:xfrm>
        </p:spPr>
        <p:txBody>
          <a:bodyPr/>
          <a:lstStyle/>
          <a:p>
            <a:fld id="{7FC2E40A-4446-4E2B-B9AD-16F559E28E02}" type="slidenum">
              <a:rPr lang="en-US" smtClean="0"/>
              <a:t>51</a:t>
            </a:fld>
            <a:endParaRPr lang="en-US"/>
          </a:p>
        </p:txBody>
      </p:sp>
      <p:sp>
        <p:nvSpPr>
          <p:cNvPr id="2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Rectangle 2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7" name="Picture 2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Rectangle 2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34" name="Rectangle 33"/>
          <p:cNvSpPr/>
          <p:nvPr/>
        </p:nvSpPr>
        <p:spPr>
          <a:xfrm>
            <a:off x="148663" y="916237"/>
            <a:ext cx="6861738" cy="523220"/>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روشی بهینه و سریع برای همسان‌سازی فعال پک باتری مستهلک با استفاده از مبدل ولتاژ</a:t>
            </a:r>
            <a:r>
              <a:rPr lang="en-US" sz="1400" dirty="0">
                <a:cs typeface="B Lotus" panose="00000400000000000000" pitchFamily="2" charset="-78"/>
              </a:rPr>
              <a:t> </a:t>
            </a:r>
            <a:r>
              <a:rPr lang="fa-IR" sz="1400" dirty="0">
                <a:cs typeface="B Lotus" panose="00000400000000000000" pitchFamily="2" charset="-78"/>
              </a:rPr>
              <a:t>دوطرفه با دامنه ولتاژ کاری وسیع و الگوریتم خوشه‌بندی </a:t>
            </a:r>
            <a:r>
              <a:rPr lang="en-US" sz="1400" i="1" dirty="0">
                <a:latin typeface="Times New Roman" panose="02020603050405020304" pitchFamily="18" charset="0"/>
                <a:cs typeface="Times New Roman" panose="02020603050405020304" pitchFamily="18" charset="0"/>
              </a:rPr>
              <a:t>DBSCAN</a:t>
            </a:r>
            <a:endParaRPr lang="en-US" sz="1400" dirty="0">
              <a:latin typeface="Times New Roman" panose="02020603050405020304" pitchFamily="18" charset="0"/>
              <a:cs typeface="Times New Roman" panose="02020603050405020304" pitchFamily="18" charset="0"/>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51</a:t>
            </a:fld>
            <a:endParaRPr lang="fa-IR" sz="1800" dirty="0">
              <a:solidFill>
                <a:schemeClr val="tx1"/>
              </a:solidFill>
              <a:cs typeface="B Lotus" panose="00000400000000000000" pitchFamily="2" charset="-78"/>
            </a:endParaRPr>
          </a:p>
        </p:txBody>
      </p:sp>
      <p:sp>
        <p:nvSpPr>
          <p:cNvPr id="30" name="Rectangle 29"/>
          <p:cNvSpPr/>
          <p:nvPr/>
        </p:nvSpPr>
        <p:spPr>
          <a:xfrm>
            <a:off x="418672" y="6427113"/>
            <a:ext cx="8725328" cy="430887"/>
          </a:xfrm>
          <a:prstGeom prst="rect">
            <a:avLst/>
          </a:prstGeom>
        </p:spPr>
        <p:txBody>
          <a:bodyPr wrap="square">
            <a:spAutoFit/>
          </a:bodyPr>
          <a:lstStyle/>
          <a:p>
            <a:r>
              <a:rPr lang="en-US" sz="1100" dirty="0"/>
              <a:t>[4]         </a:t>
            </a:r>
            <a:r>
              <a:rPr lang="en-US" sz="1100" dirty="0" err="1"/>
              <a:t>Difrancesco</a:t>
            </a:r>
            <a:r>
              <a:rPr lang="en-US" sz="1100" dirty="0"/>
              <a:t>, Paul-Mark &amp; </a:t>
            </a:r>
            <a:r>
              <a:rPr lang="en-US" sz="1100" dirty="0" err="1"/>
              <a:t>Bonneau</a:t>
            </a:r>
            <a:r>
              <a:rPr lang="en-US" sz="1100" dirty="0"/>
              <a:t>, David &amp; Hutchinson, D.. (2020). The Implications of M3C2 Projection Diameter on 3D Semi-Automated </a:t>
            </a:r>
            <a:r>
              <a:rPr lang="en-US" sz="1100" dirty="0" err="1"/>
              <a:t>Rockfall</a:t>
            </a:r>
            <a:r>
              <a:rPr lang="en-US" sz="1100" dirty="0"/>
              <a:t> Extraction from Sequential Terrestrial Laser Scanning Point Clouds. Remote Sensing. 12. 1885. 10.3390/rs12111885. </a:t>
            </a:r>
            <a:endParaRPr lang="en-US" sz="1100" i="1" dirty="0"/>
          </a:p>
        </p:txBody>
      </p:sp>
    </p:spTree>
    <p:extLst>
      <p:ext uri="{BB962C8B-B14F-4D97-AF65-F5344CB8AC3E}">
        <p14:creationId xmlns:p14="http://schemas.microsoft.com/office/powerpoint/2010/main" val="36299116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BC95E25-1BC4-4BA6-800E-CB747C68872A}"/>
              </a:ext>
            </a:extLst>
          </p:cNvPr>
          <p:cNvSpPr/>
          <p:nvPr/>
        </p:nvSpPr>
        <p:spPr>
          <a:xfrm>
            <a:off x="1969628" y="5875485"/>
            <a:ext cx="4047903" cy="369332"/>
          </a:xfrm>
          <a:prstGeom prst="rect">
            <a:avLst/>
          </a:prstGeom>
        </p:spPr>
        <p:txBody>
          <a:bodyPr wrap="non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17 نمایی از فرآیند انتقال شارژ گروه به گروه </a:t>
            </a:r>
            <a:r>
              <a:rPr lang="fa-IR" dirty="0">
                <a:solidFill>
                  <a:srgbClr val="61D6FF"/>
                </a:solidFill>
                <a:latin typeface="Times New Roman" panose="02020603050405020304" pitchFamily="18" charset="0"/>
                <a:ea typeface="Calibri" panose="020F0502020204030204" pitchFamily="34" charset="0"/>
                <a:cs typeface="B Lotus" panose="00000400000000000000" pitchFamily="2" charset="-78"/>
              </a:rPr>
              <a:t>[4]</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pic>
        <p:nvPicPr>
          <p:cNvPr id="18" name="Picture 17">
            <a:extLst>
              <a:ext uri="{FF2B5EF4-FFF2-40B4-BE49-F238E27FC236}">
                <a16:creationId xmlns:a16="http://schemas.microsoft.com/office/drawing/2014/main" xmlns="" id="{D6F540C4-43BB-4171-AD37-C1F0B4C57C3E}"/>
              </a:ext>
            </a:extLst>
          </p:cNvPr>
          <p:cNvPicPr/>
          <p:nvPr/>
        </p:nvPicPr>
        <p:blipFill>
          <a:blip r:embed="rId3">
            <a:extLst>
              <a:ext uri="{28A0092B-C50C-407E-A947-70E740481C1C}">
                <a14:useLocalDpi xmlns:a14="http://schemas.microsoft.com/office/drawing/2010/main" val="0"/>
              </a:ext>
            </a:extLst>
          </a:blip>
          <a:stretch>
            <a:fillRect/>
          </a:stretch>
        </p:blipFill>
        <p:spPr>
          <a:xfrm>
            <a:off x="390925" y="1533870"/>
            <a:ext cx="7991075" cy="4375877"/>
          </a:xfrm>
          <a:prstGeom prst="rect">
            <a:avLst/>
          </a:prstGeom>
        </p:spPr>
      </p:pic>
      <p:pic>
        <p:nvPicPr>
          <p:cNvPr id="19" name="Picture 18"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0" name="TextBox 19">
            <a:extLst>
              <a:ext uri="{FF2B5EF4-FFF2-40B4-BE49-F238E27FC236}">
                <a16:creationId xmlns:a16="http://schemas.microsoft.com/office/drawing/2014/main" xmlns="" id="{90C43403-B77E-474E-A638-C5BD6540DB40}"/>
              </a:ext>
            </a:extLst>
          </p:cNvPr>
          <p:cNvSpPr txBox="1"/>
          <p:nvPr/>
        </p:nvSpPr>
        <p:spPr>
          <a:xfrm>
            <a:off x="2648411" y="686668"/>
            <a:ext cx="65" cy="276999"/>
          </a:xfrm>
          <a:prstGeom prst="rect">
            <a:avLst/>
          </a:prstGeom>
          <a:noFill/>
        </p:spPr>
        <p:txBody>
          <a:bodyPr wrap="none" lIns="0" tIns="0" rIns="0" bIns="0" rtlCol="0">
            <a:spAutoFit/>
          </a:bodyPr>
          <a:lstStyle/>
          <a:p>
            <a:endParaRPr lang="en-US" dirty="0"/>
          </a:p>
        </p:txBody>
      </p:sp>
      <p:sp>
        <p:nvSpPr>
          <p:cNvPr id="21" name="Slide Number Placeholder 4">
            <a:extLst>
              <a:ext uri="{FF2B5EF4-FFF2-40B4-BE49-F238E27FC236}">
                <a16:creationId xmlns:a16="http://schemas.microsoft.com/office/drawing/2014/main" xmlns="" id="{27EA69B3-891D-46E8-8004-444EAE0D2017}"/>
              </a:ext>
            </a:extLst>
          </p:cNvPr>
          <p:cNvSpPr>
            <a:spLocks noGrp="1"/>
          </p:cNvSpPr>
          <p:nvPr>
            <p:ph type="sldNum" sz="quarter" idx="12"/>
          </p:nvPr>
        </p:nvSpPr>
        <p:spPr>
          <a:xfrm>
            <a:off x="7620000" y="18288"/>
            <a:ext cx="1066800" cy="329184"/>
          </a:xfrm>
        </p:spPr>
        <p:txBody>
          <a:bodyPr/>
          <a:lstStyle/>
          <a:p>
            <a:fld id="{7FC2E40A-4446-4E2B-B9AD-16F559E28E02}" type="slidenum">
              <a:rPr lang="en-US" smtClean="0"/>
              <a:t>52</a:t>
            </a:fld>
            <a:endParaRPr lang="en-US"/>
          </a:p>
        </p:txBody>
      </p:sp>
      <p:sp>
        <p:nvSpPr>
          <p:cNvPr id="2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Rectangle 2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7" name="Picture 2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Rectangle 2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34" name="Rectangle 33"/>
          <p:cNvSpPr/>
          <p:nvPr/>
        </p:nvSpPr>
        <p:spPr>
          <a:xfrm>
            <a:off x="148663" y="916237"/>
            <a:ext cx="6861738" cy="523220"/>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روشی بهینه و سریع برای همسان‌سازی فعال پک باتری مستهلک با استفاده از مبدل ولتاژ</a:t>
            </a:r>
            <a:r>
              <a:rPr lang="en-US" sz="1400" dirty="0">
                <a:cs typeface="B Lotus" panose="00000400000000000000" pitchFamily="2" charset="-78"/>
              </a:rPr>
              <a:t> </a:t>
            </a:r>
            <a:r>
              <a:rPr lang="fa-IR" sz="1400" dirty="0">
                <a:cs typeface="B Lotus" panose="00000400000000000000" pitchFamily="2" charset="-78"/>
              </a:rPr>
              <a:t>دوطرفه با دامنه ولتاژ کاری وسیع و الگوریتم خوشه‌بندی </a:t>
            </a:r>
            <a:r>
              <a:rPr lang="en-US" sz="1400" i="1" dirty="0">
                <a:latin typeface="Times New Roman" panose="02020603050405020304" pitchFamily="18" charset="0"/>
                <a:cs typeface="Times New Roman" panose="02020603050405020304" pitchFamily="18" charset="0"/>
              </a:rPr>
              <a:t>DBSCAN</a:t>
            </a:r>
            <a:endParaRPr lang="en-US" sz="1400" dirty="0">
              <a:latin typeface="Times New Roman" panose="02020603050405020304" pitchFamily="18" charset="0"/>
              <a:cs typeface="Times New Roman" panose="02020603050405020304" pitchFamily="18" charset="0"/>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52</a:t>
            </a:fld>
            <a:endParaRPr lang="fa-IR" sz="1800" dirty="0">
              <a:solidFill>
                <a:schemeClr val="tx1"/>
              </a:solidFill>
              <a:cs typeface="B Lotus" panose="00000400000000000000" pitchFamily="2" charset="-78"/>
            </a:endParaRPr>
          </a:p>
        </p:txBody>
      </p:sp>
      <p:sp>
        <p:nvSpPr>
          <p:cNvPr id="30" name="Rectangle 29"/>
          <p:cNvSpPr/>
          <p:nvPr/>
        </p:nvSpPr>
        <p:spPr>
          <a:xfrm>
            <a:off x="418672" y="6427113"/>
            <a:ext cx="8725328" cy="430887"/>
          </a:xfrm>
          <a:prstGeom prst="rect">
            <a:avLst/>
          </a:prstGeom>
        </p:spPr>
        <p:txBody>
          <a:bodyPr wrap="square">
            <a:spAutoFit/>
          </a:bodyPr>
          <a:lstStyle/>
          <a:p>
            <a:r>
              <a:rPr lang="en-US" sz="1100" dirty="0"/>
              <a:t>[4]         </a:t>
            </a:r>
            <a:r>
              <a:rPr lang="en-US" sz="1100" dirty="0" err="1"/>
              <a:t>Difrancesco</a:t>
            </a:r>
            <a:r>
              <a:rPr lang="en-US" sz="1100" dirty="0"/>
              <a:t>, Paul-Mark &amp; </a:t>
            </a:r>
            <a:r>
              <a:rPr lang="en-US" sz="1100" dirty="0" err="1"/>
              <a:t>Bonneau</a:t>
            </a:r>
            <a:r>
              <a:rPr lang="en-US" sz="1100" dirty="0"/>
              <a:t>, David &amp; Hutchinson, D.. (2020). The Implications of M3C2 Projection Diameter on 3D Semi-Automated </a:t>
            </a:r>
            <a:r>
              <a:rPr lang="en-US" sz="1100" dirty="0" err="1"/>
              <a:t>Rockfall</a:t>
            </a:r>
            <a:r>
              <a:rPr lang="en-US" sz="1100" dirty="0"/>
              <a:t> Extraction from Sequential Terrestrial Laser Scanning Point Clouds. Remote Sensing. 12. 1885. 10.3390/rs12111885. </a:t>
            </a:r>
            <a:endParaRPr lang="en-US" sz="1100" i="1" dirty="0"/>
          </a:p>
        </p:txBody>
      </p:sp>
    </p:spTree>
    <p:extLst>
      <p:ext uri="{BB962C8B-B14F-4D97-AF65-F5344CB8AC3E}">
        <p14:creationId xmlns:p14="http://schemas.microsoft.com/office/powerpoint/2010/main" val="29226274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863258" y="5564865"/>
            <a:ext cx="7323980"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ارزیابی نتایج پیاده سازی عملی روش های ذکر شده در به همراه زمان محاسباتی و همسان سازی </a:t>
            </a:r>
            <a:r>
              <a:rPr lang="fa-IR" dirty="0">
                <a:solidFill>
                  <a:srgbClr val="61D6FF"/>
                </a:solidFill>
                <a:latin typeface="Times New Roman" panose="02020603050405020304" pitchFamily="18" charset="0"/>
                <a:cs typeface="B Lotus" panose="00000400000000000000" pitchFamily="2" charset="-78"/>
              </a:rPr>
              <a:t>[3]</a:t>
            </a:r>
            <a:r>
              <a:rPr lang="fa-IR" dirty="0">
                <a:latin typeface="Times New Roman" panose="02020603050405020304" pitchFamily="18" charset="0"/>
                <a:cs typeface="B Lotus" panose="00000400000000000000" pitchFamily="2" charset="-78"/>
              </a:rPr>
              <a:t>.</a:t>
            </a:r>
            <a:endParaRPr lang="en-US" dirty="0"/>
          </a:p>
        </p:txBody>
      </p:sp>
      <p:sp>
        <p:nvSpPr>
          <p:cNvPr id="23"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5"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7" name="Rectangle 26"/>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8" name="Rectangle 27"/>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9" name="Picture 28"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3"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4" name="Rectangle 33">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5"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Rectangle 35">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2"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53</a:t>
            </a:fld>
            <a:endParaRPr lang="fa-IR" sz="1800" dirty="0">
              <a:solidFill>
                <a:schemeClr val="tx1"/>
              </a:solidFill>
              <a:cs typeface="B Lotus" panose="00000400000000000000" pitchFamily="2" charset="-78"/>
            </a:endParaRPr>
          </a:p>
        </p:txBody>
      </p:sp>
      <p:graphicFrame>
        <p:nvGraphicFramePr>
          <p:cNvPr id="20" name="Table 19"/>
          <p:cNvGraphicFramePr>
            <a:graphicFrameLocks noGrp="1"/>
          </p:cNvGraphicFramePr>
          <p:nvPr>
            <p:extLst>
              <p:ext uri="{D42A27DB-BD31-4B8C-83A1-F6EECF244321}">
                <p14:modId xmlns:p14="http://schemas.microsoft.com/office/powerpoint/2010/main" val="3139358488"/>
              </p:ext>
            </p:extLst>
          </p:nvPr>
        </p:nvGraphicFramePr>
        <p:xfrm>
          <a:off x="543584" y="2516206"/>
          <a:ext cx="7963329" cy="2873493"/>
        </p:xfrm>
        <a:graphic>
          <a:graphicData uri="http://schemas.openxmlformats.org/drawingml/2006/table">
            <a:tbl>
              <a:tblPr rtl="1" firstRow="1" firstCol="1" bandRow="1"/>
              <a:tblGrid>
                <a:gridCol w="2629692">
                  <a:extLst>
                    <a:ext uri="{9D8B030D-6E8A-4147-A177-3AD203B41FA5}">
                      <a16:colId xmlns:a16="http://schemas.microsoft.com/office/drawing/2014/main" xmlns="" val="20001"/>
                    </a:ext>
                  </a:extLst>
                </a:gridCol>
                <a:gridCol w="1355663">
                  <a:extLst>
                    <a:ext uri="{9D8B030D-6E8A-4147-A177-3AD203B41FA5}">
                      <a16:colId xmlns:a16="http://schemas.microsoft.com/office/drawing/2014/main" xmlns="" val="20002"/>
                    </a:ext>
                  </a:extLst>
                </a:gridCol>
                <a:gridCol w="1220095">
                  <a:extLst>
                    <a:ext uri="{9D8B030D-6E8A-4147-A177-3AD203B41FA5}">
                      <a16:colId xmlns:a16="http://schemas.microsoft.com/office/drawing/2014/main" xmlns="" val="20003"/>
                    </a:ext>
                  </a:extLst>
                </a:gridCol>
                <a:gridCol w="1525120">
                  <a:extLst>
                    <a:ext uri="{9D8B030D-6E8A-4147-A177-3AD203B41FA5}">
                      <a16:colId xmlns:a16="http://schemas.microsoft.com/office/drawing/2014/main" xmlns="" val="20004"/>
                    </a:ext>
                  </a:extLst>
                </a:gridCol>
                <a:gridCol w="1232759">
                  <a:extLst>
                    <a:ext uri="{9D8B030D-6E8A-4147-A177-3AD203B41FA5}">
                      <a16:colId xmlns:a16="http://schemas.microsoft.com/office/drawing/2014/main" xmlns="" val="20005"/>
                    </a:ext>
                  </a:extLst>
                </a:gridCol>
              </a:tblGrid>
              <a:tr h="1245850">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پارامتر</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p>
                      <a:pPr marL="0" marR="0" indent="182880" algn="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روش</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6">
                        <a:lumMod val="60000"/>
                        <a:lumOff val="40000"/>
                      </a:schemeClr>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زمان محاسباتی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s</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زمان همسان‌سازی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s</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ظرفیت قابل استفاده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Ah</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نسبت ظرفیت کل به ظرفیت قابل استفاده (%)</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502359">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همسان‌سازی با آستانه ثابت (اتلافی)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867C"/>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0.010</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2366</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1/858</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84/49</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562642">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خوشه‌بندی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K-means</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بدون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GA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867C"/>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0/037</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1641</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1/9079</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86/72</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562642">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خوشه‌بندی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K-means</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همراه با </a:t>
                      </a:r>
                      <a:r>
                        <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GA</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(4:6)</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867C"/>
                    </a:solidFill>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6/656</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1325</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1/9101</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8288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86/82</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30"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32" name="TextBox 31">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40" name="Rectangle 39"/>
          <p:cNvSpPr/>
          <p:nvPr/>
        </p:nvSpPr>
        <p:spPr>
          <a:xfrm>
            <a:off x="418672" y="6427113"/>
            <a:ext cx="8725328" cy="430887"/>
          </a:xfrm>
          <a:prstGeom prst="rect">
            <a:avLst/>
          </a:prstGeom>
        </p:spPr>
        <p:txBody>
          <a:bodyPr wrap="square">
            <a:spAutoFit/>
          </a:bodyPr>
          <a:lstStyle/>
          <a:p>
            <a:pPr lvl="0">
              <a:defRPr/>
            </a:pPr>
            <a:r>
              <a:rPr lang="en-US" sz="1100" dirty="0"/>
              <a:t>[3]      S. </a:t>
            </a:r>
            <a:r>
              <a:rPr lang="en-US" sz="1100" dirty="0" err="1"/>
              <a:t>Jinlei</a:t>
            </a:r>
            <a:r>
              <a:rPr lang="en-US" sz="1100" dirty="0"/>
              <a:t>, L. Wei, T. </a:t>
            </a:r>
            <a:r>
              <a:rPr lang="en-US" sz="1100" dirty="0" err="1"/>
              <a:t>Chuanyu</a:t>
            </a:r>
            <a:r>
              <a:rPr lang="en-US" sz="1100" dirty="0"/>
              <a:t>, W. </a:t>
            </a:r>
            <a:r>
              <a:rPr lang="en-US" sz="1100" dirty="0" err="1"/>
              <a:t>Tianru</a:t>
            </a:r>
            <a:r>
              <a:rPr lang="en-US" sz="1100" dirty="0"/>
              <a:t>, J. Tao, and T. Yong, "A novel active equalization method for series-connected battery packs based on clustering analysis with genetic algorithm," </a:t>
            </a:r>
            <a:r>
              <a:rPr lang="en-US" sz="1100" i="1" dirty="0"/>
              <a:t>IEEE Transactions on Power Electronics, </a:t>
            </a:r>
            <a:r>
              <a:rPr lang="en-US" sz="1100" dirty="0"/>
              <a:t>vol. 36, no. 7, pp. 7853-7865, 2021.</a:t>
            </a:r>
          </a:p>
        </p:txBody>
      </p:sp>
    </p:spTree>
    <p:extLst>
      <p:ext uri="{BB962C8B-B14F-4D97-AF65-F5344CB8AC3E}">
        <p14:creationId xmlns:p14="http://schemas.microsoft.com/office/powerpoint/2010/main" val="3904416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26"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429" name="Rectangle 428"/>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30" name="Rectangle 429"/>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18"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2393380" y="1903199"/>
            <a:ext cx="6307815" cy="427593"/>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dirty="0">
                <a:cs typeface="B Lotus" panose="00000400000000000000" pitchFamily="2" charset="-78"/>
              </a:rPr>
              <a:t>الگوریتم بهبودیافته و تسریع‌کننده فرآیند همسان‌سازی متناسب خودروهای تجاری کِشنده</a:t>
            </a:r>
            <a:endParaRPr lang="en-US" b="1" dirty="0">
              <a:solidFill>
                <a:srgbClr val="000000"/>
              </a:solidFill>
              <a:latin typeface="Times New Roman" panose="02020603050405020304" pitchFamily="18" charset="0"/>
              <a:cs typeface="B Lotus" panose="00000400000000000000" pitchFamily="2" charset="-78"/>
            </a:endParaRPr>
          </a:p>
        </p:txBody>
      </p:sp>
      <p:sp>
        <p:nvSpPr>
          <p:cNvPr id="19" name="TextBox 18"/>
          <p:cNvSpPr txBox="1"/>
          <p:nvPr/>
        </p:nvSpPr>
        <p:spPr>
          <a:xfrm>
            <a:off x="209088" y="5329937"/>
            <a:ext cx="2392001" cy="307777"/>
          </a:xfrm>
          <a:prstGeom prst="rect">
            <a:avLst/>
          </a:prstGeom>
          <a:noFill/>
        </p:spPr>
        <p:txBody>
          <a:bodyPr wrap="none" rtlCol="0">
            <a:spAutoFit/>
          </a:bodyPr>
          <a:lstStyle/>
          <a:p>
            <a:pPr algn="ctr" rtl="1"/>
            <a:r>
              <a:rPr lang="fa-IR" sz="1400" dirty="0">
                <a:latin typeface="Times New Roman" panose="02020603050405020304" pitchFamily="18" charset="0"/>
                <a:cs typeface="B Lotus" panose="00000400000000000000" pitchFamily="2" charset="-78"/>
              </a:rPr>
              <a:t>توپولوژی سلول به سلول مستقیم ماژولار</a:t>
            </a:r>
          </a:p>
        </p:txBody>
      </p:sp>
      <p:sp>
        <p:nvSpPr>
          <p:cNvPr id="21" name="TextBox 20"/>
          <p:cNvSpPr txBox="1"/>
          <p:nvPr/>
        </p:nvSpPr>
        <p:spPr>
          <a:xfrm>
            <a:off x="2747801" y="3474876"/>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26" name="TextBox 25"/>
          <p:cNvSpPr txBox="1"/>
          <p:nvPr/>
        </p:nvSpPr>
        <p:spPr>
          <a:xfrm>
            <a:off x="3734542" y="5114494"/>
            <a:ext cx="2272812" cy="523220"/>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الگوریتم منظم سازی و جفت کردن کمترین به بیشترین</a:t>
            </a:r>
            <a:endParaRPr lang="en-US" sz="1400" dirty="0">
              <a:latin typeface="Times New Roman" panose="02020603050405020304" pitchFamily="18" charset="0"/>
              <a:cs typeface="B Lotus" panose="00000400000000000000" pitchFamily="2" charset="-78"/>
            </a:endParaRPr>
          </a:p>
        </p:txBody>
      </p:sp>
      <p:pic>
        <p:nvPicPr>
          <p:cNvPr id="29" name="Picture 28"/>
          <p:cNvPicPr>
            <a:picLocks noChangeAspect="1"/>
          </p:cNvPicPr>
          <p:nvPr/>
        </p:nvPicPr>
        <p:blipFill>
          <a:blip r:embed="rId3"/>
          <a:stretch>
            <a:fillRect/>
          </a:stretch>
        </p:blipFill>
        <p:spPr>
          <a:xfrm>
            <a:off x="7376051" y="3578659"/>
            <a:ext cx="247650" cy="250160"/>
          </a:xfrm>
          <a:prstGeom prst="rect">
            <a:avLst/>
          </a:prstGeom>
        </p:spPr>
      </p:pic>
      <p:pic>
        <p:nvPicPr>
          <p:cNvPr id="32" name="Picture 31"/>
          <p:cNvPicPr>
            <a:picLocks noChangeAspect="1"/>
          </p:cNvPicPr>
          <p:nvPr/>
        </p:nvPicPr>
        <p:blipFill>
          <a:blip r:embed="rId4"/>
          <a:stretch>
            <a:fillRect/>
          </a:stretch>
        </p:blipFill>
        <p:spPr>
          <a:xfrm>
            <a:off x="7821371" y="3449489"/>
            <a:ext cx="610743" cy="586411"/>
          </a:xfrm>
          <a:prstGeom prst="rect">
            <a:avLst/>
          </a:prstGeom>
        </p:spPr>
      </p:pic>
      <p:pic>
        <p:nvPicPr>
          <p:cNvPr id="33" name="Picture 32"/>
          <p:cNvPicPr>
            <a:picLocks noChangeAspect="1"/>
          </p:cNvPicPr>
          <p:nvPr/>
        </p:nvPicPr>
        <p:blipFill>
          <a:blip r:embed="rId5"/>
          <a:stretch>
            <a:fillRect/>
          </a:stretch>
        </p:blipFill>
        <p:spPr>
          <a:xfrm>
            <a:off x="7821371" y="4167098"/>
            <a:ext cx="611904" cy="481300"/>
          </a:xfrm>
          <a:prstGeom prst="rect">
            <a:avLst/>
          </a:prstGeom>
        </p:spPr>
      </p:pic>
      <p:sp>
        <p:nvSpPr>
          <p:cNvPr id="35" name="TextBox 34"/>
          <p:cNvSpPr txBox="1"/>
          <p:nvPr/>
        </p:nvSpPr>
        <p:spPr>
          <a:xfrm>
            <a:off x="6399068" y="3452989"/>
            <a:ext cx="461986" cy="707886"/>
          </a:xfrm>
          <a:prstGeom prst="rect">
            <a:avLst/>
          </a:prstGeom>
          <a:noFill/>
        </p:spPr>
        <p:txBody>
          <a:bodyPr wrap="none" rtlCol="0">
            <a:spAutoFit/>
          </a:bodyPr>
          <a:lstStyle/>
          <a:p>
            <a:pPr algn="ctr" rtl="1"/>
            <a:r>
              <a:rPr lang="fa-IR" sz="4000" dirty="0">
                <a:latin typeface="Times New Roman" panose="02020603050405020304" pitchFamily="18" charset="0"/>
                <a:cs typeface="B Nasim" panose="00000700000000000000" pitchFamily="2" charset="-78"/>
              </a:rPr>
              <a:t>+</a:t>
            </a:r>
          </a:p>
        </p:txBody>
      </p:sp>
      <p:sp>
        <p:nvSpPr>
          <p:cNvPr id="36" name="TextBox 35"/>
          <p:cNvSpPr txBox="1"/>
          <p:nvPr/>
        </p:nvSpPr>
        <p:spPr>
          <a:xfrm>
            <a:off x="6836311" y="5329937"/>
            <a:ext cx="2272812" cy="307777"/>
          </a:xfrm>
          <a:prstGeom prst="rect">
            <a:avLst/>
          </a:prstGeom>
          <a:noFill/>
        </p:spPr>
        <p:txBody>
          <a:bodyPr wrap="square" rtlCol="0">
            <a:spAutoFit/>
          </a:bodyPr>
          <a:lstStyle/>
          <a:p>
            <a:pPr algn="ctr" rtl="1"/>
            <a:r>
              <a:rPr lang="fa-IR" sz="1400" dirty="0">
                <a:latin typeface="Times New Roman" panose="02020603050405020304" pitchFamily="18" charset="0"/>
                <a:cs typeface="B Lotus" panose="00000400000000000000" pitchFamily="2" charset="-78"/>
              </a:rPr>
              <a:t>شبیه سازی</a:t>
            </a:r>
            <a:endParaRPr lang="en-US" sz="1400" dirty="0">
              <a:latin typeface="Times New Roman" panose="02020603050405020304" pitchFamily="18" charset="0"/>
              <a:cs typeface="B Lotus" panose="00000400000000000000" pitchFamily="2" charset="-78"/>
            </a:endParaRPr>
          </a:p>
        </p:txBody>
      </p:sp>
      <p:pic>
        <p:nvPicPr>
          <p:cNvPr id="3" name="Picture 2"/>
          <p:cNvPicPr>
            <a:picLocks noChangeAspect="1"/>
          </p:cNvPicPr>
          <p:nvPr/>
        </p:nvPicPr>
        <p:blipFill>
          <a:blip r:embed="rId6"/>
          <a:stretch>
            <a:fillRect/>
          </a:stretch>
        </p:blipFill>
        <p:spPr>
          <a:xfrm>
            <a:off x="4002578" y="3156364"/>
            <a:ext cx="1603699" cy="1603699"/>
          </a:xfrm>
          <a:prstGeom prst="rect">
            <a:avLst/>
          </a:prstGeom>
        </p:spPr>
      </p:pic>
      <p:pic>
        <p:nvPicPr>
          <p:cNvPr id="37" name="Picture 36"/>
          <p:cNvPicPr>
            <a:picLocks noChangeAspect="1"/>
          </p:cNvPicPr>
          <p:nvPr/>
        </p:nvPicPr>
        <p:blipFill>
          <a:blip r:embed="rId7"/>
          <a:stretch>
            <a:fillRect/>
          </a:stretch>
        </p:blipFill>
        <p:spPr>
          <a:xfrm>
            <a:off x="7376051" y="4279658"/>
            <a:ext cx="247650" cy="263198"/>
          </a:xfrm>
          <a:prstGeom prst="rect">
            <a:avLst/>
          </a:prstGeom>
        </p:spPr>
      </p:pic>
      <p:grpSp>
        <p:nvGrpSpPr>
          <p:cNvPr id="5" name="Group 4"/>
          <p:cNvGrpSpPr/>
          <p:nvPr/>
        </p:nvGrpSpPr>
        <p:grpSpPr>
          <a:xfrm>
            <a:off x="868231" y="2889680"/>
            <a:ext cx="651217" cy="2137065"/>
            <a:chOff x="990600" y="2205591"/>
            <a:chExt cx="651217" cy="2137065"/>
          </a:xfrm>
        </p:grpSpPr>
        <p:pic>
          <p:nvPicPr>
            <p:cNvPr id="20" name="Picture 19"/>
            <p:cNvPicPr/>
            <p:nvPr/>
          </p:nvPicPr>
          <p:blipFill>
            <a:blip r:embed="rId8" cstate="print">
              <a:extLst>
                <a:ext uri="{28A0092B-C50C-407E-A947-70E740481C1C}">
                  <a14:useLocalDpi xmlns:a14="http://schemas.microsoft.com/office/drawing/2010/main" val="0"/>
                </a:ext>
              </a:extLst>
            </a:blip>
            <a:stretch>
              <a:fillRect/>
            </a:stretch>
          </p:blipFill>
          <p:spPr bwMode="auto">
            <a:xfrm>
              <a:off x="990600" y="2205591"/>
              <a:ext cx="651217" cy="586472"/>
            </a:xfrm>
            <a:prstGeom prst="rect">
              <a:avLst/>
            </a:prstGeom>
            <a:noFill/>
            <a:ln>
              <a:noFill/>
            </a:ln>
          </p:spPr>
        </p:pic>
        <p:pic>
          <p:nvPicPr>
            <p:cNvPr id="39" name="Picture 38"/>
            <p:cNvPicPr/>
            <p:nvPr/>
          </p:nvPicPr>
          <p:blipFill>
            <a:blip r:embed="rId8" cstate="print">
              <a:extLst>
                <a:ext uri="{28A0092B-C50C-407E-A947-70E740481C1C}">
                  <a14:useLocalDpi xmlns:a14="http://schemas.microsoft.com/office/drawing/2010/main" val="0"/>
                </a:ext>
              </a:extLst>
            </a:blip>
            <a:stretch>
              <a:fillRect/>
            </a:stretch>
          </p:blipFill>
          <p:spPr bwMode="auto">
            <a:xfrm>
              <a:off x="990600" y="2840649"/>
              <a:ext cx="651217" cy="586472"/>
            </a:xfrm>
            <a:prstGeom prst="rect">
              <a:avLst/>
            </a:prstGeom>
            <a:noFill/>
            <a:ln>
              <a:noFill/>
            </a:ln>
          </p:spPr>
        </p:pic>
        <p:pic>
          <p:nvPicPr>
            <p:cNvPr id="40" name="Picture 39"/>
            <p:cNvPicPr/>
            <p:nvPr/>
          </p:nvPicPr>
          <p:blipFill>
            <a:blip r:embed="rId8" cstate="print">
              <a:extLst>
                <a:ext uri="{28A0092B-C50C-407E-A947-70E740481C1C}">
                  <a14:useLocalDpi xmlns:a14="http://schemas.microsoft.com/office/drawing/2010/main" val="0"/>
                </a:ext>
              </a:extLst>
            </a:blip>
            <a:stretch>
              <a:fillRect/>
            </a:stretch>
          </p:blipFill>
          <p:spPr bwMode="auto">
            <a:xfrm>
              <a:off x="990600" y="3756184"/>
              <a:ext cx="651217" cy="586472"/>
            </a:xfrm>
            <a:prstGeom prst="rect">
              <a:avLst/>
            </a:prstGeom>
            <a:noFill/>
            <a:ln>
              <a:noFill/>
            </a:ln>
          </p:spPr>
        </p:pic>
        <p:pic>
          <p:nvPicPr>
            <p:cNvPr id="4" name="Picture 3"/>
            <p:cNvPicPr>
              <a:picLocks noChangeAspect="1"/>
            </p:cNvPicPr>
            <p:nvPr/>
          </p:nvPicPr>
          <p:blipFill>
            <a:blip r:embed="rId9"/>
            <a:stretch>
              <a:fillRect/>
            </a:stretch>
          </p:blipFill>
          <p:spPr>
            <a:xfrm>
              <a:off x="1192449" y="3439425"/>
              <a:ext cx="247517" cy="324923"/>
            </a:xfrm>
            <a:prstGeom prst="rect">
              <a:avLst/>
            </a:prstGeom>
          </p:spPr>
        </p:pic>
      </p:grpSp>
      <p:grpSp>
        <p:nvGrpSpPr>
          <p:cNvPr id="41"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8510695" y="1922462"/>
            <a:ext cx="381000" cy="381000"/>
            <a:chOff x="2078" y="1680"/>
            <a:chExt cx="1615" cy="1615"/>
          </a:xfrm>
        </p:grpSpPr>
        <p:sp>
          <p:nvSpPr>
            <p:cNvPr id="42"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5"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6"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7"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pic>
        <p:nvPicPr>
          <p:cNvPr id="38" name="Picture 37"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51" name="Rectangle 50">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53"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5" name="Rectangle 54">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6"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4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54</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4819458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524804" y="1526708"/>
            <a:ext cx="8000892" cy="4293217"/>
          </a:xfrm>
          <a:prstGeom prst="rect">
            <a:avLst/>
          </a:prstGeom>
        </p:spPr>
      </p:pic>
      <p:sp>
        <p:nvSpPr>
          <p:cNvPr id="4" name="TextBox 3"/>
          <p:cNvSpPr txBox="1"/>
          <p:nvPr/>
        </p:nvSpPr>
        <p:spPr>
          <a:xfrm>
            <a:off x="777257" y="5882077"/>
            <a:ext cx="6756979" cy="369332"/>
          </a:xfrm>
          <a:prstGeom prst="rect">
            <a:avLst/>
          </a:prstGeom>
          <a:noFill/>
        </p:spPr>
        <p:txBody>
          <a:bodyPr wrap="none" rtlCol="0">
            <a:spAutoFit/>
          </a:bodyPr>
          <a:lstStyle/>
          <a:p>
            <a:pPr algn="r" rtl="1"/>
            <a:r>
              <a:rPr lang="fa-IR" dirty="0">
                <a:latin typeface="Times New Roman" panose="02020603050405020304" pitchFamily="18" charset="0"/>
                <a:ea typeface="Calibri" panose="020F0502020204030204" pitchFamily="34" charset="0"/>
                <a:cs typeface="B Lotus" panose="00000400000000000000" pitchFamily="2" charset="-78"/>
              </a:rPr>
              <a:t>شکل 8 </a:t>
            </a:r>
            <a:r>
              <a:rPr lang="fa-IR" dirty="0">
                <a:latin typeface="Times New Roman" panose="02020603050405020304" pitchFamily="18" charset="0"/>
                <a:cs typeface="B Lotus" panose="00000400000000000000" pitchFamily="2" charset="-78"/>
              </a:rPr>
              <a:t>پیکربندی سیستم همسان سازی پیشنهادی در پک باتری خودرو و در سطح ماژول </a:t>
            </a:r>
            <a:r>
              <a:rPr lang="fa-IR" dirty="0">
                <a:solidFill>
                  <a:srgbClr val="61D6FF"/>
                </a:solidFill>
                <a:latin typeface="Times New Roman" panose="02020603050405020304" pitchFamily="18" charset="0"/>
                <a:cs typeface="B Lotus" panose="00000400000000000000" pitchFamily="2" charset="-78"/>
              </a:rPr>
              <a:t>[2]</a:t>
            </a:r>
            <a:r>
              <a:rPr lang="fa-IR" dirty="0">
                <a:latin typeface="Times New Roman" panose="02020603050405020304" pitchFamily="18" charset="0"/>
                <a:cs typeface="B Lotus" panose="00000400000000000000" pitchFamily="2" charset="-78"/>
              </a:rPr>
              <a:t>.</a:t>
            </a:r>
            <a:endParaRPr lang="en-US" dirty="0">
              <a:latin typeface="Times New Roman" panose="02020603050405020304" pitchFamily="18" charset="0"/>
              <a:cs typeface="B Lotus" panose="00000400000000000000" pitchFamily="2" charset="-78"/>
            </a:endParaRPr>
          </a:p>
        </p:txBody>
      </p:sp>
      <p:sp>
        <p:nvSpPr>
          <p:cNvPr id="19"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0"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1"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2" name="Rectangle 21"/>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3" name="Rectangle 22"/>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Rectangle 25">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7"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8" name="Rectangle 27">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9" name="TextBox 28">
            <a:extLst>
              <a:ext uri="{FF2B5EF4-FFF2-40B4-BE49-F238E27FC236}">
                <a16:creationId xmlns:a16="http://schemas.microsoft.com/office/drawing/2014/main" xmlns="" id="{F43469DC-7F5B-471E-BD74-ED709E621F63}"/>
              </a:ext>
            </a:extLst>
          </p:cNvPr>
          <p:cNvSpPr txBox="1"/>
          <p:nvPr/>
        </p:nvSpPr>
        <p:spPr>
          <a:xfrm>
            <a:off x="121352" y="816890"/>
            <a:ext cx="6364243"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الگوریتم بهبودیافته و تسریع‌کننده فرآیند همسان‌سازی متناسب خودروهای تجاری کِشنده</a:t>
            </a:r>
            <a:endParaRPr lang="en-US" b="1" dirty="0">
              <a:solidFill>
                <a:srgbClr val="000000"/>
              </a:solidFill>
              <a:latin typeface="Times New Roman" panose="02020603050405020304" pitchFamily="18" charset="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55</a:t>
            </a:fld>
            <a:endParaRPr lang="fa-IR" sz="1800" dirty="0">
              <a:solidFill>
                <a:schemeClr val="tx1"/>
              </a:solidFill>
              <a:cs typeface="B Lotus" panose="00000400000000000000" pitchFamily="2" charset="-78"/>
            </a:endParaRPr>
          </a:p>
        </p:txBody>
      </p:sp>
      <p:sp>
        <p:nvSpPr>
          <p:cNvPr id="17" name="Rectangle 16"/>
          <p:cNvSpPr/>
          <p:nvPr/>
        </p:nvSpPr>
        <p:spPr>
          <a:xfrm>
            <a:off x="418672" y="6427113"/>
            <a:ext cx="8725328" cy="430887"/>
          </a:xfrm>
          <a:prstGeom prst="rect">
            <a:avLst/>
          </a:prstGeom>
        </p:spPr>
        <p:txBody>
          <a:bodyPr wrap="square">
            <a:spAutoFit/>
          </a:bodyPr>
          <a:lstStyle/>
          <a:p>
            <a:pPr algn="ctr"/>
            <a:r>
              <a:rPr lang="en-US" sz="1100" dirty="0"/>
              <a:t>[2]	B. </a:t>
            </a:r>
            <a:r>
              <a:rPr lang="en-US" sz="1100" dirty="0" err="1"/>
              <a:t>Erdoğan</a:t>
            </a:r>
            <a:r>
              <a:rPr lang="en-US" sz="1100" dirty="0"/>
              <a:t>, M. M. </a:t>
            </a:r>
            <a:r>
              <a:rPr lang="en-US" sz="1100" dirty="0" err="1"/>
              <a:t>Savrun</a:t>
            </a:r>
            <a:r>
              <a:rPr lang="en-US" sz="1100" dirty="0"/>
              <a:t>, T. </a:t>
            </a:r>
            <a:r>
              <a:rPr lang="en-US" sz="1100" dirty="0" err="1"/>
              <a:t>Köroğlu</a:t>
            </a:r>
            <a:r>
              <a:rPr lang="en-US" sz="1100" dirty="0"/>
              <a:t>, M. U. </a:t>
            </a:r>
            <a:r>
              <a:rPr lang="en-US" sz="1100" dirty="0" err="1"/>
              <a:t>Cuma</a:t>
            </a:r>
            <a:r>
              <a:rPr lang="en-US" sz="1100" dirty="0"/>
              <a:t>, and M. </a:t>
            </a:r>
            <a:r>
              <a:rPr lang="en-US" sz="1100" dirty="0" err="1"/>
              <a:t>Tümay</a:t>
            </a:r>
            <a:r>
              <a:rPr lang="en-US" sz="1100" dirty="0"/>
              <a:t>, "An improved and fast balancing algorithm for electric heavy commercial vehicles," </a:t>
            </a:r>
            <a:r>
              <a:rPr lang="en-US" sz="1100" i="1" dirty="0"/>
              <a:t>Journal of Energy Storage, </a:t>
            </a:r>
            <a:r>
              <a:rPr lang="nl-NL" sz="1100" dirty="0"/>
              <a:t>vol. 38, p. 102522, 2021.</a:t>
            </a:r>
          </a:p>
        </p:txBody>
      </p:sp>
    </p:spTree>
    <p:extLst>
      <p:ext uri="{BB962C8B-B14F-4D97-AF65-F5344CB8AC3E}">
        <p14:creationId xmlns:p14="http://schemas.microsoft.com/office/powerpoint/2010/main" val="3089864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25018" y="5950109"/>
            <a:ext cx="3340979" cy="369332"/>
          </a:xfrm>
          <a:prstGeom prst="rect">
            <a:avLst/>
          </a:prstGeom>
          <a:noFill/>
        </p:spPr>
        <p:txBody>
          <a:bodyPr wrap="none" rtlCol="0">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شکل 9 </a:t>
            </a:r>
            <a:r>
              <a:rPr lang="fa-IR" dirty="0">
                <a:latin typeface="Times New Roman" panose="02020603050405020304" pitchFamily="18" charset="0"/>
                <a:cs typeface="B Lotus" panose="00000400000000000000" pitchFamily="2" charset="-78"/>
              </a:rPr>
              <a:t>مدل شبیه سازی شده یک ماژول </a:t>
            </a:r>
            <a:r>
              <a:rPr lang="fa-IR" dirty="0">
                <a:solidFill>
                  <a:srgbClr val="61D6FF"/>
                </a:solidFill>
                <a:latin typeface="Times New Roman" panose="02020603050405020304" pitchFamily="18" charset="0"/>
                <a:cs typeface="B Lotus" panose="00000400000000000000" pitchFamily="2" charset="-78"/>
              </a:rPr>
              <a:t>[2]</a:t>
            </a:r>
            <a:r>
              <a:rPr lang="fa-IR" dirty="0">
                <a:latin typeface="Times New Roman" panose="02020603050405020304" pitchFamily="18" charset="0"/>
                <a:cs typeface="B Lotus" panose="00000400000000000000" pitchFamily="2" charset="-78"/>
              </a:rPr>
              <a:t>.</a:t>
            </a:r>
            <a:endParaRPr lang="en-US" dirty="0">
              <a:latin typeface="Times New Roman" panose="02020603050405020304" pitchFamily="18" charset="0"/>
              <a:cs typeface="B Lotus" panose="00000400000000000000" pitchFamily="2" charset="-78"/>
            </a:endParaRPr>
          </a:p>
        </p:txBody>
      </p:sp>
      <p:pic>
        <p:nvPicPr>
          <p:cNvPr id="19" name="Picture 18"/>
          <p:cNvPicPr/>
          <p:nvPr/>
        </p:nvPicPr>
        <p:blipFill>
          <a:blip r:embed="rId3">
            <a:extLst>
              <a:ext uri="{28A0092B-C50C-407E-A947-70E740481C1C}">
                <a14:useLocalDpi xmlns:a14="http://schemas.microsoft.com/office/drawing/2010/main" val="0"/>
              </a:ext>
            </a:extLst>
          </a:blip>
          <a:stretch>
            <a:fillRect/>
          </a:stretch>
        </p:blipFill>
        <p:spPr>
          <a:xfrm>
            <a:off x="356907" y="1371058"/>
            <a:ext cx="8077200" cy="4579051"/>
          </a:xfrm>
          <a:prstGeom prst="rect">
            <a:avLst/>
          </a:prstGeom>
        </p:spPr>
      </p:pic>
      <p:sp>
        <p:nvSpPr>
          <p:cNvPr id="20" name="Rounded Rectangle 175">
            <a:extLst>
              <a:ext uri="{FF2B5EF4-FFF2-40B4-BE49-F238E27FC236}">
                <a16:creationId xmlns:a16="http://schemas.microsoft.com/office/drawing/2014/main" xmlns="" id="{AACCE7D9-540A-47B9-8964-41031B797FDD}"/>
              </a:ext>
            </a:extLst>
          </p:cNvPr>
          <p:cNvSpPr/>
          <p:nvPr/>
        </p:nvSpPr>
        <p:spPr bwMode="auto">
          <a:xfrm>
            <a:off x="7383708" y="827369"/>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1"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2"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3" name="Rectangle 22"/>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4" name="Rectangle 23"/>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5" name="Picture 2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6"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Rectangle 28">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2" name="TextBox 31">
            <a:extLst>
              <a:ext uri="{FF2B5EF4-FFF2-40B4-BE49-F238E27FC236}">
                <a16:creationId xmlns:a16="http://schemas.microsoft.com/office/drawing/2014/main" xmlns="" id="{F43469DC-7F5B-471E-BD74-ED709E621F63}"/>
              </a:ext>
            </a:extLst>
          </p:cNvPr>
          <p:cNvSpPr txBox="1"/>
          <p:nvPr/>
        </p:nvSpPr>
        <p:spPr>
          <a:xfrm>
            <a:off x="36674" y="899622"/>
            <a:ext cx="6364243"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الگوریتم بهبودیافته و تسریع‌کننده فرآیند همسان‌سازی متناسب خودروهای تجاری کِشنده</a:t>
            </a:r>
            <a:endParaRPr lang="en-US" b="1" dirty="0">
              <a:solidFill>
                <a:srgbClr val="000000"/>
              </a:solidFill>
              <a:latin typeface="Times New Roman" panose="02020603050405020304" pitchFamily="18" charset="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56</a:t>
            </a:fld>
            <a:endParaRPr lang="fa-IR" sz="1800" dirty="0">
              <a:solidFill>
                <a:schemeClr val="tx1"/>
              </a:solidFill>
              <a:cs typeface="B Lotus" panose="00000400000000000000" pitchFamily="2" charset="-78"/>
            </a:endParaRPr>
          </a:p>
        </p:txBody>
      </p:sp>
      <p:sp>
        <p:nvSpPr>
          <p:cNvPr id="18" name="Rectangle 17"/>
          <p:cNvSpPr/>
          <p:nvPr/>
        </p:nvSpPr>
        <p:spPr>
          <a:xfrm>
            <a:off x="418672" y="6427113"/>
            <a:ext cx="8725328" cy="430887"/>
          </a:xfrm>
          <a:prstGeom prst="rect">
            <a:avLst/>
          </a:prstGeom>
        </p:spPr>
        <p:txBody>
          <a:bodyPr wrap="square">
            <a:spAutoFit/>
          </a:bodyPr>
          <a:lstStyle/>
          <a:p>
            <a:pPr algn="ctr"/>
            <a:r>
              <a:rPr lang="en-US" sz="1100" dirty="0"/>
              <a:t>[2]	B. </a:t>
            </a:r>
            <a:r>
              <a:rPr lang="en-US" sz="1100" dirty="0" err="1"/>
              <a:t>Erdoğan</a:t>
            </a:r>
            <a:r>
              <a:rPr lang="en-US" sz="1100" dirty="0"/>
              <a:t>, M. M. </a:t>
            </a:r>
            <a:r>
              <a:rPr lang="en-US" sz="1100" dirty="0" err="1"/>
              <a:t>Savrun</a:t>
            </a:r>
            <a:r>
              <a:rPr lang="en-US" sz="1100" dirty="0"/>
              <a:t>, T. </a:t>
            </a:r>
            <a:r>
              <a:rPr lang="en-US" sz="1100" dirty="0" err="1"/>
              <a:t>Köroğlu</a:t>
            </a:r>
            <a:r>
              <a:rPr lang="en-US" sz="1100" dirty="0"/>
              <a:t>, M. U. </a:t>
            </a:r>
            <a:r>
              <a:rPr lang="en-US" sz="1100" dirty="0" err="1"/>
              <a:t>Cuma</a:t>
            </a:r>
            <a:r>
              <a:rPr lang="en-US" sz="1100" dirty="0"/>
              <a:t>, and M. </a:t>
            </a:r>
            <a:r>
              <a:rPr lang="en-US" sz="1100" dirty="0" err="1"/>
              <a:t>Tümay</a:t>
            </a:r>
            <a:r>
              <a:rPr lang="en-US" sz="1100" dirty="0"/>
              <a:t>, "An improved and fast balancing algorithm for electric heavy commercial vehicles," </a:t>
            </a:r>
            <a:r>
              <a:rPr lang="en-US" sz="1100" i="1" dirty="0"/>
              <a:t>Journal of Energy Storage, </a:t>
            </a:r>
            <a:r>
              <a:rPr lang="nl-NL" sz="1100" dirty="0"/>
              <a:t>vol. 38, p. 102522, 2021.</a:t>
            </a:r>
          </a:p>
        </p:txBody>
      </p:sp>
    </p:spTree>
    <p:extLst>
      <p:ext uri="{BB962C8B-B14F-4D97-AF65-F5344CB8AC3E}">
        <p14:creationId xmlns:p14="http://schemas.microsoft.com/office/powerpoint/2010/main" val="15121071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03917" y="6065484"/>
            <a:ext cx="3506089" cy="369332"/>
          </a:xfrm>
          <a:prstGeom prst="rect">
            <a:avLst/>
          </a:prstGeom>
          <a:noFill/>
        </p:spPr>
        <p:txBody>
          <a:bodyPr wrap="none" rtlCol="0">
            <a:spAutoFit/>
          </a:bodyPr>
          <a:lstStyle/>
          <a:p>
            <a:pPr algn="ctr"/>
            <a:r>
              <a:rPr lang="fa-IR" dirty="0">
                <a:latin typeface="Times New Roman" panose="02020603050405020304" pitchFamily="18" charset="0"/>
                <a:ea typeface="Calibri" panose="020F0502020204030204" pitchFamily="34" charset="0"/>
                <a:cs typeface="B Lotus" panose="00000400000000000000" pitchFamily="2" charset="-78"/>
              </a:rPr>
              <a:t>شکل 10 فلوچارت الگوریتم همسان‌سازی </a:t>
            </a:r>
            <a:r>
              <a:rPr lang="fa-IR" dirty="0">
                <a:solidFill>
                  <a:srgbClr val="61D6FF"/>
                </a:solidFill>
                <a:latin typeface="Times New Roman" panose="02020603050405020304" pitchFamily="18" charset="0"/>
                <a:cs typeface="B Lotus" panose="00000400000000000000" pitchFamily="2" charset="-78"/>
              </a:rPr>
              <a:t>[2]</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pic>
        <p:nvPicPr>
          <p:cNvPr id="20" name="Picture 19"/>
          <p:cNvPicPr/>
          <p:nvPr/>
        </p:nvPicPr>
        <p:blipFill>
          <a:blip r:embed="rId3">
            <a:extLst>
              <a:ext uri="{28A0092B-C50C-407E-A947-70E740481C1C}">
                <a14:useLocalDpi xmlns:a14="http://schemas.microsoft.com/office/drawing/2010/main" val="0"/>
              </a:ext>
            </a:extLst>
          </a:blip>
          <a:stretch>
            <a:fillRect/>
          </a:stretch>
        </p:blipFill>
        <p:spPr>
          <a:xfrm>
            <a:off x="855949" y="1125617"/>
            <a:ext cx="7338601" cy="4907500"/>
          </a:xfrm>
          <a:prstGeom prst="rect">
            <a:avLst/>
          </a:prstGeom>
        </p:spPr>
      </p:pic>
      <p:sp>
        <p:nvSpPr>
          <p:cNvPr id="19"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1"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2"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3" name="Rectangle 22"/>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4" name="Rectangle 23"/>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5" name="Picture 2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6"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Rectangle 28">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2" name="TextBox 31">
            <a:extLst>
              <a:ext uri="{FF2B5EF4-FFF2-40B4-BE49-F238E27FC236}">
                <a16:creationId xmlns:a16="http://schemas.microsoft.com/office/drawing/2014/main" xmlns="" id="{F43469DC-7F5B-471E-BD74-ED709E621F63}"/>
              </a:ext>
            </a:extLst>
          </p:cNvPr>
          <p:cNvSpPr txBox="1"/>
          <p:nvPr/>
        </p:nvSpPr>
        <p:spPr>
          <a:xfrm>
            <a:off x="64476" y="812338"/>
            <a:ext cx="6364243"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الگوریتم بهبودیافته و تسریع‌کننده فرآیند همسان‌سازی متناسب خودروهای تجاری کِشنده</a:t>
            </a:r>
            <a:endParaRPr lang="en-US" b="1" dirty="0">
              <a:solidFill>
                <a:srgbClr val="000000"/>
              </a:solidFill>
              <a:latin typeface="Times New Roman" panose="02020603050405020304" pitchFamily="18" charset="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57</a:t>
            </a:fld>
            <a:endParaRPr lang="fa-IR" sz="1800" dirty="0">
              <a:solidFill>
                <a:schemeClr val="tx1"/>
              </a:solidFill>
              <a:cs typeface="B Lotus" panose="00000400000000000000" pitchFamily="2" charset="-78"/>
            </a:endParaRPr>
          </a:p>
        </p:txBody>
      </p:sp>
      <p:sp>
        <p:nvSpPr>
          <p:cNvPr id="17" name="Rectangle 16"/>
          <p:cNvSpPr/>
          <p:nvPr/>
        </p:nvSpPr>
        <p:spPr>
          <a:xfrm>
            <a:off x="418672" y="6427113"/>
            <a:ext cx="8725328" cy="430887"/>
          </a:xfrm>
          <a:prstGeom prst="rect">
            <a:avLst/>
          </a:prstGeom>
        </p:spPr>
        <p:txBody>
          <a:bodyPr wrap="square">
            <a:spAutoFit/>
          </a:bodyPr>
          <a:lstStyle/>
          <a:p>
            <a:pPr algn="ctr"/>
            <a:r>
              <a:rPr lang="en-US" sz="1100" dirty="0"/>
              <a:t>[2]	B. </a:t>
            </a:r>
            <a:r>
              <a:rPr lang="en-US" sz="1100" dirty="0" err="1"/>
              <a:t>Erdoğan</a:t>
            </a:r>
            <a:r>
              <a:rPr lang="en-US" sz="1100" dirty="0"/>
              <a:t>, M. M. </a:t>
            </a:r>
            <a:r>
              <a:rPr lang="en-US" sz="1100" dirty="0" err="1"/>
              <a:t>Savrun</a:t>
            </a:r>
            <a:r>
              <a:rPr lang="en-US" sz="1100" dirty="0"/>
              <a:t>, T. </a:t>
            </a:r>
            <a:r>
              <a:rPr lang="en-US" sz="1100" dirty="0" err="1"/>
              <a:t>Köroğlu</a:t>
            </a:r>
            <a:r>
              <a:rPr lang="en-US" sz="1100" dirty="0"/>
              <a:t>, M. U. </a:t>
            </a:r>
            <a:r>
              <a:rPr lang="en-US" sz="1100" dirty="0" err="1"/>
              <a:t>Cuma</a:t>
            </a:r>
            <a:r>
              <a:rPr lang="en-US" sz="1100" dirty="0"/>
              <a:t>, and M. </a:t>
            </a:r>
            <a:r>
              <a:rPr lang="en-US" sz="1100" dirty="0" err="1"/>
              <a:t>Tümay</a:t>
            </a:r>
            <a:r>
              <a:rPr lang="en-US" sz="1100" dirty="0"/>
              <a:t>, "An improved and fast balancing algorithm for electric heavy commercial vehicles," </a:t>
            </a:r>
            <a:r>
              <a:rPr lang="en-US" sz="1100" i="1" dirty="0"/>
              <a:t>Journal of Energy Storage, </a:t>
            </a:r>
            <a:r>
              <a:rPr lang="nl-NL" sz="1100" dirty="0"/>
              <a:t>vol. 38, p. 102522, 2021.</a:t>
            </a:r>
          </a:p>
        </p:txBody>
      </p:sp>
    </p:spTree>
    <p:extLst>
      <p:ext uri="{BB962C8B-B14F-4D97-AF65-F5344CB8AC3E}">
        <p14:creationId xmlns:p14="http://schemas.microsoft.com/office/powerpoint/2010/main" val="1300792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75">
            <a:extLst>
              <a:ext uri="{FF2B5EF4-FFF2-40B4-BE49-F238E27FC236}">
                <a16:creationId xmlns:a16="http://schemas.microsoft.com/office/drawing/2014/main" xmlns="" id="{AACCE7D9-540A-47B9-8964-41031B797FDD}"/>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pic>
        <p:nvPicPr>
          <p:cNvPr id="18" name="Picture 17"/>
          <p:cNvPicPr/>
          <p:nvPr/>
        </p:nvPicPr>
        <p:blipFill>
          <a:blip r:embed="rId3">
            <a:extLst>
              <a:ext uri="{28A0092B-C50C-407E-A947-70E740481C1C}">
                <a14:useLocalDpi xmlns:a14="http://schemas.microsoft.com/office/drawing/2010/main" val="0"/>
              </a:ext>
            </a:extLst>
          </a:blip>
          <a:stretch>
            <a:fillRect/>
          </a:stretch>
        </p:blipFill>
        <p:spPr>
          <a:xfrm>
            <a:off x="838200" y="1680852"/>
            <a:ext cx="7586768" cy="4246254"/>
          </a:xfrm>
          <a:prstGeom prst="rect">
            <a:avLst/>
          </a:prstGeom>
        </p:spPr>
      </p:pic>
      <p:graphicFrame>
        <p:nvGraphicFramePr>
          <p:cNvPr id="6" name="Table 5">
            <a:extLst>
              <a:ext uri="{FF2B5EF4-FFF2-40B4-BE49-F238E27FC236}">
                <a16:creationId xmlns:a16="http://schemas.microsoft.com/office/drawing/2014/main" xmlns="" id="{834D9C4B-67EB-4E28-830F-6F5F8E2ADB87}"/>
              </a:ext>
            </a:extLst>
          </p:cNvPr>
          <p:cNvGraphicFramePr>
            <a:graphicFrameLocks noGrp="1"/>
          </p:cNvGraphicFramePr>
          <p:nvPr>
            <p:extLst>
              <p:ext uri="{D42A27DB-BD31-4B8C-83A1-F6EECF244321}">
                <p14:modId xmlns:p14="http://schemas.microsoft.com/office/powerpoint/2010/main" val="832894626"/>
              </p:ext>
            </p:extLst>
          </p:nvPr>
        </p:nvGraphicFramePr>
        <p:xfrm>
          <a:off x="1219988" y="6189772"/>
          <a:ext cx="5937250" cy="274320"/>
        </p:xfrm>
        <a:graphic>
          <a:graphicData uri="http://schemas.openxmlformats.org/drawingml/2006/table">
            <a:tbl>
              <a:tblPr rtl="1" firstRow="1" firstCol="1" bandRow="1"/>
              <a:tblGrid>
                <a:gridCol w="5937250">
                  <a:extLst>
                    <a:ext uri="{9D8B030D-6E8A-4147-A177-3AD203B41FA5}">
                      <a16:colId xmlns:a16="http://schemas.microsoft.com/office/drawing/2014/main" xmlns="" val="2809807785"/>
                    </a:ext>
                  </a:extLst>
                </a:gridCol>
              </a:tblGrid>
              <a:tr h="0">
                <a:tc>
                  <a:txBody>
                    <a:bodyPr/>
                    <a:lstStyle/>
                    <a:p>
                      <a:pPr marL="0" marR="0" algn="ctr" rtl="1">
                        <a:spcBef>
                          <a:spcPts val="600"/>
                        </a:spcBef>
                        <a:spcAft>
                          <a:spcPts val="600"/>
                        </a:spcAft>
                      </a:pPr>
                      <a:r>
                        <a:rPr lang="fa-IR" sz="1800" i="0" dirty="0">
                          <a:effectLst/>
                          <a:latin typeface="Times New Roman" panose="02020603050405020304" pitchFamily="18" charset="0"/>
                          <a:ea typeface="Calibri" panose="020F0502020204030204" pitchFamily="34" charset="0"/>
                          <a:cs typeface="B Lotus" panose="00000400000000000000" pitchFamily="2" charset="-78"/>
                        </a:rPr>
                        <a:t> شکل</a:t>
                      </a:r>
                      <a:r>
                        <a:rPr lang="fa-IR" sz="1800" i="0" baseline="0" dirty="0">
                          <a:effectLst/>
                          <a:latin typeface="Times New Roman" panose="02020603050405020304" pitchFamily="18" charset="0"/>
                          <a:ea typeface="Calibri" panose="020F0502020204030204" pitchFamily="34" charset="0"/>
                          <a:cs typeface="B Lotus" panose="00000400000000000000" pitchFamily="2" charset="-78"/>
                        </a:rPr>
                        <a:t> 2 </a:t>
                      </a:r>
                      <a:r>
                        <a:rPr lang="fa-IR" sz="1800" i="0" dirty="0">
                          <a:effectLst/>
                          <a:latin typeface="Times New Roman" panose="02020603050405020304" pitchFamily="18" charset="0"/>
                          <a:ea typeface="Calibri" panose="020F0502020204030204" pitchFamily="34" charset="0"/>
                          <a:cs typeface="B Lotus" panose="00000400000000000000" pitchFamily="2" charset="-78"/>
                        </a:rPr>
                        <a:t>نمایی </a:t>
                      </a:r>
                      <a:r>
                        <a:rPr lang="fa-IR" sz="1800" i="0" dirty="0">
                          <a:solidFill>
                            <a:srgbClr val="000000"/>
                          </a:solidFill>
                          <a:effectLst/>
                          <a:latin typeface="Times New Roman" panose="02020603050405020304" pitchFamily="18" charset="0"/>
                          <a:ea typeface="Calibri" panose="020F0502020204030204" pitchFamily="34" charset="0"/>
                          <a:cs typeface="B Lotus" panose="00000400000000000000" pitchFamily="2" charset="-78"/>
                        </a:rPr>
                        <a:t>کلی</a:t>
                      </a:r>
                      <a:r>
                        <a:rPr lang="fa-IR" sz="1800" i="0" dirty="0">
                          <a:effectLst/>
                          <a:latin typeface="Times New Roman" panose="02020603050405020304" pitchFamily="18" charset="0"/>
                          <a:ea typeface="Calibri" panose="020F0502020204030204" pitchFamily="34" charset="0"/>
                          <a:cs typeface="B Lotus" panose="00000400000000000000" pitchFamily="2" charset="-78"/>
                        </a:rPr>
                        <a:t> از یک سیستم مدیریت باتری</a:t>
                      </a:r>
                      <a:r>
                        <a:rPr lang="fa-IR" sz="1800" b="0" i="0" u="none" baseline="0" dirty="0">
                          <a:solidFill>
                            <a:srgbClr val="B9EDFF"/>
                          </a:solidFill>
                          <a:effectLst/>
                          <a:latin typeface="Times New Roman" panose="02020603050405020304" pitchFamily="18" charset="0"/>
                          <a:ea typeface="Calibri" panose="020F0502020204030204" pitchFamily="34" charset="0"/>
                          <a:cs typeface="B Lotus" panose="00000400000000000000" pitchFamily="2" charset="-78"/>
                        </a:rPr>
                        <a:t>[1]</a:t>
                      </a:r>
                      <a:r>
                        <a:rPr lang="fa-IR" sz="1800" i="0" dirty="0">
                          <a:effectLst/>
                          <a:latin typeface="Times New Roman" panose="02020603050405020304" pitchFamily="18" charset="0"/>
                          <a:ea typeface="Calibri" panose="020F0502020204030204" pitchFamily="34" charset="0"/>
                          <a:cs typeface="B Lotus" panose="00000400000000000000" pitchFamily="2" charset="-78"/>
                        </a:rPr>
                        <a:t>.</a:t>
                      </a:r>
                      <a:endParaRPr lang="en-US" sz="16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a:noFill/>
                    </a:lnL>
                    <a:lnR>
                      <a:noFill/>
                    </a:lnR>
                    <a:lnT>
                      <a:noFill/>
                    </a:lnT>
                    <a:lnB>
                      <a:noFill/>
                    </a:lnB>
                  </a:tcPr>
                </a:tc>
                <a:extLst>
                  <a:ext uri="{0D108BD9-81ED-4DB2-BD59-A6C34878D82A}">
                    <a16:rowId xmlns:a16="http://schemas.microsoft.com/office/drawing/2014/main" xmlns="" val="3545091448"/>
                  </a:ext>
                </a:extLst>
              </a:tr>
            </a:tbl>
          </a:graphicData>
        </a:graphic>
      </p:graphicFrame>
      <p:sp>
        <p:nvSpPr>
          <p:cNvPr id="19" name="AutoShape 12" descr="5 Things That Affect Your Charging Speed | EVgo">
            <a:extLst>
              <a:ext uri="{FF2B5EF4-FFF2-40B4-BE49-F238E27FC236}">
                <a16:creationId xmlns:a16="http://schemas.microsoft.com/office/drawing/2014/main" xmlns="" id="{9FC30CD2-AA30-4A93-A17A-37F04B64613B}"/>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2" descr="What is the Depth of Discharge (DoD) Estimation of a Lithium Ion Battery?">
            <a:extLst>
              <a:ext uri="{FF2B5EF4-FFF2-40B4-BE49-F238E27FC236}">
                <a16:creationId xmlns:a16="http://schemas.microsoft.com/office/drawing/2014/main" xmlns="" id="{DCC75CF4-D017-47DB-A4EA-EF5A00FE0AA3}"/>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AutoShape 10">
            <a:extLst>
              <a:ext uri="{FF2B5EF4-FFF2-40B4-BE49-F238E27FC236}">
                <a16:creationId xmlns:a16="http://schemas.microsoft.com/office/drawing/2014/main" xmlns="" id="{877B21A1-48F2-45D3-A3C9-699CED3D286E}"/>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2" name="AutoShape 3">
            <a:extLst>
              <a:ext uri="{FF2B5EF4-FFF2-40B4-BE49-F238E27FC236}">
                <a16:creationId xmlns:a16="http://schemas.microsoft.com/office/drawing/2014/main" xmlns="" id="{B6220E46-BF40-46E0-B229-3EF4520FD5C6}"/>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3" name="AutoShape 3">
            <a:extLst>
              <a:ext uri="{FF2B5EF4-FFF2-40B4-BE49-F238E27FC236}">
                <a16:creationId xmlns:a16="http://schemas.microsoft.com/office/drawing/2014/main" xmlns="" id="{D99647C8-E5C1-49E3-8C3B-4552D824EA8C}"/>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4" name="AutoShape 3">
            <a:extLst>
              <a:ext uri="{FF2B5EF4-FFF2-40B4-BE49-F238E27FC236}">
                <a16:creationId xmlns:a16="http://schemas.microsoft.com/office/drawing/2014/main" xmlns="" id="{EFC9E916-0EF8-4213-85C7-2E628E5884E9}"/>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5" name="Rectangle 24">
            <a:extLst>
              <a:ext uri="{FF2B5EF4-FFF2-40B4-BE49-F238E27FC236}">
                <a16:creationId xmlns:a16="http://schemas.microsoft.com/office/drawing/2014/main" xmlns="" id="{B6584EB5-4B22-4F76-A5E1-6A1187A9B490}"/>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6" name="Rectangle 25">
            <a:extLst>
              <a:ext uri="{FF2B5EF4-FFF2-40B4-BE49-F238E27FC236}">
                <a16:creationId xmlns:a16="http://schemas.microsoft.com/office/drawing/2014/main" xmlns="" id="{A38D9D75-FD64-4480-9D82-733A3B3C3331}"/>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7" name="Rectangle 26">
            <a:extLst>
              <a:ext uri="{FF2B5EF4-FFF2-40B4-BE49-F238E27FC236}">
                <a16:creationId xmlns:a16="http://schemas.microsoft.com/office/drawing/2014/main" xmlns="" id="{F02EBD0C-AFA0-474F-BE64-0EA60EC68E39}"/>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8" name="Rectangle 27">
            <a:extLst>
              <a:ext uri="{FF2B5EF4-FFF2-40B4-BE49-F238E27FC236}">
                <a16:creationId xmlns:a16="http://schemas.microsoft.com/office/drawing/2014/main" xmlns="" id="{DDDEB1DB-0ACC-4D22-95D2-8BAAFDDC801E}"/>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a:solidFill>
                  <a:srgbClr val="FFFFFF"/>
                </a:solidFill>
                <a:latin typeface="Times New Roman" panose="02020603050405020304" pitchFamily="18" charset="0"/>
                <a:cs typeface="B Nazanin" pitchFamily="2" charset="-78"/>
              </a:rPr>
              <a:t>باتری ها</a:t>
            </a:r>
            <a:endParaRPr lang="en-US" sz="1500" b="1" kern="0" dirty="0">
              <a:solidFill>
                <a:srgbClr val="FFFFFF"/>
              </a:solidFill>
              <a:latin typeface="Times New Roman" panose="02020603050405020304" pitchFamily="18" charset="0"/>
              <a:cs typeface="B Nazanin" pitchFamily="2" charset="-78"/>
            </a:endParaRPr>
          </a:p>
        </p:txBody>
      </p:sp>
      <p:pic>
        <p:nvPicPr>
          <p:cNvPr id="29" name="Picture 28" descr="پرونده:Azad University logo.png - ویکی‌پدیا، دانشنامهٔ آزاد">
            <a:extLst>
              <a:ext uri="{FF2B5EF4-FFF2-40B4-BE49-F238E27FC236}">
                <a16:creationId xmlns:a16="http://schemas.microsoft.com/office/drawing/2014/main" xmlns="" id="{C0B2DF2F-55E8-4FDB-99B0-0D64E013D73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0"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58</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3831784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228" y="1783192"/>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6"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7876" y="2218960"/>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pic>
        <p:nvPicPr>
          <p:cNvPr id="30" name="Picture 29"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1" name="Rounded Rectangle 175">
            <a:extLst>
              <a:ext uri="{FF2B5EF4-FFF2-40B4-BE49-F238E27FC236}">
                <a16:creationId xmlns:a16="http://schemas.microsoft.com/office/drawing/2014/main" xmlns="" id="{AACCE7D9-540A-47B9-8964-41031B797FDD}"/>
              </a:ext>
            </a:extLst>
          </p:cNvPr>
          <p:cNvSpPr/>
          <p:nvPr/>
        </p:nvSpPr>
        <p:spPr bwMode="auto">
          <a:xfrm>
            <a:off x="4953000" y="1227144"/>
            <a:ext cx="3429000" cy="533400"/>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147" name="TextBox 146">
            <a:extLst>
              <a:ext uri="{FF2B5EF4-FFF2-40B4-BE49-F238E27FC236}">
                <a16:creationId xmlns:a16="http://schemas.microsoft.com/office/drawing/2014/main" xmlns="" id="{F43469DC-7F5B-471E-BD74-ED709E621F63}"/>
              </a:ext>
            </a:extLst>
          </p:cNvPr>
          <p:cNvSpPr txBox="1"/>
          <p:nvPr/>
        </p:nvSpPr>
        <p:spPr>
          <a:xfrm>
            <a:off x="5344567" y="2092656"/>
            <a:ext cx="2186817" cy="369332"/>
          </a:xfrm>
          <a:prstGeom prst="rect">
            <a:avLst/>
          </a:prstGeom>
          <a:noFill/>
        </p:spPr>
        <p:txBody>
          <a:bodyPr wrap="none" rtlCol="0">
            <a:spAutoFit/>
          </a:bodyPr>
          <a:lstStyle/>
          <a:p>
            <a:pPr algn="r" rtl="1"/>
            <a:r>
              <a:rPr lang="fa-IR" b="1" dirty="0">
                <a:cs typeface="B Nazanin" panose="00000400000000000000" pitchFamily="2" charset="-78"/>
              </a:rPr>
              <a:t>متغیر های همسان سازی</a:t>
            </a:r>
          </a:p>
        </p:txBody>
      </p:sp>
      <p:sp>
        <p:nvSpPr>
          <p:cNvPr id="148"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3142755" y="2716256"/>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مبتنی بر ولتاژ</a:t>
            </a:r>
            <a:endParaRPr lang="en-US" b="1" dirty="0">
              <a:solidFill>
                <a:srgbClr val="000000"/>
              </a:solidFill>
              <a:latin typeface="Times New Roman" panose="02020603050405020304" pitchFamily="18" charset="0"/>
              <a:cs typeface="B Nazanin" pitchFamily="2" charset="-78"/>
            </a:endParaRPr>
          </a:p>
        </p:txBody>
      </p:sp>
      <p:grpSp>
        <p:nvGrpSpPr>
          <p:cNvPr id="149"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7028955" y="2792456"/>
            <a:ext cx="381000" cy="381000"/>
            <a:chOff x="2078" y="1680"/>
            <a:chExt cx="1615" cy="1615"/>
          </a:xfrm>
        </p:grpSpPr>
        <p:sp>
          <p:nvSpPr>
            <p:cNvPr id="150"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1"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2"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3"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4"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55"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156" name="TextBox 155">
            <a:extLst>
              <a:ext uri="{FF2B5EF4-FFF2-40B4-BE49-F238E27FC236}">
                <a16:creationId xmlns:a16="http://schemas.microsoft.com/office/drawing/2014/main" xmlns="" id="{90C43403-B77E-474E-A638-C5BD6540DB40}"/>
              </a:ext>
            </a:extLst>
          </p:cNvPr>
          <p:cNvSpPr txBox="1"/>
          <p:nvPr/>
        </p:nvSpPr>
        <p:spPr>
          <a:xfrm>
            <a:off x="2992949" y="3109915"/>
            <a:ext cx="65" cy="276999"/>
          </a:xfrm>
          <a:prstGeom prst="rect">
            <a:avLst/>
          </a:prstGeom>
          <a:noFill/>
        </p:spPr>
        <p:txBody>
          <a:bodyPr wrap="none" lIns="0" tIns="0" rIns="0" bIns="0" rtlCol="0">
            <a:spAutoFit/>
          </a:bodyPr>
          <a:lstStyle/>
          <a:p>
            <a:endParaRPr lang="en-US" dirty="0"/>
          </a:p>
        </p:txBody>
      </p:sp>
      <p:sp>
        <p:nvSpPr>
          <p:cNvPr id="157" name="AutoShape 8">
            <a:extLst>
              <a:ext uri="{FF2B5EF4-FFF2-40B4-BE49-F238E27FC236}">
                <a16:creationId xmlns:a16="http://schemas.microsoft.com/office/drawing/2014/main" xmlns="" id="{B5862EDC-452E-4DF3-BF8D-680DE0577504}"/>
              </a:ext>
            </a:extLst>
          </p:cNvPr>
          <p:cNvSpPr>
            <a:spLocks noChangeAspect="1" noChangeArrowheads="1"/>
          </p:cNvSpPr>
          <p:nvPr/>
        </p:nvSpPr>
        <p:spPr bwMode="gray">
          <a:xfrm>
            <a:off x="2819444" y="4041816"/>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مبتنی بر وضعیت </a:t>
            </a:r>
            <a:r>
              <a:rPr lang="fa-IR" b="1" dirty="0" err="1">
                <a:solidFill>
                  <a:srgbClr val="000000"/>
                </a:solidFill>
                <a:latin typeface="Times New Roman" panose="02020603050405020304" pitchFamily="18" charset="0"/>
                <a:cs typeface="B Nazanin" pitchFamily="2" charset="-78"/>
              </a:rPr>
              <a:t>شارژ</a:t>
            </a:r>
            <a:r>
              <a:rPr lang="fa-IR" b="1" dirty="0">
                <a:solidFill>
                  <a:srgbClr val="000000"/>
                </a:solidFill>
                <a:latin typeface="Times New Roman" panose="02020603050405020304" pitchFamily="18" charset="0"/>
                <a:cs typeface="B Nazanin" pitchFamily="2" charset="-78"/>
              </a:rPr>
              <a:t> (</a:t>
            </a:r>
            <a:r>
              <a:rPr lang="en-US" b="1" dirty="0">
                <a:solidFill>
                  <a:srgbClr val="000000"/>
                </a:solidFill>
                <a:latin typeface="Times New Roman" panose="02020603050405020304" pitchFamily="18" charset="0"/>
                <a:cs typeface="B Nazanin" pitchFamily="2" charset="-78"/>
              </a:rPr>
              <a:t>SOC</a:t>
            </a:r>
            <a:r>
              <a:rPr lang="fa-IR" b="1" dirty="0">
                <a:solidFill>
                  <a:srgbClr val="000000"/>
                </a:solidFill>
                <a:latin typeface="Times New Roman" panose="02020603050405020304" pitchFamily="18" charset="0"/>
                <a:cs typeface="B Nazanin" pitchFamily="2" charset="-78"/>
              </a:rPr>
              <a:t>)</a:t>
            </a:r>
            <a:endParaRPr lang="en-US" b="1" dirty="0">
              <a:solidFill>
                <a:srgbClr val="000000"/>
              </a:solidFill>
              <a:latin typeface="Times New Roman" panose="02020603050405020304" pitchFamily="18" charset="0"/>
              <a:cs typeface="B Nazanin" pitchFamily="2" charset="-78"/>
            </a:endParaRPr>
          </a:p>
        </p:txBody>
      </p:sp>
      <p:sp>
        <p:nvSpPr>
          <p:cNvPr id="158" name="AutoShape 8">
            <a:extLst>
              <a:ext uri="{FF2B5EF4-FFF2-40B4-BE49-F238E27FC236}">
                <a16:creationId xmlns:a16="http://schemas.microsoft.com/office/drawing/2014/main" xmlns="" id="{3B3A499C-E5A4-4F32-9CCC-AD714CA7AEF7}"/>
              </a:ext>
            </a:extLst>
          </p:cNvPr>
          <p:cNvSpPr>
            <a:spLocks noChangeAspect="1" noChangeArrowheads="1"/>
          </p:cNvSpPr>
          <p:nvPr/>
        </p:nvSpPr>
        <p:spPr bwMode="gray">
          <a:xfrm>
            <a:off x="3216550" y="5367376"/>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مبتنی بر ظرفیت باقی مانده </a:t>
            </a:r>
            <a:endParaRPr lang="en-US" b="1" dirty="0">
              <a:solidFill>
                <a:srgbClr val="000000"/>
              </a:solidFill>
              <a:latin typeface="Times New Roman" panose="02020603050405020304" pitchFamily="18" charset="0"/>
              <a:cs typeface="B Nazanin" pitchFamily="2" charset="-78"/>
            </a:endParaRPr>
          </a:p>
        </p:txBody>
      </p:sp>
      <p:grpSp>
        <p:nvGrpSpPr>
          <p:cNvPr id="168" name="Group 23">
            <a:extLst>
              <a:ext uri="{FF2B5EF4-FFF2-40B4-BE49-F238E27FC236}">
                <a16:creationId xmlns:a16="http://schemas.microsoft.com/office/drawing/2014/main" xmlns="" id="{480CFC9E-AE3C-48F6-BC4D-4934E415B67E}"/>
              </a:ext>
            </a:extLst>
          </p:cNvPr>
          <p:cNvGrpSpPr>
            <a:grpSpLocks noChangeAspect="1"/>
          </p:cNvGrpSpPr>
          <p:nvPr/>
        </p:nvGrpSpPr>
        <p:grpSpPr bwMode="auto">
          <a:xfrm>
            <a:off x="6644181" y="4105317"/>
            <a:ext cx="381000" cy="381000"/>
            <a:chOff x="2078" y="1680"/>
            <a:chExt cx="1615" cy="1615"/>
          </a:xfrm>
        </p:grpSpPr>
        <p:sp>
          <p:nvSpPr>
            <p:cNvPr id="169" name="Oval 24">
              <a:extLst>
                <a:ext uri="{FF2B5EF4-FFF2-40B4-BE49-F238E27FC236}">
                  <a16:creationId xmlns:a16="http://schemas.microsoft.com/office/drawing/2014/main" xmlns="" id="{CACFC30A-9877-4806-9B4C-587ACE15034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0" name="Oval 25">
              <a:extLst>
                <a:ext uri="{FF2B5EF4-FFF2-40B4-BE49-F238E27FC236}">
                  <a16:creationId xmlns:a16="http://schemas.microsoft.com/office/drawing/2014/main" xmlns="" id="{640C1602-143A-456B-BA22-7664A3DEFFCF}"/>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1" name="Oval 26">
              <a:extLst>
                <a:ext uri="{FF2B5EF4-FFF2-40B4-BE49-F238E27FC236}">
                  <a16:creationId xmlns:a16="http://schemas.microsoft.com/office/drawing/2014/main" xmlns="" id="{53792F8F-0D9C-4345-A703-F034640FA7A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2" name="Oval 27">
              <a:extLst>
                <a:ext uri="{FF2B5EF4-FFF2-40B4-BE49-F238E27FC236}">
                  <a16:creationId xmlns:a16="http://schemas.microsoft.com/office/drawing/2014/main" xmlns="" id="{B29790E8-4F4B-4579-8A6B-FE3F9B0CAEF2}"/>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3" name="Oval 28">
              <a:extLst>
                <a:ext uri="{FF2B5EF4-FFF2-40B4-BE49-F238E27FC236}">
                  <a16:creationId xmlns:a16="http://schemas.microsoft.com/office/drawing/2014/main" xmlns="" id="{358C33BB-071D-4F24-839E-CC9C393EF0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4" name="Oval 29">
              <a:extLst>
                <a:ext uri="{FF2B5EF4-FFF2-40B4-BE49-F238E27FC236}">
                  <a16:creationId xmlns:a16="http://schemas.microsoft.com/office/drawing/2014/main" xmlns="" id="{4E06C84A-1EFC-44EA-B29A-11ED722DE85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175" name="Group 23">
            <a:extLst>
              <a:ext uri="{FF2B5EF4-FFF2-40B4-BE49-F238E27FC236}">
                <a16:creationId xmlns:a16="http://schemas.microsoft.com/office/drawing/2014/main" xmlns="" id="{DBD88F74-281E-49A6-BC26-B30CBBAE64C9}"/>
              </a:ext>
            </a:extLst>
          </p:cNvPr>
          <p:cNvGrpSpPr>
            <a:grpSpLocks noChangeAspect="1"/>
          </p:cNvGrpSpPr>
          <p:nvPr/>
        </p:nvGrpSpPr>
        <p:grpSpPr bwMode="auto">
          <a:xfrm>
            <a:off x="7050659" y="5431096"/>
            <a:ext cx="381000" cy="381000"/>
            <a:chOff x="2078" y="1680"/>
            <a:chExt cx="1615" cy="1615"/>
          </a:xfrm>
        </p:grpSpPr>
        <p:sp>
          <p:nvSpPr>
            <p:cNvPr id="176" name="Oval 24">
              <a:extLst>
                <a:ext uri="{FF2B5EF4-FFF2-40B4-BE49-F238E27FC236}">
                  <a16:creationId xmlns:a16="http://schemas.microsoft.com/office/drawing/2014/main" xmlns="" id="{8B6A68AB-47EE-4BEB-9563-FC726BE4E43A}"/>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7" name="Oval 25">
              <a:extLst>
                <a:ext uri="{FF2B5EF4-FFF2-40B4-BE49-F238E27FC236}">
                  <a16:creationId xmlns:a16="http://schemas.microsoft.com/office/drawing/2014/main" xmlns="" id="{004826CD-E5CF-47B8-BD5C-D81E5D353CD7}"/>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8" name="Oval 26">
              <a:extLst>
                <a:ext uri="{FF2B5EF4-FFF2-40B4-BE49-F238E27FC236}">
                  <a16:creationId xmlns:a16="http://schemas.microsoft.com/office/drawing/2014/main" xmlns="" id="{3B71C91A-95B1-48A6-8F6E-2BCE30BA506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9" name="Oval 27">
              <a:extLst>
                <a:ext uri="{FF2B5EF4-FFF2-40B4-BE49-F238E27FC236}">
                  <a16:creationId xmlns:a16="http://schemas.microsoft.com/office/drawing/2014/main" xmlns="" id="{4B68C4BF-098A-4123-BB53-98CECA7F4A81}"/>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80" name="Oval 28">
              <a:extLst>
                <a:ext uri="{FF2B5EF4-FFF2-40B4-BE49-F238E27FC236}">
                  <a16:creationId xmlns:a16="http://schemas.microsoft.com/office/drawing/2014/main" xmlns="" id="{3C5FE447-2DEF-4C03-AA66-D8D7E4B6E8E3}"/>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81" name="Oval 29">
              <a:extLst>
                <a:ext uri="{FF2B5EF4-FFF2-40B4-BE49-F238E27FC236}">
                  <a16:creationId xmlns:a16="http://schemas.microsoft.com/office/drawing/2014/main" xmlns="" id="{A8ADD6E4-DB30-4BEC-98B9-1D2EAA799DA1}"/>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pic>
        <p:nvPicPr>
          <p:cNvPr id="44" name="Picture 43">
            <a:extLst>
              <a:ext uri="{FF2B5EF4-FFF2-40B4-BE49-F238E27FC236}">
                <a16:creationId xmlns:a16="http://schemas.microsoft.com/office/drawing/2014/main" xmlns="" id="{E448CBB6-205F-4A19-B760-D7DB914CD91E}"/>
              </a:ext>
            </a:extLst>
          </p:cNvPr>
          <p:cNvPicPr>
            <a:picLocks noChangeAspect="1"/>
          </p:cNvPicPr>
          <p:nvPr/>
        </p:nvPicPr>
        <p:blipFill>
          <a:blip r:embed="rId4"/>
          <a:stretch>
            <a:fillRect/>
          </a:stretch>
        </p:blipFill>
        <p:spPr>
          <a:xfrm>
            <a:off x="370588" y="932649"/>
            <a:ext cx="1676480" cy="1122389"/>
          </a:xfrm>
          <a:prstGeom prst="rect">
            <a:avLst/>
          </a:prstGeom>
        </p:spPr>
      </p:pic>
      <p:sp>
        <p:nvSpPr>
          <p:cNvPr id="4" name="Slide Number Placeholder 3">
            <a:extLst>
              <a:ext uri="{FF2B5EF4-FFF2-40B4-BE49-F238E27FC236}">
                <a16:creationId xmlns:a16="http://schemas.microsoft.com/office/drawing/2014/main" xmlns="" id="{2362C952-6708-4F88-B2DA-95AF1E3F0EFF}"/>
              </a:ext>
            </a:extLst>
          </p:cNvPr>
          <p:cNvSpPr>
            <a:spLocks noGrp="1"/>
          </p:cNvSpPr>
          <p:nvPr>
            <p:ph type="sldNum" sz="quarter" idx="12"/>
          </p:nvPr>
        </p:nvSpPr>
        <p:spPr/>
        <p:txBody>
          <a:bodyPr/>
          <a:lstStyle/>
          <a:p>
            <a:fld id="{7FC2E40A-4446-4E2B-B9AD-16F559E28E02}" type="slidenum">
              <a:rPr lang="en-US" smtClean="0"/>
              <a:t>59</a:t>
            </a:fld>
            <a:endParaRPr lang="en-US"/>
          </a:p>
        </p:txBody>
      </p:sp>
      <p:sp>
        <p:nvSpPr>
          <p:cNvPr id="42"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43"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7" name="Rectangle 46">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8" name="Rectangle 4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9"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0"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1" name="Rectangle 50">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2" name="Rectangle 51">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3"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59</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25286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xmlns="" id="{F43469DC-7F5B-471E-BD74-ED709E621F63}"/>
              </a:ext>
            </a:extLst>
          </p:cNvPr>
          <p:cNvSpPr txBox="1"/>
          <p:nvPr/>
        </p:nvSpPr>
        <p:spPr>
          <a:xfrm>
            <a:off x="6667382" y="2357681"/>
            <a:ext cx="2186817" cy="369332"/>
          </a:xfrm>
          <a:prstGeom prst="rect">
            <a:avLst/>
          </a:prstGeom>
          <a:noFill/>
        </p:spPr>
        <p:txBody>
          <a:bodyPr wrap="none" rtlCol="0">
            <a:spAutoFit/>
          </a:bodyPr>
          <a:lstStyle/>
          <a:p>
            <a:pPr algn="r" rtl="1"/>
            <a:r>
              <a:rPr lang="fa-IR" b="1" dirty="0">
                <a:cs typeface="B Nazanin" panose="00000400000000000000" pitchFamily="2" charset="-78"/>
              </a:rPr>
              <a:t>متغیر های همسان سازی</a:t>
            </a:r>
          </a:p>
        </p:txBody>
      </p:sp>
      <p:sp>
        <p:nvSpPr>
          <p:cNvPr id="35"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36" name="Picture 35"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7"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9" name="Rectangle 38">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0" name="Rectangle 39">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7"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9" name="Rectangle 48">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0" name="Rectangle 49">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8" name="Rectangle 7"/>
          <p:cNvSpPr/>
          <p:nvPr/>
        </p:nvSpPr>
        <p:spPr>
          <a:xfrm>
            <a:off x="1381438" y="6397883"/>
            <a:ext cx="5857561"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 شکل 5 همسان سازی مبتنی بر ولتاژ(الف)، </a:t>
            </a:r>
            <a:r>
              <a:rPr lang="en-US" dirty="0">
                <a:latin typeface="Times New Roman" panose="02020603050405020304" pitchFamily="18" charset="0"/>
                <a:ea typeface="Calibri" panose="020F0502020204030204" pitchFamily="34" charset="0"/>
                <a:cs typeface="B Lotus" panose="00000400000000000000" pitchFamily="2" charset="-78"/>
              </a:rPr>
              <a:t>SOC</a:t>
            </a:r>
            <a:r>
              <a:rPr lang="fa-IR" dirty="0">
                <a:latin typeface="Times New Roman" panose="02020603050405020304" pitchFamily="18" charset="0"/>
                <a:cs typeface="B Lotus" panose="00000400000000000000" pitchFamily="2" charset="-78"/>
              </a:rPr>
              <a:t> </a:t>
            </a:r>
            <a:r>
              <a:rPr lang="fa-IR" dirty="0">
                <a:latin typeface="Times New Roman" panose="02020603050405020304" pitchFamily="18" charset="0"/>
                <a:ea typeface="Calibri" panose="020F0502020204030204" pitchFamily="34" charset="0"/>
                <a:cs typeface="B Lotus" panose="00000400000000000000" pitchFamily="2" charset="-78"/>
              </a:rPr>
              <a:t>(ب) و ظرفیت باقی مانده</a:t>
            </a:r>
            <a:r>
              <a:rPr lang="fa-IR" dirty="0">
                <a:latin typeface="Times New Roman" panose="02020603050405020304" pitchFamily="18" charset="0"/>
                <a:cs typeface="B Lotus" panose="00000400000000000000" pitchFamily="2" charset="-78"/>
              </a:rPr>
              <a:t> </a:t>
            </a:r>
            <a:r>
              <a:rPr lang="fa-IR" dirty="0">
                <a:latin typeface="Times New Roman" panose="02020603050405020304" pitchFamily="18" charset="0"/>
                <a:ea typeface="Calibri" panose="020F0502020204030204" pitchFamily="34" charset="0"/>
                <a:cs typeface="B Lotus" panose="00000400000000000000" pitchFamily="2" charset="-78"/>
              </a:rPr>
              <a:t>(ج)</a:t>
            </a:r>
            <a:endParaRPr lang="en-US" dirty="0"/>
          </a:p>
        </p:txBody>
      </p:sp>
      <p:sp>
        <p:nvSpPr>
          <p:cNvPr id="23"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60</a:t>
            </a:fld>
            <a:endParaRPr lang="fa-IR" sz="1800" dirty="0">
              <a:solidFill>
                <a:schemeClr val="tx1"/>
              </a:solidFill>
              <a:cs typeface="B Lotus" panose="00000400000000000000" pitchFamily="2" charset="-78"/>
            </a:endParaRPr>
          </a:p>
        </p:txBody>
      </p:sp>
      <p:grpSp>
        <p:nvGrpSpPr>
          <p:cNvPr id="2" name="Group 1"/>
          <p:cNvGrpSpPr/>
          <p:nvPr/>
        </p:nvGrpSpPr>
        <p:grpSpPr>
          <a:xfrm>
            <a:off x="196008" y="986340"/>
            <a:ext cx="7752756" cy="5465819"/>
            <a:chOff x="196008" y="986340"/>
            <a:chExt cx="7752756" cy="5465819"/>
          </a:xfrm>
        </p:grpSpPr>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008" y="1850482"/>
              <a:ext cx="416468" cy="249895"/>
            </a:xfrm>
            <a:prstGeom prst="rect">
              <a:avLst/>
            </a:prstGeom>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282" y="3570351"/>
              <a:ext cx="335920" cy="192226"/>
            </a:xfrm>
            <a:prstGeom prst="rect">
              <a:avLst/>
            </a:prstGeom>
          </p:spPr>
        </p:pic>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1844" y="5232551"/>
              <a:ext cx="304800" cy="203212"/>
            </a:xfrm>
            <a:prstGeom prst="rect">
              <a:avLst/>
            </a:prstGeom>
          </p:spPr>
        </p:pic>
        <p:pic>
          <p:nvPicPr>
            <p:cNvPr id="4" name="Picture 3"/>
            <p:cNvPicPr>
              <a:picLocks noChangeAspect="1"/>
            </p:cNvPicPr>
            <p:nvPr/>
          </p:nvPicPr>
          <p:blipFill>
            <a:blip r:embed="rId7"/>
            <a:stretch>
              <a:fillRect/>
            </a:stretch>
          </p:blipFill>
          <p:spPr>
            <a:xfrm>
              <a:off x="644106" y="986340"/>
              <a:ext cx="4126993" cy="1541063"/>
            </a:xfrm>
            <a:prstGeom prst="rect">
              <a:avLst/>
            </a:prstGeom>
          </p:spPr>
        </p:pic>
        <p:pic>
          <p:nvPicPr>
            <p:cNvPr id="5" name="Picture 4"/>
            <p:cNvPicPr>
              <a:picLocks noChangeAspect="1"/>
            </p:cNvPicPr>
            <p:nvPr/>
          </p:nvPicPr>
          <p:blipFill>
            <a:blip r:embed="rId8"/>
            <a:stretch>
              <a:fillRect/>
            </a:stretch>
          </p:blipFill>
          <p:spPr>
            <a:xfrm>
              <a:off x="2482350" y="2671490"/>
              <a:ext cx="3466674" cy="1572772"/>
            </a:xfrm>
            <a:prstGeom prst="rect">
              <a:avLst/>
            </a:prstGeom>
          </p:spPr>
        </p:pic>
        <p:pic>
          <p:nvPicPr>
            <p:cNvPr id="9" name="Picture 8"/>
            <p:cNvPicPr>
              <a:picLocks noChangeAspect="1"/>
            </p:cNvPicPr>
            <p:nvPr/>
          </p:nvPicPr>
          <p:blipFill>
            <a:blip r:embed="rId9"/>
            <a:stretch>
              <a:fillRect/>
            </a:stretch>
          </p:blipFill>
          <p:spPr>
            <a:xfrm>
              <a:off x="4482090" y="4308622"/>
              <a:ext cx="3466674" cy="2143537"/>
            </a:xfrm>
            <a:prstGeom prst="rect">
              <a:avLst/>
            </a:prstGeom>
          </p:spPr>
        </p:pic>
      </p:grpSp>
    </p:spTree>
    <p:extLst>
      <p:ext uri="{BB962C8B-B14F-4D97-AF65-F5344CB8AC3E}">
        <p14:creationId xmlns:p14="http://schemas.microsoft.com/office/powerpoint/2010/main" val="3884691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6634824" y="1905000"/>
            <a:ext cx="2151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sz="1200" b="1" dirty="0">
                <a:solidFill>
                  <a:srgbClr val="000000"/>
                </a:solidFill>
                <a:latin typeface="Times New Roman" panose="02020603050405020304" pitchFamily="18" charset="0"/>
                <a:cs typeface="B Nazanin" pitchFamily="2" charset="-78"/>
              </a:rPr>
              <a:t>مبتنی بر مدل (تخمین فیلتر کامن)</a:t>
            </a:r>
            <a:endParaRPr lang="en-US" sz="1200" b="1" dirty="0">
              <a:solidFill>
                <a:srgbClr val="000000"/>
              </a:solidFill>
              <a:latin typeface="Times New Roman" panose="02020603050405020304" pitchFamily="18" charset="0"/>
              <a:cs typeface="B Nazanin" pitchFamily="2" charset="-78"/>
            </a:endParaRPr>
          </a:p>
        </p:txBody>
      </p:sp>
      <p:grpSp>
        <p:nvGrpSpPr>
          <p:cNvPr id="38"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8743025" y="1981200"/>
            <a:ext cx="381000" cy="381000"/>
            <a:chOff x="2078" y="1680"/>
            <a:chExt cx="1615" cy="1615"/>
          </a:xfrm>
        </p:grpSpPr>
        <p:sp>
          <p:nvSpPr>
            <p:cNvPr id="39"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2" name="TextBox 51">
            <a:extLst>
              <a:ext uri="{FF2B5EF4-FFF2-40B4-BE49-F238E27FC236}">
                <a16:creationId xmlns:a16="http://schemas.microsoft.com/office/drawing/2014/main" xmlns="" id="{0D7C9433-5674-4BC9-A282-6D982E5B3065}"/>
              </a:ext>
            </a:extLst>
          </p:cNvPr>
          <p:cNvSpPr txBox="1"/>
          <p:nvPr/>
        </p:nvSpPr>
        <p:spPr>
          <a:xfrm>
            <a:off x="4857361" y="3127386"/>
            <a:ext cx="65" cy="276999"/>
          </a:xfrm>
          <a:prstGeom prst="rect">
            <a:avLst/>
          </a:prstGeom>
          <a:noFill/>
        </p:spPr>
        <p:txBody>
          <a:bodyPr wrap="none" lIns="0" tIns="0" rIns="0" bIns="0" rtlCol="0">
            <a:spAutoFit/>
          </a:bodyPr>
          <a:lstStyle/>
          <a:p>
            <a:endParaRPr lang="en-US" dirty="0"/>
          </a:p>
        </p:txBody>
      </p:sp>
      <p:pic>
        <p:nvPicPr>
          <p:cNvPr id="29" name="Picture 28"/>
          <p:cNvPicPr/>
          <p:nvPr/>
        </p:nvPicPr>
        <p:blipFill>
          <a:blip r:embed="rId3">
            <a:extLst>
              <a:ext uri="{28A0092B-C50C-407E-A947-70E740481C1C}">
                <a14:useLocalDpi xmlns:a14="http://schemas.microsoft.com/office/drawing/2010/main" val="0"/>
              </a:ext>
            </a:extLst>
          </a:blip>
          <a:stretch>
            <a:fillRect/>
          </a:stretch>
        </p:blipFill>
        <p:spPr bwMode="auto">
          <a:xfrm>
            <a:off x="253084" y="1369303"/>
            <a:ext cx="6246873" cy="4879985"/>
          </a:xfrm>
          <a:prstGeom prst="rect">
            <a:avLst/>
          </a:prstGeom>
          <a:noFill/>
          <a:ln>
            <a:noFill/>
          </a:ln>
        </p:spPr>
      </p:pic>
      <p:sp>
        <p:nvSpPr>
          <p:cNvPr id="30" name="Rounded Rectangle 175">
            <a:extLst>
              <a:ext uri="{FF2B5EF4-FFF2-40B4-BE49-F238E27FC236}">
                <a16:creationId xmlns:a16="http://schemas.microsoft.com/office/drawing/2014/main" xmlns="" id="{D8E27344-2AB1-4A61-B14B-D9C7962F785E}"/>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sp>
        <p:nvSpPr>
          <p:cNvPr id="33"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4" name="AutoShape 3">
            <a:extLst>
              <a:ext uri="{FF2B5EF4-FFF2-40B4-BE49-F238E27FC236}">
                <a16:creationId xmlns:a16="http://schemas.microsoft.com/office/drawing/2014/main" xmlns="" id="{5897B420-8EC3-4623-B9CD-873BD50E14B7}"/>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5" name="AutoShape 3">
            <a:extLst>
              <a:ext uri="{FF2B5EF4-FFF2-40B4-BE49-F238E27FC236}">
                <a16:creationId xmlns:a16="http://schemas.microsoft.com/office/drawing/2014/main" xmlns="" id="{29058428-9548-4415-A786-99DB42D1499B}"/>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7" name="Rectangle 36">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5" name="Rectangle 44">
            <a:extLst>
              <a:ext uri="{FF2B5EF4-FFF2-40B4-BE49-F238E27FC236}">
                <a16:creationId xmlns:a16="http://schemas.microsoft.com/office/drawing/2014/main" xmlns="" id="{029B7FF5-A50E-4253-B09E-E39EEA90B68F}"/>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6" name="Rectangle 45">
            <a:extLst>
              <a:ext uri="{FF2B5EF4-FFF2-40B4-BE49-F238E27FC236}">
                <a16:creationId xmlns:a16="http://schemas.microsoft.com/office/drawing/2014/main" xmlns="" id="{F2576E55-27E7-4A07-95C2-3356380EB505}"/>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7" name="Rectangle 4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pic>
        <p:nvPicPr>
          <p:cNvPr id="48" name="Picture 47"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9" name="TextBox 48">
            <a:extLst>
              <a:ext uri="{FF2B5EF4-FFF2-40B4-BE49-F238E27FC236}">
                <a16:creationId xmlns:a16="http://schemas.microsoft.com/office/drawing/2014/main" xmlns="" id="{790F494B-120B-467C-BEB7-DD550B770790}"/>
              </a:ext>
            </a:extLst>
          </p:cNvPr>
          <p:cNvSpPr txBox="1"/>
          <p:nvPr/>
        </p:nvSpPr>
        <p:spPr>
          <a:xfrm>
            <a:off x="320146" y="934180"/>
            <a:ext cx="3717685" cy="369332"/>
          </a:xfrm>
          <a:prstGeom prst="rect">
            <a:avLst/>
          </a:prstGeom>
          <a:noFill/>
        </p:spPr>
        <p:txBody>
          <a:bodyPr wrap="none" rtlCol="0">
            <a:spAutoFit/>
          </a:bodyPr>
          <a:lstStyle/>
          <a:p>
            <a:pPr algn="r" rtl="1" fontAlgn="base">
              <a:spcBef>
                <a:spcPct val="0"/>
              </a:spcBef>
              <a:spcAft>
                <a:spcPct val="0"/>
              </a:spcAft>
            </a:pPr>
            <a:r>
              <a:rPr lang="fa-IR" b="1" dirty="0">
                <a:cs typeface="B Nazanin" panose="00000400000000000000" pitchFamily="2" charset="-78"/>
              </a:rPr>
              <a:t>روش های تخمین وضعیت شارژ باتری (</a:t>
            </a:r>
            <a:r>
              <a:rPr lang="en-US" b="1" i="1" dirty="0">
                <a:latin typeface="Times New Roman" panose="02020603050405020304" pitchFamily="18" charset="0"/>
                <a:cs typeface="Times New Roman" panose="02020603050405020304" pitchFamily="18" charset="0"/>
              </a:rPr>
              <a:t>SOC</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sp>
        <p:nvSpPr>
          <p:cNvPr id="50" name="Rectangle 49"/>
          <p:cNvSpPr/>
          <p:nvPr/>
        </p:nvSpPr>
        <p:spPr>
          <a:xfrm>
            <a:off x="520700" y="6297324"/>
            <a:ext cx="5417476"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نمونه ساده شده از تخمین</a:t>
            </a:r>
            <a:r>
              <a:rPr lang="en-US" dirty="0">
                <a:latin typeface="Times New Roman" panose="02020603050405020304" pitchFamily="18" charset="0"/>
                <a:ea typeface="Calibri" panose="020F0502020204030204" pitchFamily="34" charset="0"/>
                <a:cs typeface="B Lotus" panose="00000400000000000000" pitchFamily="2" charset="-78"/>
              </a:rPr>
              <a:t>SOC </a:t>
            </a:r>
            <a:r>
              <a:rPr lang="fa-IR" dirty="0">
                <a:latin typeface="Times New Roman" panose="02020603050405020304" pitchFamily="18" charset="0"/>
                <a:ea typeface="Calibri" panose="020F0502020204030204" pitchFamily="34" charset="0"/>
                <a:cs typeface="B Lotus" panose="00000400000000000000" pitchFamily="2" charset="-78"/>
              </a:rPr>
              <a:t> توسط فیلتر کالمن </a:t>
            </a:r>
            <a:r>
              <a:rPr lang="fa-IR" dirty="0">
                <a:solidFill>
                  <a:srgbClr val="61D6FF"/>
                </a:solidFill>
                <a:latin typeface="Times New Roman" panose="02020603050405020304" pitchFamily="18" charset="0"/>
                <a:ea typeface="Calibri" panose="020F0502020204030204" pitchFamily="34" charset="0"/>
                <a:cs typeface="B Lotus" panose="00000400000000000000" pitchFamily="2" charset="-78"/>
              </a:rPr>
              <a:t>[1]</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sp>
        <p:nvSpPr>
          <p:cNvPr id="25"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61</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177502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7699972" y="2644054"/>
            <a:ext cx="2915072" cy="288245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47" name="TextBox 146">
            <a:extLst>
              <a:ext uri="{FF2B5EF4-FFF2-40B4-BE49-F238E27FC236}">
                <a16:creationId xmlns:a16="http://schemas.microsoft.com/office/drawing/2014/main" xmlns="" id="{F43469DC-7F5B-471E-BD74-ED709E621F63}"/>
              </a:ext>
            </a:extLst>
          </p:cNvPr>
          <p:cNvSpPr txBox="1"/>
          <p:nvPr/>
        </p:nvSpPr>
        <p:spPr>
          <a:xfrm>
            <a:off x="6543464" y="2128566"/>
            <a:ext cx="1794081" cy="369332"/>
          </a:xfrm>
          <a:prstGeom prst="rect">
            <a:avLst/>
          </a:prstGeom>
          <a:noFill/>
        </p:spPr>
        <p:txBody>
          <a:bodyPr wrap="none" rtlCol="0">
            <a:spAutoFit/>
          </a:bodyPr>
          <a:lstStyle/>
          <a:p>
            <a:pPr algn="r" rtl="1"/>
            <a:r>
              <a:rPr lang="fa-IR" b="1" dirty="0">
                <a:cs typeface="B Nazanin" panose="00000400000000000000" pitchFamily="2" charset="-78"/>
              </a:rPr>
              <a:t>اهداف همسان سازی</a:t>
            </a:r>
          </a:p>
        </p:txBody>
      </p:sp>
      <p:sp>
        <p:nvSpPr>
          <p:cNvPr id="157" name="AutoShape 8">
            <a:extLst>
              <a:ext uri="{FF2B5EF4-FFF2-40B4-BE49-F238E27FC236}">
                <a16:creationId xmlns:a16="http://schemas.microsoft.com/office/drawing/2014/main" xmlns="" id="{B5862EDC-452E-4DF3-BF8D-680DE0577504}"/>
              </a:ext>
            </a:extLst>
          </p:cNvPr>
          <p:cNvSpPr>
            <a:spLocks noChangeAspect="1" noChangeArrowheads="1"/>
          </p:cNvSpPr>
          <p:nvPr/>
        </p:nvSpPr>
        <p:spPr bwMode="gray">
          <a:xfrm>
            <a:off x="4268152" y="2670060"/>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حداقل رساندن زمان همسان سازی</a:t>
            </a:r>
            <a:endParaRPr lang="en-US" b="1" dirty="0">
              <a:solidFill>
                <a:srgbClr val="000000"/>
              </a:solidFill>
              <a:latin typeface="Times New Roman" panose="02020603050405020304" pitchFamily="18" charset="0"/>
              <a:cs typeface="B Nazanin" pitchFamily="2" charset="-78"/>
            </a:endParaRPr>
          </a:p>
        </p:txBody>
      </p:sp>
      <p:sp>
        <p:nvSpPr>
          <p:cNvPr id="158" name="AutoShape 8">
            <a:extLst>
              <a:ext uri="{FF2B5EF4-FFF2-40B4-BE49-F238E27FC236}">
                <a16:creationId xmlns:a16="http://schemas.microsoft.com/office/drawing/2014/main" xmlns="" id="{3B3A499C-E5A4-4F32-9CCC-AD714CA7AEF7}"/>
              </a:ext>
            </a:extLst>
          </p:cNvPr>
          <p:cNvSpPr>
            <a:spLocks noChangeAspect="1" noChangeArrowheads="1"/>
          </p:cNvSpPr>
          <p:nvPr/>
        </p:nvSpPr>
        <p:spPr bwMode="gray">
          <a:xfrm>
            <a:off x="4216868" y="4877401"/>
            <a:ext cx="39290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حداقل رساندن انرژی همسان سازی</a:t>
            </a:r>
            <a:endParaRPr lang="en-US" b="1" dirty="0">
              <a:solidFill>
                <a:srgbClr val="000000"/>
              </a:solidFill>
              <a:latin typeface="Times New Roman" panose="02020603050405020304" pitchFamily="18" charset="0"/>
              <a:cs typeface="B Nazanin" pitchFamily="2" charset="-78"/>
            </a:endParaRPr>
          </a:p>
        </p:txBody>
      </p:sp>
      <p:grpSp>
        <p:nvGrpSpPr>
          <p:cNvPr id="168" name="Group 23">
            <a:extLst>
              <a:ext uri="{FF2B5EF4-FFF2-40B4-BE49-F238E27FC236}">
                <a16:creationId xmlns:a16="http://schemas.microsoft.com/office/drawing/2014/main" xmlns="" id="{480CFC9E-AE3C-48F6-BC4D-4934E415B67E}"/>
              </a:ext>
            </a:extLst>
          </p:cNvPr>
          <p:cNvGrpSpPr>
            <a:grpSpLocks noChangeAspect="1"/>
          </p:cNvGrpSpPr>
          <p:nvPr/>
        </p:nvGrpSpPr>
        <p:grpSpPr bwMode="auto">
          <a:xfrm>
            <a:off x="7998416" y="2738896"/>
            <a:ext cx="381000" cy="381000"/>
            <a:chOff x="2078" y="1680"/>
            <a:chExt cx="1615" cy="1615"/>
          </a:xfrm>
        </p:grpSpPr>
        <p:sp>
          <p:nvSpPr>
            <p:cNvPr id="169" name="Oval 24">
              <a:extLst>
                <a:ext uri="{FF2B5EF4-FFF2-40B4-BE49-F238E27FC236}">
                  <a16:creationId xmlns:a16="http://schemas.microsoft.com/office/drawing/2014/main" xmlns="" id="{CACFC30A-9877-4806-9B4C-587ACE15034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0" name="Oval 25">
              <a:extLst>
                <a:ext uri="{FF2B5EF4-FFF2-40B4-BE49-F238E27FC236}">
                  <a16:creationId xmlns:a16="http://schemas.microsoft.com/office/drawing/2014/main" xmlns="" id="{640C1602-143A-456B-BA22-7664A3DEFFCF}"/>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1" name="Oval 26">
              <a:extLst>
                <a:ext uri="{FF2B5EF4-FFF2-40B4-BE49-F238E27FC236}">
                  <a16:creationId xmlns:a16="http://schemas.microsoft.com/office/drawing/2014/main" xmlns="" id="{53792F8F-0D9C-4345-A703-F034640FA7A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2" name="Oval 27">
              <a:extLst>
                <a:ext uri="{FF2B5EF4-FFF2-40B4-BE49-F238E27FC236}">
                  <a16:creationId xmlns:a16="http://schemas.microsoft.com/office/drawing/2014/main" xmlns="" id="{B29790E8-4F4B-4579-8A6B-FE3F9B0CAEF2}"/>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3" name="Oval 28">
              <a:extLst>
                <a:ext uri="{FF2B5EF4-FFF2-40B4-BE49-F238E27FC236}">
                  <a16:creationId xmlns:a16="http://schemas.microsoft.com/office/drawing/2014/main" xmlns="" id="{358C33BB-071D-4F24-839E-CC9C393EF0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4" name="Oval 29">
              <a:extLst>
                <a:ext uri="{FF2B5EF4-FFF2-40B4-BE49-F238E27FC236}">
                  <a16:creationId xmlns:a16="http://schemas.microsoft.com/office/drawing/2014/main" xmlns="" id="{4E06C84A-1EFC-44EA-B29A-11ED722DE85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175" name="Group 23">
            <a:extLst>
              <a:ext uri="{FF2B5EF4-FFF2-40B4-BE49-F238E27FC236}">
                <a16:creationId xmlns:a16="http://schemas.microsoft.com/office/drawing/2014/main" xmlns="" id="{DBD88F74-281E-49A6-BC26-B30CBBAE64C9}"/>
              </a:ext>
            </a:extLst>
          </p:cNvPr>
          <p:cNvGrpSpPr>
            <a:grpSpLocks noChangeAspect="1"/>
          </p:cNvGrpSpPr>
          <p:nvPr/>
        </p:nvGrpSpPr>
        <p:grpSpPr bwMode="auto">
          <a:xfrm>
            <a:off x="7955551" y="4941255"/>
            <a:ext cx="381000" cy="381000"/>
            <a:chOff x="2078" y="1680"/>
            <a:chExt cx="1615" cy="1615"/>
          </a:xfrm>
        </p:grpSpPr>
        <p:sp>
          <p:nvSpPr>
            <p:cNvPr id="176" name="Oval 24">
              <a:extLst>
                <a:ext uri="{FF2B5EF4-FFF2-40B4-BE49-F238E27FC236}">
                  <a16:creationId xmlns:a16="http://schemas.microsoft.com/office/drawing/2014/main" xmlns="" id="{8B6A68AB-47EE-4BEB-9563-FC726BE4E43A}"/>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7" name="Oval 25">
              <a:extLst>
                <a:ext uri="{FF2B5EF4-FFF2-40B4-BE49-F238E27FC236}">
                  <a16:creationId xmlns:a16="http://schemas.microsoft.com/office/drawing/2014/main" xmlns="" id="{004826CD-E5CF-47B8-BD5C-D81E5D353CD7}"/>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8" name="Oval 26">
              <a:extLst>
                <a:ext uri="{FF2B5EF4-FFF2-40B4-BE49-F238E27FC236}">
                  <a16:creationId xmlns:a16="http://schemas.microsoft.com/office/drawing/2014/main" xmlns="" id="{3B71C91A-95B1-48A6-8F6E-2BCE30BA506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9" name="Oval 27">
              <a:extLst>
                <a:ext uri="{FF2B5EF4-FFF2-40B4-BE49-F238E27FC236}">
                  <a16:creationId xmlns:a16="http://schemas.microsoft.com/office/drawing/2014/main" xmlns="" id="{4B68C4BF-098A-4123-BB53-98CECA7F4A81}"/>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80" name="Oval 28">
              <a:extLst>
                <a:ext uri="{FF2B5EF4-FFF2-40B4-BE49-F238E27FC236}">
                  <a16:creationId xmlns:a16="http://schemas.microsoft.com/office/drawing/2014/main" xmlns="" id="{3C5FE447-2DEF-4C03-AA66-D8D7E4B6E8E3}"/>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81" name="Oval 29">
              <a:extLst>
                <a:ext uri="{FF2B5EF4-FFF2-40B4-BE49-F238E27FC236}">
                  <a16:creationId xmlns:a16="http://schemas.microsoft.com/office/drawing/2014/main" xmlns="" id="{A8ADD6E4-DB30-4BEC-98B9-1D2EAA799DA1}"/>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40"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925789" y="2889558"/>
            <a:ext cx="2436423" cy="2374074"/>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50" name="TextBox 49">
            <a:extLst>
              <a:ext uri="{FF2B5EF4-FFF2-40B4-BE49-F238E27FC236}">
                <a16:creationId xmlns:a16="http://schemas.microsoft.com/office/drawing/2014/main" xmlns="" id="{90C43403-B77E-474E-A638-C5BD6540DB40}"/>
              </a:ext>
            </a:extLst>
          </p:cNvPr>
          <p:cNvSpPr txBox="1"/>
          <p:nvPr/>
        </p:nvSpPr>
        <p:spPr>
          <a:xfrm>
            <a:off x="7595700" y="4944624"/>
            <a:ext cx="65" cy="276999"/>
          </a:xfrm>
          <a:prstGeom prst="rect">
            <a:avLst/>
          </a:prstGeom>
          <a:noFill/>
        </p:spPr>
        <p:txBody>
          <a:bodyPr wrap="none" lIns="0" tIns="0" rIns="0" bIns="0" rtlCol="0">
            <a:spAutoFit/>
          </a:bodyPr>
          <a:lstStyle/>
          <a:p>
            <a:endParaRPr lang="en-US" dirty="0"/>
          </a:p>
        </p:txBody>
      </p:sp>
      <p:pic>
        <p:nvPicPr>
          <p:cNvPr id="70" name="Picture 69">
            <a:extLst>
              <a:ext uri="{FF2B5EF4-FFF2-40B4-BE49-F238E27FC236}">
                <a16:creationId xmlns:a16="http://schemas.microsoft.com/office/drawing/2014/main" xmlns="" id="{C17EC267-B607-46C8-9DBF-B26628F2B82B}"/>
              </a:ext>
            </a:extLst>
          </p:cNvPr>
          <p:cNvPicPr>
            <a:picLocks noChangeAspect="1"/>
          </p:cNvPicPr>
          <p:nvPr/>
        </p:nvPicPr>
        <p:blipFill>
          <a:blip r:embed="rId3"/>
          <a:stretch>
            <a:fillRect/>
          </a:stretch>
        </p:blipFill>
        <p:spPr>
          <a:xfrm>
            <a:off x="740300" y="2068626"/>
            <a:ext cx="2252663" cy="1579514"/>
          </a:xfrm>
          <a:prstGeom prst="rect">
            <a:avLst/>
          </a:prstGeom>
        </p:spPr>
      </p:pic>
      <p:sp>
        <p:nvSpPr>
          <p:cNvPr id="71" name="Arrow: Left 8">
            <a:extLst>
              <a:ext uri="{FF2B5EF4-FFF2-40B4-BE49-F238E27FC236}">
                <a16:creationId xmlns:a16="http://schemas.microsoft.com/office/drawing/2014/main" xmlns="" id="{885AF64E-0448-429C-BCDF-56907CBFD9B5}"/>
              </a:ext>
            </a:extLst>
          </p:cNvPr>
          <p:cNvSpPr/>
          <p:nvPr/>
        </p:nvSpPr>
        <p:spPr>
          <a:xfrm>
            <a:off x="2541922" y="3762440"/>
            <a:ext cx="304800" cy="76200"/>
          </a:xfrm>
          <a:prstGeom prst="lef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xmlns="" id="{CA0BFFC7-B227-45A5-925E-FECEF55C79E2}"/>
              </a:ext>
            </a:extLst>
          </p:cNvPr>
          <p:cNvCxnSpPr>
            <a:cxnSpLocks/>
          </p:cNvCxnSpPr>
          <p:nvPr/>
        </p:nvCxnSpPr>
        <p:spPr>
          <a:xfrm flipH="1">
            <a:off x="2532956" y="2066264"/>
            <a:ext cx="8966" cy="177978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77" name="Picture 4" descr="Climate Innovation - Maximizing Part Load Efficiency">
            <a:extLst>
              <a:ext uri="{FF2B5EF4-FFF2-40B4-BE49-F238E27FC236}">
                <a16:creationId xmlns:a16="http://schemas.microsoft.com/office/drawing/2014/main" xmlns="" id="{263AA18B-D7D5-414A-9317-002C648939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38" y="4093418"/>
            <a:ext cx="1895272" cy="1895272"/>
          </a:xfrm>
          <a:prstGeom prst="rect">
            <a:avLst/>
          </a:prstGeom>
          <a:noFill/>
          <a:extLst>
            <a:ext uri="{909E8E84-426E-40DD-AFC4-6F175D3DCCD1}">
              <a14:hiddenFill xmlns:a14="http://schemas.microsoft.com/office/drawing/2010/main">
                <a:solidFill>
                  <a:srgbClr val="FFFFFF"/>
                </a:solidFill>
              </a14:hiddenFill>
            </a:ext>
          </a:extLst>
        </p:spPr>
      </p:pic>
      <p:sp>
        <p:nvSpPr>
          <p:cNvPr id="60" name="Rounded Rectangle 175">
            <a:extLst>
              <a:ext uri="{FF2B5EF4-FFF2-40B4-BE49-F238E27FC236}">
                <a16:creationId xmlns:a16="http://schemas.microsoft.com/office/drawing/2014/main" xmlns="" id="{D8E27344-2AB1-4A61-B14B-D9C7962F785E}"/>
              </a:ext>
            </a:extLst>
          </p:cNvPr>
          <p:cNvSpPr/>
          <p:nvPr/>
        </p:nvSpPr>
        <p:spPr bwMode="auto">
          <a:xfrm>
            <a:off x="6324600" y="1178018"/>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61" name="Picture 60"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62"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63"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4" name="Rectangle 63">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65" name="Rectangle 64">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66"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7"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68" name="Rectangle 67">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69" name="Rectangle 68">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 name="Slide Number Placeholder 1"/>
          <p:cNvSpPr>
            <a:spLocks noGrp="1"/>
          </p:cNvSpPr>
          <p:nvPr>
            <p:ph type="sldNum" sz="quarter" idx="12"/>
          </p:nvPr>
        </p:nvSpPr>
        <p:spPr/>
        <p:txBody>
          <a:bodyPr/>
          <a:lstStyle/>
          <a:p>
            <a:fld id="{7FC2E40A-4446-4E2B-B9AD-16F559E28E02}" type="slidenum">
              <a:rPr lang="en-US" smtClean="0"/>
              <a:t>62</a:t>
            </a:fld>
            <a:endParaRPr lang="en-US"/>
          </a:p>
        </p:txBody>
      </p:sp>
      <p:sp>
        <p:nvSpPr>
          <p:cNvPr id="3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62</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5023973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175">
            <a:extLst>
              <a:ext uri="{FF2B5EF4-FFF2-40B4-BE49-F238E27FC236}">
                <a16:creationId xmlns:a16="http://schemas.microsoft.com/office/drawing/2014/main" xmlns="" id="{D8E27344-2AB1-4A61-B14B-D9C7962F785E}"/>
              </a:ext>
            </a:extLst>
          </p:cNvPr>
          <p:cNvSpPr/>
          <p:nvPr/>
        </p:nvSpPr>
        <p:spPr bwMode="auto">
          <a:xfrm>
            <a:off x="7456486" y="874277"/>
            <a:ext cx="1802143" cy="297229"/>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12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200" b="1" dirty="0">
              <a:solidFill>
                <a:srgbClr val="FFFFFF"/>
              </a:solidFill>
              <a:latin typeface="Times New Roman" panose="02020603050405020304" pitchFamily="18" charset="0"/>
              <a:cs typeface="B Nazanin" panose="00000400000000000000" pitchFamily="2" charset="-78"/>
            </a:endParaRPr>
          </a:p>
        </p:txBody>
      </p:sp>
      <p:pic>
        <p:nvPicPr>
          <p:cNvPr id="35" name="Picture 3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6"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7"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0"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2" name="Rectangle 4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3" name="Rectangle 4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5" name="Rectangle 44"/>
          <p:cNvSpPr/>
          <p:nvPr/>
        </p:nvSpPr>
        <p:spPr>
          <a:xfrm>
            <a:off x="2348903" y="6430123"/>
            <a:ext cx="3922869" cy="369332"/>
          </a:xfrm>
          <a:prstGeom prst="rect">
            <a:avLst/>
          </a:prstGeom>
        </p:spPr>
        <p:txBody>
          <a:bodyPr wrap="none">
            <a:spAutoFit/>
          </a:bodyPr>
          <a:lstStyle/>
          <a:p>
            <a:pPr algn="r" rtl="1" fontAlgn="base">
              <a:spcBef>
                <a:spcPct val="0"/>
              </a:spcBef>
              <a:spcAft>
                <a:spcPct val="0"/>
              </a:spcAft>
            </a:pPr>
            <a:r>
              <a:rPr lang="fa-IR" dirty="0">
                <a:cs typeface="B Nazanin" panose="00000400000000000000" pitchFamily="2" charset="-78"/>
              </a:rPr>
              <a:t>ارزیابی توپولوژی‌های نام‌برده شده در ابعاد مختلف </a:t>
            </a:r>
            <a:r>
              <a:rPr lang="fa-IR" dirty="0">
                <a:solidFill>
                  <a:srgbClr val="61D6FF"/>
                </a:solidFill>
                <a:cs typeface="B Nazanin" panose="00000400000000000000" pitchFamily="2" charset="-78"/>
              </a:rPr>
              <a:t>[1]</a:t>
            </a:r>
            <a:r>
              <a:rPr lang="fa-IR" dirty="0">
                <a:cs typeface="B Nazanin" panose="00000400000000000000" pitchFamily="2" charset="-78"/>
              </a:rPr>
              <a:t>.</a:t>
            </a:r>
            <a:endParaRPr lang="en-US" dirty="0">
              <a:solidFill>
                <a:srgbClr val="000000"/>
              </a:solidFill>
              <a:latin typeface="Times New Roman" panose="02020603050405020304" pitchFamily="18" charset="0"/>
              <a:cs typeface="B Nazanin" pitchFamily="2" charset="-78"/>
            </a:endParaRPr>
          </a:p>
        </p:txBody>
      </p:sp>
      <p:graphicFrame>
        <p:nvGraphicFramePr>
          <p:cNvPr id="3" name="Table 2"/>
          <p:cNvGraphicFramePr>
            <a:graphicFrameLocks noGrp="1"/>
          </p:cNvGraphicFramePr>
          <p:nvPr>
            <p:extLst>
              <p:ext uri="{D42A27DB-BD31-4B8C-83A1-F6EECF244321}">
                <p14:modId xmlns:p14="http://schemas.microsoft.com/office/powerpoint/2010/main" val="1282533090"/>
              </p:ext>
            </p:extLst>
          </p:nvPr>
        </p:nvGraphicFramePr>
        <p:xfrm>
          <a:off x="234009" y="1293921"/>
          <a:ext cx="8229599" cy="4975460"/>
        </p:xfrm>
        <a:graphic>
          <a:graphicData uri="http://schemas.openxmlformats.org/drawingml/2006/table">
            <a:tbl>
              <a:tblPr rtl="1" firstRow="1" firstCol="1" bandRow="1"/>
              <a:tblGrid>
                <a:gridCol w="1175657">
                  <a:extLst>
                    <a:ext uri="{9D8B030D-6E8A-4147-A177-3AD203B41FA5}">
                      <a16:colId xmlns:a16="http://schemas.microsoft.com/office/drawing/2014/main" xmlns="" val="20000"/>
                    </a:ext>
                  </a:extLst>
                </a:gridCol>
                <a:gridCol w="1175657">
                  <a:extLst>
                    <a:ext uri="{9D8B030D-6E8A-4147-A177-3AD203B41FA5}">
                      <a16:colId xmlns:a16="http://schemas.microsoft.com/office/drawing/2014/main" xmlns="" val="20001"/>
                    </a:ext>
                  </a:extLst>
                </a:gridCol>
                <a:gridCol w="1175657">
                  <a:extLst>
                    <a:ext uri="{9D8B030D-6E8A-4147-A177-3AD203B41FA5}">
                      <a16:colId xmlns:a16="http://schemas.microsoft.com/office/drawing/2014/main" xmlns="" val="20002"/>
                    </a:ext>
                  </a:extLst>
                </a:gridCol>
                <a:gridCol w="1175657">
                  <a:extLst>
                    <a:ext uri="{9D8B030D-6E8A-4147-A177-3AD203B41FA5}">
                      <a16:colId xmlns:a16="http://schemas.microsoft.com/office/drawing/2014/main" xmlns="" val="20003"/>
                    </a:ext>
                  </a:extLst>
                </a:gridCol>
                <a:gridCol w="1175657">
                  <a:extLst>
                    <a:ext uri="{9D8B030D-6E8A-4147-A177-3AD203B41FA5}">
                      <a16:colId xmlns:a16="http://schemas.microsoft.com/office/drawing/2014/main" xmlns="" val="20004"/>
                    </a:ext>
                  </a:extLst>
                </a:gridCol>
                <a:gridCol w="1175657">
                  <a:extLst>
                    <a:ext uri="{9D8B030D-6E8A-4147-A177-3AD203B41FA5}">
                      <a16:colId xmlns:a16="http://schemas.microsoft.com/office/drawing/2014/main" xmlns="" val="20005"/>
                    </a:ext>
                  </a:extLst>
                </a:gridCol>
                <a:gridCol w="1175657">
                  <a:extLst>
                    <a:ext uri="{9D8B030D-6E8A-4147-A177-3AD203B41FA5}">
                      <a16:colId xmlns:a16="http://schemas.microsoft.com/office/drawing/2014/main" xmlns="" val="20006"/>
                    </a:ext>
                  </a:extLst>
                </a:gridCol>
              </a:tblGrid>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توپولوژی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پیچیدگی در الگوریتم</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توان تلفاتی</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اندازه</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هزینه</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میانگین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انتقال بار سلول و پک باتری در قالب ماژول</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3/6</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انتقال سلول به سلول مستقیم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انتقال سریالی سلول به سلول در قالب ماژول</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1/8</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3/2</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انتقال سریالی سلول به سلول</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a:effectLst/>
                          <a:latin typeface="Times New Roman" panose="02020603050405020304" pitchFamily="18" charset="0"/>
                          <a:ea typeface="Calibri" panose="020F0502020204030204" pitchFamily="34" charset="0"/>
                          <a:cs typeface="B Lotus" panose="00000400000000000000" pitchFamily="2" charset="-78"/>
                        </a:rPr>
                        <a:t>1</a:t>
                      </a:r>
                      <a:endParaRPr lang="en-US" sz="1200" i="1">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1/6</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انتقال سریالی سلول به سلول لایه‌ای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2/8</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4949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ترکیبی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a:effectLst/>
                          <a:latin typeface="Times New Roman" panose="02020603050405020304" pitchFamily="18" charset="0"/>
                          <a:ea typeface="Calibri" panose="020F0502020204030204" pitchFamily="34" charset="0"/>
                          <a:cs typeface="B Lotus" panose="00000400000000000000" pitchFamily="2" charset="-78"/>
                        </a:rPr>
                        <a:t>3</a:t>
                      </a:r>
                      <a:endParaRPr lang="en-US" sz="1200" i="1">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a:effectLst/>
                          <a:latin typeface="Times New Roman" panose="02020603050405020304" pitchFamily="18" charset="0"/>
                          <a:ea typeface="Calibri" panose="020F0502020204030204" pitchFamily="34" charset="0"/>
                          <a:cs typeface="B Lotus" panose="00000400000000000000" pitchFamily="2" charset="-78"/>
                        </a:rPr>
                        <a:t>4</a:t>
                      </a:r>
                      <a:endParaRPr lang="en-US" sz="1200" i="1">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a:effectLst/>
                          <a:latin typeface="Times New Roman" panose="02020603050405020304" pitchFamily="18" charset="0"/>
                          <a:ea typeface="Calibri" panose="020F0502020204030204" pitchFamily="34" charset="0"/>
                          <a:cs typeface="B Lotus" panose="00000400000000000000" pitchFamily="2" charset="-78"/>
                        </a:rPr>
                        <a:t>1</a:t>
                      </a:r>
                      <a:endParaRPr lang="en-US" sz="1200" i="1">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a:effectLst/>
                          <a:latin typeface="Times New Roman" panose="02020603050405020304" pitchFamily="18" charset="0"/>
                          <a:ea typeface="Calibri" panose="020F0502020204030204" pitchFamily="34" charset="0"/>
                          <a:cs typeface="B Lotus" panose="00000400000000000000" pitchFamily="2" charset="-78"/>
                        </a:rPr>
                        <a:t>3</a:t>
                      </a:r>
                      <a:endParaRPr lang="en-US" sz="1200" i="1">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2/7</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64008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انتقال بار سلول و پک باتری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3/9</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bl>
          </a:graphicData>
        </a:graphic>
      </p:graphicFrame>
      <p:sp>
        <p:nvSpPr>
          <p:cNvPr id="15"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63</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4729451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rotWithShape="1">
          <a:blip r:embed="rId3">
            <a:extLst>
              <a:ext uri="{28A0092B-C50C-407E-A947-70E740481C1C}">
                <a14:useLocalDpi xmlns:a14="http://schemas.microsoft.com/office/drawing/2010/main" val="0"/>
              </a:ext>
            </a:extLst>
          </a:blip>
          <a:srcRect b="1281"/>
          <a:stretch/>
        </p:blipFill>
        <p:spPr bwMode="auto">
          <a:xfrm>
            <a:off x="618951" y="2009934"/>
            <a:ext cx="8486677" cy="4194532"/>
          </a:xfrm>
          <a:prstGeom prst="rect">
            <a:avLst/>
          </a:prstGeom>
          <a:noFill/>
          <a:ln>
            <a:noFill/>
          </a:ln>
        </p:spPr>
      </p:pic>
      <p:sp>
        <p:nvSpPr>
          <p:cNvPr id="3" name="Rectangle 2"/>
          <p:cNvSpPr/>
          <p:nvPr/>
        </p:nvSpPr>
        <p:spPr>
          <a:xfrm>
            <a:off x="2910887" y="6152866"/>
            <a:ext cx="2767103" cy="369332"/>
          </a:xfrm>
          <a:prstGeom prst="rect">
            <a:avLst/>
          </a:prstGeom>
        </p:spPr>
        <p:txBody>
          <a:bodyPr wrap="none">
            <a:spAutoFit/>
          </a:bodyPr>
          <a:lstStyle/>
          <a:p>
            <a:pPr algn="r" rtl="1" fontAlgn="base">
              <a:spcBef>
                <a:spcPct val="0"/>
              </a:spcBef>
              <a:spcAft>
                <a:spcPct val="0"/>
              </a:spcAft>
            </a:pPr>
            <a:r>
              <a:rPr lang="fa-IR" dirty="0">
                <a:latin typeface="Times New Roman" panose="02020603050405020304" pitchFamily="18" charset="0"/>
                <a:cs typeface="B Lotus" panose="00000400000000000000" pitchFamily="2" charset="-78"/>
              </a:rPr>
              <a:t>مدار همسان سازی انتقال مجاور </a:t>
            </a:r>
            <a:r>
              <a:rPr lang="fa-IR" sz="1600" dirty="0">
                <a:solidFill>
                  <a:srgbClr val="61D6FF"/>
                </a:solidFill>
                <a:cs typeface="B Lotus" panose="00000400000000000000" pitchFamily="2" charset="-78"/>
              </a:rPr>
              <a:t>[1]</a:t>
            </a:r>
            <a:r>
              <a:rPr lang="fa-IR" sz="1600" b="1" dirty="0">
                <a:cs typeface="B Lotus" panose="00000400000000000000" pitchFamily="2" charset="-78"/>
              </a:rPr>
              <a:t>.</a:t>
            </a:r>
            <a:endParaRPr lang="en-US" b="1" dirty="0">
              <a:solidFill>
                <a:srgbClr val="000000"/>
              </a:solidFill>
              <a:latin typeface="Times New Roman" panose="02020603050405020304" pitchFamily="18" charset="0"/>
              <a:cs typeface="B Lotus" panose="00000400000000000000" pitchFamily="2" charset="-78"/>
            </a:endParaRPr>
          </a:p>
        </p:txBody>
      </p:sp>
      <p:sp>
        <p:nvSpPr>
          <p:cNvPr id="15"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18" name="Picture 17"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4"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5"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6" name="Rectangle 25">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ectangle 3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4" name="TextBox 33">
            <a:extLst>
              <a:ext uri="{FF2B5EF4-FFF2-40B4-BE49-F238E27FC236}">
                <a16:creationId xmlns:a16="http://schemas.microsoft.com/office/drawing/2014/main" xmlns="" id="{F43469DC-7F5B-471E-BD74-ED709E621F63}"/>
              </a:ext>
            </a:extLst>
          </p:cNvPr>
          <p:cNvSpPr txBox="1"/>
          <p:nvPr/>
        </p:nvSpPr>
        <p:spPr>
          <a:xfrm>
            <a:off x="7741141" y="1726687"/>
            <a:ext cx="1151276" cy="369332"/>
          </a:xfrm>
          <a:prstGeom prst="rect">
            <a:avLst/>
          </a:prstGeom>
          <a:noFill/>
        </p:spPr>
        <p:txBody>
          <a:bodyPr wrap="none" rtlCol="0">
            <a:spAutoFit/>
          </a:bodyPr>
          <a:lstStyle/>
          <a:p>
            <a:pPr algn="r" rtl="1"/>
            <a:r>
              <a:rPr lang="fa-IR" b="1" dirty="0">
                <a:cs typeface="B Nazanin" panose="00000400000000000000" pitchFamily="2" charset="-78"/>
              </a:rPr>
              <a:t>انتقال مجاور</a:t>
            </a: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64</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5026345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26629" y="5791200"/>
            <a:ext cx="4297971" cy="369332"/>
          </a:xfrm>
          <a:prstGeom prst="rect">
            <a:avLst/>
          </a:prstGeom>
        </p:spPr>
        <p:txBody>
          <a:bodyPr wrap="none">
            <a:spAutoFit/>
          </a:bodyPr>
          <a:lstStyle/>
          <a:p>
            <a:pPr algn="r" rtl="1" fontAlgn="base">
              <a:spcBef>
                <a:spcPct val="0"/>
              </a:spcBef>
              <a:spcAft>
                <a:spcPct val="0"/>
              </a:spcAft>
            </a:pPr>
            <a:r>
              <a:rPr lang="fa-IR" b="1" dirty="0">
                <a:cs typeface="B Nazanin" panose="00000400000000000000" pitchFamily="2" charset="-78"/>
              </a:rPr>
              <a:t>ساختار همسان‌ساز ترانسفورماتور چندسیم‌پیچه </a:t>
            </a:r>
            <a:r>
              <a:rPr lang="fa-IR" dirty="0">
                <a:solidFill>
                  <a:srgbClr val="61D6FF"/>
                </a:solidFill>
                <a:cs typeface="B Nazanin" panose="00000400000000000000" pitchFamily="2" charset="-78"/>
              </a:rPr>
              <a:t>[1]</a:t>
            </a:r>
            <a:r>
              <a:rPr lang="fa-IR" b="1" dirty="0">
                <a:cs typeface="B Nazanin" panose="00000400000000000000" pitchFamily="2" charset="-78"/>
              </a:rPr>
              <a:t>. </a:t>
            </a:r>
            <a:endParaRPr lang="en-US" b="1" dirty="0">
              <a:solidFill>
                <a:srgbClr val="000000"/>
              </a:solidFill>
              <a:latin typeface="Times New Roman" panose="02020603050405020304" pitchFamily="18" charset="0"/>
              <a:cs typeface="B Nazanin" pitchFamily="2" charset="-78"/>
            </a:endParaRPr>
          </a:p>
        </p:txBody>
      </p:sp>
      <p:pic>
        <p:nvPicPr>
          <p:cNvPr id="18" name="Picture 17"/>
          <p:cNvPicPr/>
          <p:nvPr/>
        </p:nvPicPr>
        <p:blipFill>
          <a:blip r:embed="rId3">
            <a:extLst>
              <a:ext uri="{28A0092B-C50C-407E-A947-70E740481C1C}">
                <a14:useLocalDpi xmlns:a14="http://schemas.microsoft.com/office/drawing/2010/main" val="0"/>
              </a:ext>
            </a:extLst>
          </a:blip>
          <a:stretch>
            <a:fillRect/>
          </a:stretch>
        </p:blipFill>
        <p:spPr>
          <a:xfrm>
            <a:off x="346210" y="1343033"/>
            <a:ext cx="8350115" cy="4100508"/>
          </a:xfrm>
          <a:prstGeom prst="rect">
            <a:avLst/>
          </a:prstGeom>
        </p:spPr>
      </p:pic>
      <p:sp>
        <p:nvSpPr>
          <p:cNvPr id="35"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36" name="Picture 35"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7"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9" name="Rectangle 38">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0" name="Rectangle 39">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1"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2"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3" name="Rectangle 42">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4" name="Rectangle 43">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5" name="TextBox 44">
            <a:extLst>
              <a:ext uri="{FF2B5EF4-FFF2-40B4-BE49-F238E27FC236}">
                <a16:creationId xmlns:a16="http://schemas.microsoft.com/office/drawing/2014/main" xmlns="" id="{F43469DC-7F5B-471E-BD74-ED709E621F63}"/>
              </a:ext>
            </a:extLst>
          </p:cNvPr>
          <p:cNvSpPr txBox="1"/>
          <p:nvPr/>
        </p:nvSpPr>
        <p:spPr>
          <a:xfrm>
            <a:off x="7404509" y="1726687"/>
            <a:ext cx="1487908" cy="369332"/>
          </a:xfrm>
          <a:prstGeom prst="rect">
            <a:avLst/>
          </a:prstGeom>
          <a:noFill/>
        </p:spPr>
        <p:txBody>
          <a:bodyPr wrap="none" rtlCol="0">
            <a:spAutoFit/>
          </a:bodyPr>
          <a:lstStyle/>
          <a:p>
            <a:pPr algn="r" rtl="1"/>
            <a:r>
              <a:rPr lang="fa-IR" b="1" dirty="0">
                <a:cs typeface="B Nazanin" panose="00000400000000000000" pitchFamily="2" charset="-78"/>
              </a:rPr>
              <a:t>انتقال غیر مجاور</a:t>
            </a: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65</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6293885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78942" y="6105269"/>
            <a:ext cx="2686954" cy="369332"/>
          </a:xfrm>
          <a:prstGeom prst="rect">
            <a:avLst/>
          </a:prstGeom>
        </p:spPr>
        <p:txBody>
          <a:bodyPr wrap="none">
            <a:spAutoFit/>
          </a:bodyPr>
          <a:lstStyle/>
          <a:p>
            <a:pPr algn="r" rtl="1" fontAlgn="base">
              <a:spcBef>
                <a:spcPct val="0"/>
              </a:spcBef>
              <a:spcAft>
                <a:spcPct val="0"/>
              </a:spcAft>
            </a:pPr>
            <a:r>
              <a:rPr lang="fa-IR" b="1" dirty="0">
                <a:cs typeface="B Nazanin" panose="00000400000000000000" pitchFamily="2" charset="-78"/>
              </a:rPr>
              <a:t>ساختار مدار سوئیچ خازنی </a:t>
            </a:r>
            <a:r>
              <a:rPr lang="fa-IR" dirty="0">
                <a:solidFill>
                  <a:srgbClr val="61D6FF"/>
                </a:solidFill>
                <a:cs typeface="B Nazanin" panose="00000400000000000000" pitchFamily="2" charset="-78"/>
              </a:rPr>
              <a:t>[1]</a:t>
            </a:r>
            <a:r>
              <a:rPr lang="fa-IR" b="1" dirty="0">
                <a:cs typeface="B Nazanin" panose="00000400000000000000" pitchFamily="2" charset="-78"/>
              </a:rPr>
              <a:t>.  </a:t>
            </a:r>
            <a:endParaRPr lang="en-US" b="1" dirty="0">
              <a:solidFill>
                <a:srgbClr val="000000"/>
              </a:solidFill>
              <a:latin typeface="Times New Roman" panose="02020603050405020304" pitchFamily="18" charset="0"/>
              <a:cs typeface="B Nazanin" pitchFamily="2" charset="-78"/>
            </a:endParaRPr>
          </a:p>
        </p:txBody>
      </p:sp>
      <p:pic>
        <p:nvPicPr>
          <p:cNvPr id="15" name="Picture 14"/>
          <p:cNvPicPr/>
          <p:nvPr/>
        </p:nvPicPr>
        <p:blipFill>
          <a:blip r:embed="rId3" cstate="print">
            <a:extLst>
              <a:ext uri="{28A0092B-C50C-407E-A947-70E740481C1C}">
                <a14:useLocalDpi xmlns:a14="http://schemas.microsoft.com/office/drawing/2010/main" val="0"/>
              </a:ext>
            </a:extLst>
          </a:blip>
          <a:stretch>
            <a:fillRect/>
          </a:stretch>
        </p:blipFill>
        <p:spPr bwMode="auto">
          <a:xfrm>
            <a:off x="693800" y="1946760"/>
            <a:ext cx="3751792" cy="4176558"/>
          </a:xfrm>
          <a:prstGeom prst="rect">
            <a:avLst/>
          </a:prstGeom>
          <a:noFill/>
          <a:ln>
            <a:noFill/>
          </a:ln>
        </p:spPr>
      </p:pic>
      <p:pic>
        <p:nvPicPr>
          <p:cNvPr id="4" name="Picture 3"/>
          <p:cNvPicPr>
            <a:picLocks noChangeAspect="1"/>
          </p:cNvPicPr>
          <p:nvPr/>
        </p:nvPicPr>
        <p:blipFill>
          <a:blip r:embed="rId4"/>
          <a:stretch>
            <a:fillRect/>
          </a:stretch>
        </p:blipFill>
        <p:spPr>
          <a:xfrm>
            <a:off x="5257800" y="1905000"/>
            <a:ext cx="3008569" cy="4167033"/>
          </a:xfrm>
          <a:prstGeom prst="rect">
            <a:avLst/>
          </a:prstGeom>
        </p:spPr>
      </p:pic>
      <p:sp>
        <p:nvSpPr>
          <p:cNvPr id="18" name="Rectangle 17"/>
          <p:cNvSpPr/>
          <p:nvPr/>
        </p:nvSpPr>
        <p:spPr>
          <a:xfrm>
            <a:off x="5058792" y="6123318"/>
            <a:ext cx="3067951" cy="369332"/>
          </a:xfrm>
          <a:prstGeom prst="rect">
            <a:avLst/>
          </a:prstGeom>
        </p:spPr>
        <p:txBody>
          <a:bodyPr wrap="square">
            <a:spAutoFit/>
          </a:bodyPr>
          <a:lstStyle/>
          <a:p>
            <a:pPr algn="r" rtl="1" fontAlgn="base">
              <a:spcBef>
                <a:spcPct val="0"/>
              </a:spcBef>
              <a:spcAft>
                <a:spcPct val="0"/>
              </a:spcAft>
            </a:pPr>
            <a:r>
              <a:rPr lang="fa-IR" b="1" dirty="0">
                <a:cs typeface="B Nazanin" panose="00000400000000000000" pitchFamily="2" charset="-78"/>
              </a:rPr>
              <a:t>ساختار مدار سوئیچ </a:t>
            </a:r>
            <a:r>
              <a:rPr lang="fa-IR" b="1" dirty="0" err="1">
                <a:cs typeface="B Nazanin" panose="00000400000000000000" pitchFamily="2" charset="-78"/>
              </a:rPr>
              <a:t>خازنی</a:t>
            </a:r>
            <a:r>
              <a:rPr lang="fa-IR" b="1" dirty="0">
                <a:cs typeface="B Nazanin" panose="00000400000000000000" pitchFamily="2" charset="-78"/>
              </a:rPr>
              <a:t> </a:t>
            </a:r>
            <a:r>
              <a:rPr lang="fa-IR" b="1" dirty="0" err="1">
                <a:cs typeface="B Nazanin" panose="00000400000000000000" pitchFamily="2" charset="-78"/>
              </a:rPr>
              <a:t>دوبل</a:t>
            </a:r>
            <a:r>
              <a:rPr lang="fa-IR" b="1" dirty="0">
                <a:cs typeface="B Nazanin" panose="00000400000000000000" pitchFamily="2" charset="-78"/>
              </a:rPr>
              <a:t> </a:t>
            </a:r>
            <a:r>
              <a:rPr lang="fa-IR" dirty="0">
                <a:solidFill>
                  <a:srgbClr val="61D6FF"/>
                </a:solidFill>
                <a:cs typeface="B Nazanin" panose="00000400000000000000" pitchFamily="2" charset="-78"/>
              </a:rPr>
              <a:t>[1]</a:t>
            </a:r>
            <a:r>
              <a:rPr lang="fa-IR" b="1" dirty="0">
                <a:cs typeface="B Nazanin" panose="00000400000000000000" pitchFamily="2" charset="-78"/>
              </a:rPr>
              <a:t>. </a:t>
            </a:r>
            <a:endParaRPr lang="en-US" b="1" dirty="0">
              <a:solidFill>
                <a:srgbClr val="000000"/>
              </a:solidFill>
              <a:latin typeface="Times New Roman" panose="02020603050405020304" pitchFamily="18" charset="0"/>
              <a:cs typeface="B Nazanin" pitchFamily="2" charset="-78"/>
            </a:endParaRPr>
          </a:p>
        </p:txBody>
      </p:sp>
      <p:sp>
        <p:nvSpPr>
          <p:cNvPr id="17"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7" name="Rectangle 26">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8" name="Rectangle 2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9"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3" name="Rectangle 32">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4" name="Rectangle 33">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5" name="TextBox 34">
            <a:extLst>
              <a:ext uri="{FF2B5EF4-FFF2-40B4-BE49-F238E27FC236}">
                <a16:creationId xmlns:a16="http://schemas.microsoft.com/office/drawing/2014/main" xmlns="" id="{F43469DC-7F5B-471E-BD74-ED709E621F63}"/>
              </a:ext>
            </a:extLst>
          </p:cNvPr>
          <p:cNvSpPr txBox="1"/>
          <p:nvPr/>
        </p:nvSpPr>
        <p:spPr>
          <a:xfrm>
            <a:off x="7741141" y="1726687"/>
            <a:ext cx="1151276" cy="369332"/>
          </a:xfrm>
          <a:prstGeom prst="rect">
            <a:avLst/>
          </a:prstGeom>
          <a:noFill/>
        </p:spPr>
        <p:txBody>
          <a:bodyPr wrap="none" rtlCol="0">
            <a:spAutoFit/>
          </a:bodyPr>
          <a:lstStyle/>
          <a:p>
            <a:pPr algn="r" rtl="1"/>
            <a:r>
              <a:rPr lang="fa-IR" b="1" dirty="0">
                <a:cs typeface="B Nazanin" panose="00000400000000000000" pitchFamily="2" charset="-78"/>
              </a:rPr>
              <a:t>انتقال مجاور</a:t>
            </a:r>
          </a:p>
        </p:txBody>
      </p:sp>
      <p:sp>
        <p:nvSpPr>
          <p:cNvPr id="2" name="Slide Number Placeholder 1"/>
          <p:cNvSpPr>
            <a:spLocks noGrp="1"/>
          </p:cNvSpPr>
          <p:nvPr>
            <p:ph type="sldNum" sz="quarter" idx="12"/>
          </p:nvPr>
        </p:nvSpPr>
        <p:spPr/>
        <p:txBody>
          <a:bodyPr/>
          <a:lstStyle/>
          <a:p>
            <a:fld id="{7FC2E40A-4446-4E2B-B9AD-16F559E28E02}" type="slidenum">
              <a:rPr lang="en-US" smtClean="0"/>
              <a:t>66</a:t>
            </a:fld>
            <a:endParaRPr lang="en-US"/>
          </a:p>
        </p:txBody>
      </p:sp>
      <p:sp>
        <p:nvSpPr>
          <p:cNvPr id="1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66</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9113893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228" y="1978026"/>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24"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7876" y="2413794"/>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TextBox 35">
            <a:extLst>
              <a:ext uri="{FF2B5EF4-FFF2-40B4-BE49-F238E27FC236}">
                <a16:creationId xmlns:a16="http://schemas.microsoft.com/office/drawing/2014/main" xmlns="" id="{E582C850-2AD4-4453-BC7F-ADB7F3A6B2EB}"/>
              </a:ext>
            </a:extLst>
          </p:cNvPr>
          <p:cNvSpPr txBox="1"/>
          <p:nvPr/>
        </p:nvSpPr>
        <p:spPr>
          <a:xfrm>
            <a:off x="4367529" y="2083916"/>
            <a:ext cx="65" cy="276999"/>
          </a:xfrm>
          <a:prstGeom prst="rect">
            <a:avLst/>
          </a:prstGeom>
          <a:noFill/>
        </p:spPr>
        <p:txBody>
          <a:bodyPr wrap="none" lIns="0" tIns="0" rIns="0" bIns="0" rtlCol="0">
            <a:spAutoFit/>
          </a:bodyPr>
          <a:lstStyle/>
          <a:p>
            <a:endParaRPr lang="en-US" dirty="0"/>
          </a:p>
        </p:txBody>
      </p:sp>
      <p:grpSp>
        <p:nvGrpSpPr>
          <p:cNvPr id="56" name="Group 16">
            <a:extLst>
              <a:ext uri="{FF2B5EF4-FFF2-40B4-BE49-F238E27FC236}">
                <a16:creationId xmlns:a16="http://schemas.microsoft.com/office/drawing/2014/main" xmlns="" id="{48F23651-6D61-40C8-8FEE-2BD1F065F699}"/>
              </a:ext>
            </a:extLst>
          </p:cNvPr>
          <p:cNvGrpSpPr>
            <a:grpSpLocks noChangeAspect="1"/>
          </p:cNvGrpSpPr>
          <p:nvPr/>
        </p:nvGrpSpPr>
        <p:grpSpPr bwMode="auto">
          <a:xfrm>
            <a:off x="4895495" y="1671627"/>
            <a:ext cx="381000" cy="381000"/>
            <a:chOff x="2078" y="1680"/>
            <a:chExt cx="1615" cy="1615"/>
          </a:xfrm>
        </p:grpSpPr>
        <p:sp>
          <p:nvSpPr>
            <p:cNvPr id="57" name="Oval 17">
              <a:extLst>
                <a:ext uri="{FF2B5EF4-FFF2-40B4-BE49-F238E27FC236}">
                  <a16:creationId xmlns:a16="http://schemas.microsoft.com/office/drawing/2014/main" xmlns="" id="{1BD467B5-241D-41EF-813B-C90434382B1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1" name="Oval 18">
              <a:extLst>
                <a:ext uri="{FF2B5EF4-FFF2-40B4-BE49-F238E27FC236}">
                  <a16:creationId xmlns:a16="http://schemas.microsoft.com/office/drawing/2014/main" xmlns="" id="{B5F0A1C3-3226-420B-A01C-C859D0007CD2}"/>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2" name="Oval 19">
              <a:extLst>
                <a:ext uri="{FF2B5EF4-FFF2-40B4-BE49-F238E27FC236}">
                  <a16:creationId xmlns:a16="http://schemas.microsoft.com/office/drawing/2014/main" xmlns="" id="{F5DE5234-D6B7-46A1-9EAB-6D52E6637BD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3" name="Oval 20">
              <a:extLst>
                <a:ext uri="{FF2B5EF4-FFF2-40B4-BE49-F238E27FC236}">
                  <a16:creationId xmlns:a16="http://schemas.microsoft.com/office/drawing/2014/main" xmlns="" id="{CB389E40-FA61-419E-BEF4-B93947EC57DB}"/>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4" name="Oval 21">
              <a:extLst>
                <a:ext uri="{FF2B5EF4-FFF2-40B4-BE49-F238E27FC236}">
                  <a16:creationId xmlns:a16="http://schemas.microsoft.com/office/drawing/2014/main" xmlns="" id="{212D8A55-5449-439A-90FC-160FB3B6DB5C}"/>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5" name="Oval 22">
              <a:extLst>
                <a:ext uri="{FF2B5EF4-FFF2-40B4-BE49-F238E27FC236}">
                  <a16:creationId xmlns:a16="http://schemas.microsoft.com/office/drawing/2014/main" xmlns="" id="{82243F0D-BC4E-453E-AF30-E2C16B4BF936}"/>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66" name="AutoShape 8">
            <a:extLst>
              <a:ext uri="{FF2B5EF4-FFF2-40B4-BE49-F238E27FC236}">
                <a16:creationId xmlns:a16="http://schemas.microsoft.com/office/drawing/2014/main" xmlns="" id="{2F0F3ECB-625C-4903-B10F-E7745C98B387}"/>
              </a:ext>
            </a:extLst>
          </p:cNvPr>
          <p:cNvSpPr>
            <a:spLocks noChangeAspect="1" noChangeArrowheads="1"/>
          </p:cNvSpPr>
          <p:nvPr/>
        </p:nvSpPr>
        <p:spPr bwMode="gray">
          <a:xfrm>
            <a:off x="2863808" y="1591645"/>
            <a:ext cx="20560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err="1">
                <a:cs typeface="B Nazanin" panose="00000400000000000000" pitchFamily="2" charset="-78"/>
              </a:rPr>
              <a:t>سریالی</a:t>
            </a:r>
            <a:r>
              <a:rPr lang="fa-IR" b="1" dirty="0">
                <a:cs typeface="B Nazanin" panose="00000400000000000000" pitchFamily="2" charset="-78"/>
              </a:rPr>
              <a:t> سلول به سلول</a:t>
            </a:r>
            <a:endParaRPr lang="en-US" b="1" dirty="0">
              <a:solidFill>
                <a:srgbClr val="000000"/>
              </a:solidFill>
              <a:latin typeface="Times New Roman" panose="02020603050405020304" pitchFamily="18" charset="0"/>
              <a:cs typeface="B Nazanin" pitchFamily="2" charset="-78"/>
            </a:endParaRPr>
          </a:p>
        </p:txBody>
      </p:sp>
      <p:grpSp>
        <p:nvGrpSpPr>
          <p:cNvPr id="81" name="Group 16">
            <a:extLst>
              <a:ext uri="{FF2B5EF4-FFF2-40B4-BE49-F238E27FC236}">
                <a16:creationId xmlns:a16="http://schemas.microsoft.com/office/drawing/2014/main" xmlns="" id="{2044EBB7-106C-4578-9CBF-500EE6F658F0}"/>
              </a:ext>
            </a:extLst>
          </p:cNvPr>
          <p:cNvGrpSpPr>
            <a:grpSpLocks noChangeAspect="1"/>
          </p:cNvGrpSpPr>
          <p:nvPr/>
        </p:nvGrpSpPr>
        <p:grpSpPr bwMode="auto">
          <a:xfrm>
            <a:off x="4880633" y="2221214"/>
            <a:ext cx="381000" cy="381000"/>
            <a:chOff x="2078" y="1680"/>
            <a:chExt cx="1615" cy="1615"/>
          </a:xfrm>
        </p:grpSpPr>
        <p:sp>
          <p:nvSpPr>
            <p:cNvPr id="82" name="Oval 17">
              <a:extLst>
                <a:ext uri="{FF2B5EF4-FFF2-40B4-BE49-F238E27FC236}">
                  <a16:creationId xmlns:a16="http://schemas.microsoft.com/office/drawing/2014/main" xmlns="" id="{4225F4B0-A869-446D-B74C-3E03CDDCFB10}"/>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83" name="Oval 18">
              <a:extLst>
                <a:ext uri="{FF2B5EF4-FFF2-40B4-BE49-F238E27FC236}">
                  <a16:creationId xmlns:a16="http://schemas.microsoft.com/office/drawing/2014/main" xmlns="" id="{26B960CA-3F48-4292-808D-CB9959F3CBF1}"/>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84" name="Oval 19">
              <a:extLst>
                <a:ext uri="{FF2B5EF4-FFF2-40B4-BE49-F238E27FC236}">
                  <a16:creationId xmlns:a16="http://schemas.microsoft.com/office/drawing/2014/main" xmlns="" id="{545D9F2F-5471-4FD7-B846-BDE25308EC72}"/>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85" name="Oval 20">
              <a:extLst>
                <a:ext uri="{FF2B5EF4-FFF2-40B4-BE49-F238E27FC236}">
                  <a16:creationId xmlns:a16="http://schemas.microsoft.com/office/drawing/2014/main" xmlns="" id="{56A24BAD-299E-4E54-BA04-C1A4AF14E815}"/>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86" name="Oval 21">
              <a:extLst>
                <a:ext uri="{FF2B5EF4-FFF2-40B4-BE49-F238E27FC236}">
                  <a16:creationId xmlns:a16="http://schemas.microsoft.com/office/drawing/2014/main" xmlns="" id="{5F055675-6400-4B29-B9E1-FE2FFC85A79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87" name="Oval 22">
              <a:extLst>
                <a:ext uri="{FF2B5EF4-FFF2-40B4-BE49-F238E27FC236}">
                  <a16:creationId xmlns:a16="http://schemas.microsoft.com/office/drawing/2014/main" xmlns="" id="{170B74C0-C3D8-44A8-8278-4D8F89FBD858}"/>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88" name="AutoShape 8">
            <a:extLst>
              <a:ext uri="{FF2B5EF4-FFF2-40B4-BE49-F238E27FC236}">
                <a16:creationId xmlns:a16="http://schemas.microsoft.com/office/drawing/2014/main" xmlns="" id="{FD6AFBCA-B6AC-43F5-8D01-3342F74CB5FD}"/>
              </a:ext>
            </a:extLst>
          </p:cNvPr>
          <p:cNvSpPr>
            <a:spLocks noChangeAspect="1" noChangeArrowheads="1"/>
          </p:cNvSpPr>
          <p:nvPr/>
        </p:nvSpPr>
        <p:spPr bwMode="gray">
          <a:xfrm>
            <a:off x="2848946" y="2141232"/>
            <a:ext cx="20560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err="1">
                <a:cs typeface="B Nazanin" panose="00000400000000000000" pitchFamily="2" charset="-78"/>
              </a:rPr>
              <a:t>ماژولار</a:t>
            </a:r>
            <a:r>
              <a:rPr lang="fa-IR" b="1" dirty="0">
                <a:cs typeface="B Nazanin" panose="00000400000000000000" pitchFamily="2" charset="-78"/>
              </a:rPr>
              <a:t> سلول به سلول</a:t>
            </a:r>
            <a:endParaRPr lang="en-US" b="1" dirty="0">
              <a:solidFill>
                <a:srgbClr val="000000"/>
              </a:solidFill>
              <a:latin typeface="Times New Roman" panose="02020603050405020304" pitchFamily="18" charset="0"/>
              <a:cs typeface="B Nazanin" pitchFamily="2" charset="-78"/>
            </a:endParaRPr>
          </a:p>
        </p:txBody>
      </p:sp>
      <p:sp>
        <p:nvSpPr>
          <p:cNvPr id="89" name="TextBox 88">
            <a:extLst>
              <a:ext uri="{FF2B5EF4-FFF2-40B4-BE49-F238E27FC236}">
                <a16:creationId xmlns:a16="http://schemas.microsoft.com/office/drawing/2014/main" xmlns="" id="{5382B4C5-8F91-4918-A48A-9E9F395AB00C}"/>
              </a:ext>
            </a:extLst>
          </p:cNvPr>
          <p:cNvSpPr txBox="1"/>
          <p:nvPr/>
        </p:nvSpPr>
        <p:spPr>
          <a:xfrm>
            <a:off x="4379697" y="2630441"/>
            <a:ext cx="65" cy="276999"/>
          </a:xfrm>
          <a:prstGeom prst="rect">
            <a:avLst/>
          </a:prstGeom>
          <a:noFill/>
        </p:spPr>
        <p:txBody>
          <a:bodyPr wrap="none" lIns="0" tIns="0" rIns="0" bIns="0" rtlCol="0">
            <a:spAutoFit/>
          </a:bodyPr>
          <a:lstStyle/>
          <a:p>
            <a:endParaRPr lang="en-US" dirty="0"/>
          </a:p>
        </p:txBody>
      </p:sp>
      <p:grpSp>
        <p:nvGrpSpPr>
          <p:cNvPr id="90" name="Group 16">
            <a:extLst>
              <a:ext uri="{FF2B5EF4-FFF2-40B4-BE49-F238E27FC236}">
                <a16:creationId xmlns:a16="http://schemas.microsoft.com/office/drawing/2014/main" xmlns="" id="{FBD3D725-34E3-459A-BB18-C8AB09E88E3C}"/>
              </a:ext>
            </a:extLst>
          </p:cNvPr>
          <p:cNvGrpSpPr>
            <a:grpSpLocks noChangeAspect="1"/>
          </p:cNvGrpSpPr>
          <p:nvPr/>
        </p:nvGrpSpPr>
        <p:grpSpPr bwMode="auto">
          <a:xfrm>
            <a:off x="4892801" y="2767739"/>
            <a:ext cx="381000" cy="381000"/>
            <a:chOff x="2078" y="1680"/>
            <a:chExt cx="1615" cy="1615"/>
          </a:xfrm>
        </p:grpSpPr>
        <p:sp>
          <p:nvSpPr>
            <p:cNvPr id="91" name="Oval 17">
              <a:extLst>
                <a:ext uri="{FF2B5EF4-FFF2-40B4-BE49-F238E27FC236}">
                  <a16:creationId xmlns:a16="http://schemas.microsoft.com/office/drawing/2014/main" xmlns="" id="{753B3D21-4E3E-4862-87A5-658F4B7CB996}"/>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92" name="Oval 18">
              <a:extLst>
                <a:ext uri="{FF2B5EF4-FFF2-40B4-BE49-F238E27FC236}">
                  <a16:creationId xmlns:a16="http://schemas.microsoft.com/office/drawing/2014/main" xmlns="" id="{5D02CEFB-28FA-40CB-8F52-0B404E0C379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93" name="Oval 19">
              <a:extLst>
                <a:ext uri="{FF2B5EF4-FFF2-40B4-BE49-F238E27FC236}">
                  <a16:creationId xmlns:a16="http://schemas.microsoft.com/office/drawing/2014/main" xmlns="" id="{F762C7DF-14CE-41AE-8E7D-59D2FCBD5B2B}"/>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94" name="Oval 20">
              <a:extLst>
                <a:ext uri="{FF2B5EF4-FFF2-40B4-BE49-F238E27FC236}">
                  <a16:creationId xmlns:a16="http://schemas.microsoft.com/office/drawing/2014/main" xmlns="" id="{0A577ECC-9535-46D0-97AD-F3E3FE94E1AC}"/>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95" name="Oval 21">
              <a:extLst>
                <a:ext uri="{FF2B5EF4-FFF2-40B4-BE49-F238E27FC236}">
                  <a16:creationId xmlns:a16="http://schemas.microsoft.com/office/drawing/2014/main" xmlns="" id="{574582C9-2954-413F-81CF-B650ABF84B7A}"/>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96" name="Oval 22">
              <a:extLst>
                <a:ext uri="{FF2B5EF4-FFF2-40B4-BE49-F238E27FC236}">
                  <a16:creationId xmlns:a16="http://schemas.microsoft.com/office/drawing/2014/main" xmlns="" id="{BDC6704D-8ED2-432B-A145-7004A5887A52}"/>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97" name="AutoShape 8">
            <a:extLst>
              <a:ext uri="{FF2B5EF4-FFF2-40B4-BE49-F238E27FC236}">
                <a16:creationId xmlns:a16="http://schemas.microsoft.com/office/drawing/2014/main" xmlns="" id="{9C146FEA-974C-4124-9CE8-06D03A4E0502}"/>
              </a:ext>
            </a:extLst>
          </p:cNvPr>
          <p:cNvSpPr>
            <a:spLocks noChangeAspect="1" noChangeArrowheads="1"/>
          </p:cNvSpPr>
          <p:nvPr/>
        </p:nvSpPr>
        <p:spPr bwMode="gray">
          <a:xfrm>
            <a:off x="2861114" y="2687757"/>
            <a:ext cx="20560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لایه ای</a:t>
            </a:r>
            <a:endParaRPr lang="en-US" b="1" dirty="0">
              <a:solidFill>
                <a:srgbClr val="000000"/>
              </a:solidFill>
              <a:latin typeface="Times New Roman" panose="02020603050405020304" pitchFamily="18" charset="0"/>
              <a:cs typeface="B Nazanin" pitchFamily="2" charset="-78"/>
            </a:endParaRPr>
          </a:p>
        </p:txBody>
      </p:sp>
      <p:sp>
        <p:nvSpPr>
          <p:cNvPr id="98" name="AutoShape 8">
            <a:extLst>
              <a:ext uri="{FF2B5EF4-FFF2-40B4-BE49-F238E27FC236}">
                <a16:creationId xmlns:a16="http://schemas.microsoft.com/office/drawing/2014/main" xmlns="" id="{2F35A0BE-ACAE-464F-966C-4598FD947DFB}"/>
              </a:ext>
            </a:extLst>
          </p:cNvPr>
          <p:cNvSpPr>
            <a:spLocks noChangeArrowheads="1"/>
          </p:cNvSpPr>
          <p:nvPr/>
        </p:nvSpPr>
        <p:spPr bwMode="gray">
          <a:xfrm>
            <a:off x="4025645" y="4140404"/>
            <a:ext cx="2496312"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انتقال </a:t>
            </a:r>
            <a:r>
              <a:rPr lang="fa-IR" b="1" dirty="0" err="1">
                <a:cs typeface="B Nazanin" panose="00000400000000000000" pitchFamily="2" charset="-78"/>
              </a:rPr>
              <a:t>غیرمجاور</a:t>
            </a:r>
            <a:endParaRPr lang="en-US" b="1" dirty="0">
              <a:solidFill>
                <a:srgbClr val="000000"/>
              </a:solidFill>
              <a:latin typeface="Times New Roman" panose="02020603050405020304" pitchFamily="18" charset="0"/>
              <a:cs typeface="B Nazanin" pitchFamily="2" charset="-78"/>
            </a:endParaRPr>
          </a:p>
        </p:txBody>
      </p:sp>
      <p:grpSp>
        <p:nvGrpSpPr>
          <p:cNvPr id="99" name="Group 23">
            <a:extLst>
              <a:ext uri="{FF2B5EF4-FFF2-40B4-BE49-F238E27FC236}">
                <a16:creationId xmlns:a16="http://schemas.microsoft.com/office/drawing/2014/main" xmlns="" id="{0E5BDF2F-9DE7-4825-9AE7-41E56A5C9B5C}"/>
              </a:ext>
            </a:extLst>
          </p:cNvPr>
          <p:cNvGrpSpPr>
            <a:grpSpLocks noChangeAspect="1"/>
          </p:cNvGrpSpPr>
          <p:nvPr/>
        </p:nvGrpSpPr>
        <p:grpSpPr bwMode="auto">
          <a:xfrm>
            <a:off x="6450707" y="4207472"/>
            <a:ext cx="381000" cy="381000"/>
            <a:chOff x="2078" y="1680"/>
            <a:chExt cx="1615" cy="1615"/>
          </a:xfrm>
        </p:grpSpPr>
        <p:sp>
          <p:nvSpPr>
            <p:cNvPr id="100" name="Oval 24">
              <a:extLst>
                <a:ext uri="{FF2B5EF4-FFF2-40B4-BE49-F238E27FC236}">
                  <a16:creationId xmlns:a16="http://schemas.microsoft.com/office/drawing/2014/main" xmlns="" id="{DD60D054-9F05-4D44-841D-32425F932003}"/>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1" name="Oval 25">
              <a:extLst>
                <a:ext uri="{FF2B5EF4-FFF2-40B4-BE49-F238E27FC236}">
                  <a16:creationId xmlns:a16="http://schemas.microsoft.com/office/drawing/2014/main" xmlns="" id="{E52E5307-3006-47A0-B0C3-66AD538A2DEC}"/>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2" name="Oval 26">
              <a:extLst>
                <a:ext uri="{FF2B5EF4-FFF2-40B4-BE49-F238E27FC236}">
                  <a16:creationId xmlns:a16="http://schemas.microsoft.com/office/drawing/2014/main" xmlns="" id="{29886F4D-9409-4D12-B103-D5723A7D9453}"/>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3" name="Oval 27">
              <a:extLst>
                <a:ext uri="{FF2B5EF4-FFF2-40B4-BE49-F238E27FC236}">
                  <a16:creationId xmlns:a16="http://schemas.microsoft.com/office/drawing/2014/main" xmlns="" id="{03C03DB7-572E-4223-B28C-37172DCAF664}"/>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4" name="Oval 28">
              <a:extLst>
                <a:ext uri="{FF2B5EF4-FFF2-40B4-BE49-F238E27FC236}">
                  <a16:creationId xmlns:a16="http://schemas.microsoft.com/office/drawing/2014/main" xmlns="" id="{BD47E8AC-4A74-49D6-87A5-D0985424C5C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5" name="Oval 29">
              <a:extLst>
                <a:ext uri="{FF2B5EF4-FFF2-40B4-BE49-F238E27FC236}">
                  <a16:creationId xmlns:a16="http://schemas.microsoft.com/office/drawing/2014/main" xmlns="" id="{93D097FA-DA6A-4273-8D07-A0CEC8288C0A}"/>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106" name="Group 16">
            <a:extLst>
              <a:ext uri="{FF2B5EF4-FFF2-40B4-BE49-F238E27FC236}">
                <a16:creationId xmlns:a16="http://schemas.microsoft.com/office/drawing/2014/main" xmlns="" id="{4E762C6F-9CDB-4038-B32D-552B92A2F21E}"/>
              </a:ext>
            </a:extLst>
          </p:cNvPr>
          <p:cNvGrpSpPr>
            <a:grpSpLocks noChangeAspect="1"/>
          </p:cNvGrpSpPr>
          <p:nvPr/>
        </p:nvGrpSpPr>
        <p:grpSpPr bwMode="auto">
          <a:xfrm>
            <a:off x="3694697" y="3966341"/>
            <a:ext cx="381000" cy="381000"/>
            <a:chOff x="2078" y="1680"/>
            <a:chExt cx="1615" cy="1615"/>
          </a:xfrm>
        </p:grpSpPr>
        <p:sp>
          <p:nvSpPr>
            <p:cNvPr id="107" name="Oval 17">
              <a:extLst>
                <a:ext uri="{FF2B5EF4-FFF2-40B4-BE49-F238E27FC236}">
                  <a16:creationId xmlns:a16="http://schemas.microsoft.com/office/drawing/2014/main" xmlns="" id="{A566AA4F-4245-4D71-9A14-84899F89F782}"/>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8" name="Oval 18">
              <a:extLst>
                <a:ext uri="{FF2B5EF4-FFF2-40B4-BE49-F238E27FC236}">
                  <a16:creationId xmlns:a16="http://schemas.microsoft.com/office/drawing/2014/main" xmlns="" id="{5F98DBCF-CF68-4DA7-B174-B1EE0E8FBF04}"/>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09" name="Oval 19">
              <a:extLst>
                <a:ext uri="{FF2B5EF4-FFF2-40B4-BE49-F238E27FC236}">
                  <a16:creationId xmlns:a16="http://schemas.microsoft.com/office/drawing/2014/main" xmlns="" id="{29ACD305-1F3B-4E34-8315-DA5B92F1443D}"/>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10" name="Oval 20">
              <a:extLst>
                <a:ext uri="{FF2B5EF4-FFF2-40B4-BE49-F238E27FC236}">
                  <a16:creationId xmlns:a16="http://schemas.microsoft.com/office/drawing/2014/main" xmlns="" id="{CBF69BE0-0A8B-4F4E-B887-A07B19CDBA5B}"/>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11" name="Oval 21">
              <a:extLst>
                <a:ext uri="{FF2B5EF4-FFF2-40B4-BE49-F238E27FC236}">
                  <a16:creationId xmlns:a16="http://schemas.microsoft.com/office/drawing/2014/main" xmlns="" id="{FF1E18AA-FE66-4CF0-9FD6-EF332ED7E8D8}"/>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12" name="Oval 22">
              <a:extLst>
                <a:ext uri="{FF2B5EF4-FFF2-40B4-BE49-F238E27FC236}">
                  <a16:creationId xmlns:a16="http://schemas.microsoft.com/office/drawing/2014/main" xmlns="" id="{3EDDF9C3-625B-47C1-A561-917F0D6CEE50}"/>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113" name="AutoShape 8">
            <a:extLst>
              <a:ext uri="{FF2B5EF4-FFF2-40B4-BE49-F238E27FC236}">
                <a16:creationId xmlns:a16="http://schemas.microsoft.com/office/drawing/2014/main" xmlns="" id="{47888911-5BBC-4101-B688-DB3986A1511C}"/>
              </a:ext>
            </a:extLst>
          </p:cNvPr>
          <p:cNvSpPr>
            <a:spLocks noChangeAspect="1" noChangeArrowheads="1"/>
          </p:cNvSpPr>
          <p:nvPr/>
        </p:nvSpPr>
        <p:spPr bwMode="gray">
          <a:xfrm>
            <a:off x="1663010" y="3886359"/>
            <a:ext cx="20560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err="1">
                <a:cs typeface="B Nazanin" panose="00000400000000000000" pitchFamily="2" charset="-78"/>
              </a:rPr>
              <a:t>سریالی</a:t>
            </a:r>
            <a:r>
              <a:rPr lang="fa-IR" b="1" dirty="0">
                <a:cs typeface="B Nazanin" panose="00000400000000000000" pitchFamily="2" charset="-78"/>
              </a:rPr>
              <a:t> سلول و پک</a:t>
            </a:r>
            <a:endParaRPr lang="en-US" b="1" dirty="0">
              <a:solidFill>
                <a:srgbClr val="000000"/>
              </a:solidFill>
              <a:latin typeface="Times New Roman" panose="02020603050405020304" pitchFamily="18" charset="0"/>
              <a:cs typeface="B Nazanin" pitchFamily="2" charset="-78"/>
            </a:endParaRPr>
          </a:p>
        </p:txBody>
      </p:sp>
      <p:sp>
        <p:nvSpPr>
          <p:cNvPr id="114" name="TextBox 113">
            <a:extLst>
              <a:ext uri="{FF2B5EF4-FFF2-40B4-BE49-F238E27FC236}">
                <a16:creationId xmlns:a16="http://schemas.microsoft.com/office/drawing/2014/main" xmlns="" id="{F53964F2-A465-42D1-9BA5-A5A01547D796}"/>
              </a:ext>
            </a:extLst>
          </p:cNvPr>
          <p:cNvSpPr txBox="1"/>
          <p:nvPr/>
        </p:nvSpPr>
        <p:spPr>
          <a:xfrm>
            <a:off x="3208352" y="4371405"/>
            <a:ext cx="65" cy="276999"/>
          </a:xfrm>
          <a:prstGeom prst="rect">
            <a:avLst/>
          </a:prstGeom>
          <a:noFill/>
        </p:spPr>
        <p:txBody>
          <a:bodyPr wrap="none" lIns="0" tIns="0" rIns="0" bIns="0" rtlCol="0">
            <a:spAutoFit/>
          </a:bodyPr>
          <a:lstStyle/>
          <a:p>
            <a:endParaRPr lang="en-US" dirty="0"/>
          </a:p>
        </p:txBody>
      </p:sp>
      <p:grpSp>
        <p:nvGrpSpPr>
          <p:cNvPr id="115" name="Group 16">
            <a:extLst>
              <a:ext uri="{FF2B5EF4-FFF2-40B4-BE49-F238E27FC236}">
                <a16:creationId xmlns:a16="http://schemas.microsoft.com/office/drawing/2014/main" xmlns="" id="{49896148-48A4-4709-98EB-5720D105B595}"/>
              </a:ext>
            </a:extLst>
          </p:cNvPr>
          <p:cNvGrpSpPr>
            <a:grpSpLocks noChangeAspect="1"/>
          </p:cNvGrpSpPr>
          <p:nvPr/>
        </p:nvGrpSpPr>
        <p:grpSpPr bwMode="auto">
          <a:xfrm>
            <a:off x="3721456" y="4508703"/>
            <a:ext cx="381000" cy="381000"/>
            <a:chOff x="2078" y="1680"/>
            <a:chExt cx="1615" cy="1615"/>
          </a:xfrm>
        </p:grpSpPr>
        <p:sp>
          <p:nvSpPr>
            <p:cNvPr id="116" name="Oval 17">
              <a:extLst>
                <a:ext uri="{FF2B5EF4-FFF2-40B4-BE49-F238E27FC236}">
                  <a16:creationId xmlns:a16="http://schemas.microsoft.com/office/drawing/2014/main" xmlns="" id="{53AEC852-52A2-4132-AC51-7208BCE5FD9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17" name="Oval 18">
              <a:extLst>
                <a:ext uri="{FF2B5EF4-FFF2-40B4-BE49-F238E27FC236}">
                  <a16:creationId xmlns:a16="http://schemas.microsoft.com/office/drawing/2014/main" xmlns="" id="{BE494280-A6A9-4928-BD75-6714A34C9030}"/>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18" name="Oval 19">
              <a:extLst>
                <a:ext uri="{FF2B5EF4-FFF2-40B4-BE49-F238E27FC236}">
                  <a16:creationId xmlns:a16="http://schemas.microsoft.com/office/drawing/2014/main" xmlns="" id="{3E713282-E836-43DE-B38E-71CCEFA381E6}"/>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19" name="Oval 20">
              <a:extLst>
                <a:ext uri="{FF2B5EF4-FFF2-40B4-BE49-F238E27FC236}">
                  <a16:creationId xmlns:a16="http://schemas.microsoft.com/office/drawing/2014/main" xmlns="" id="{C2E43C42-D3E1-44FA-91DA-B25285B9EB7A}"/>
                </a:ext>
              </a:extLst>
            </p:cNvPr>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20" name="Oval 21">
              <a:extLst>
                <a:ext uri="{FF2B5EF4-FFF2-40B4-BE49-F238E27FC236}">
                  <a16:creationId xmlns:a16="http://schemas.microsoft.com/office/drawing/2014/main" xmlns="" id="{79E0E59C-0C9F-42C8-9E4F-B7DAD9BD08C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21" name="Oval 22">
              <a:extLst>
                <a:ext uri="{FF2B5EF4-FFF2-40B4-BE49-F238E27FC236}">
                  <a16:creationId xmlns:a16="http://schemas.microsoft.com/office/drawing/2014/main" xmlns="" id="{08FA20D4-AA41-4693-B125-CAE4F0924DCB}"/>
                </a:ext>
              </a:extLst>
            </p:cNvPr>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122" name="AutoShape 8">
            <a:extLst>
              <a:ext uri="{FF2B5EF4-FFF2-40B4-BE49-F238E27FC236}">
                <a16:creationId xmlns:a16="http://schemas.microsoft.com/office/drawing/2014/main" xmlns="" id="{A8F51255-4764-4938-8AFD-A035F4653E99}"/>
              </a:ext>
            </a:extLst>
          </p:cNvPr>
          <p:cNvSpPr>
            <a:spLocks noChangeAspect="1" noChangeArrowheads="1"/>
          </p:cNvSpPr>
          <p:nvPr/>
        </p:nvSpPr>
        <p:spPr bwMode="gray">
          <a:xfrm>
            <a:off x="1689769" y="4428721"/>
            <a:ext cx="205608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err="1">
                <a:cs typeface="B Nazanin" panose="00000400000000000000" pitchFamily="2" charset="-78"/>
              </a:rPr>
              <a:t>ماژولار</a:t>
            </a:r>
            <a:r>
              <a:rPr lang="fa-IR" b="1" dirty="0">
                <a:cs typeface="B Nazanin" panose="00000400000000000000" pitchFamily="2" charset="-78"/>
              </a:rPr>
              <a:t> سلول و پک</a:t>
            </a:r>
            <a:endParaRPr lang="en-US" b="1" dirty="0">
              <a:solidFill>
                <a:srgbClr val="000000"/>
              </a:solidFill>
              <a:latin typeface="Times New Roman" panose="02020603050405020304" pitchFamily="18" charset="0"/>
              <a:cs typeface="B Nazanin" pitchFamily="2" charset="-78"/>
            </a:endParaRPr>
          </a:p>
        </p:txBody>
      </p:sp>
      <p:sp>
        <p:nvSpPr>
          <p:cNvPr id="131" name="AutoShape 8">
            <a:extLst>
              <a:ext uri="{FF2B5EF4-FFF2-40B4-BE49-F238E27FC236}">
                <a16:creationId xmlns:a16="http://schemas.microsoft.com/office/drawing/2014/main" xmlns="" id="{1D001561-C43A-44D9-81F9-A023B7BC3B1F}"/>
              </a:ext>
            </a:extLst>
          </p:cNvPr>
          <p:cNvSpPr>
            <a:spLocks noChangeArrowheads="1"/>
          </p:cNvSpPr>
          <p:nvPr/>
        </p:nvSpPr>
        <p:spPr bwMode="gray">
          <a:xfrm>
            <a:off x="5232044" y="2153118"/>
            <a:ext cx="2496312" cy="512064"/>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انتقال مجاور</a:t>
            </a:r>
            <a:endParaRPr lang="en-US" b="1" dirty="0">
              <a:solidFill>
                <a:srgbClr val="000000"/>
              </a:solidFill>
              <a:latin typeface="Times New Roman" panose="02020603050405020304" pitchFamily="18" charset="0"/>
              <a:cs typeface="B Nazanin" pitchFamily="2" charset="-78"/>
            </a:endParaRPr>
          </a:p>
        </p:txBody>
      </p:sp>
      <p:grpSp>
        <p:nvGrpSpPr>
          <p:cNvPr id="132" name="Group 23">
            <a:extLst>
              <a:ext uri="{FF2B5EF4-FFF2-40B4-BE49-F238E27FC236}">
                <a16:creationId xmlns:a16="http://schemas.microsoft.com/office/drawing/2014/main" xmlns="" id="{A0320E00-D2E6-474A-B6A6-AF32A2426411}"/>
              </a:ext>
            </a:extLst>
          </p:cNvPr>
          <p:cNvGrpSpPr>
            <a:grpSpLocks noChangeAspect="1"/>
          </p:cNvGrpSpPr>
          <p:nvPr/>
        </p:nvGrpSpPr>
        <p:grpSpPr bwMode="auto">
          <a:xfrm>
            <a:off x="7657106" y="2210441"/>
            <a:ext cx="381000" cy="381000"/>
            <a:chOff x="2078" y="1680"/>
            <a:chExt cx="1615" cy="1615"/>
          </a:xfrm>
        </p:grpSpPr>
        <p:sp>
          <p:nvSpPr>
            <p:cNvPr id="133" name="Oval 24">
              <a:extLst>
                <a:ext uri="{FF2B5EF4-FFF2-40B4-BE49-F238E27FC236}">
                  <a16:creationId xmlns:a16="http://schemas.microsoft.com/office/drawing/2014/main" xmlns="" id="{D36CF0DF-81DD-429F-8C92-4681C769AD85}"/>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34" name="Oval 25">
              <a:extLst>
                <a:ext uri="{FF2B5EF4-FFF2-40B4-BE49-F238E27FC236}">
                  <a16:creationId xmlns:a16="http://schemas.microsoft.com/office/drawing/2014/main" xmlns="" id="{F9FFCAE0-8BDF-4D64-A40D-96DC060F569C}"/>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35" name="Oval 26">
              <a:extLst>
                <a:ext uri="{FF2B5EF4-FFF2-40B4-BE49-F238E27FC236}">
                  <a16:creationId xmlns:a16="http://schemas.microsoft.com/office/drawing/2014/main" xmlns="" id="{24EEF376-1BE5-4514-9D50-48E1B7F61844}"/>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36" name="Oval 27">
              <a:extLst>
                <a:ext uri="{FF2B5EF4-FFF2-40B4-BE49-F238E27FC236}">
                  <a16:creationId xmlns:a16="http://schemas.microsoft.com/office/drawing/2014/main" xmlns="" id="{C02121B2-3EBA-46EE-8948-223B177F46FC}"/>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37" name="Oval 28">
              <a:extLst>
                <a:ext uri="{FF2B5EF4-FFF2-40B4-BE49-F238E27FC236}">
                  <a16:creationId xmlns:a16="http://schemas.microsoft.com/office/drawing/2014/main" xmlns="" id="{151051E3-E6C5-4669-A40D-88442091C56B}"/>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38" name="Oval 29">
              <a:extLst>
                <a:ext uri="{FF2B5EF4-FFF2-40B4-BE49-F238E27FC236}">
                  <a16:creationId xmlns:a16="http://schemas.microsoft.com/office/drawing/2014/main" xmlns="" id="{4BC7FCF1-505D-4E9A-BCBB-646C0851F826}"/>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139" name="AutoShape 8">
            <a:extLst>
              <a:ext uri="{FF2B5EF4-FFF2-40B4-BE49-F238E27FC236}">
                <a16:creationId xmlns:a16="http://schemas.microsoft.com/office/drawing/2014/main" xmlns="" id="{AD67BECF-64ED-4C10-BDF8-B54A15D16C17}"/>
              </a:ext>
            </a:extLst>
          </p:cNvPr>
          <p:cNvSpPr>
            <a:spLocks noChangeAspect="1" noChangeArrowheads="1"/>
          </p:cNvSpPr>
          <p:nvPr/>
        </p:nvSpPr>
        <p:spPr bwMode="gray">
          <a:xfrm>
            <a:off x="5232044" y="6170417"/>
            <a:ext cx="249967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انتقال سلول به سلول </a:t>
            </a:r>
            <a:r>
              <a:rPr lang="fa-IR" b="1" dirty="0" err="1">
                <a:cs typeface="B Nazanin" panose="00000400000000000000" pitchFamily="2" charset="-78"/>
              </a:rPr>
              <a:t>مسقیم</a:t>
            </a:r>
            <a:endParaRPr lang="en-US" b="1" dirty="0">
              <a:solidFill>
                <a:srgbClr val="000000"/>
              </a:solidFill>
              <a:latin typeface="Times New Roman" panose="02020603050405020304" pitchFamily="18" charset="0"/>
              <a:cs typeface="B Nazanin" pitchFamily="2" charset="-78"/>
            </a:endParaRPr>
          </a:p>
        </p:txBody>
      </p:sp>
      <p:grpSp>
        <p:nvGrpSpPr>
          <p:cNvPr id="140" name="Group 23">
            <a:extLst>
              <a:ext uri="{FF2B5EF4-FFF2-40B4-BE49-F238E27FC236}">
                <a16:creationId xmlns:a16="http://schemas.microsoft.com/office/drawing/2014/main" xmlns="" id="{46DD52FD-E0C5-4D4F-B29D-6967CCD9432F}"/>
              </a:ext>
            </a:extLst>
          </p:cNvPr>
          <p:cNvGrpSpPr>
            <a:grpSpLocks noChangeAspect="1"/>
          </p:cNvGrpSpPr>
          <p:nvPr/>
        </p:nvGrpSpPr>
        <p:grpSpPr bwMode="auto">
          <a:xfrm>
            <a:off x="7660469" y="6246617"/>
            <a:ext cx="381000" cy="381000"/>
            <a:chOff x="2078" y="1680"/>
            <a:chExt cx="1615" cy="1615"/>
          </a:xfrm>
        </p:grpSpPr>
        <p:sp>
          <p:nvSpPr>
            <p:cNvPr id="141" name="Oval 24">
              <a:extLst>
                <a:ext uri="{FF2B5EF4-FFF2-40B4-BE49-F238E27FC236}">
                  <a16:creationId xmlns:a16="http://schemas.microsoft.com/office/drawing/2014/main" xmlns="" id="{26937B66-6C2A-4441-9A3C-B35598750681}"/>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42" name="Oval 25">
              <a:extLst>
                <a:ext uri="{FF2B5EF4-FFF2-40B4-BE49-F238E27FC236}">
                  <a16:creationId xmlns:a16="http://schemas.microsoft.com/office/drawing/2014/main" xmlns="" id="{41201666-3AA5-40C7-A08B-F6231D83CB0B}"/>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43" name="Oval 26">
              <a:extLst>
                <a:ext uri="{FF2B5EF4-FFF2-40B4-BE49-F238E27FC236}">
                  <a16:creationId xmlns:a16="http://schemas.microsoft.com/office/drawing/2014/main" xmlns="" id="{F5FDB05C-877B-46A0-84A3-4F7D6D29D587}"/>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44" name="Oval 27">
              <a:extLst>
                <a:ext uri="{FF2B5EF4-FFF2-40B4-BE49-F238E27FC236}">
                  <a16:creationId xmlns:a16="http://schemas.microsoft.com/office/drawing/2014/main" xmlns="" id="{FAA6EE00-6A71-489A-AE9F-0E102A937064}"/>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45" name="Oval 28">
              <a:extLst>
                <a:ext uri="{FF2B5EF4-FFF2-40B4-BE49-F238E27FC236}">
                  <a16:creationId xmlns:a16="http://schemas.microsoft.com/office/drawing/2014/main" xmlns="" id="{3C609F6B-8190-45A8-832A-11DFA4863205}"/>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46" name="Oval 29">
              <a:extLst>
                <a:ext uri="{FF2B5EF4-FFF2-40B4-BE49-F238E27FC236}">
                  <a16:creationId xmlns:a16="http://schemas.microsoft.com/office/drawing/2014/main" xmlns="" id="{C2FA29F7-937E-463B-B060-8EECEA46A678}"/>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125" name="Rounded Rectangle 175">
            <a:extLst>
              <a:ext uri="{FF2B5EF4-FFF2-40B4-BE49-F238E27FC236}">
                <a16:creationId xmlns:a16="http://schemas.microsoft.com/office/drawing/2014/main" xmlns="" id="{D8E27344-2AB1-4A61-B14B-D9C7962F785E}"/>
              </a:ext>
            </a:extLst>
          </p:cNvPr>
          <p:cNvSpPr/>
          <p:nvPr/>
        </p:nvSpPr>
        <p:spPr bwMode="auto">
          <a:xfrm>
            <a:off x="6324600" y="1269708"/>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126" name="Picture 125"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127"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128"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29" name="Rectangle 128">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130" name="Rectangle 129">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147"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56"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57" name="Rectangle 156">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158" name="Rectangle 157">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148"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67</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4980098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3">
            <a:extLst>
              <a:ext uri="{28A0092B-C50C-407E-A947-70E740481C1C}">
                <a14:useLocalDpi xmlns:a14="http://schemas.microsoft.com/office/drawing/2010/main" val="0"/>
              </a:ext>
            </a:extLst>
          </a:blip>
          <a:stretch>
            <a:fillRect/>
          </a:stretch>
        </p:blipFill>
        <p:spPr bwMode="auto">
          <a:xfrm>
            <a:off x="304800" y="2050503"/>
            <a:ext cx="8683490" cy="4057300"/>
          </a:xfrm>
          <a:prstGeom prst="rect">
            <a:avLst/>
          </a:prstGeom>
          <a:noFill/>
          <a:ln>
            <a:noFill/>
          </a:ln>
        </p:spPr>
      </p:pic>
      <p:sp>
        <p:nvSpPr>
          <p:cNvPr id="18"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7" name="Rectangle 26">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8" name="Rectangle 2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9"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ectangle 3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4" name="Rectangle 43"/>
          <p:cNvSpPr/>
          <p:nvPr/>
        </p:nvSpPr>
        <p:spPr>
          <a:xfrm>
            <a:off x="2221390" y="6172200"/>
            <a:ext cx="3988592"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cs typeface="B Lotus" panose="00000400000000000000" pitchFamily="2" charset="-78"/>
              </a:rPr>
              <a:t>شماتیک دیاگرام همسان سازی ماژولار سلول به سلول.</a:t>
            </a:r>
            <a:endParaRPr lang="en-US" dirty="0">
              <a:latin typeface="Times New Roman" panose="02020603050405020304" pitchFamily="18" charset="0"/>
              <a:cs typeface="B Lotus" panose="00000400000000000000" pitchFamily="2" charset="-78"/>
            </a:endParaRPr>
          </a:p>
        </p:txBody>
      </p:sp>
      <p:sp>
        <p:nvSpPr>
          <p:cNvPr id="45" name="TextBox 44">
            <a:extLst>
              <a:ext uri="{FF2B5EF4-FFF2-40B4-BE49-F238E27FC236}">
                <a16:creationId xmlns:a16="http://schemas.microsoft.com/office/drawing/2014/main" xmlns="" id="{F43469DC-7F5B-471E-BD74-ED709E621F63}"/>
              </a:ext>
            </a:extLst>
          </p:cNvPr>
          <p:cNvSpPr txBox="1"/>
          <p:nvPr/>
        </p:nvSpPr>
        <p:spPr>
          <a:xfrm>
            <a:off x="7741141" y="1726687"/>
            <a:ext cx="1151276" cy="369332"/>
          </a:xfrm>
          <a:prstGeom prst="rect">
            <a:avLst/>
          </a:prstGeom>
          <a:noFill/>
        </p:spPr>
        <p:txBody>
          <a:bodyPr wrap="none" rtlCol="0">
            <a:spAutoFit/>
          </a:bodyPr>
          <a:lstStyle/>
          <a:p>
            <a:pPr algn="r" rtl="1"/>
            <a:r>
              <a:rPr lang="fa-IR" b="1" dirty="0">
                <a:cs typeface="B Nazanin" panose="00000400000000000000" pitchFamily="2" charset="-78"/>
              </a:rPr>
              <a:t>انتقال مجاور</a:t>
            </a:r>
          </a:p>
        </p:txBody>
      </p:sp>
      <p:graphicFrame>
        <p:nvGraphicFramePr>
          <p:cNvPr id="15" name="Table 14"/>
          <p:cNvGraphicFramePr>
            <a:graphicFrameLocks noGrp="1"/>
          </p:cNvGraphicFramePr>
          <p:nvPr>
            <p:extLst>
              <p:ext uri="{D42A27DB-BD31-4B8C-83A1-F6EECF244321}">
                <p14:modId xmlns:p14="http://schemas.microsoft.com/office/powerpoint/2010/main" val="2434933159"/>
              </p:ext>
            </p:extLst>
          </p:nvPr>
        </p:nvGraphicFramePr>
        <p:xfrm>
          <a:off x="431672" y="1292475"/>
          <a:ext cx="4180150" cy="762000"/>
        </p:xfrm>
        <a:graphic>
          <a:graphicData uri="http://schemas.openxmlformats.org/drawingml/2006/table">
            <a:tbl>
              <a:tblPr rtl="1" firstRow="1" firstCol="1" bandRow="1"/>
              <a:tblGrid>
                <a:gridCol w="1157922">
                  <a:extLst>
                    <a:ext uri="{9D8B030D-6E8A-4147-A177-3AD203B41FA5}">
                      <a16:colId xmlns:a16="http://schemas.microsoft.com/office/drawing/2014/main" xmlns="" val="20001"/>
                    </a:ext>
                  </a:extLst>
                </a:gridCol>
                <a:gridCol w="781685">
                  <a:extLst>
                    <a:ext uri="{9D8B030D-6E8A-4147-A177-3AD203B41FA5}">
                      <a16:colId xmlns:a16="http://schemas.microsoft.com/office/drawing/2014/main" xmlns="" val="20002"/>
                    </a:ext>
                  </a:extLst>
                </a:gridCol>
                <a:gridCol w="470535">
                  <a:extLst>
                    <a:ext uri="{9D8B030D-6E8A-4147-A177-3AD203B41FA5}">
                      <a16:colId xmlns:a16="http://schemas.microsoft.com/office/drawing/2014/main" xmlns="" val="20003"/>
                    </a:ext>
                  </a:extLst>
                </a:gridCol>
                <a:gridCol w="472122">
                  <a:extLst>
                    <a:ext uri="{9D8B030D-6E8A-4147-A177-3AD203B41FA5}">
                      <a16:colId xmlns:a16="http://schemas.microsoft.com/office/drawing/2014/main" xmlns="" val="20004"/>
                    </a:ext>
                  </a:extLst>
                </a:gridCol>
                <a:gridCol w="556260">
                  <a:extLst>
                    <a:ext uri="{9D8B030D-6E8A-4147-A177-3AD203B41FA5}">
                      <a16:colId xmlns:a16="http://schemas.microsoft.com/office/drawing/2014/main" xmlns="" val="20005"/>
                    </a:ext>
                  </a:extLst>
                </a:gridCol>
                <a:gridCol w="741626">
                  <a:extLst>
                    <a:ext uri="{9D8B030D-6E8A-4147-A177-3AD203B41FA5}">
                      <a16:colId xmlns:a16="http://schemas.microsoft.com/office/drawing/2014/main" xmlns="" val="20006"/>
                    </a:ext>
                  </a:extLst>
                </a:gridCol>
              </a:tblGrid>
              <a:tr h="3810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پیچیدگی الگوریتم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1" eaLnBrk="1" fontAlgn="auto" latinLnBrk="0" hangingPunct="1">
                        <a:lnSpc>
                          <a:spcPct val="100000"/>
                        </a:lnSpc>
                        <a:spcBef>
                          <a:spcPts val="600"/>
                        </a:spcBef>
                        <a:spcAft>
                          <a:spcPts val="600"/>
                        </a:spcAft>
                        <a:buClrTx/>
                        <a:buSzTx/>
                        <a:buFontTx/>
                        <a:buNone/>
                        <a:tabLst/>
                        <a:defRPr/>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راندمان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اندازه</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هزینه</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امتیاز</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نهایی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1/8</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3/2</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1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68</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226163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p:nvPr/>
        </p:nvPicPr>
        <p:blipFill>
          <a:blip r:embed="rId3">
            <a:extLst>
              <a:ext uri="{28A0092B-C50C-407E-A947-70E740481C1C}">
                <a14:useLocalDpi xmlns:a14="http://schemas.microsoft.com/office/drawing/2010/main" val="0"/>
              </a:ext>
            </a:extLst>
          </a:blip>
          <a:stretch>
            <a:fillRect/>
          </a:stretch>
        </p:blipFill>
        <p:spPr bwMode="auto">
          <a:xfrm>
            <a:off x="570714" y="2139498"/>
            <a:ext cx="8077200" cy="4146478"/>
          </a:xfrm>
          <a:prstGeom prst="rect">
            <a:avLst/>
          </a:prstGeom>
          <a:noFill/>
          <a:ln>
            <a:noFill/>
          </a:ln>
        </p:spPr>
      </p:pic>
      <p:sp>
        <p:nvSpPr>
          <p:cNvPr id="15"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7" name="Rectangle 26">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8" name="Rectangle 2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9"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ectangle 3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4" name="Rectangle 33"/>
          <p:cNvSpPr/>
          <p:nvPr/>
        </p:nvSpPr>
        <p:spPr>
          <a:xfrm>
            <a:off x="3152826" y="6318394"/>
            <a:ext cx="2912977" cy="369332"/>
          </a:xfrm>
          <a:prstGeom prst="rect">
            <a:avLst/>
          </a:prstGeom>
        </p:spPr>
        <p:txBody>
          <a:bodyPr wrap="none">
            <a:spAutoFit/>
          </a:bodyPr>
          <a:lstStyle/>
          <a:p>
            <a:pPr algn="r" rtl="1" fontAlgn="base">
              <a:spcBef>
                <a:spcPct val="0"/>
              </a:spcBef>
              <a:spcAft>
                <a:spcPct val="0"/>
              </a:spcAft>
            </a:pPr>
            <a:r>
              <a:rPr lang="fa-IR" dirty="0">
                <a:latin typeface="Times New Roman" panose="02020603050405020304" pitchFamily="18" charset="0"/>
                <a:cs typeface="B Lotus" panose="00000400000000000000" pitchFamily="2" charset="-78"/>
              </a:rPr>
              <a:t>شماتیک دیاگرام همسان سازی لایه ای.</a:t>
            </a:r>
            <a:endParaRPr lang="en-US" b="1" dirty="0">
              <a:solidFill>
                <a:srgbClr val="000000"/>
              </a:solidFill>
              <a:latin typeface="Times New Roman" panose="02020603050405020304" pitchFamily="18" charset="0"/>
              <a:cs typeface="B Nazanin" pitchFamily="2" charset="-78"/>
            </a:endParaRPr>
          </a:p>
        </p:txBody>
      </p:sp>
      <p:sp>
        <p:nvSpPr>
          <p:cNvPr id="35" name="TextBox 34">
            <a:extLst>
              <a:ext uri="{FF2B5EF4-FFF2-40B4-BE49-F238E27FC236}">
                <a16:creationId xmlns:a16="http://schemas.microsoft.com/office/drawing/2014/main" xmlns="" id="{F43469DC-7F5B-471E-BD74-ED709E621F63}"/>
              </a:ext>
            </a:extLst>
          </p:cNvPr>
          <p:cNvSpPr txBox="1"/>
          <p:nvPr/>
        </p:nvSpPr>
        <p:spPr>
          <a:xfrm>
            <a:off x="7741141" y="1726687"/>
            <a:ext cx="1151276" cy="369332"/>
          </a:xfrm>
          <a:prstGeom prst="rect">
            <a:avLst/>
          </a:prstGeom>
          <a:noFill/>
        </p:spPr>
        <p:txBody>
          <a:bodyPr wrap="none" rtlCol="0">
            <a:spAutoFit/>
          </a:bodyPr>
          <a:lstStyle/>
          <a:p>
            <a:pPr algn="r" rtl="1"/>
            <a:r>
              <a:rPr lang="fa-IR" b="1" dirty="0">
                <a:cs typeface="B Nazanin" panose="00000400000000000000" pitchFamily="2" charset="-78"/>
              </a:rPr>
              <a:t>انتقال مجاور</a:t>
            </a:r>
          </a:p>
        </p:txBody>
      </p:sp>
      <p:graphicFrame>
        <p:nvGraphicFramePr>
          <p:cNvPr id="16" name="Table 15"/>
          <p:cNvGraphicFramePr>
            <a:graphicFrameLocks noGrp="1"/>
          </p:cNvGraphicFramePr>
          <p:nvPr>
            <p:extLst>
              <p:ext uri="{D42A27DB-BD31-4B8C-83A1-F6EECF244321}">
                <p14:modId xmlns:p14="http://schemas.microsoft.com/office/powerpoint/2010/main" val="1414955168"/>
              </p:ext>
            </p:extLst>
          </p:nvPr>
        </p:nvGraphicFramePr>
        <p:xfrm>
          <a:off x="431672" y="1292475"/>
          <a:ext cx="4180150" cy="762000"/>
        </p:xfrm>
        <a:graphic>
          <a:graphicData uri="http://schemas.openxmlformats.org/drawingml/2006/table">
            <a:tbl>
              <a:tblPr rtl="1" firstRow="1" firstCol="1" bandRow="1"/>
              <a:tblGrid>
                <a:gridCol w="1157922">
                  <a:extLst>
                    <a:ext uri="{9D8B030D-6E8A-4147-A177-3AD203B41FA5}">
                      <a16:colId xmlns:a16="http://schemas.microsoft.com/office/drawing/2014/main" xmlns="" val="20001"/>
                    </a:ext>
                  </a:extLst>
                </a:gridCol>
                <a:gridCol w="781685">
                  <a:extLst>
                    <a:ext uri="{9D8B030D-6E8A-4147-A177-3AD203B41FA5}">
                      <a16:colId xmlns:a16="http://schemas.microsoft.com/office/drawing/2014/main" xmlns="" val="20002"/>
                    </a:ext>
                  </a:extLst>
                </a:gridCol>
                <a:gridCol w="470535">
                  <a:extLst>
                    <a:ext uri="{9D8B030D-6E8A-4147-A177-3AD203B41FA5}">
                      <a16:colId xmlns:a16="http://schemas.microsoft.com/office/drawing/2014/main" xmlns="" val="20003"/>
                    </a:ext>
                  </a:extLst>
                </a:gridCol>
                <a:gridCol w="472122">
                  <a:extLst>
                    <a:ext uri="{9D8B030D-6E8A-4147-A177-3AD203B41FA5}">
                      <a16:colId xmlns:a16="http://schemas.microsoft.com/office/drawing/2014/main" xmlns="" val="20004"/>
                    </a:ext>
                  </a:extLst>
                </a:gridCol>
                <a:gridCol w="556260">
                  <a:extLst>
                    <a:ext uri="{9D8B030D-6E8A-4147-A177-3AD203B41FA5}">
                      <a16:colId xmlns:a16="http://schemas.microsoft.com/office/drawing/2014/main" xmlns="" val="20005"/>
                    </a:ext>
                  </a:extLst>
                </a:gridCol>
                <a:gridCol w="741626">
                  <a:extLst>
                    <a:ext uri="{9D8B030D-6E8A-4147-A177-3AD203B41FA5}">
                      <a16:colId xmlns:a16="http://schemas.microsoft.com/office/drawing/2014/main" xmlns="" val="20006"/>
                    </a:ext>
                  </a:extLst>
                </a:gridCol>
              </a:tblGrid>
              <a:tr h="3810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پیچیدگی الگوریتم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1" eaLnBrk="1" fontAlgn="auto" latinLnBrk="0" hangingPunct="1">
                        <a:lnSpc>
                          <a:spcPct val="100000"/>
                        </a:lnSpc>
                        <a:spcBef>
                          <a:spcPts val="600"/>
                        </a:spcBef>
                        <a:spcAft>
                          <a:spcPts val="600"/>
                        </a:spcAft>
                        <a:buClrTx/>
                        <a:buSzTx/>
                        <a:buFontTx/>
                        <a:buNone/>
                        <a:tabLst/>
                        <a:defRPr/>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راندمان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اندازه</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هزینه</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امتیاز</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نهایی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2/8</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1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69</a:t>
            </a:fld>
            <a:endParaRPr lang="fa-IR" sz="1800" dirty="0">
              <a:solidFill>
                <a:schemeClr val="tx1"/>
              </a:solidFill>
              <a:cs typeface="B Lotus" panose="00000400000000000000" pitchFamily="2" charset="-78"/>
            </a:endParaRPr>
          </a:p>
        </p:txBody>
      </p:sp>
      <p:pic>
        <p:nvPicPr>
          <p:cNvPr id="19" name="Picture 18"/>
          <p:cNvPicPr/>
          <p:nvPr/>
        </p:nvPicPr>
        <p:blipFill>
          <a:blip r:embed="rId5">
            <a:extLst>
              <a:ext uri="{28A0092B-C50C-407E-A947-70E740481C1C}">
                <a14:useLocalDpi xmlns:a14="http://schemas.microsoft.com/office/drawing/2010/main" val="0"/>
              </a:ext>
            </a:extLst>
          </a:blip>
          <a:stretch>
            <a:fillRect/>
          </a:stretch>
        </p:blipFill>
        <p:spPr bwMode="auto">
          <a:xfrm>
            <a:off x="4758589" y="1695057"/>
            <a:ext cx="7778650" cy="4296544"/>
          </a:xfrm>
          <a:prstGeom prst="rect">
            <a:avLst/>
          </a:prstGeom>
          <a:noFill/>
          <a:ln>
            <a:noFill/>
          </a:ln>
        </p:spPr>
      </p:pic>
      <p:sp>
        <p:nvSpPr>
          <p:cNvPr id="20" name="Rectangle 19"/>
          <p:cNvSpPr/>
          <p:nvPr/>
        </p:nvSpPr>
        <p:spPr>
          <a:xfrm>
            <a:off x="6544613" y="5991601"/>
            <a:ext cx="4206601" cy="369332"/>
          </a:xfrm>
          <a:prstGeom prst="rect">
            <a:avLst/>
          </a:prstGeom>
        </p:spPr>
        <p:txBody>
          <a:bodyPr wrap="none">
            <a:spAutoFit/>
          </a:bodyPr>
          <a:lstStyle/>
          <a:p>
            <a:pPr algn="r" rtl="1" fontAlgn="base">
              <a:spcBef>
                <a:spcPct val="0"/>
              </a:spcBef>
              <a:spcAft>
                <a:spcPct val="0"/>
              </a:spcAft>
            </a:pPr>
            <a:r>
              <a:rPr lang="fa-IR" b="1" dirty="0">
                <a:cs typeface="B Nazanin" panose="00000400000000000000" pitchFamily="2" charset="-78"/>
              </a:rPr>
              <a:t>شماتیک دیاگرام همسان سازی سلول و پک ماژولار.</a:t>
            </a:r>
            <a:endParaRPr lang="en-US" b="1" dirty="0">
              <a:solidFill>
                <a:srgbClr val="000000"/>
              </a:solidFill>
              <a:latin typeface="Times New Roman" panose="02020603050405020304" pitchFamily="18" charset="0"/>
              <a:cs typeface="B Nazanin" pitchFamily="2" charset="-78"/>
            </a:endParaRPr>
          </a:p>
        </p:txBody>
      </p:sp>
      <p:pic>
        <p:nvPicPr>
          <p:cNvPr id="21" name="Picture 20"/>
          <p:cNvPicPr/>
          <p:nvPr/>
        </p:nvPicPr>
        <p:blipFill>
          <a:blip r:embed="rId6">
            <a:extLst>
              <a:ext uri="{28A0092B-C50C-407E-A947-70E740481C1C}">
                <a14:useLocalDpi xmlns:a14="http://schemas.microsoft.com/office/drawing/2010/main" val="0"/>
              </a:ext>
            </a:extLst>
          </a:blip>
          <a:stretch>
            <a:fillRect/>
          </a:stretch>
        </p:blipFill>
        <p:spPr bwMode="auto">
          <a:xfrm>
            <a:off x="-2438400" y="1666302"/>
            <a:ext cx="7924800" cy="3916079"/>
          </a:xfrm>
          <a:prstGeom prst="rect">
            <a:avLst/>
          </a:prstGeom>
          <a:noFill/>
          <a:ln>
            <a:noFill/>
          </a:ln>
        </p:spPr>
      </p:pic>
      <p:sp>
        <p:nvSpPr>
          <p:cNvPr id="22" name="Rectangle 21"/>
          <p:cNvSpPr/>
          <p:nvPr/>
        </p:nvSpPr>
        <p:spPr>
          <a:xfrm>
            <a:off x="-481516" y="5799904"/>
            <a:ext cx="4011034"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ea typeface="Calibri" panose="020F0502020204030204" pitchFamily="34" charset="0"/>
                <a:cs typeface="B Lotus" panose="00000400000000000000" pitchFamily="2" charset="-78"/>
              </a:rPr>
              <a:t>شکل 7 </a:t>
            </a:r>
            <a:r>
              <a:rPr lang="fa-IR" dirty="0">
                <a:latin typeface="Times New Roman" panose="02020603050405020304" pitchFamily="18" charset="0"/>
                <a:cs typeface="B Lotus" panose="00000400000000000000" pitchFamily="2" charset="-78"/>
              </a:rPr>
              <a:t>شماتیک دیاگرام همسان سازی سلول به سلول.</a:t>
            </a:r>
            <a:endParaRPr lang="en-US" dirty="0">
              <a:latin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9174732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3">
            <a:extLst>
              <a:ext uri="{28A0092B-C50C-407E-A947-70E740481C1C}">
                <a14:useLocalDpi xmlns:a14="http://schemas.microsoft.com/office/drawing/2010/main" val="0"/>
              </a:ext>
            </a:extLst>
          </a:blip>
          <a:stretch>
            <a:fillRect/>
          </a:stretch>
        </p:blipFill>
        <p:spPr bwMode="auto">
          <a:xfrm>
            <a:off x="640257" y="2054475"/>
            <a:ext cx="7778650" cy="4296544"/>
          </a:xfrm>
          <a:prstGeom prst="rect">
            <a:avLst/>
          </a:prstGeom>
          <a:noFill/>
          <a:ln>
            <a:noFill/>
          </a:ln>
        </p:spPr>
      </p:pic>
      <p:sp>
        <p:nvSpPr>
          <p:cNvPr id="15"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18" name="Picture 17"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4"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5"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6" name="Rectangle 25">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ectangle 3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4" name="TextBox 33">
            <a:extLst>
              <a:ext uri="{FF2B5EF4-FFF2-40B4-BE49-F238E27FC236}">
                <a16:creationId xmlns:a16="http://schemas.microsoft.com/office/drawing/2014/main" xmlns="" id="{F43469DC-7F5B-471E-BD74-ED709E621F63}"/>
              </a:ext>
            </a:extLst>
          </p:cNvPr>
          <p:cNvSpPr txBox="1"/>
          <p:nvPr/>
        </p:nvSpPr>
        <p:spPr>
          <a:xfrm>
            <a:off x="7404509" y="1726687"/>
            <a:ext cx="1487908" cy="369332"/>
          </a:xfrm>
          <a:prstGeom prst="rect">
            <a:avLst/>
          </a:prstGeom>
          <a:noFill/>
        </p:spPr>
        <p:txBody>
          <a:bodyPr wrap="none" rtlCol="0">
            <a:spAutoFit/>
          </a:bodyPr>
          <a:lstStyle/>
          <a:p>
            <a:pPr algn="r" rtl="1"/>
            <a:r>
              <a:rPr lang="fa-IR" b="1" dirty="0">
                <a:cs typeface="B Nazanin" panose="00000400000000000000" pitchFamily="2" charset="-78"/>
              </a:rPr>
              <a:t>انتقال غیر مجاور</a:t>
            </a:r>
          </a:p>
        </p:txBody>
      </p:sp>
      <p:sp>
        <p:nvSpPr>
          <p:cNvPr id="35" name="Rectangle 34"/>
          <p:cNvSpPr/>
          <p:nvPr/>
        </p:nvSpPr>
        <p:spPr>
          <a:xfrm>
            <a:off x="2426281" y="6351019"/>
            <a:ext cx="4206601" cy="369332"/>
          </a:xfrm>
          <a:prstGeom prst="rect">
            <a:avLst/>
          </a:prstGeom>
        </p:spPr>
        <p:txBody>
          <a:bodyPr wrap="none">
            <a:spAutoFit/>
          </a:bodyPr>
          <a:lstStyle/>
          <a:p>
            <a:pPr algn="r" rtl="1" fontAlgn="base">
              <a:spcBef>
                <a:spcPct val="0"/>
              </a:spcBef>
              <a:spcAft>
                <a:spcPct val="0"/>
              </a:spcAft>
            </a:pPr>
            <a:r>
              <a:rPr lang="fa-IR" b="1" dirty="0">
                <a:cs typeface="B Nazanin" panose="00000400000000000000" pitchFamily="2" charset="-78"/>
              </a:rPr>
              <a:t>شماتیک دیاگرام همسان سازی سلول و پک ماژولار.</a:t>
            </a:r>
            <a:endParaRPr lang="en-US" b="1" dirty="0">
              <a:solidFill>
                <a:srgbClr val="000000"/>
              </a:solidFill>
              <a:latin typeface="Times New Roman" panose="02020603050405020304" pitchFamily="18" charset="0"/>
              <a:cs typeface="B Nazanin" pitchFamily="2" charset="-78"/>
            </a:endParaRPr>
          </a:p>
        </p:txBody>
      </p:sp>
      <p:graphicFrame>
        <p:nvGraphicFramePr>
          <p:cNvPr id="19" name="Table 18"/>
          <p:cNvGraphicFramePr>
            <a:graphicFrameLocks noGrp="1"/>
          </p:cNvGraphicFramePr>
          <p:nvPr>
            <p:extLst>
              <p:ext uri="{D42A27DB-BD31-4B8C-83A1-F6EECF244321}">
                <p14:modId xmlns:p14="http://schemas.microsoft.com/office/powerpoint/2010/main" val="383620767"/>
              </p:ext>
            </p:extLst>
          </p:nvPr>
        </p:nvGraphicFramePr>
        <p:xfrm>
          <a:off x="431672" y="1292475"/>
          <a:ext cx="4180150" cy="762000"/>
        </p:xfrm>
        <a:graphic>
          <a:graphicData uri="http://schemas.openxmlformats.org/drawingml/2006/table">
            <a:tbl>
              <a:tblPr rtl="1" firstRow="1" firstCol="1" bandRow="1"/>
              <a:tblGrid>
                <a:gridCol w="1157922">
                  <a:extLst>
                    <a:ext uri="{9D8B030D-6E8A-4147-A177-3AD203B41FA5}">
                      <a16:colId xmlns:a16="http://schemas.microsoft.com/office/drawing/2014/main" xmlns="" val="20001"/>
                    </a:ext>
                  </a:extLst>
                </a:gridCol>
                <a:gridCol w="781685">
                  <a:extLst>
                    <a:ext uri="{9D8B030D-6E8A-4147-A177-3AD203B41FA5}">
                      <a16:colId xmlns:a16="http://schemas.microsoft.com/office/drawing/2014/main" xmlns="" val="20002"/>
                    </a:ext>
                  </a:extLst>
                </a:gridCol>
                <a:gridCol w="470535">
                  <a:extLst>
                    <a:ext uri="{9D8B030D-6E8A-4147-A177-3AD203B41FA5}">
                      <a16:colId xmlns:a16="http://schemas.microsoft.com/office/drawing/2014/main" xmlns="" val="20003"/>
                    </a:ext>
                  </a:extLst>
                </a:gridCol>
                <a:gridCol w="472122">
                  <a:extLst>
                    <a:ext uri="{9D8B030D-6E8A-4147-A177-3AD203B41FA5}">
                      <a16:colId xmlns:a16="http://schemas.microsoft.com/office/drawing/2014/main" xmlns="" val="20004"/>
                    </a:ext>
                  </a:extLst>
                </a:gridCol>
                <a:gridCol w="556260">
                  <a:extLst>
                    <a:ext uri="{9D8B030D-6E8A-4147-A177-3AD203B41FA5}">
                      <a16:colId xmlns:a16="http://schemas.microsoft.com/office/drawing/2014/main" xmlns="" val="20005"/>
                    </a:ext>
                  </a:extLst>
                </a:gridCol>
                <a:gridCol w="741626">
                  <a:extLst>
                    <a:ext uri="{9D8B030D-6E8A-4147-A177-3AD203B41FA5}">
                      <a16:colId xmlns:a16="http://schemas.microsoft.com/office/drawing/2014/main" xmlns="" val="20006"/>
                    </a:ext>
                  </a:extLst>
                </a:gridCol>
              </a:tblGrid>
              <a:tr h="3810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پیچیدگی الگوریتم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1" eaLnBrk="1" fontAlgn="auto" latinLnBrk="0" hangingPunct="1">
                        <a:lnSpc>
                          <a:spcPct val="100000"/>
                        </a:lnSpc>
                        <a:spcBef>
                          <a:spcPts val="600"/>
                        </a:spcBef>
                        <a:spcAft>
                          <a:spcPts val="600"/>
                        </a:spcAft>
                        <a:buClrTx/>
                        <a:buSzTx/>
                        <a:buFontTx/>
                        <a:buNone/>
                        <a:tabLst/>
                        <a:defRPr/>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راندمان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اندازه</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هزینه</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امتیاز</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نهایی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3/6</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20"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70</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2109972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65095" y="3241909"/>
            <a:ext cx="5106983" cy="646331"/>
          </a:xfrm>
          <a:prstGeom prst="rect">
            <a:avLst/>
          </a:prstGeom>
        </p:spPr>
        <p:txBody>
          <a:bodyPr wrap="square">
            <a:spAutoFit/>
          </a:bodyPr>
          <a:lstStyle/>
          <a:p>
            <a:pPr marL="285750" indent="-285750" algn="justLow" rtl="1">
              <a:buFont typeface="Arial" panose="020B0604020202020204" pitchFamily="34" charset="0"/>
              <a:buChar char="•"/>
            </a:pPr>
            <a:r>
              <a:rPr lang="fa-IR" dirty="0">
                <a:latin typeface="Times New Roman" panose="02020603050405020304" pitchFamily="18" charset="0"/>
                <a:ea typeface="Calibri" panose="020F0502020204030204" pitchFamily="34" charset="0"/>
                <a:cs typeface="B Lotus" panose="00000400000000000000" pitchFamily="2" charset="-78"/>
              </a:rPr>
              <a:t>هر هشت سلول هر زیرماژول دارای سطوح ولتاژ متفاوتی هستند.</a:t>
            </a:r>
          </a:p>
          <a:p>
            <a:pPr marL="285750" indent="-285750" algn="justLow" rtl="1">
              <a:buFont typeface="Arial" panose="020B0604020202020204" pitchFamily="34" charset="0"/>
              <a:buChar char="•"/>
            </a:pPr>
            <a:r>
              <a:rPr lang="fa-IR" dirty="0">
                <a:latin typeface="Times New Roman" panose="02020603050405020304" pitchFamily="18" charset="0"/>
                <a:ea typeface="Calibri" panose="020F0502020204030204" pitchFamily="34" charset="0"/>
                <a:cs typeface="B Lotus" panose="00000400000000000000" pitchFamily="2" charset="-78"/>
              </a:rPr>
              <a:t> اختلاف ولتاژ اولیه بین سلول باتری ‌ها 8/341 میلی ولت است.</a:t>
            </a:r>
            <a:endParaRPr lang="en-US" dirty="0"/>
          </a:p>
        </p:txBody>
      </p:sp>
      <p:sp>
        <p:nvSpPr>
          <p:cNvPr id="19" name="TextBox 18">
            <a:extLst>
              <a:ext uri="{FF2B5EF4-FFF2-40B4-BE49-F238E27FC236}">
                <a16:creationId xmlns:a16="http://schemas.microsoft.com/office/drawing/2014/main" xmlns="" id="{F43469DC-7F5B-471E-BD74-ED709E621F63}"/>
              </a:ext>
            </a:extLst>
          </p:cNvPr>
          <p:cNvSpPr txBox="1"/>
          <p:nvPr/>
        </p:nvSpPr>
        <p:spPr>
          <a:xfrm>
            <a:off x="6840272" y="1970998"/>
            <a:ext cx="2061783" cy="369332"/>
          </a:xfrm>
          <a:prstGeom prst="rect">
            <a:avLst/>
          </a:prstGeom>
          <a:noFill/>
        </p:spPr>
        <p:txBody>
          <a:bodyPr wrap="none" rtlCol="0">
            <a:spAutoFit/>
          </a:bodyPr>
          <a:lstStyle/>
          <a:p>
            <a:pPr algn="r" rtl="1"/>
            <a:r>
              <a:rPr lang="fa-IR" b="1" dirty="0">
                <a:cs typeface="B Nazanin" panose="00000400000000000000" pitchFamily="2" charset="-78"/>
              </a:rPr>
              <a:t>شرایط اولیه شبیه سازی</a:t>
            </a:r>
          </a:p>
        </p:txBody>
      </p:sp>
      <p:sp>
        <p:nvSpPr>
          <p:cNvPr id="21"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6753620" y="2580598"/>
            <a:ext cx="129381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حالت اول</a:t>
            </a:r>
            <a:endParaRPr lang="en-US" b="1" dirty="0">
              <a:solidFill>
                <a:srgbClr val="000000"/>
              </a:solidFill>
              <a:latin typeface="Times New Roman" panose="02020603050405020304" pitchFamily="18" charset="0"/>
              <a:cs typeface="B Nazanin" pitchFamily="2" charset="-78"/>
            </a:endParaRPr>
          </a:p>
        </p:txBody>
      </p:sp>
      <p:grpSp>
        <p:nvGrpSpPr>
          <p:cNvPr id="22"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8004570" y="2656798"/>
            <a:ext cx="381000" cy="381000"/>
            <a:chOff x="2078" y="1680"/>
            <a:chExt cx="1615" cy="1615"/>
          </a:xfrm>
        </p:grpSpPr>
        <p:sp>
          <p:nvSpPr>
            <p:cNvPr id="23"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4"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5"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6"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7"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28"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29" name="TextBox 28">
            <a:extLst>
              <a:ext uri="{FF2B5EF4-FFF2-40B4-BE49-F238E27FC236}">
                <a16:creationId xmlns:a16="http://schemas.microsoft.com/office/drawing/2014/main" xmlns="" id="{90C43403-B77E-474E-A638-C5BD6540DB40}"/>
              </a:ext>
            </a:extLst>
          </p:cNvPr>
          <p:cNvSpPr txBox="1"/>
          <p:nvPr/>
        </p:nvSpPr>
        <p:spPr>
          <a:xfrm>
            <a:off x="4122852" y="2961598"/>
            <a:ext cx="65" cy="276999"/>
          </a:xfrm>
          <a:prstGeom prst="rect">
            <a:avLst/>
          </a:prstGeom>
          <a:noFill/>
        </p:spPr>
        <p:txBody>
          <a:bodyPr wrap="none" lIns="0" tIns="0" rIns="0" bIns="0" rtlCol="0">
            <a:spAutoFit/>
          </a:bodyPr>
          <a:lstStyle/>
          <a:p>
            <a:endParaRPr lang="en-US" dirty="0"/>
          </a:p>
        </p:txBody>
      </p:sp>
      <p:sp>
        <p:nvSpPr>
          <p:cNvPr id="48" name="AutoShape 8">
            <a:extLst>
              <a:ext uri="{FF2B5EF4-FFF2-40B4-BE49-F238E27FC236}">
                <a16:creationId xmlns:a16="http://schemas.microsoft.com/office/drawing/2014/main" xmlns="" id="{FF901E6E-4D39-4565-9B46-60C2C5B1D5F6}"/>
              </a:ext>
            </a:extLst>
          </p:cNvPr>
          <p:cNvSpPr>
            <a:spLocks noChangeAspect="1" noChangeArrowheads="1"/>
          </p:cNvSpPr>
          <p:nvPr/>
        </p:nvSpPr>
        <p:spPr bwMode="gray">
          <a:xfrm>
            <a:off x="6705600" y="4038600"/>
            <a:ext cx="129381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حالت دوم</a:t>
            </a:r>
            <a:endParaRPr lang="en-US" b="1" dirty="0">
              <a:solidFill>
                <a:srgbClr val="000000"/>
              </a:solidFill>
              <a:latin typeface="Times New Roman" panose="02020603050405020304" pitchFamily="18" charset="0"/>
              <a:cs typeface="B Nazanin" pitchFamily="2" charset="-78"/>
            </a:endParaRPr>
          </a:p>
        </p:txBody>
      </p:sp>
      <p:grpSp>
        <p:nvGrpSpPr>
          <p:cNvPr id="49" name="Group 23">
            <a:extLst>
              <a:ext uri="{FF2B5EF4-FFF2-40B4-BE49-F238E27FC236}">
                <a16:creationId xmlns:a16="http://schemas.microsoft.com/office/drawing/2014/main" xmlns="" id="{978D1582-1549-4D37-9C95-34020E281F7D}"/>
              </a:ext>
            </a:extLst>
          </p:cNvPr>
          <p:cNvGrpSpPr>
            <a:grpSpLocks noChangeAspect="1"/>
          </p:cNvGrpSpPr>
          <p:nvPr/>
        </p:nvGrpSpPr>
        <p:grpSpPr bwMode="auto">
          <a:xfrm>
            <a:off x="7956550" y="4114800"/>
            <a:ext cx="381000" cy="381000"/>
            <a:chOff x="2078" y="1680"/>
            <a:chExt cx="1615" cy="1615"/>
          </a:xfrm>
        </p:grpSpPr>
        <p:sp>
          <p:nvSpPr>
            <p:cNvPr id="50" name="Oval 24">
              <a:extLst>
                <a:ext uri="{FF2B5EF4-FFF2-40B4-BE49-F238E27FC236}">
                  <a16:creationId xmlns:a16="http://schemas.microsoft.com/office/drawing/2014/main" xmlns="" id="{394744AB-69AD-4039-A10B-0D8E0439243B}"/>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1" name="Oval 25">
              <a:extLst>
                <a:ext uri="{FF2B5EF4-FFF2-40B4-BE49-F238E27FC236}">
                  <a16:creationId xmlns:a16="http://schemas.microsoft.com/office/drawing/2014/main" xmlns="" id="{154704C5-3C92-4C99-8D43-D388A6C5B289}"/>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2" name="Oval 26">
              <a:extLst>
                <a:ext uri="{FF2B5EF4-FFF2-40B4-BE49-F238E27FC236}">
                  <a16:creationId xmlns:a16="http://schemas.microsoft.com/office/drawing/2014/main" xmlns="" id="{04F66D2C-385D-4CBC-8E8F-3E3A912DFC98}"/>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3" name="Oval 27">
              <a:extLst>
                <a:ext uri="{FF2B5EF4-FFF2-40B4-BE49-F238E27FC236}">
                  <a16:creationId xmlns:a16="http://schemas.microsoft.com/office/drawing/2014/main" xmlns="" id="{EA27390D-90C7-4FEF-9F37-D35FD2EA7723}"/>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4" name="Oval 28">
              <a:extLst>
                <a:ext uri="{FF2B5EF4-FFF2-40B4-BE49-F238E27FC236}">
                  <a16:creationId xmlns:a16="http://schemas.microsoft.com/office/drawing/2014/main" xmlns="" id="{5C9AFE92-58F0-4BF1-8021-7EEAC92E3206}"/>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5" name="Oval 29">
              <a:extLst>
                <a:ext uri="{FF2B5EF4-FFF2-40B4-BE49-F238E27FC236}">
                  <a16:creationId xmlns:a16="http://schemas.microsoft.com/office/drawing/2014/main" xmlns="" id="{1B81B5B2-AD7F-472D-BBE8-64F0040E5D5F}"/>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 name="Rectangle 4"/>
          <p:cNvSpPr/>
          <p:nvPr/>
        </p:nvSpPr>
        <p:spPr>
          <a:xfrm>
            <a:off x="1031495" y="4735895"/>
            <a:ext cx="7237624" cy="646331"/>
          </a:xfrm>
          <a:prstGeom prst="rect">
            <a:avLst/>
          </a:prstGeom>
        </p:spPr>
        <p:txBody>
          <a:bodyPr wrap="square">
            <a:spAutoFit/>
          </a:bodyPr>
          <a:lstStyle/>
          <a:p>
            <a:pPr marL="285750" indent="-285750" algn="r" rtl="1">
              <a:buFont typeface="Arial" panose="020B0604020202020204" pitchFamily="34" charset="0"/>
              <a:buChar char="•"/>
            </a:pPr>
            <a:r>
              <a:rPr lang="fa-IR" dirty="0">
                <a:latin typeface="Times New Roman" panose="02020603050405020304" pitchFamily="18" charset="0"/>
                <a:ea typeface="Calibri" panose="020F0502020204030204" pitchFamily="34" charset="0"/>
                <a:cs typeface="B Lotus" panose="00000400000000000000" pitchFamily="2" charset="-78"/>
              </a:rPr>
              <a:t>وضعیت شارژ برای 83 سلول باتری برابر با 96 و 93 سلول دیگر باتری مقادیر متفاوتی دارند.</a:t>
            </a:r>
            <a:endParaRPr lang="en-US" dirty="0">
              <a:latin typeface="Times New Roman" panose="02020603050405020304" pitchFamily="18" charset="0"/>
              <a:ea typeface="Calibri" panose="020F0502020204030204" pitchFamily="34" charset="0"/>
              <a:cs typeface="B Lotus" panose="00000400000000000000" pitchFamily="2" charset="-78"/>
            </a:endParaRPr>
          </a:p>
          <a:p>
            <a:pPr marL="285750" indent="-285750" algn="r" rtl="1">
              <a:buFont typeface="Arial" panose="020B0604020202020204" pitchFamily="34" charset="0"/>
              <a:buChar char="•"/>
            </a:pPr>
            <a:r>
              <a:rPr lang="fa-IR" dirty="0">
                <a:latin typeface="Times New Roman" panose="02020603050405020304" pitchFamily="18" charset="0"/>
                <a:ea typeface="Calibri" panose="020F0502020204030204" pitchFamily="34" charset="0"/>
                <a:cs typeface="B Lotus" panose="00000400000000000000" pitchFamily="2" charset="-78"/>
              </a:rPr>
              <a:t>اختلاف ولتاژ اولیه بین حداکثر و حداقل ولتاژ سلول 3/58 میلی ولت است</a:t>
            </a:r>
            <a:r>
              <a:rPr lang="en-US"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sp>
        <p:nvSpPr>
          <p:cNvPr id="34"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35"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7" name="Rectangle 36"/>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8" name="Rectangle 37"/>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39" name="Picture 38"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0"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41" name="Rectangle 40">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2"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3" name="Rectangle 42">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4" name="TextBox 43">
            <a:extLst>
              <a:ext uri="{FF2B5EF4-FFF2-40B4-BE49-F238E27FC236}">
                <a16:creationId xmlns:a16="http://schemas.microsoft.com/office/drawing/2014/main" xmlns="" id="{F43469DC-7F5B-471E-BD74-ED709E621F63}"/>
              </a:ext>
            </a:extLst>
          </p:cNvPr>
          <p:cNvSpPr txBox="1"/>
          <p:nvPr/>
        </p:nvSpPr>
        <p:spPr>
          <a:xfrm>
            <a:off x="36674" y="1005399"/>
            <a:ext cx="6364243"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الگوریتم بهبودیافته و تسریع‌کننده فرآیند همسان‌سازی متناسب خودروهای تجاری کِشنده</a:t>
            </a:r>
            <a:endParaRPr lang="en-US" b="1" dirty="0">
              <a:solidFill>
                <a:srgbClr val="000000"/>
              </a:solidFill>
              <a:latin typeface="Times New Roman" panose="02020603050405020304" pitchFamily="18" charset="0"/>
              <a:cs typeface="B Lotus" panose="00000400000000000000" pitchFamily="2" charset="-78"/>
            </a:endParaRPr>
          </a:p>
        </p:txBody>
      </p:sp>
      <p:sp>
        <p:nvSpPr>
          <p:cNvPr id="45"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71</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605396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1"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2" name="Rectangle 21"/>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3" name="Rectangle 22"/>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5" name="Picture 2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6"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Rectangle 28">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33" name="Picture 32"/>
          <p:cNvPicPr/>
          <p:nvPr/>
        </p:nvPicPr>
        <p:blipFill>
          <a:blip r:embed="rId4" cstate="print">
            <a:extLst>
              <a:ext uri="{28A0092B-C50C-407E-A947-70E740481C1C}">
                <a14:useLocalDpi xmlns:a14="http://schemas.microsoft.com/office/drawing/2010/main" val="0"/>
              </a:ext>
            </a:extLst>
          </a:blip>
          <a:stretch>
            <a:fillRect/>
          </a:stretch>
        </p:blipFill>
        <p:spPr>
          <a:xfrm>
            <a:off x="31194" y="773969"/>
            <a:ext cx="4572000" cy="1828800"/>
          </a:xfrm>
          <a:prstGeom prst="rect">
            <a:avLst/>
          </a:prstGeom>
        </p:spPr>
      </p:pic>
      <p:pic>
        <p:nvPicPr>
          <p:cNvPr id="34" name="Picture 33"/>
          <p:cNvPicPr/>
          <p:nvPr/>
        </p:nvPicPr>
        <p:blipFill>
          <a:blip r:embed="rId5" cstate="print">
            <a:extLst>
              <a:ext uri="{28A0092B-C50C-407E-A947-70E740481C1C}">
                <a14:useLocalDpi xmlns:a14="http://schemas.microsoft.com/office/drawing/2010/main" val="0"/>
              </a:ext>
            </a:extLst>
          </a:blip>
          <a:stretch>
            <a:fillRect/>
          </a:stretch>
        </p:blipFill>
        <p:spPr>
          <a:xfrm>
            <a:off x="31194" y="2462338"/>
            <a:ext cx="4572000" cy="1828800"/>
          </a:xfrm>
          <a:prstGeom prst="rect">
            <a:avLst/>
          </a:prstGeom>
        </p:spPr>
      </p:pic>
      <p:pic>
        <p:nvPicPr>
          <p:cNvPr id="35" name="Picture 34"/>
          <p:cNvPicPr/>
          <p:nvPr/>
        </p:nvPicPr>
        <p:blipFill>
          <a:blip r:embed="rId5" cstate="print">
            <a:extLst>
              <a:ext uri="{28A0092B-C50C-407E-A947-70E740481C1C}">
                <a14:useLocalDpi xmlns:a14="http://schemas.microsoft.com/office/drawing/2010/main" val="0"/>
              </a:ext>
            </a:extLst>
          </a:blip>
          <a:stretch>
            <a:fillRect/>
          </a:stretch>
        </p:blipFill>
        <p:spPr>
          <a:xfrm>
            <a:off x="31194" y="4291138"/>
            <a:ext cx="4572000" cy="1828800"/>
          </a:xfrm>
          <a:prstGeom prst="rect">
            <a:avLst/>
          </a:prstGeom>
        </p:spPr>
      </p:pic>
      <p:pic>
        <p:nvPicPr>
          <p:cNvPr id="38" name="Picture 37"/>
          <p:cNvPicPr/>
          <p:nvPr/>
        </p:nvPicPr>
        <p:blipFill>
          <a:blip r:embed="rId6" cstate="print">
            <a:extLst>
              <a:ext uri="{28A0092B-C50C-407E-A947-70E740481C1C}">
                <a14:useLocalDpi xmlns:a14="http://schemas.microsoft.com/office/drawing/2010/main" val="0"/>
              </a:ext>
            </a:extLst>
          </a:blip>
          <a:stretch>
            <a:fillRect/>
          </a:stretch>
        </p:blipFill>
        <p:spPr>
          <a:xfrm>
            <a:off x="4597214" y="732668"/>
            <a:ext cx="4496383" cy="1772887"/>
          </a:xfrm>
          <a:prstGeom prst="rect">
            <a:avLst/>
          </a:prstGeom>
        </p:spPr>
      </p:pic>
      <p:pic>
        <p:nvPicPr>
          <p:cNvPr id="41" name="Picture 40"/>
          <p:cNvPicPr/>
          <p:nvPr/>
        </p:nvPicPr>
        <p:blipFill>
          <a:blip r:embed="rId7" cstate="print">
            <a:extLst>
              <a:ext uri="{28A0092B-C50C-407E-A947-70E740481C1C}">
                <a14:useLocalDpi xmlns:a14="http://schemas.microsoft.com/office/drawing/2010/main" val="0"/>
              </a:ext>
            </a:extLst>
          </a:blip>
          <a:stretch>
            <a:fillRect/>
          </a:stretch>
        </p:blipFill>
        <p:spPr>
          <a:xfrm>
            <a:off x="4597214" y="2506698"/>
            <a:ext cx="4496383" cy="1779810"/>
          </a:xfrm>
          <a:prstGeom prst="rect">
            <a:avLst/>
          </a:prstGeom>
        </p:spPr>
      </p:pic>
      <p:pic>
        <p:nvPicPr>
          <p:cNvPr id="42" name="Picture 41"/>
          <p:cNvPicPr/>
          <p:nvPr/>
        </p:nvPicPr>
        <p:blipFill>
          <a:blip r:embed="rId8" cstate="print">
            <a:extLst>
              <a:ext uri="{28A0092B-C50C-407E-A947-70E740481C1C}">
                <a14:useLocalDpi xmlns:a14="http://schemas.microsoft.com/office/drawing/2010/main" val="0"/>
              </a:ext>
            </a:extLst>
          </a:blip>
          <a:stretch>
            <a:fillRect/>
          </a:stretch>
        </p:blipFill>
        <p:spPr>
          <a:xfrm>
            <a:off x="4597214" y="4286508"/>
            <a:ext cx="4546786" cy="1823020"/>
          </a:xfrm>
          <a:prstGeom prst="rect">
            <a:avLst/>
          </a:prstGeom>
        </p:spPr>
      </p:pic>
      <p:pic>
        <p:nvPicPr>
          <p:cNvPr id="44" name="Picture 4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798200"/>
            <a:ext cx="288925" cy="173350"/>
          </a:xfrm>
          <a:prstGeom prst="rect">
            <a:avLst/>
          </a:prstGeom>
        </p:spPr>
      </p:pic>
      <p:pic>
        <p:nvPicPr>
          <p:cNvPr id="45" name="Picture 4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993" y="2436483"/>
            <a:ext cx="235585" cy="183510"/>
          </a:xfrm>
          <a:prstGeom prst="rect">
            <a:avLst/>
          </a:prstGeom>
        </p:spPr>
      </p:pic>
      <p:pic>
        <p:nvPicPr>
          <p:cNvPr id="46" name="Picture 4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4273914"/>
            <a:ext cx="212090" cy="205734"/>
          </a:xfrm>
          <a:prstGeom prst="rect">
            <a:avLst/>
          </a:prstGeom>
        </p:spPr>
      </p:pic>
      <p:pic>
        <p:nvPicPr>
          <p:cNvPr id="47" name="Picture 4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68257" y="884875"/>
            <a:ext cx="288925" cy="173350"/>
          </a:xfrm>
          <a:prstGeom prst="rect">
            <a:avLst/>
          </a:prstGeom>
        </p:spPr>
      </p:pic>
      <p:pic>
        <p:nvPicPr>
          <p:cNvPr id="48" name="Picture 4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21597" y="2523158"/>
            <a:ext cx="235585" cy="183510"/>
          </a:xfrm>
          <a:prstGeom prst="rect">
            <a:avLst/>
          </a:prstGeom>
        </p:spPr>
      </p:pic>
      <p:pic>
        <p:nvPicPr>
          <p:cNvPr id="49" name="Picture 4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45092" y="4376781"/>
            <a:ext cx="212090" cy="205734"/>
          </a:xfrm>
          <a:prstGeom prst="rect">
            <a:avLst/>
          </a:prstGeom>
        </p:spPr>
      </p:pic>
      <p:sp>
        <p:nvSpPr>
          <p:cNvPr id="51" name="TextBox 50"/>
          <p:cNvSpPr txBox="1"/>
          <p:nvPr/>
        </p:nvSpPr>
        <p:spPr>
          <a:xfrm>
            <a:off x="123531" y="6242134"/>
            <a:ext cx="4539698" cy="584775"/>
          </a:xfrm>
          <a:prstGeom prst="rect">
            <a:avLst/>
          </a:prstGeom>
          <a:noFill/>
        </p:spPr>
        <p:txBody>
          <a:bodyPr wrap="square" rtlCol="0">
            <a:spAutoFit/>
          </a:bodyPr>
          <a:lstStyle/>
          <a:p>
            <a:pPr algn="ctr" rtl="1"/>
            <a:r>
              <a:rPr lang="fa-IR" sz="1600" dirty="0">
                <a:latin typeface="Times New Roman" panose="02020603050405020304" pitchFamily="18" charset="0"/>
                <a:cs typeface="B Lotus" panose="00000400000000000000" pitchFamily="2" charset="-78"/>
              </a:rPr>
              <a:t>نتیجه همسان سازی حالت اول به روش های </a:t>
            </a:r>
            <a:r>
              <a:rPr lang="fa-IR" sz="1600" dirty="0">
                <a:solidFill>
                  <a:srgbClr val="61D6FF"/>
                </a:solidFill>
                <a:latin typeface="Times New Roman" panose="02020603050405020304" pitchFamily="18" charset="0"/>
                <a:cs typeface="B Lotus" panose="00000400000000000000" pitchFamily="2" charset="-78"/>
              </a:rPr>
              <a:t>[3]</a:t>
            </a:r>
            <a:r>
              <a:rPr lang="fa-IR" sz="1600" dirty="0">
                <a:latin typeface="Times New Roman" panose="02020603050405020304" pitchFamily="18" charset="0"/>
                <a:cs typeface="B Lotus" panose="00000400000000000000" pitchFamily="2" charset="-78"/>
              </a:rPr>
              <a:t>(الف)،</a:t>
            </a:r>
            <a:r>
              <a:rPr lang="fa-IR" sz="1600" dirty="0">
                <a:solidFill>
                  <a:srgbClr val="61D6FF"/>
                </a:solidFill>
                <a:latin typeface="Times New Roman" panose="02020603050405020304" pitchFamily="18" charset="0"/>
                <a:cs typeface="B Lotus" panose="00000400000000000000" pitchFamily="2" charset="-78"/>
              </a:rPr>
              <a:t> [2]</a:t>
            </a:r>
            <a:r>
              <a:rPr lang="fa-IR" sz="1600" dirty="0">
                <a:latin typeface="Times New Roman" panose="02020603050405020304" pitchFamily="18" charset="0"/>
                <a:cs typeface="B Lotus" panose="00000400000000000000" pitchFamily="2" charset="-78"/>
              </a:rPr>
              <a:t>(ب)،</a:t>
            </a:r>
            <a:r>
              <a:rPr lang="fa-IR" sz="1600" dirty="0">
                <a:solidFill>
                  <a:srgbClr val="61D6FF"/>
                </a:solidFill>
                <a:latin typeface="Times New Roman" panose="02020603050405020304" pitchFamily="18" charset="0"/>
                <a:cs typeface="B Lotus" panose="00000400000000000000" pitchFamily="2" charset="-78"/>
              </a:rPr>
              <a:t> [1]</a:t>
            </a:r>
            <a:r>
              <a:rPr lang="fa-IR" sz="1600" dirty="0">
                <a:latin typeface="Times New Roman" panose="02020603050405020304" pitchFamily="18" charset="0"/>
                <a:cs typeface="B Lotus" panose="00000400000000000000" pitchFamily="2" charset="-78"/>
              </a:rPr>
              <a:t>(ج).</a:t>
            </a:r>
            <a:r>
              <a:rPr lang="fa-IR" sz="1600" dirty="0">
                <a:latin typeface="Times New Roman" panose="02020603050405020304" pitchFamily="18" charset="0"/>
                <a:ea typeface="Calibri" panose="020F0502020204030204" pitchFamily="34" charset="0"/>
                <a:cs typeface="B Lotus" panose="00000400000000000000" pitchFamily="2" charset="-78"/>
              </a:rPr>
              <a:t> </a:t>
            </a:r>
            <a:endParaRPr lang="en-US" sz="1600" dirty="0">
              <a:latin typeface="Times New Roman" panose="02020603050405020304" pitchFamily="18" charset="0"/>
              <a:cs typeface="B Lotus" panose="00000400000000000000" pitchFamily="2" charset="-78"/>
            </a:endParaRPr>
          </a:p>
        </p:txBody>
      </p:sp>
      <p:sp>
        <p:nvSpPr>
          <p:cNvPr id="52" name="TextBox 51"/>
          <p:cNvSpPr txBox="1"/>
          <p:nvPr/>
        </p:nvSpPr>
        <p:spPr>
          <a:xfrm>
            <a:off x="4757182" y="6242134"/>
            <a:ext cx="4566020" cy="584775"/>
          </a:xfrm>
          <a:prstGeom prst="rect">
            <a:avLst/>
          </a:prstGeom>
          <a:noFill/>
        </p:spPr>
        <p:txBody>
          <a:bodyPr wrap="square" rtlCol="0">
            <a:spAutoFit/>
          </a:bodyPr>
          <a:lstStyle/>
          <a:p>
            <a:pPr algn="ctr" rtl="1"/>
            <a:r>
              <a:rPr lang="fa-IR" sz="1600" dirty="0">
                <a:latin typeface="Times New Roman" panose="02020603050405020304" pitchFamily="18" charset="0"/>
                <a:cs typeface="B Lotus" panose="00000400000000000000" pitchFamily="2" charset="-78"/>
              </a:rPr>
              <a:t>نتیجه همسان سازی حالت دوم به روش های </a:t>
            </a:r>
            <a:r>
              <a:rPr lang="fa-IR" sz="1600" dirty="0">
                <a:solidFill>
                  <a:srgbClr val="61D6FF"/>
                </a:solidFill>
                <a:latin typeface="Times New Roman" panose="02020603050405020304" pitchFamily="18" charset="0"/>
                <a:cs typeface="B Lotus" panose="00000400000000000000" pitchFamily="2" charset="-78"/>
              </a:rPr>
              <a:t>[3]</a:t>
            </a:r>
            <a:r>
              <a:rPr lang="fa-IR" sz="1600" dirty="0">
                <a:latin typeface="Times New Roman" panose="02020603050405020304" pitchFamily="18" charset="0"/>
                <a:cs typeface="B Lotus" panose="00000400000000000000" pitchFamily="2" charset="-78"/>
              </a:rPr>
              <a:t>(الف)،</a:t>
            </a:r>
            <a:r>
              <a:rPr lang="fa-IR" sz="1600" dirty="0">
                <a:solidFill>
                  <a:srgbClr val="61D6FF"/>
                </a:solidFill>
                <a:latin typeface="Times New Roman" panose="02020603050405020304" pitchFamily="18" charset="0"/>
                <a:cs typeface="B Lotus" panose="00000400000000000000" pitchFamily="2" charset="-78"/>
              </a:rPr>
              <a:t> [2]</a:t>
            </a:r>
            <a:r>
              <a:rPr lang="fa-IR" sz="1600" dirty="0">
                <a:latin typeface="Times New Roman" panose="02020603050405020304" pitchFamily="18" charset="0"/>
                <a:cs typeface="B Lotus" panose="00000400000000000000" pitchFamily="2" charset="-78"/>
              </a:rPr>
              <a:t>(ب)،</a:t>
            </a:r>
            <a:r>
              <a:rPr lang="fa-IR" sz="1600" dirty="0">
                <a:solidFill>
                  <a:srgbClr val="61D6FF"/>
                </a:solidFill>
                <a:latin typeface="Times New Roman" panose="02020603050405020304" pitchFamily="18" charset="0"/>
                <a:cs typeface="B Lotus" panose="00000400000000000000" pitchFamily="2" charset="-78"/>
              </a:rPr>
              <a:t> [1]</a:t>
            </a:r>
            <a:r>
              <a:rPr lang="fa-IR" sz="1600" dirty="0">
                <a:latin typeface="Times New Roman" panose="02020603050405020304" pitchFamily="18" charset="0"/>
                <a:cs typeface="B Lotus" panose="00000400000000000000" pitchFamily="2" charset="-78"/>
              </a:rPr>
              <a:t>(ج).</a:t>
            </a:r>
            <a:r>
              <a:rPr lang="fa-IR" sz="1600" dirty="0">
                <a:latin typeface="Times New Roman" panose="02020603050405020304" pitchFamily="18" charset="0"/>
                <a:ea typeface="Calibri" panose="020F0502020204030204" pitchFamily="34" charset="0"/>
                <a:cs typeface="B Lotus" panose="00000400000000000000" pitchFamily="2" charset="-78"/>
              </a:rPr>
              <a:t> </a:t>
            </a:r>
            <a:endParaRPr lang="en-US" sz="1600" dirty="0">
              <a:latin typeface="Times New Roman" panose="02020603050405020304" pitchFamily="18" charset="0"/>
              <a:cs typeface="B Lotus" panose="00000400000000000000" pitchFamily="2" charset="-78"/>
            </a:endParaRPr>
          </a:p>
        </p:txBody>
      </p:sp>
      <p:sp>
        <p:nvSpPr>
          <p:cNvPr id="30"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72</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733777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334" y="1128986"/>
            <a:ext cx="7026706" cy="5270030"/>
          </a:xfrm>
          <a:prstGeom prst="rect">
            <a:avLst/>
          </a:prstGeom>
        </p:spPr>
      </p:pic>
      <p:sp>
        <p:nvSpPr>
          <p:cNvPr id="20" name="TextBox 19"/>
          <p:cNvSpPr txBox="1"/>
          <p:nvPr/>
        </p:nvSpPr>
        <p:spPr>
          <a:xfrm>
            <a:off x="2736756" y="6399016"/>
            <a:ext cx="2957862" cy="369332"/>
          </a:xfrm>
          <a:prstGeom prst="rect">
            <a:avLst/>
          </a:prstGeom>
          <a:noFill/>
        </p:spPr>
        <p:txBody>
          <a:bodyPr wrap="none" rtlCol="0">
            <a:spAutoFit/>
          </a:bodyPr>
          <a:lstStyle/>
          <a:p>
            <a:pPr algn="ctr" rtl="1"/>
            <a:r>
              <a:rPr lang="fa-IR" dirty="0">
                <a:latin typeface="Times New Roman" panose="02020603050405020304" pitchFamily="18" charset="0"/>
                <a:cs typeface="B Lotus" panose="00000400000000000000" pitchFamily="2" charset="-78"/>
              </a:rPr>
              <a:t>نحوه عملکرد خوشه بندی </a:t>
            </a:r>
            <a:r>
              <a:rPr lang="en-US" dirty="0">
                <a:latin typeface="Times New Roman" panose="02020603050405020304" pitchFamily="18" charset="0"/>
                <a:cs typeface="B Lotus" panose="00000400000000000000" pitchFamily="2" charset="-78"/>
              </a:rPr>
              <a:t>K-means</a:t>
            </a:r>
            <a:r>
              <a:rPr lang="fa-IR" dirty="0">
                <a:latin typeface="Times New Roman" panose="02020603050405020304" pitchFamily="18"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sp>
        <p:nvSpPr>
          <p:cNvPr id="18"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19"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1"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2" name="Rectangle 21"/>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3" name="Rectangle 22"/>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Rectangle 28">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1" name="TextBox 30">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73</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658383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778986" y="6245406"/>
            <a:ext cx="5261377" cy="369332"/>
          </a:xfrm>
          <a:prstGeom prst="rect">
            <a:avLst/>
          </a:prstGeom>
          <a:noFill/>
        </p:spPr>
        <p:txBody>
          <a:bodyPr wrap="none" rtlCol="0">
            <a:spAutoFit/>
          </a:bodyPr>
          <a:lstStyle/>
          <a:p>
            <a:pPr algn="ctr" rtl="1"/>
            <a:r>
              <a:rPr lang="fa-IR" dirty="0">
                <a:latin typeface="Times New Roman" panose="02020603050405020304" pitchFamily="18" charset="0"/>
                <a:cs typeface="B Lotus" panose="00000400000000000000" pitchFamily="2" charset="-78"/>
              </a:rPr>
              <a:t>فلوچارت خوشه بندی باتری ها به روش </a:t>
            </a:r>
            <a:r>
              <a:rPr lang="en-US" dirty="0">
                <a:latin typeface="Times New Roman" panose="02020603050405020304" pitchFamily="18" charset="0"/>
                <a:cs typeface="B Lotus" panose="00000400000000000000" pitchFamily="2" charset="-78"/>
              </a:rPr>
              <a:t>k-means</a:t>
            </a:r>
            <a:r>
              <a:rPr lang="fa-IR" dirty="0">
                <a:latin typeface="Times New Roman" panose="02020603050405020304" pitchFamily="18" charset="0"/>
                <a:cs typeface="B Lotus" panose="00000400000000000000" pitchFamily="2" charset="-78"/>
              </a:rPr>
              <a:t> به همراه </a:t>
            </a:r>
            <a:r>
              <a:rPr lang="en-US" dirty="0">
                <a:latin typeface="Times New Roman" panose="02020603050405020304" pitchFamily="18" charset="0"/>
                <a:cs typeface="B Lotus" panose="00000400000000000000" pitchFamily="2" charset="-78"/>
              </a:rPr>
              <a:t>GA</a:t>
            </a:r>
            <a:r>
              <a:rPr lang="fa-IR" dirty="0">
                <a:solidFill>
                  <a:srgbClr val="61D6FF"/>
                </a:solidFill>
                <a:latin typeface="Times New Roman" panose="02020603050405020304" pitchFamily="18" charset="0"/>
                <a:cs typeface="B Lotus" panose="00000400000000000000" pitchFamily="2" charset="-78"/>
              </a:rPr>
              <a:t> [1]</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pic>
        <p:nvPicPr>
          <p:cNvPr id="18" name="Picture 17"/>
          <p:cNvPicPr/>
          <p:nvPr/>
        </p:nvPicPr>
        <p:blipFill>
          <a:blip r:embed="rId3" cstate="print">
            <a:extLst>
              <a:ext uri="{28A0092B-C50C-407E-A947-70E740481C1C}">
                <a14:useLocalDpi xmlns:a14="http://schemas.microsoft.com/office/drawing/2010/main" val="0"/>
              </a:ext>
            </a:extLst>
          </a:blip>
          <a:stretch>
            <a:fillRect/>
          </a:stretch>
        </p:blipFill>
        <p:spPr bwMode="auto">
          <a:xfrm>
            <a:off x="595239" y="1484891"/>
            <a:ext cx="7628872" cy="4687309"/>
          </a:xfrm>
          <a:prstGeom prst="rect">
            <a:avLst/>
          </a:prstGeom>
          <a:noFill/>
          <a:ln>
            <a:noFill/>
          </a:ln>
        </p:spPr>
      </p:pic>
      <p:sp>
        <p:nvSpPr>
          <p:cNvPr id="19"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1"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2"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3" name="Rectangle 22"/>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4" name="Rectangle 23"/>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5" name="Picture 2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7"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8" name="Rectangle 2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9"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1" name="Rectangle 30">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2" name="TextBox 31">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grpSp>
        <p:nvGrpSpPr>
          <p:cNvPr id="2" name="Group 1"/>
          <p:cNvGrpSpPr/>
          <p:nvPr/>
        </p:nvGrpSpPr>
        <p:grpSpPr>
          <a:xfrm>
            <a:off x="55839" y="5207002"/>
            <a:ext cx="4191000" cy="930454"/>
            <a:chOff x="9102590" y="2693531"/>
            <a:chExt cx="4495800" cy="1099777"/>
          </a:xfrm>
        </p:grpSpPr>
        <p:pic>
          <p:nvPicPr>
            <p:cNvPr id="33" name="Picture 32"/>
            <p:cNvPicPr/>
            <p:nvPr/>
          </p:nvPicPr>
          <p:blipFill>
            <a:blip r:embed="rId5" cstate="print">
              <a:extLst>
                <a:ext uri="{28A0092B-C50C-407E-A947-70E740481C1C}">
                  <a14:useLocalDpi xmlns:a14="http://schemas.microsoft.com/office/drawing/2010/main" val="0"/>
                </a:ext>
              </a:extLst>
            </a:blip>
            <a:stretch>
              <a:fillRect/>
            </a:stretch>
          </p:blipFill>
          <p:spPr>
            <a:xfrm>
              <a:off x="9144000" y="3048001"/>
              <a:ext cx="4454390" cy="745307"/>
            </a:xfrm>
            <a:prstGeom prst="rect">
              <a:avLst/>
            </a:prstGeom>
          </p:spPr>
        </p:pic>
        <p:sp>
          <p:nvSpPr>
            <p:cNvPr id="34" name="Rounded Rectangle 33"/>
            <p:cNvSpPr/>
            <p:nvPr/>
          </p:nvSpPr>
          <p:spPr>
            <a:xfrm>
              <a:off x="9102590" y="2998331"/>
              <a:ext cx="4495800" cy="794977"/>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35" name="Straight Connector 34"/>
            <p:cNvCxnSpPr/>
            <p:nvPr/>
          </p:nvCxnSpPr>
          <p:spPr>
            <a:xfrm flipV="1">
              <a:off x="9144000" y="2693531"/>
              <a:ext cx="3387590" cy="322051"/>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p:cNvCxnSpPr/>
            <p:nvPr/>
          </p:nvCxnSpPr>
          <p:spPr>
            <a:xfrm flipH="1" flipV="1">
              <a:off x="12531590" y="2693532"/>
              <a:ext cx="1066800" cy="348498"/>
            </a:xfrm>
            <a:prstGeom prst="line">
              <a:avLst/>
            </a:prstGeom>
          </p:spPr>
          <p:style>
            <a:lnRef idx="2">
              <a:schemeClr val="dk1"/>
            </a:lnRef>
            <a:fillRef idx="0">
              <a:schemeClr val="dk1"/>
            </a:fillRef>
            <a:effectRef idx="1">
              <a:schemeClr val="dk1"/>
            </a:effectRef>
            <a:fontRef idx="minor">
              <a:schemeClr val="tx1"/>
            </a:fontRef>
          </p:style>
        </p:cxnSp>
      </p:gr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74</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7680638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p:cNvPicPr/>
          <p:nvPr/>
        </p:nvPicPr>
        <p:blipFill>
          <a:blip r:embed="rId3">
            <a:extLst>
              <a:ext uri="{28A0092B-C50C-407E-A947-70E740481C1C}">
                <a14:useLocalDpi xmlns:a14="http://schemas.microsoft.com/office/drawing/2010/main" val="0"/>
              </a:ext>
            </a:extLst>
          </a:blip>
          <a:stretch>
            <a:fillRect/>
          </a:stretch>
        </p:blipFill>
        <p:spPr>
          <a:xfrm>
            <a:off x="762000" y="1613840"/>
            <a:ext cx="7848599" cy="4329760"/>
          </a:xfrm>
          <a:prstGeom prst="rect">
            <a:avLst/>
          </a:prstGeom>
        </p:spPr>
      </p:pic>
      <p:sp>
        <p:nvSpPr>
          <p:cNvPr id="52" name="TextBox 51"/>
          <p:cNvSpPr txBox="1"/>
          <p:nvPr/>
        </p:nvSpPr>
        <p:spPr>
          <a:xfrm>
            <a:off x="2882089" y="6308280"/>
            <a:ext cx="2379177" cy="369332"/>
          </a:xfrm>
          <a:prstGeom prst="rect">
            <a:avLst/>
          </a:prstGeom>
          <a:noFill/>
        </p:spPr>
        <p:txBody>
          <a:bodyPr wrap="none" rtlCol="0">
            <a:spAutoFit/>
          </a:bodyPr>
          <a:lstStyle/>
          <a:p>
            <a:pPr algn="ctr" rtl="1"/>
            <a:r>
              <a:rPr lang="fa-IR" dirty="0">
                <a:latin typeface="Times New Roman" panose="02020603050405020304" pitchFamily="18" charset="0"/>
                <a:cs typeface="B Lotus" panose="00000400000000000000" pitchFamily="2" charset="-78"/>
              </a:rPr>
              <a:t>مدار همسا‌ن‌ساز پیشنهادی </a:t>
            </a:r>
            <a:r>
              <a:rPr lang="fa-IR" dirty="0">
                <a:solidFill>
                  <a:srgbClr val="61D6FF"/>
                </a:solidFill>
                <a:latin typeface="Times New Roman" panose="02020603050405020304" pitchFamily="18" charset="0"/>
                <a:cs typeface="B Lotus" panose="00000400000000000000" pitchFamily="2" charset="-78"/>
              </a:rPr>
              <a:t>[1]</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fa-IR" dirty="0">
              <a:latin typeface="Times New Roman" panose="02020603050405020304" pitchFamily="18" charset="0"/>
              <a:cs typeface="B Lotus" panose="00000400000000000000" pitchFamily="2" charset="-78"/>
            </a:endParaRPr>
          </a:p>
        </p:txBody>
      </p:sp>
      <p:sp>
        <p:nvSpPr>
          <p:cNvPr id="18"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19"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0"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1" name="Rectangle 20"/>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2" name="Rectangle 21"/>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3" name="Picture 22"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4"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5" name="Rectangle 24">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7"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8" name="Rectangle 27">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2" name="TextBox 31">
            <a:extLst>
              <a:ext uri="{FF2B5EF4-FFF2-40B4-BE49-F238E27FC236}">
                <a16:creationId xmlns:a16="http://schemas.microsoft.com/office/drawing/2014/main" xmlns="" id="{F43469DC-7F5B-471E-BD74-ED709E621F63}"/>
              </a:ext>
            </a:extLst>
          </p:cNvPr>
          <p:cNvSpPr txBox="1"/>
          <p:nvPr/>
        </p:nvSpPr>
        <p:spPr>
          <a:xfrm>
            <a:off x="-438805" y="941383"/>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75</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42285048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p:cNvSpPr txBox="1"/>
          <p:nvPr/>
        </p:nvSpPr>
        <p:spPr>
          <a:xfrm>
            <a:off x="2180397" y="6425128"/>
            <a:ext cx="3453189" cy="369332"/>
          </a:xfrm>
          <a:prstGeom prst="rect">
            <a:avLst/>
          </a:prstGeom>
          <a:noFill/>
        </p:spPr>
        <p:txBody>
          <a:bodyPr wrap="none" rtlCol="0">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مسیر عبوری جریان برای سلول شماره 1 </a:t>
            </a:r>
            <a:r>
              <a:rPr lang="fa-IR" dirty="0">
                <a:solidFill>
                  <a:srgbClr val="61D6FF"/>
                </a:solidFill>
                <a:latin typeface="Times New Roman" panose="02020603050405020304" pitchFamily="18" charset="0"/>
                <a:cs typeface="B Lotus" panose="00000400000000000000" pitchFamily="2" charset="-78"/>
              </a:rPr>
              <a:t>[1]</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pic>
        <p:nvPicPr>
          <p:cNvPr id="18" name="Picture 17"/>
          <p:cNvPicPr/>
          <p:nvPr/>
        </p:nvPicPr>
        <p:blipFill>
          <a:blip r:embed="rId3">
            <a:extLst>
              <a:ext uri="{28A0092B-C50C-407E-A947-70E740481C1C}">
                <a14:useLocalDpi xmlns:a14="http://schemas.microsoft.com/office/drawing/2010/main" val="0"/>
              </a:ext>
            </a:extLst>
          </a:blip>
          <a:stretch>
            <a:fillRect/>
          </a:stretch>
        </p:blipFill>
        <p:spPr>
          <a:xfrm>
            <a:off x="1524000" y="1355269"/>
            <a:ext cx="6771766" cy="4816931"/>
          </a:xfrm>
          <a:prstGeom prst="rect">
            <a:avLst/>
          </a:prstGeom>
        </p:spPr>
      </p:pic>
      <p:sp>
        <p:nvSpPr>
          <p:cNvPr id="19"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0"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1"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2" name="Rectangle 21"/>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3" name="Rectangle 22"/>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7" name="Rectangle 26">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Rectangle 28">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1" name="TextBox 30">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76</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8188794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p:nvPr/>
        </p:nvPicPr>
        <p:blipFill>
          <a:blip r:embed="rId3">
            <a:extLst>
              <a:ext uri="{28A0092B-C50C-407E-A947-70E740481C1C}">
                <a14:useLocalDpi xmlns:a14="http://schemas.microsoft.com/office/drawing/2010/main" val="0"/>
              </a:ext>
            </a:extLst>
          </a:blip>
          <a:stretch>
            <a:fillRect/>
          </a:stretch>
        </p:blipFill>
        <p:spPr>
          <a:xfrm>
            <a:off x="780347" y="1753107"/>
            <a:ext cx="7601653" cy="4055759"/>
          </a:xfrm>
          <a:prstGeom prst="rect">
            <a:avLst/>
          </a:prstGeom>
        </p:spPr>
      </p:pic>
      <p:sp>
        <p:nvSpPr>
          <p:cNvPr id="34" name="TextBox 33"/>
          <p:cNvSpPr txBox="1"/>
          <p:nvPr/>
        </p:nvSpPr>
        <p:spPr>
          <a:xfrm>
            <a:off x="1725527" y="5917725"/>
            <a:ext cx="4519172" cy="369332"/>
          </a:xfrm>
          <a:prstGeom prst="rect">
            <a:avLst/>
          </a:prstGeom>
          <a:noFill/>
        </p:spPr>
        <p:txBody>
          <a:bodyPr wrap="square" rtlCol="0">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مسیر عبور جریان در دوره‌های مختلف (حالت باک) </a:t>
            </a:r>
            <a:r>
              <a:rPr lang="fa-IR" dirty="0">
                <a:solidFill>
                  <a:srgbClr val="61D6FF"/>
                </a:solidFill>
                <a:latin typeface="Times New Roman" panose="02020603050405020304" pitchFamily="18" charset="0"/>
                <a:cs typeface="B Lotus" panose="00000400000000000000" pitchFamily="2" charset="-78"/>
              </a:rPr>
              <a:t>[1]</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sp>
        <p:nvSpPr>
          <p:cNvPr id="36"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37"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9" name="Rectangle 38"/>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0" name="Rectangle 39"/>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41" name="Picture 40"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2"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43" name="Rectangle 42">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4"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5" name="Rectangle 44">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6" name="TextBox 45">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77</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6968511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p:nvPr/>
        </p:nvPicPr>
        <p:blipFill>
          <a:blip r:embed="rId3">
            <a:extLst>
              <a:ext uri="{28A0092B-C50C-407E-A947-70E740481C1C}">
                <a14:useLocalDpi xmlns:a14="http://schemas.microsoft.com/office/drawing/2010/main" val="0"/>
              </a:ext>
            </a:extLst>
          </a:blip>
          <a:stretch>
            <a:fillRect/>
          </a:stretch>
        </p:blipFill>
        <p:spPr>
          <a:xfrm>
            <a:off x="485261" y="1833402"/>
            <a:ext cx="8125339" cy="4025343"/>
          </a:xfrm>
          <a:prstGeom prst="rect">
            <a:avLst/>
          </a:prstGeom>
        </p:spPr>
      </p:pic>
      <p:sp>
        <p:nvSpPr>
          <p:cNvPr id="20" name="TextBox 19"/>
          <p:cNvSpPr txBox="1"/>
          <p:nvPr/>
        </p:nvSpPr>
        <p:spPr>
          <a:xfrm>
            <a:off x="1725527" y="6083899"/>
            <a:ext cx="4519172" cy="369332"/>
          </a:xfrm>
          <a:prstGeom prst="rect">
            <a:avLst/>
          </a:prstGeom>
          <a:noFill/>
        </p:spPr>
        <p:txBody>
          <a:bodyPr wrap="square" rtlCol="0">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مسیر عبور جریان در دوره‌های مختلف (حالت بوست) </a:t>
            </a:r>
            <a:r>
              <a:rPr lang="fa-IR" dirty="0">
                <a:solidFill>
                  <a:srgbClr val="61D6FF"/>
                </a:solidFill>
                <a:latin typeface="Times New Roman" panose="02020603050405020304" pitchFamily="18" charset="0"/>
                <a:cs typeface="B Lotus" panose="00000400000000000000" pitchFamily="2" charset="-78"/>
              </a:rPr>
              <a:t>[1]</a:t>
            </a:r>
            <a:r>
              <a:rPr lang="fa-IR" dirty="0">
                <a:latin typeface="Times New Roman" panose="02020603050405020304" pitchFamily="18" charset="0"/>
                <a:cs typeface="B Lotus" panose="00000400000000000000" pitchFamily="2" charset="-78"/>
              </a:rPr>
              <a:t>.</a:t>
            </a:r>
            <a:r>
              <a:rPr lang="fa-IR" dirty="0">
                <a:latin typeface="Times New Roman" panose="02020603050405020304" pitchFamily="18" charset="0"/>
                <a:ea typeface="Calibri" panose="020F0502020204030204" pitchFamily="34" charset="0"/>
                <a:cs typeface="B Lotus" panose="00000400000000000000" pitchFamily="2" charset="-78"/>
              </a:rPr>
              <a:t>  </a:t>
            </a:r>
            <a:endParaRPr lang="en-US" dirty="0">
              <a:latin typeface="Times New Roman" panose="02020603050405020304" pitchFamily="18" charset="0"/>
              <a:cs typeface="B Lotus" panose="00000400000000000000" pitchFamily="2" charset="-78"/>
            </a:endParaRPr>
          </a:p>
        </p:txBody>
      </p:sp>
      <p:sp>
        <p:nvSpPr>
          <p:cNvPr id="21"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Rectangle 2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7" name="Picture 2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Rectangle 2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TextBox 32">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78</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3647085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151"/>
          <p:cNvSpPr txBox="1"/>
          <p:nvPr/>
        </p:nvSpPr>
        <p:spPr>
          <a:xfrm>
            <a:off x="148662" y="6069102"/>
            <a:ext cx="8842938" cy="369332"/>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rtl="1">
              <a:spcAft>
                <a:spcPts val="1000"/>
              </a:spcAft>
            </a:pPr>
            <a:r>
              <a:rPr lang="fa-IR" sz="1200" dirty="0">
                <a:latin typeface="Times New Roman" panose="02020603050405020304" pitchFamily="18" charset="0"/>
                <a:ea typeface="Calibri" panose="020F0502020204030204" pitchFamily="34" charset="0"/>
                <a:cs typeface="B Lotus" panose="00000400000000000000" pitchFamily="2" charset="-78"/>
              </a:rPr>
              <a:t>شکل موج ولتاژ سلول‌ها تحت فرآیند همسان‌سازی</a:t>
            </a:r>
            <a:r>
              <a:rPr lang="fa-IR" altLang="en-US" sz="1200" dirty="0">
                <a:latin typeface="Times New Roman" panose="02020603050405020304" pitchFamily="18" charset="0"/>
                <a:ea typeface="Calibri" panose="020F0502020204030204" pitchFamily="34" charset="0"/>
                <a:cs typeface="B Lotus" panose="00000400000000000000" pitchFamily="2" charset="-78"/>
              </a:rPr>
              <a:t> روش آستانه ثابت (الف)، روش خوشه‌بندی</a:t>
            </a:r>
            <a:r>
              <a:rPr lang="en-US" altLang="en-US" sz="1200" dirty="0">
                <a:latin typeface="Times New Roman" panose="02020603050405020304" pitchFamily="18" charset="0"/>
                <a:ea typeface="Calibri" panose="020F0502020204030204" pitchFamily="34" charset="0"/>
                <a:cs typeface="B Lotus" panose="00000400000000000000" pitchFamily="2" charset="-78"/>
              </a:rPr>
              <a:t> K-means </a:t>
            </a:r>
            <a:r>
              <a:rPr lang="fa-IR" altLang="en-US" sz="1200" dirty="0">
                <a:latin typeface="Times New Roman" panose="02020603050405020304" pitchFamily="18" charset="0"/>
                <a:ea typeface="Calibri" panose="020F0502020204030204" pitchFamily="34" charset="0"/>
                <a:cs typeface="B Lotus" panose="00000400000000000000" pitchFamily="2" charset="-78"/>
              </a:rPr>
              <a:t>بدون </a:t>
            </a:r>
            <a:r>
              <a:rPr lang="en-US" altLang="en-US" sz="1200" dirty="0">
                <a:latin typeface="Times New Roman" panose="02020603050405020304" pitchFamily="18" charset="0"/>
                <a:ea typeface="Calibri" panose="020F0502020204030204" pitchFamily="34" charset="0"/>
                <a:cs typeface="B Lotus" panose="00000400000000000000" pitchFamily="2" charset="-78"/>
              </a:rPr>
              <a:t>GA</a:t>
            </a:r>
            <a:r>
              <a:rPr lang="fa-IR" altLang="en-US" sz="1200" dirty="0">
                <a:latin typeface="Times New Roman" panose="02020603050405020304" pitchFamily="18" charset="0"/>
                <a:ea typeface="Calibri" panose="020F0502020204030204" pitchFamily="34" charset="0"/>
                <a:cs typeface="B Lotus" panose="00000400000000000000" pitchFamily="2" charset="-78"/>
              </a:rPr>
              <a:t> (ب)، روش خوشه‌بندی</a:t>
            </a:r>
            <a:r>
              <a:rPr lang="en-US" altLang="en-US" sz="1200" dirty="0">
                <a:latin typeface="Times New Roman" panose="02020603050405020304" pitchFamily="18" charset="0"/>
                <a:ea typeface="Calibri" panose="020F0502020204030204" pitchFamily="34" charset="0"/>
                <a:cs typeface="B Lotus" panose="00000400000000000000" pitchFamily="2" charset="-78"/>
              </a:rPr>
              <a:t> K-means </a:t>
            </a:r>
            <a:r>
              <a:rPr lang="fa-IR" altLang="en-US" sz="1200" dirty="0">
                <a:latin typeface="Times New Roman" panose="02020603050405020304" pitchFamily="18" charset="0"/>
                <a:ea typeface="Calibri" panose="020F0502020204030204" pitchFamily="34" charset="0"/>
                <a:cs typeface="B Lotus" panose="00000400000000000000" pitchFamily="2" charset="-78"/>
              </a:rPr>
              <a:t>همراه با </a:t>
            </a:r>
            <a:r>
              <a:rPr lang="en-US" altLang="en-US" sz="1200" dirty="0">
                <a:latin typeface="Times New Roman" panose="02020603050405020304" pitchFamily="18" charset="0"/>
                <a:ea typeface="Calibri" panose="020F0502020204030204" pitchFamily="34" charset="0"/>
                <a:cs typeface="B Lotus" panose="00000400000000000000" pitchFamily="2" charset="-78"/>
              </a:rPr>
              <a:t>GA</a:t>
            </a:r>
            <a:r>
              <a:rPr lang="fa-IR" altLang="en-US" sz="1200" dirty="0">
                <a:latin typeface="Times New Roman" panose="02020603050405020304" pitchFamily="18" charset="0"/>
                <a:ea typeface="Calibri" panose="020F0502020204030204" pitchFamily="34" charset="0"/>
                <a:cs typeface="B Lotus" panose="00000400000000000000" pitchFamily="2" charset="-78"/>
              </a:rPr>
              <a:t> با ضرایب 6:4 (ج) </a:t>
            </a:r>
            <a:r>
              <a:rPr lang="fa-IR" sz="1200" dirty="0">
                <a:solidFill>
                  <a:srgbClr val="61D6FF"/>
                </a:solidFill>
                <a:latin typeface="Times New Roman" panose="02020603050405020304" pitchFamily="18" charset="0"/>
                <a:cs typeface="B Lotus" panose="00000400000000000000" pitchFamily="2" charset="-78"/>
              </a:rPr>
              <a:t>[1]</a:t>
            </a:r>
            <a:r>
              <a:rPr lang="fa-IR" sz="1200" dirty="0">
                <a:solidFill>
                  <a:srgbClr val="292934"/>
                </a:solidFill>
                <a:latin typeface="Times New Roman" panose="02020603050405020304" pitchFamily="18" charset="0"/>
                <a:cs typeface="B Lotus" panose="00000400000000000000" pitchFamily="2" charset="-78"/>
              </a:rPr>
              <a:t>.</a:t>
            </a:r>
            <a:r>
              <a:rPr lang="fa-IR" altLang="en-US" sz="1200" dirty="0">
                <a:solidFill>
                  <a:srgbClr val="292934"/>
                </a:solidFill>
                <a:latin typeface="Times New Roman" panose="02020603050405020304" pitchFamily="18" charset="0"/>
                <a:ea typeface="Calibri" panose="020F0502020204030204" pitchFamily="34" charset="0"/>
                <a:cs typeface="B Lotus" panose="00000400000000000000" pitchFamily="2" charset="-78"/>
              </a:rPr>
              <a:t> </a:t>
            </a:r>
            <a:endParaRPr lang="en-US" sz="12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endParaRPr>
          </a:p>
        </p:txBody>
      </p:sp>
      <p:sp>
        <p:nvSpPr>
          <p:cNvPr id="21"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2"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3" name="Rectangle 22"/>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4" name="Rectangle 23"/>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5" name="Picture 2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7"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8" name="Rectangle 2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9"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1" name="Rectangle 30">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grpSp>
        <p:nvGrpSpPr>
          <p:cNvPr id="5" name="Group 4"/>
          <p:cNvGrpSpPr/>
          <p:nvPr/>
        </p:nvGrpSpPr>
        <p:grpSpPr>
          <a:xfrm>
            <a:off x="148662" y="1076600"/>
            <a:ext cx="8842938" cy="4909564"/>
            <a:chOff x="1419359" y="1250116"/>
            <a:chExt cx="5793740" cy="4273249"/>
          </a:xfrm>
        </p:grpSpPr>
        <p:pic>
          <p:nvPicPr>
            <p:cNvPr id="20" name="Picture 19"/>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19359" y="1250116"/>
              <a:ext cx="5793740" cy="4257040"/>
            </a:xfrm>
            <a:prstGeom prst="rect">
              <a:avLst/>
            </a:prstGeom>
            <a:noFill/>
            <a:ln>
              <a:noFill/>
            </a:ln>
          </p:spPr>
        </p:pic>
        <p:grpSp>
          <p:nvGrpSpPr>
            <p:cNvPr id="34" name="Group 33"/>
            <p:cNvGrpSpPr/>
            <p:nvPr/>
          </p:nvGrpSpPr>
          <p:grpSpPr>
            <a:xfrm>
              <a:off x="2740897" y="3200400"/>
              <a:ext cx="3337558" cy="2322965"/>
              <a:chOff x="0" y="0"/>
              <a:chExt cx="3338113" cy="2282436"/>
            </a:xfrm>
          </p:grpSpPr>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7933" y="0"/>
                <a:ext cx="288925" cy="173355"/>
              </a:xfrm>
              <a:prstGeom prst="rect">
                <a:avLst/>
              </a:prstGeom>
            </p:spPr>
          </p:pic>
          <p:pic>
            <p:nvPicPr>
              <p:cNvPr id="36" name="Picture 3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147365"/>
                <a:ext cx="233045" cy="133350"/>
              </a:xfrm>
              <a:prstGeom prst="rect">
                <a:avLst/>
              </a:prstGeom>
            </p:spPr>
          </p:pic>
          <p:pic>
            <p:nvPicPr>
              <p:cNvPr id="37" name="Picture 3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26658" y="2141466"/>
                <a:ext cx="211455" cy="140970"/>
              </a:xfrm>
              <a:prstGeom prst="rect">
                <a:avLst/>
              </a:prstGeom>
            </p:spPr>
          </p:pic>
        </p:grpSp>
      </p:grpSp>
      <p:sp>
        <p:nvSpPr>
          <p:cNvPr id="38"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2" name="Slide Number Placeholder 1"/>
          <p:cNvSpPr>
            <a:spLocks noGrp="1"/>
          </p:cNvSpPr>
          <p:nvPr>
            <p:ph type="sldNum" sz="quarter" idx="12"/>
          </p:nvPr>
        </p:nvSpPr>
        <p:spPr/>
        <p:txBody>
          <a:bodyPr/>
          <a:lstStyle/>
          <a:p>
            <a:fld id="{7FC2E40A-4446-4E2B-B9AD-16F559E28E02}" type="slidenum">
              <a:rPr lang="en-US" smtClean="0"/>
              <a:t>79</a:t>
            </a:fld>
            <a:endParaRPr lang="en-US"/>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79</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6002071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a:stretch/>
        </p:blipFill>
        <p:spPr>
          <a:xfrm>
            <a:off x="867650" y="1703725"/>
            <a:ext cx="7315200" cy="4188146"/>
          </a:xfrm>
          <a:prstGeom prst="rect">
            <a:avLst/>
          </a:prstGeom>
        </p:spPr>
      </p:pic>
      <p:sp>
        <p:nvSpPr>
          <p:cNvPr id="6" name="Rectangle 5"/>
          <p:cNvSpPr/>
          <p:nvPr/>
        </p:nvSpPr>
        <p:spPr>
          <a:xfrm>
            <a:off x="1439150" y="6096000"/>
            <a:ext cx="6172200" cy="369332"/>
          </a:xfrm>
          <a:prstGeom prst="rect">
            <a:avLst/>
          </a:prstGeom>
        </p:spPr>
        <p:txBody>
          <a:bodyPr wrap="square">
            <a:spAutoFit/>
          </a:bodyPr>
          <a:lstStyle/>
          <a:p>
            <a:pPr algn="ctr" rtl="1">
              <a:spcAft>
                <a:spcPts val="1000"/>
              </a:spcAft>
            </a:pPr>
            <a:r>
              <a:rPr lang="fa-IR" dirty="0">
                <a:solidFill>
                  <a:srgbClr val="262626"/>
                </a:solidFill>
                <a:latin typeface="Times New Roman" panose="02020603050405020304" pitchFamily="18" charset="0"/>
                <a:ea typeface="Calibri" panose="020F0502020204030204" pitchFamily="34" charset="0"/>
                <a:cs typeface="B Lotus" panose="00000400000000000000" pitchFamily="2" charset="-78"/>
              </a:rPr>
              <a:t>روند تأثیر متقابل میزان همسان‌سازی و زمان همسان‌سازی (</a:t>
            </a:r>
            <a:r>
              <a:rPr lang="en-US" dirty="0">
                <a:solidFill>
                  <a:srgbClr val="262626"/>
                </a:solidFill>
                <a:latin typeface="Times New Roman" panose="02020603050405020304" pitchFamily="18" charset="0"/>
                <a:ea typeface="Calibri" panose="020F0502020204030204" pitchFamily="34" charset="0"/>
                <a:cs typeface="B Lotus" panose="00000400000000000000" pitchFamily="2" charset="-78"/>
              </a:rPr>
              <a:t>α:β</a:t>
            </a:r>
            <a:r>
              <a:rPr lang="fa-IR" dirty="0">
                <a:solidFill>
                  <a:srgbClr val="262626"/>
                </a:solidFill>
                <a:latin typeface="Times New Roman" panose="02020603050405020304" pitchFamily="18" charset="0"/>
                <a:ea typeface="Calibri" panose="020F0502020204030204" pitchFamily="34" charset="0"/>
                <a:cs typeface="B Lotus" panose="00000400000000000000" pitchFamily="2" charset="-78"/>
              </a:rPr>
              <a:t>) </a:t>
            </a:r>
            <a:r>
              <a:rPr lang="fa-IR" dirty="0">
                <a:solidFill>
                  <a:srgbClr val="61D6FF"/>
                </a:solidFill>
                <a:latin typeface="Times New Roman" panose="02020603050405020304" pitchFamily="18" charset="0"/>
                <a:cs typeface="B Lotus" panose="00000400000000000000" pitchFamily="2" charset="-78"/>
              </a:rPr>
              <a:t>[1]</a:t>
            </a:r>
            <a:r>
              <a:rPr lang="fa-IR" dirty="0">
                <a:latin typeface="Times New Roman" panose="02020603050405020304" pitchFamily="18" charset="0"/>
                <a:cs typeface="B Lotus" panose="00000400000000000000" pitchFamily="2" charset="-78"/>
              </a:rPr>
              <a:t>.</a:t>
            </a:r>
            <a:endParaRPr lang="en-US"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endParaRPr>
          </a:p>
        </p:txBody>
      </p:sp>
      <p:sp>
        <p:nvSpPr>
          <p:cNvPr id="18"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19"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0"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1" name="Rectangle 20"/>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2" name="Rectangle 21"/>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3" name="Picture 22"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4"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5" name="Rectangle 24">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7"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8" name="Rectangle 27">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9" name="TextBox 28">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sp>
        <p:nvSpPr>
          <p:cNvPr id="1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80</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6549464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907487" y="6171442"/>
            <a:ext cx="73596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1" eaLnBrk="0" fontAlgn="base" hangingPunct="0">
              <a:spcBef>
                <a:spcPct val="0"/>
              </a:spcBef>
              <a:spcAft>
                <a:spcPct val="0"/>
              </a:spcAft>
            </a:pPr>
            <a:r>
              <a:rPr lang="fa-IR" altLang="en-US" sz="1400" dirty="0">
                <a:latin typeface="Times New Roman" panose="02020603050405020304" pitchFamily="18" charset="0"/>
                <a:ea typeface="Calibri" panose="020F0502020204030204" pitchFamily="34" charset="0"/>
                <a:cs typeface="B Lotus" panose="00000400000000000000" pitchFamily="2" charset="-78"/>
              </a:rPr>
              <a:t>نتیجه دسته‌بندی سلول‌ها در فرآیند همسان‌سازی عملی به روش آستانه ثابت (الف)، روش خوشه‌بندی</a:t>
            </a:r>
            <a:r>
              <a:rPr lang="en-US" altLang="en-US" sz="1400" dirty="0">
                <a:latin typeface="Times New Roman" panose="02020603050405020304" pitchFamily="18" charset="0"/>
                <a:ea typeface="Calibri" panose="020F0502020204030204" pitchFamily="34" charset="0"/>
                <a:cs typeface="B Lotus" panose="00000400000000000000" pitchFamily="2" charset="-78"/>
              </a:rPr>
              <a:t> K-means </a:t>
            </a:r>
            <a:r>
              <a:rPr lang="fa-IR" altLang="en-US" sz="1400" dirty="0">
                <a:latin typeface="Times New Roman" panose="02020603050405020304" pitchFamily="18" charset="0"/>
                <a:ea typeface="Calibri" panose="020F0502020204030204" pitchFamily="34" charset="0"/>
                <a:cs typeface="B Lotus" panose="00000400000000000000" pitchFamily="2" charset="-78"/>
              </a:rPr>
              <a:t>بدون </a:t>
            </a:r>
            <a:r>
              <a:rPr lang="en-US" altLang="en-US" sz="1400" dirty="0">
                <a:latin typeface="Times New Roman" panose="02020603050405020304" pitchFamily="18" charset="0"/>
                <a:ea typeface="Calibri" panose="020F0502020204030204" pitchFamily="34" charset="0"/>
                <a:cs typeface="B Lotus" panose="00000400000000000000" pitchFamily="2" charset="-78"/>
              </a:rPr>
              <a:t>GA</a:t>
            </a:r>
            <a:r>
              <a:rPr lang="fa-IR" altLang="en-US" sz="1400" dirty="0">
                <a:latin typeface="Times New Roman" panose="02020603050405020304" pitchFamily="18" charset="0"/>
                <a:ea typeface="Calibri" panose="020F0502020204030204" pitchFamily="34" charset="0"/>
                <a:cs typeface="B Lotus" panose="00000400000000000000" pitchFamily="2" charset="-78"/>
              </a:rPr>
              <a:t> (ب)، روش خوشه‌بندی</a:t>
            </a:r>
            <a:r>
              <a:rPr lang="en-US" altLang="en-US" sz="1400" dirty="0">
                <a:latin typeface="Times New Roman" panose="02020603050405020304" pitchFamily="18" charset="0"/>
                <a:ea typeface="Calibri" panose="020F0502020204030204" pitchFamily="34" charset="0"/>
                <a:cs typeface="B Lotus" panose="00000400000000000000" pitchFamily="2" charset="-78"/>
              </a:rPr>
              <a:t> K-means </a:t>
            </a:r>
            <a:r>
              <a:rPr lang="fa-IR" altLang="en-US" sz="1400" dirty="0">
                <a:latin typeface="Times New Roman" panose="02020603050405020304" pitchFamily="18" charset="0"/>
                <a:ea typeface="Calibri" panose="020F0502020204030204" pitchFamily="34" charset="0"/>
                <a:cs typeface="B Lotus" panose="00000400000000000000" pitchFamily="2" charset="-78"/>
              </a:rPr>
              <a:t>همراه با </a:t>
            </a:r>
            <a:r>
              <a:rPr lang="en-US" altLang="en-US" sz="1400" dirty="0">
                <a:latin typeface="Times New Roman" panose="02020603050405020304" pitchFamily="18" charset="0"/>
                <a:ea typeface="Calibri" panose="020F0502020204030204" pitchFamily="34" charset="0"/>
                <a:cs typeface="B Lotus" panose="00000400000000000000" pitchFamily="2" charset="-78"/>
              </a:rPr>
              <a:t>GA</a:t>
            </a:r>
            <a:r>
              <a:rPr lang="fa-IR" altLang="en-US" sz="1400" dirty="0">
                <a:latin typeface="Times New Roman" panose="02020603050405020304" pitchFamily="18" charset="0"/>
                <a:ea typeface="Calibri" panose="020F0502020204030204" pitchFamily="34" charset="0"/>
                <a:cs typeface="B Lotus" panose="00000400000000000000" pitchFamily="2" charset="-78"/>
              </a:rPr>
              <a:t> با ضرایب 6:4 (ج) </a:t>
            </a:r>
            <a:r>
              <a:rPr lang="fa-IR" sz="1400" dirty="0">
                <a:solidFill>
                  <a:srgbClr val="61D6FF"/>
                </a:solidFill>
                <a:latin typeface="Times New Roman" panose="02020603050405020304" pitchFamily="18" charset="0"/>
                <a:cs typeface="B Lotus" panose="00000400000000000000" pitchFamily="2" charset="-78"/>
              </a:rPr>
              <a:t>[1]</a:t>
            </a:r>
            <a:r>
              <a:rPr lang="fa-IR" sz="1400" dirty="0">
                <a:latin typeface="Times New Roman" panose="02020603050405020304" pitchFamily="18" charset="0"/>
                <a:cs typeface="B Lotus" panose="00000400000000000000" pitchFamily="2" charset="-78"/>
              </a:rPr>
              <a:t>.</a:t>
            </a:r>
            <a:r>
              <a:rPr lang="fa-IR" altLang="en-US" sz="1400" dirty="0">
                <a:latin typeface="Times New Roman" panose="02020603050405020304" pitchFamily="18" charset="0"/>
                <a:ea typeface="Calibri" panose="020F0502020204030204" pitchFamily="34" charset="0"/>
                <a:cs typeface="B Lotus" panose="00000400000000000000" pitchFamily="2" charset="-78"/>
              </a:rPr>
              <a:t> </a:t>
            </a:r>
            <a:endParaRPr kumimoji="0" lang="fa-IR"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p:txBody>
      </p:sp>
      <p:sp>
        <p:nvSpPr>
          <p:cNvPr id="2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Rectangle 2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5" name="Rectangle 2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27" name="Picture 2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Rectangle 2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4"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35" name="TextBox 34">
            <a:extLst>
              <a:ext uri="{FF2B5EF4-FFF2-40B4-BE49-F238E27FC236}">
                <a16:creationId xmlns:a16="http://schemas.microsoft.com/office/drawing/2014/main" xmlns="" id="{F43469DC-7F5B-471E-BD74-ED709E621F63}"/>
              </a:ext>
            </a:extLst>
          </p:cNvPr>
          <p:cNvSpPr txBox="1"/>
          <p:nvPr/>
        </p:nvSpPr>
        <p:spPr>
          <a:xfrm>
            <a:off x="-438805" y="941739"/>
            <a:ext cx="7315201" cy="307777"/>
          </a:xfrm>
          <a:prstGeom prst="rect">
            <a:avLst/>
          </a:prstGeom>
          <a:noFill/>
        </p:spPr>
        <p:txBody>
          <a:bodyPr wrap="square" rtlCol="0">
            <a:spAutoFit/>
          </a:bodyPr>
          <a:lstStyle/>
          <a:p>
            <a:pPr algn="ctr" rtl="1" fontAlgn="base">
              <a:spcBef>
                <a:spcPct val="0"/>
              </a:spcBef>
              <a:spcAft>
                <a:spcPct val="0"/>
              </a:spcAft>
            </a:pPr>
            <a:r>
              <a:rPr lang="fa-IR" sz="1400" dirty="0">
                <a:cs typeface="B Lotus" panose="00000400000000000000" pitchFamily="2" charset="-78"/>
              </a:rPr>
              <a:t>روشی نو برای همسان‌سازی باتری پک با اتصال سری بر مبنای تجزیه و تحلیل خوشه‌بندی همراه با الگوریتم ژنتیک</a:t>
            </a:r>
            <a:endParaRPr lang="en-US" sz="1400" dirty="0">
              <a:cs typeface="B Lotus" panose="00000400000000000000" pitchFamily="2" charset="-78"/>
            </a:endParaRPr>
          </a:p>
        </p:txBody>
      </p:sp>
      <p:grpSp>
        <p:nvGrpSpPr>
          <p:cNvPr id="7" name="Group 6"/>
          <p:cNvGrpSpPr/>
          <p:nvPr/>
        </p:nvGrpSpPr>
        <p:grpSpPr>
          <a:xfrm>
            <a:off x="148662" y="1752600"/>
            <a:ext cx="8877300" cy="4191010"/>
            <a:chOff x="163902" y="2243153"/>
            <a:chExt cx="8877300" cy="2446358"/>
          </a:xfrm>
        </p:grpSpPr>
        <p:grpSp>
          <p:nvGrpSpPr>
            <p:cNvPr id="4" name="Group 3"/>
            <p:cNvGrpSpPr/>
            <p:nvPr/>
          </p:nvGrpSpPr>
          <p:grpSpPr>
            <a:xfrm>
              <a:off x="163902" y="2243153"/>
              <a:ext cx="8877300" cy="2438395"/>
              <a:chOff x="165100" y="2118360"/>
              <a:chExt cx="8877300" cy="2438400"/>
            </a:xfrm>
          </p:grpSpPr>
          <p:pic>
            <p:nvPicPr>
              <p:cNvPr id="36" name="Picture 35"/>
              <p:cNvPicPr/>
              <p:nvPr/>
            </p:nvPicPr>
            <p:blipFill rotWithShape="1">
              <a:blip r:embed="rId4" cstate="print">
                <a:extLst>
                  <a:ext uri="{28A0092B-C50C-407E-A947-70E740481C1C}">
                    <a14:useLocalDpi xmlns:a14="http://schemas.microsoft.com/office/drawing/2010/main" val="0"/>
                  </a:ext>
                </a:extLst>
              </a:blip>
              <a:srcRect b="68127"/>
              <a:stretch/>
            </p:blipFill>
            <p:spPr bwMode="auto">
              <a:xfrm>
                <a:off x="165100" y="2224917"/>
                <a:ext cx="2959100" cy="2270883"/>
              </a:xfrm>
              <a:prstGeom prst="rect">
                <a:avLst/>
              </a:prstGeom>
              <a:noFill/>
              <a:ln>
                <a:noFill/>
              </a:ln>
            </p:spPr>
          </p:pic>
          <p:pic>
            <p:nvPicPr>
              <p:cNvPr id="38" name="Picture 37"/>
              <p:cNvPicPr/>
              <p:nvPr/>
            </p:nvPicPr>
            <p:blipFill rotWithShape="1">
              <a:blip r:embed="rId4" cstate="print">
                <a:extLst>
                  <a:ext uri="{28A0092B-C50C-407E-A947-70E740481C1C}">
                    <a14:useLocalDpi xmlns:a14="http://schemas.microsoft.com/office/drawing/2010/main" val="0"/>
                  </a:ext>
                </a:extLst>
              </a:blip>
              <a:srcRect t="32086" b="33690"/>
              <a:stretch/>
            </p:blipFill>
            <p:spPr bwMode="auto">
              <a:xfrm>
                <a:off x="3124200" y="2118360"/>
                <a:ext cx="2959100" cy="2438400"/>
              </a:xfrm>
              <a:prstGeom prst="rect">
                <a:avLst/>
              </a:prstGeom>
              <a:noFill/>
              <a:ln>
                <a:noFill/>
              </a:ln>
            </p:spPr>
          </p:pic>
          <p:pic>
            <p:nvPicPr>
              <p:cNvPr id="39" name="Picture 38"/>
              <p:cNvPicPr/>
              <p:nvPr/>
            </p:nvPicPr>
            <p:blipFill rotWithShape="1">
              <a:blip r:embed="rId4" cstate="print">
                <a:extLst>
                  <a:ext uri="{28A0092B-C50C-407E-A947-70E740481C1C}">
                    <a14:useLocalDpi xmlns:a14="http://schemas.microsoft.com/office/drawing/2010/main" val="0"/>
                  </a:ext>
                </a:extLst>
              </a:blip>
              <a:srcRect t="66310"/>
              <a:stretch/>
            </p:blipFill>
            <p:spPr bwMode="auto">
              <a:xfrm>
                <a:off x="6083300" y="2118360"/>
                <a:ext cx="2959100" cy="2400300"/>
              </a:xfrm>
              <a:prstGeom prst="rect">
                <a:avLst/>
              </a:prstGeom>
              <a:noFill/>
              <a:ln>
                <a:noFill/>
              </a:ln>
            </p:spPr>
          </p:pic>
        </p:grpSp>
        <p:pic>
          <p:nvPicPr>
            <p:cNvPr id="41" name="Picture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2785" y="4480584"/>
              <a:ext cx="288925" cy="173338"/>
            </a:xfrm>
            <a:prstGeom prst="rect">
              <a:avLst/>
            </a:prstGeom>
          </p:spPr>
        </p:pic>
        <p:pic>
          <p:nvPicPr>
            <p:cNvPr id="42" name="Picture 4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61075" y="4506014"/>
              <a:ext cx="235585" cy="183497"/>
            </a:xfrm>
            <a:prstGeom prst="rect">
              <a:avLst/>
            </a:prstGeom>
          </p:spPr>
        </p:pic>
        <p:pic>
          <p:nvPicPr>
            <p:cNvPr id="43" name="Picture 4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43670" y="4491072"/>
              <a:ext cx="212090" cy="152385"/>
            </a:xfrm>
            <a:prstGeom prst="rect">
              <a:avLst/>
            </a:prstGeom>
          </p:spPr>
        </p:pic>
      </p:grpSp>
      <p:sp>
        <p:nvSpPr>
          <p:cNvPr id="2" name="Slide Number Placeholder 1"/>
          <p:cNvSpPr>
            <a:spLocks noGrp="1"/>
          </p:cNvSpPr>
          <p:nvPr>
            <p:ph type="sldNum" sz="quarter" idx="12"/>
          </p:nvPr>
        </p:nvSpPr>
        <p:spPr/>
        <p:txBody>
          <a:bodyPr/>
          <a:lstStyle/>
          <a:p>
            <a:fld id="{7FC2E40A-4446-4E2B-B9AD-16F559E28E02}" type="slidenum">
              <a:rPr lang="en-US" smtClean="0"/>
              <a:t>81</a:t>
            </a:fld>
            <a:endParaRPr lang="en-US"/>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81</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9695653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63">
            <a:extLst>
              <a:ext uri="{FF2B5EF4-FFF2-40B4-BE49-F238E27FC236}">
                <a16:creationId xmlns:a16="http://schemas.microsoft.com/office/drawing/2014/main" xmlns="" id="{7DE4DEE4-712A-4CFA-A055-E6C6E9E30DE0}"/>
              </a:ext>
            </a:extLst>
          </p:cNvPr>
          <p:cNvSpPr txBox="1"/>
          <p:nvPr/>
        </p:nvSpPr>
        <p:spPr>
          <a:xfrm>
            <a:off x="358601" y="6088461"/>
            <a:ext cx="4579620" cy="215444"/>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rtl="1">
              <a:spcAft>
                <a:spcPts val="1000"/>
              </a:spcAft>
            </a:pPr>
            <a:r>
              <a:rPr lang="fa-IR" sz="14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دیاگرام الگوریتم همسان‌سازی </a:t>
            </a:r>
            <a:r>
              <a:rPr lang="fa-IR" sz="1400" dirty="0">
                <a:solidFill>
                  <a:srgbClr val="262626"/>
                </a:solidFill>
                <a:latin typeface="Times New Roman" panose="02020603050405020304" pitchFamily="18" charset="0"/>
                <a:ea typeface="Calibri" panose="020F0502020204030204" pitchFamily="34" charset="0"/>
                <a:cs typeface="B Lotus" panose="00000400000000000000" pitchFamily="2" charset="-78"/>
              </a:rPr>
              <a:t>پیشنهادی </a:t>
            </a:r>
            <a:r>
              <a:rPr lang="fa-IR" sz="1400" dirty="0">
                <a:solidFill>
                  <a:srgbClr val="61D6FF"/>
                </a:solidFill>
                <a:latin typeface="Times New Roman" panose="02020603050405020304" pitchFamily="18" charset="0"/>
                <a:ea typeface="Calibri" panose="020F0502020204030204" pitchFamily="34" charset="0"/>
                <a:cs typeface="B Lotus" panose="00000400000000000000" pitchFamily="2" charset="-78"/>
              </a:rPr>
              <a:t>[1]</a:t>
            </a:r>
            <a:r>
              <a:rPr lang="fa-IR" sz="1400" dirty="0">
                <a:latin typeface="Times New Roman" panose="02020603050405020304" pitchFamily="18" charset="0"/>
                <a:ea typeface="Calibri" panose="020F0502020204030204" pitchFamily="34" charset="0"/>
                <a:cs typeface="B Lotus" panose="00000400000000000000" pitchFamily="2" charset="-78"/>
              </a:rPr>
              <a:t>.</a:t>
            </a:r>
            <a:r>
              <a:rPr lang="fa-IR" sz="14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rPr>
              <a:t> </a:t>
            </a:r>
            <a:endParaRPr lang="en-US" sz="14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endParaRPr>
          </a:p>
        </p:txBody>
      </p:sp>
      <p:pic>
        <p:nvPicPr>
          <p:cNvPr id="18" name="Picture 17">
            <a:extLst>
              <a:ext uri="{FF2B5EF4-FFF2-40B4-BE49-F238E27FC236}">
                <a16:creationId xmlns:a16="http://schemas.microsoft.com/office/drawing/2014/main" xmlns="" id="{E1AC8998-D07C-42DC-BAE5-39A733290A3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18672" y="1905000"/>
            <a:ext cx="5110562" cy="3794442"/>
          </a:xfrm>
          <a:prstGeom prst="rect">
            <a:avLst/>
          </a:prstGeom>
        </p:spPr>
      </p:pic>
      <p:pic>
        <p:nvPicPr>
          <p:cNvPr id="21" name="Picture 20">
            <a:extLst>
              <a:ext uri="{FF2B5EF4-FFF2-40B4-BE49-F238E27FC236}">
                <a16:creationId xmlns:a16="http://schemas.microsoft.com/office/drawing/2014/main" xmlns="" id="{876448F6-AB3F-418C-80C5-029BBB6F0E1B}"/>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319270" y="2185866"/>
            <a:ext cx="1798955" cy="418465"/>
          </a:xfrm>
          <a:prstGeom prst="rect">
            <a:avLst/>
          </a:prstGeom>
        </p:spPr>
      </p:pic>
      <p:pic>
        <p:nvPicPr>
          <p:cNvPr id="22" name="Picture 21">
            <a:extLst>
              <a:ext uri="{FF2B5EF4-FFF2-40B4-BE49-F238E27FC236}">
                <a16:creationId xmlns:a16="http://schemas.microsoft.com/office/drawing/2014/main" xmlns="" id="{15111EFB-EBE7-4083-A4DC-F4AA2768E46F}"/>
              </a:ext>
            </a:extLst>
          </p:cNvPr>
          <p:cNvPicPr/>
          <p:nvPr/>
        </p:nvPicPr>
        <p:blipFill>
          <a:blip r:embed="rId5">
            <a:extLst>
              <a:ext uri="{28A0092B-C50C-407E-A947-70E740481C1C}">
                <a14:useLocalDpi xmlns:a14="http://schemas.microsoft.com/office/drawing/2010/main" val="0"/>
              </a:ext>
            </a:extLst>
          </a:blip>
          <a:stretch>
            <a:fillRect/>
          </a:stretch>
        </p:blipFill>
        <p:spPr>
          <a:xfrm>
            <a:off x="6292098" y="2668983"/>
            <a:ext cx="1374775" cy="323215"/>
          </a:xfrm>
          <a:prstGeom prst="rect">
            <a:avLst/>
          </a:prstGeom>
        </p:spPr>
      </p:pic>
      <p:pic>
        <p:nvPicPr>
          <p:cNvPr id="23" name="Picture 22">
            <a:extLst>
              <a:ext uri="{FF2B5EF4-FFF2-40B4-BE49-F238E27FC236}">
                <a16:creationId xmlns:a16="http://schemas.microsoft.com/office/drawing/2014/main" xmlns="" id="{9D79F70F-45AE-4B8F-BCD1-DE43E48B8B86}"/>
              </a:ext>
            </a:extLst>
          </p:cNvPr>
          <p:cNvPicPr/>
          <p:nvPr/>
        </p:nvPicPr>
        <p:blipFill>
          <a:blip r:embed="rId6">
            <a:extLst>
              <a:ext uri="{28A0092B-C50C-407E-A947-70E740481C1C}">
                <a14:useLocalDpi xmlns:a14="http://schemas.microsoft.com/office/drawing/2010/main" val="0"/>
              </a:ext>
            </a:extLst>
          </a:blip>
          <a:stretch>
            <a:fillRect/>
          </a:stretch>
        </p:blipFill>
        <p:spPr>
          <a:xfrm>
            <a:off x="6287616" y="3346711"/>
            <a:ext cx="1176246" cy="323215"/>
          </a:xfrm>
          <a:prstGeom prst="rect">
            <a:avLst/>
          </a:prstGeom>
        </p:spPr>
      </p:pic>
      <p:pic>
        <p:nvPicPr>
          <p:cNvPr id="24" name="Picture 23">
            <a:extLst>
              <a:ext uri="{FF2B5EF4-FFF2-40B4-BE49-F238E27FC236}">
                <a16:creationId xmlns:a16="http://schemas.microsoft.com/office/drawing/2014/main" xmlns="" id="{D74C6577-8BB2-4763-94C0-5C23DEF93F37}"/>
              </a:ext>
            </a:extLst>
          </p:cNvPr>
          <p:cNvPicPr/>
          <p:nvPr/>
        </p:nvPicPr>
        <p:blipFill>
          <a:blip r:embed="rId7">
            <a:extLst>
              <a:ext uri="{28A0092B-C50C-407E-A947-70E740481C1C}">
                <a14:useLocalDpi xmlns:a14="http://schemas.microsoft.com/office/drawing/2010/main" val="0"/>
              </a:ext>
            </a:extLst>
          </a:blip>
          <a:stretch>
            <a:fillRect/>
          </a:stretch>
        </p:blipFill>
        <p:spPr>
          <a:xfrm>
            <a:off x="6336543" y="3769543"/>
            <a:ext cx="2118051" cy="265960"/>
          </a:xfrm>
          <a:prstGeom prst="rect">
            <a:avLst/>
          </a:prstGeom>
        </p:spPr>
      </p:pic>
      <p:pic>
        <p:nvPicPr>
          <p:cNvPr id="25" name="Picture 24">
            <a:extLst>
              <a:ext uri="{FF2B5EF4-FFF2-40B4-BE49-F238E27FC236}">
                <a16:creationId xmlns:a16="http://schemas.microsoft.com/office/drawing/2014/main" xmlns="" id="{F71B0E14-F814-4C9A-844F-82D9AA5A2052}"/>
              </a:ext>
            </a:extLst>
          </p:cNvPr>
          <p:cNvPicPr/>
          <p:nvPr/>
        </p:nvPicPr>
        <p:blipFill>
          <a:blip r:embed="rId8">
            <a:extLst>
              <a:ext uri="{28A0092B-C50C-407E-A947-70E740481C1C}">
                <a14:useLocalDpi xmlns:a14="http://schemas.microsoft.com/office/drawing/2010/main" val="0"/>
              </a:ext>
            </a:extLst>
          </a:blip>
          <a:stretch>
            <a:fillRect/>
          </a:stretch>
        </p:blipFill>
        <p:spPr>
          <a:xfrm>
            <a:off x="6319270" y="4333626"/>
            <a:ext cx="2541625" cy="533400"/>
          </a:xfrm>
          <a:prstGeom prst="rect">
            <a:avLst/>
          </a:prstGeom>
        </p:spPr>
      </p:pic>
      <p:sp>
        <p:nvSpPr>
          <p:cNvPr id="27" name="Text Box 63">
            <a:extLst>
              <a:ext uri="{FF2B5EF4-FFF2-40B4-BE49-F238E27FC236}">
                <a16:creationId xmlns:a16="http://schemas.microsoft.com/office/drawing/2014/main" xmlns="" id="{699A4BE1-0D52-4A8A-841F-1ADFC36A026E}"/>
              </a:ext>
            </a:extLst>
          </p:cNvPr>
          <p:cNvSpPr txBox="1"/>
          <p:nvPr/>
        </p:nvSpPr>
        <p:spPr>
          <a:xfrm>
            <a:off x="5982715" y="6088461"/>
            <a:ext cx="2930072" cy="215444"/>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rtl="1">
              <a:spcAft>
                <a:spcPts val="1000"/>
              </a:spcAft>
            </a:pPr>
            <a:r>
              <a:rPr lang="fa-IR" sz="1400" dirty="0">
                <a:solidFill>
                  <a:srgbClr val="262626"/>
                </a:solidFill>
                <a:latin typeface="Times New Roman" panose="02020603050405020304" pitchFamily="18" charset="0"/>
                <a:ea typeface="Calibri" panose="020F0502020204030204" pitchFamily="34" charset="0"/>
                <a:cs typeface="B Lotus" panose="00000400000000000000" pitchFamily="2" charset="-78"/>
              </a:rPr>
              <a:t>روابط خوشه بندی </a:t>
            </a:r>
            <a:r>
              <a:rPr lang="fa-IR" sz="1400" dirty="0">
                <a:solidFill>
                  <a:srgbClr val="61D6FF"/>
                </a:solidFill>
                <a:latin typeface="Times New Roman" panose="02020603050405020304" pitchFamily="18" charset="0"/>
                <a:ea typeface="Calibri" panose="020F0502020204030204" pitchFamily="34" charset="0"/>
                <a:cs typeface="B Lotus" panose="00000400000000000000" pitchFamily="2" charset="-78"/>
              </a:rPr>
              <a:t>[1]</a:t>
            </a:r>
            <a:r>
              <a:rPr lang="fa-IR" sz="1400" dirty="0">
                <a:latin typeface="Times New Roman" panose="02020603050405020304" pitchFamily="18" charset="0"/>
                <a:ea typeface="Calibri" panose="020F0502020204030204" pitchFamily="34" charset="0"/>
                <a:cs typeface="B Lotus" panose="00000400000000000000" pitchFamily="2" charset="-78"/>
              </a:rPr>
              <a:t>.</a:t>
            </a:r>
            <a:endParaRPr lang="en-US" sz="14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endParaRPr>
          </a:p>
        </p:txBody>
      </p:sp>
      <p:pic>
        <p:nvPicPr>
          <p:cNvPr id="28" name="Picture 27"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9" name="TextBox 28">
            <a:extLst>
              <a:ext uri="{FF2B5EF4-FFF2-40B4-BE49-F238E27FC236}">
                <a16:creationId xmlns:a16="http://schemas.microsoft.com/office/drawing/2014/main" xmlns="" id="{90C43403-B77E-474E-A638-C5BD6540DB40}"/>
              </a:ext>
            </a:extLst>
          </p:cNvPr>
          <p:cNvSpPr txBox="1"/>
          <p:nvPr/>
        </p:nvSpPr>
        <p:spPr>
          <a:xfrm>
            <a:off x="2648411" y="686668"/>
            <a:ext cx="65" cy="276999"/>
          </a:xfrm>
          <a:prstGeom prst="rect">
            <a:avLst/>
          </a:prstGeom>
          <a:noFill/>
        </p:spPr>
        <p:txBody>
          <a:bodyPr wrap="none" lIns="0" tIns="0" rIns="0" bIns="0" rtlCol="0">
            <a:spAutoFit/>
          </a:bodyPr>
          <a:lstStyle/>
          <a:p>
            <a:endParaRPr lang="en-US" dirty="0"/>
          </a:p>
        </p:txBody>
      </p:sp>
      <p:sp>
        <p:nvSpPr>
          <p:cNvPr id="31" name="Slide Number Placeholder 4">
            <a:extLst>
              <a:ext uri="{FF2B5EF4-FFF2-40B4-BE49-F238E27FC236}">
                <a16:creationId xmlns:a16="http://schemas.microsoft.com/office/drawing/2014/main" xmlns="" id="{27EA69B3-891D-46E8-8004-444EAE0D2017}"/>
              </a:ext>
            </a:extLst>
          </p:cNvPr>
          <p:cNvSpPr>
            <a:spLocks noGrp="1"/>
          </p:cNvSpPr>
          <p:nvPr>
            <p:ph type="sldNum" sz="quarter" idx="12"/>
          </p:nvPr>
        </p:nvSpPr>
        <p:spPr>
          <a:xfrm>
            <a:off x="7620000" y="18288"/>
            <a:ext cx="1066800" cy="329184"/>
          </a:xfrm>
        </p:spPr>
        <p:txBody>
          <a:bodyPr/>
          <a:lstStyle/>
          <a:p>
            <a:fld id="{7FC2E40A-4446-4E2B-B9AD-16F559E28E02}" type="slidenum">
              <a:rPr lang="en-US" smtClean="0"/>
              <a:t>82</a:t>
            </a:fld>
            <a:endParaRPr lang="en-US"/>
          </a:p>
        </p:txBody>
      </p:sp>
      <p:sp>
        <p:nvSpPr>
          <p:cNvPr id="32"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3"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4" name="Rectangle 33"/>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5" name="Rectangle 34"/>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pic>
        <p:nvPicPr>
          <p:cNvPr id="36" name="Picture 35"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7"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8" name="Rectangle 3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9"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0" name="Rectangle 39">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1" name="Rounded Rectangle 175">
            <a:extLst>
              <a:ext uri="{FF2B5EF4-FFF2-40B4-BE49-F238E27FC236}">
                <a16:creationId xmlns:a16="http://schemas.microsoft.com/office/drawing/2014/main" xmlns="" id="{AACCE7D9-540A-47B9-8964-41031B797FDD}"/>
              </a:ext>
            </a:extLst>
          </p:cNvPr>
          <p:cNvSpPr/>
          <p:nvPr/>
        </p:nvSpPr>
        <p:spPr bwMode="auto">
          <a:xfrm>
            <a:off x="7124531" y="917675"/>
            <a:ext cx="1486069" cy="498507"/>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400" b="1" dirty="0">
                <a:solidFill>
                  <a:srgbClr val="FFFFFF"/>
                </a:solidFill>
                <a:latin typeface="Times New Roman" panose="02020603050405020304" pitchFamily="18" charset="0"/>
                <a:cs typeface="B Nazanin" panose="00000400000000000000" pitchFamily="2" charset="-78"/>
              </a:rPr>
              <a:t>مقالات اخیر</a:t>
            </a:r>
            <a:endParaRPr lang="en-US" sz="2400" b="1" dirty="0">
              <a:solidFill>
                <a:srgbClr val="FFFFFF"/>
              </a:solidFill>
              <a:latin typeface="Times New Roman" panose="02020603050405020304" pitchFamily="18" charset="0"/>
              <a:cs typeface="B Nazanin" panose="00000400000000000000" pitchFamily="2" charset="-78"/>
            </a:endParaRPr>
          </a:p>
        </p:txBody>
      </p:sp>
      <p:sp>
        <p:nvSpPr>
          <p:cNvPr id="42" name="Rectangle 41"/>
          <p:cNvSpPr/>
          <p:nvPr/>
        </p:nvSpPr>
        <p:spPr>
          <a:xfrm>
            <a:off x="148663" y="916237"/>
            <a:ext cx="6861738" cy="523220"/>
          </a:xfrm>
          <a:prstGeom prst="rect">
            <a:avLst/>
          </a:prstGeom>
        </p:spPr>
        <p:txBody>
          <a:bodyPr wrap="square">
            <a:spAutoFit/>
          </a:bodyPr>
          <a:lstStyle/>
          <a:p>
            <a:pPr algn="r" rtl="1" fontAlgn="base">
              <a:spcBef>
                <a:spcPct val="0"/>
              </a:spcBef>
              <a:spcAft>
                <a:spcPct val="0"/>
              </a:spcAft>
            </a:pPr>
            <a:r>
              <a:rPr lang="fa-IR" sz="1400" dirty="0">
                <a:cs typeface="B Lotus" panose="00000400000000000000" pitchFamily="2" charset="-78"/>
              </a:rPr>
              <a:t>روشی بهینه و سریع برای همسان‌سازی فعال پک باتری مستهلک با استفاده از مبدل ولتاژ</a:t>
            </a:r>
            <a:r>
              <a:rPr lang="en-US" sz="1400" dirty="0">
                <a:cs typeface="B Lotus" panose="00000400000000000000" pitchFamily="2" charset="-78"/>
              </a:rPr>
              <a:t> </a:t>
            </a:r>
            <a:r>
              <a:rPr lang="fa-IR" sz="1400" dirty="0">
                <a:cs typeface="B Lotus" panose="00000400000000000000" pitchFamily="2" charset="-78"/>
              </a:rPr>
              <a:t>دوطرفه با دامنه ولتاژ کاری وسیع و الگوریتم خوشه‌بندی </a:t>
            </a:r>
            <a:r>
              <a:rPr lang="en-US" sz="1400" i="1" dirty="0">
                <a:latin typeface="Times New Roman" panose="02020603050405020304" pitchFamily="18" charset="0"/>
                <a:cs typeface="Times New Roman" panose="02020603050405020304" pitchFamily="18" charset="0"/>
              </a:rPr>
              <a:t>DBSCAN</a:t>
            </a:r>
            <a:endParaRPr lang="en-US" sz="1400" dirty="0">
              <a:latin typeface="Times New Roman" panose="02020603050405020304" pitchFamily="18" charset="0"/>
              <a:cs typeface="Times New Roman" panose="02020603050405020304" pitchFamily="18" charset="0"/>
            </a:endParaRPr>
          </a:p>
        </p:txBody>
      </p:sp>
      <p:sp>
        <p:nvSpPr>
          <p:cNvPr id="2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82</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842976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20146" y="934180"/>
            <a:ext cx="3717685" cy="369332"/>
          </a:xfrm>
          <a:prstGeom prst="rect">
            <a:avLst/>
          </a:prstGeom>
          <a:noFill/>
        </p:spPr>
        <p:txBody>
          <a:bodyPr wrap="none" rtlCol="0">
            <a:spAutoFit/>
          </a:bodyPr>
          <a:lstStyle/>
          <a:p>
            <a:pPr algn="r" rtl="1" fontAlgn="base">
              <a:spcBef>
                <a:spcPct val="0"/>
              </a:spcBef>
              <a:spcAft>
                <a:spcPct val="0"/>
              </a:spcAft>
            </a:pPr>
            <a:r>
              <a:rPr lang="fa-IR" b="1" dirty="0">
                <a:cs typeface="B Nazanin" panose="00000400000000000000" pitchFamily="2" charset="-78"/>
              </a:rPr>
              <a:t>روش های تخمین وضعیت شارژ باتری (</a:t>
            </a:r>
            <a:r>
              <a:rPr lang="en-US" b="1" i="1" dirty="0">
                <a:latin typeface="Times New Roman" panose="02020603050405020304" pitchFamily="18" charset="0"/>
                <a:cs typeface="Times New Roman" panose="02020603050405020304" pitchFamily="18" charset="0"/>
              </a:rPr>
              <a:t>SOC</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sp>
        <p:nvSpPr>
          <p:cNvPr id="52" name="TextBox 51">
            <a:extLst>
              <a:ext uri="{FF2B5EF4-FFF2-40B4-BE49-F238E27FC236}">
                <a16:creationId xmlns:a16="http://schemas.microsoft.com/office/drawing/2014/main" xmlns="" id="{0D7C9433-5674-4BC9-A282-6D982E5B3065}"/>
              </a:ext>
            </a:extLst>
          </p:cNvPr>
          <p:cNvSpPr txBox="1"/>
          <p:nvPr/>
        </p:nvSpPr>
        <p:spPr>
          <a:xfrm>
            <a:off x="-397968" y="3240253"/>
            <a:ext cx="65" cy="276999"/>
          </a:xfrm>
          <a:prstGeom prst="rect">
            <a:avLst/>
          </a:prstGeom>
          <a:noFill/>
        </p:spPr>
        <p:txBody>
          <a:bodyPr wrap="none" lIns="0" tIns="0" rIns="0" bIns="0" rtlCol="0">
            <a:spAutoFit/>
          </a:bodyPr>
          <a:lstStyle/>
          <a:p>
            <a:endParaRPr lang="en-US" dirty="0"/>
          </a:p>
        </p:txBody>
      </p:sp>
      <p:sp>
        <p:nvSpPr>
          <p:cNvPr id="53"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2792428" y="3918238"/>
            <a:ext cx="3931920" cy="473685"/>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a:cs typeface="B Nazanin" panose="00000400000000000000" pitchFamily="2" charset="-78"/>
              </a:rPr>
              <a:t>ولتاژ مدار باز (</a:t>
            </a:r>
            <a:r>
              <a:rPr lang="en-US" b="1" i="1">
                <a:latin typeface="Times New Roman" panose="02020603050405020304" pitchFamily="18" charset="0"/>
                <a:cs typeface="Times New Roman" panose="02020603050405020304" pitchFamily="18" charset="0"/>
              </a:rPr>
              <a:t>OCV</a:t>
            </a:r>
            <a:r>
              <a:rPr lang="fa-IR" b="1">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pic>
        <p:nvPicPr>
          <p:cNvPr id="5" name="Picture 4"/>
          <p:cNvPicPr>
            <a:picLocks noChangeAspect="1"/>
          </p:cNvPicPr>
          <p:nvPr/>
        </p:nvPicPr>
        <p:blipFill>
          <a:blip r:embed="rId3"/>
          <a:stretch>
            <a:fillRect/>
          </a:stretch>
        </p:blipFill>
        <p:spPr>
          <a:xfrm>
            <a:off x="477025" y="1438854"/>
            <a:ext cx="1838325" cy="1933575"/>
          </a:xfrm>
          <a:prstGeom prst="rect">
            <a:avLst/>
          </a:prstGeom>
        </p:spPr>
      </p:pic>
      <p:sp>
        <p:nvSpPr>
          <p:cNvPr id="120" name="AutoShape 2">
            <a:extLst>
              <a:ext uri="{FF2B5EF4-FFF2-40B4-BE49-F238E27FC236}">
                <a16:creationId xmlns:a16="http://schemas.microsoft.com/office/drawing/2014/main" xmlns="" id="{497A908A-E454-4B9F-A07D-96505D4C7818}"/>
              </a:ext>
            </a:extLst>
          </p:cNvPr>
          <p:cNvSpPr>
            <a:spLocks noChangeAspect="1" noChangeArrowheads="1"/>
          </p:cNvSpPr>
          <p:nvPr/>
        </p:nvSpPr>
        <p:spPr bwMode="ltGray">
          <a:xfrm rot="16200000" flipH="1">
            <a:off x="6766228" y="1705000"/>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0">
            <a:gsLst>
              <a:gs pos="0">
                <a:srgbClr val="B0BAD8">
                  <a:gamma/>
                  <a:tint val="45490"/>
                  <a:invGamma/>
                </a:srgbClr>
              </a:gs>
              <a:gs pos="100000">
                <a:srgbClr val="B0BAD8"/>
              </a:gs>
            </a:gsLst>
            <a:lin ang="0" scaled="1"/>
          </a:gradFill>
          <a:ln w="9525"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21" name="AutoShape 3">
            <a:extLst>
              <a:ext uri="{FF2B5EF4-FFF2-40B4-BE49-F238E27FC236}">
                <a16:creationId xmlns:a16="http://schemas.microsoft.com/office/drawing/2014/main" xmlns="" id="{481E592A-A902-40E8-8D57-EEB2C886C06E}"/>
              </a:ext>
            </a:extLst>
          </p:cNvPr>
          <p:cNvSpPr>
            <a:spLocks noChangeAspect="1" noChangeArrowheads="1"/>
          </p:cNvSpPr>
          <p:nvPr/>
        </p:nvSpPr>
        <p:spPr bwMode="ltGray">
          <a:xfrm rot="16200000">
            <a:off x="7127876" y="2140768"/>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0">
            <a:gsLst>
              <a:gs pos="0">
                <a:srgbClr val="B8CCFE">
                  <a:gamma/>
                  <a:tint val="39216"/>
                  <a:invGamma/>
                </a:srgbClr>
              </a:gs>
              <a:gs pos="100000">
                <a:srgbClr val="B8CCFE"/>
              </a:gs>
            </a:gsLst>
            <a:lin ang="0" scaled="1"/>
          </a:gradFill>
          <a:ln w="0" algn="ctr">
            <a:no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123" name="AutoShape 6">
            <a:extLst>
              <a:ext uri="{FF2B5EF4-FFF2-40B4-BE49-F238E27FC236}">
                <a16:creationId xmlns:a16="http://schemas.microsoft.com/office/drawing/2014/main" xmlns="" id="{1F8AE669-1568-4178-BF56-57E58EA0C127}"/>
              </a:ext>
            </a:extLst>
          </p:cNvPr>
          <p:cNvSpPr>
            <a:spLocks noChangeAspect="1" noChangeArrowheads="1"/>
          </p:cNvSpPr>
          <p:nvPr/>
        </p:nvSpPr>
        <p:spPr bwMode="gray">
          <a:xfrm>
            <a:off x="3350973" y="5518299"/>
            <a:ext cx="3931920" cy="447659"/>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مبتنی بر مدل</a:t>
            </a:r>
            <a:endParaRPr lang="en-US" b="1" dirty="0">
              <a:solidFill>
                <a:srgbClr val="000000"/>
              </a:solidFill>
              <a:latin typeface="Times New Roman" panose="02020603050405020304" pitchFamily="18" charset="0"/>
              <a:cs typeface="B Nazanin" pitchFamily="2" charset="-78"/>
            </a:endParaRPr>
          </a:p>
        </p:txBody>
      </p:sp>
      <p:sp>
        <p:nvSpPr>
          <p:cNvPr id="125"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3387068" y="2347178"/>
            <a:ext cx="3931920" cy="444685"/>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شمارش کولن</a:t>
            </a:r>
            <a:endParaRPr lang="en-US" b="1" dirty="0">
              <a:solidFill>
                <a:srgbClr val="000000"/>
              </a:solidFill>
              <a:latin typeface="Times New Roman" panose="02020603050405020304" pitchFamily="18" charset="0"/>
              <a:cs typeface="B Nazanin" pitchFamily="2" charset="-78"/>
            </a:endParaRPr>
          </a:p>
        </p:txBody>
      </p:sp>
      <p:sp>
        <p:nvSpPr>
          <p:cNvPr id="154" name="TextBox 153">
            <a:extLst>
              <a:ext uri="{FF2B5EF4-FFF2-40B4-BE49-F238E27FC236}">
                <a16:creationId xmlns:a16="http://schemas.microsoft.com/office/drawing/2014/main" xmlns="" id="{0D7C9433-5674-4BC9-A282-6D982E5B3065}"/>
              </a:ext>
            </a:extLst>
          </p:cNvPr>
          <p:cNvSpPr txBox="1"/>
          <p:nvPr/>
        </p:nvSpPr>
        <p:spPr>
          <a:xfrm>
            <a:off x="4118977" y="2973412"/>
            <a:ext cx="65" cy="276999"/>
          </a:xfrm>
          <a:prstGeom prst="rect">
            <a:avLst/>
          </a:prstGeom>
          <a:noFill/>
        </p:spPr>
        <p:txBody>
          <a:bodyPr wrap="none" lIns="0" tIns="0" rIns="0" bIns="0" rtlCol="0">
            <a:spAutoFit/>
          </a:bodyPr>
          <a:lstStyle/>
          <a:p>
            <a:endParaRPr lang="en-US" dirty="0"/>
          </a:p>
        </p:txBody>
      </p:sp>
      <p:grpSp>
        <p:nvGrpSpPr>
          <p:cNvPr id="64"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6567366" y="3960617"/>
            <a:ext cx="381000" cy="381000"/>
            <a:chOff x="2078" y="1680"/>
            <a:chExt cx="1615" cy="1615"/>
          </a:xfrm>
        </p:grpSpPr>
        <p:sp>
          <p:nvSpPr>
            <p:cNvPr id="65"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6"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7"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8"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69"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70"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163"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7176028" y="2382615"/>
            <a:ext cx="381000" cy="381000"/>
            <a:chOff x="2078" y="1680"/>
            <a:chExt cx="1615" cy="1615"/>
          </a:xfrm>
        </p:grpSpPr>
        <p:sp>
          <p:nvSpPr>
            <p:cNvPr id="164"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65"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66"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67"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68"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69"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grpSp>
        <p:nvGrpSpPr>
          <p:cNvPr id="170"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7138335" y="5552886"/>
            <a:ext cx="381000" cy="381000"/>
            <a:chOff x="2078" y="1680"/>
            <a:chExt cx="1615" cy="1615"/>
          </a:xfrm>
        </p:grpSpPr>
        <p:sp>
          <p:nvSpPr>
            <p:cNvPr id="171"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2"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3"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4"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5"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176"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9" name="Rounded Rectangle 175">
            <a:extLst>
              <a:ext uri="{FF2B5EF4-FFF2-40B4-BE49-F238E27FC236}">
                <a16:creationId xmlns:a16="http://schemas.microsoft.com/office/drawing/2014/main" xmlns="" id="{8D19BD66-3E4D-4F25-BA5B-9959C4AF86A5}"/>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sp>
        <p:nvSpPr>
          <p:cNvPr id="60" name="AutoShape 12" descr="5 Things That Affect Your Charging Speed | EVgo">
            <a:extLst>
              <a:ext uri="{FF2B5EF4-FFF2-40B4-BE49-F238E27FC236}">
                <a16:creationId xmlns:a16="http://schemas.microsoft.com/office/drawing/2014/main" xmlns="" id="{66FC110F-0F22-434B-8ACD-45D626A3C908}"/>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AutoShape 2" descr="What is the Depth of Discharge (DoD) Estimation of a Lithium Ion Battery?">
            <a:extLst>
              <a:ext uri="{FF2B5EF4-FFF2-40B4-BE49-F238E27FC236}">
                <a16:creationId xmlns:a16="http://schemas.microsoft.com/office/drawing/2014/main" xmlns="" id="{AE94E5F4-4CC0-4C2D-B4A7-E343C7C8ADB8}"/>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AutoShape 10">
            <a:extLst>
              <a:ext uri="{FF2B5EF4-FFF2-40B4-BE49-F238E27FC236}">
                <a16:creationId xmlns:a16="http://schemas.microsoft.com/office/drawing/2014/main" xmlns="" id="{0E51A7C8-157C-451B-8B78-DB07BC6EBAFF}"/>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63" name="AutoShape 3">
            <a:extLst>
              <a:ext uri="{FF2B5EF4-FFF2-40B4-BE49-F238E27FC236}">
                <a16:creationId xmlns:a16="http://schemas.microsoft.com/office/drawing/2014/main" xmlns="" id="{8AD084DA-8D50-42FC-9827-910C0293EF8E}"/>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71" name="AutoShape 3">
            <a:extLst>
              <a:ext uri="{FF2B5EF4-FFF2-40B4-BE49-F238E27FC236}">
                <a16:creationId xmlns:a16="http://schemas.microsoft.com/office/drawing/2014/main" xmlns="" id="{9C1D6F19-0265-412E-9AED-47EAEB80CC52}"/>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72" name="AutoShape 3">
            <a:extLst>
              <a:ext uri="{FF2B5EF4-FFF2-40B4-BE49-F238E27FC236}">
                <a16:creationId xmlns:a16="http://schemas.microsoft.com/office/drawing/2014/main" xmlns="" id="{0E991C3B-34C7-4CE5-8014-566F379FFBF2}"/>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73" name="Rectangle 72">
            <a:extLst>
              <a:ext uri="{FF2B5EF4-FFF2-40B4-BE49-F238E27FC236}">
                <a16:creationId xmlns:a16="http://schemas.microsoft.com/office/drawing/2014/main" xmlns="" id="{80BD53AA-967F-4168-B767-427C76535D6B}"/>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74" name="Rectangle 73">
            <a:extLst>
              <a:ext uri="{FF2B5EF4-FFF2-40B4-BE49-F238E27FC236}">
                <a16:creationId xmlns:a16="http://schemas.microsoft.com/office/drawing/2014/main" xmlns="" id="{2AC7EE3A-D352-4345-B647-569773716BD3}"/>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75" name="Rectangle 74">
            <a:extLst>
              <a:ext uri="{FF2B5EF4-FFF2-40B4-BE49-F238E27FC236}">
                <a16:creationId xmlns:a16="http://schemas.microsoft.com/office/drawing/2014/main" xmlns="" id="{37328964-0EC8-4739-9481-3F9FCF564204}"/>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76" name="Rectangle 75">
            <a:extLst>
              <a:ext uri="{FF2B5EF4-FFF2-40B4-BE49-F238E27FC236}">
                <a16:creationId xmlns:a16="http://schemas.microsoft.com/office/drawing/2014/main" xmlns="" id="{9B94B742-81B7-4631-84FC-5FD9CA0BBAB3}"/>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pic>
        <p:nvPicPr>
          <p:cNvPr id="77" name="Picture 76" descr="پرونده:Azad University logo.png - ویکی‌پدیا، دانشنامهٔ آزاد">
            <a:extLst>
              <a:ext uri="{FF2B5EF4-FFF2-40B4-BE49-F238E27FC236}">
                <a16:creationId xmlns:a16="http://schemas.microsoft.com/office/drawing/2014/main" xmlns="" id="{DE9569A3-4E60-44E6-B193-07F4C2260CD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6"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83</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19722995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Rectangle 428"/>
          <p:cNvSpPr/>
          <p:nvPr/>
        </p:nvSpPr>
        <p:spPr>
          <a:xfrm>
            <a:off x="346210" y="6187624"/>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1"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6494325" y="1866180"/>
            <a:ext cx="23034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Lotus" panose="00000400000000000000" pitchFamily="2" charset="-78"/>
              </a:rPr>
              <a:t>شمارش کولن</a:t>
            </a:r>
            <a:endParaRPr lang="en-US" b="1" dirty="0">
              <a:solidFill>
                <a:srgbClr val="000000"/>
              </a:solidFill>
              <a:latin typeface="Times New Roman" panose="02020603050405020304" pitchFamily="18" charset="0"/>
              <a:cs typeface="B Lotus" panose="00000400000000000000" pitchFamily="2" charset="-78"/>
            </a:endParaRPr>
          </a:p>
        </p:txBody>
      </p:sp>
      <p:grpSp>
        <p:nvGrpSpPr>
          <p:cNvPr id="38"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8754925" y="1942380"/>
            <a:ext cx="381000" cy="381000"/>
            <a:chOff x="2078" y="1680"/>
            <a:chExt cx="1615" cy="1615"/>
          </a:xfrm>
        </p:grpSpPr>
        <p:sp>
          <p:nvSpPr>
            <p:cNvPr id="39"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2" name="TextBox 51">
            <a:extLst>
              <a:ext uri="{FF2B5EF4-FFF2-40B4-BE49-F238E27FC236}">
                <a16:creationId xmlns:a16="http://schemas.microsoft.com/office/drawing/2014/main" xmlns="" id="{0D7C9433-5674-4BC9-A282-6D982E5B3065}"/>
              </a:ext>
            </a:extLst>
          </p:cNvPr>
          <p:cNvSpPr txBox="1"/>
          <p:nvPr/>
        </p:nvSpPr>
        <p:spPr>
          <a:xfrm>
            <a:off x="4877373" y="3499157"/>
            <a:ext cx="65" cy="276999"/>
          </a:xfrm>
          <a:prstGeom prst="rect">
            <a:avLst/>
          </a:prstGeom>
          <a:noFill/>
        </p:spPr>
        <p:txBody>
          <a:bodyPr wrap="none" lIns="0" tIns="0" rIns="0" bIns="0" rtlCol="0">
            <a:spAutoFit/>
          </a:bodyPr>
          <a:lstStyle/>
          <a:p>
            <a:endParaRPr lang="en-US" dirty="0"/>
          </a:p>
        </p:txBody>
      </p:sp>
      <p:pic>
        <p:nvPicPr>
          <p:cNvPr id="3" name="Picture 2"/>
          <p:cNvPicPr>
            <a:picLocks noChangeAspect="1"/>
          </p:cNvPicPr>
          <p:nvPr/>
        </p:nvPicPr>
        <p:blipFill>
          <a:blip r:embed="rId3"/>
          <a:stretch>
            <a:fillRect/>
          </a:stretch>
        </p:blipFill>
        <p:spPr>
          <a:xfrm>
            <a:off x="208440" y="1764112"/>
            <a:ext cx="4881106" cy="3752850"/>
          </a:xfrm>
          <a:prstGeom prst="rect">
            <a:avLst/>
          </a:prstGeom>
        </p:spPr>
      </p:pic>
      <p:sp>
        <p:nvSpPr>
          <p:cNvPr id="4" name="AutoShape 2" descr="Lithium-Ion State of Charge (SoC) measurement - Coulomb Counter method - OCV"/>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6" name="Rectangle 5"/>
              <p:cNvSpPr/>
              <p:nvPr/>
            </p:nvSpPr>
            <p:spPr>
              <a:xfrm>
                <a:off x="6269706" y="5482675"/>
                <a:ext cx="2135264" cy="7178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𝑆𝑂𝐶</m:t>
                      </m:r>
                      <m:r>
                        <a:rPr lang="en-US" i="0">
                          <a:latin typeface="Cambria Math" panose="02040503050406030204" pitchFamily="18" charset="0"/>
                        </a:rPr>
                        <m:t>=</m:t>
                      </m:r>
                      <m:r>
                        <a:rPr lang="en-US" i="0">
                          <a:latin typeface="Cambria Math" panose="02040503050406030204" pitchFamily="18" charset="0"/>
                        </a:rPr>
                        <m:t>1</m:t>
                      </m:r>
                      <m:r>
                        <a:rPr lang="en-US" i="0">
                          <a:latin typeface="Cambria Math" panose="02040503050406030204" pitchFamily="18" charset="0"/>
                        </a:rPr>
                        <m:t>− </m:t>
                      </m:r>
                      <m:f>
                        <m:fPr>
                          <m:ctrlPr>
                            <a:rPr lang="en-US" i="1">
                              <a:latin typeface="Cambria Math" panose="02040503050406030204" pitchFamily="18" charset="0"/>
                            </a:rPr>
                          </m:ctrlPr>
                        </m:fPr>
                        <m:num>
                          <m:nary>
                            <m:naryPr>
                              <m:subHide m:val="on"/>
                              <m:supHide m:val="on"/>
                              <m:ctrlPr>
                                <a:rPr lang="en-US" i="1">
                                  <a:latin typeface="Cambria Math" panose="02040503050406030204" pitchFamily="18" charset="0"/>
                                </a:rPr>
                              </m:ctrlPr>
                            </m:naryPr>
                            <m:sub/>
                            <m:sup/>
                            <m:e>
                              <m:r>
                                <a:rPr lang="en-US" i="1">
                                  <a:latin typeface="Cambria Math" panose="02040503050406030204" pitchFamily="18" charset="0"/>
                                </a:rPr>
                                <m:t>𝑖</m:t>
                              </m:r>
                              <m:r>
                                <a:rPr lang="en-US" i="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𝜂</m:t>
                              </m:r>
                              <m:r>
                                <a:rPr lang="en-US" i="1">
                                  <a:latin typeface="Cambria Math" panose="02040503050406030204" pitchFamily="18" charset="0"/>
                                </a:rPr>
                                <m:t>𝑑𝑡</m:t>
                              </m:r>
                            </m:e>
                          </m:nary>
                        </m:num>
                        <m:den>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𝑛</m:t>
                              </m:r>
                            </m:sub>
                          </m:sSub>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6269706" y="5482675"/>
                <a:ext cx="2135264" cy="717889"/>
              </a:xfrm>
              <a:prstGeom prst="rect">
                <a:avLst/>
              </a:prstGeom>
              <a:blipFill rotWithShape="0">
                <a:blip r:embed="rId4"/>
                <a:stretch>
                  <a:fillRect/>
                </a:stretch>
              </a:blipFill>
            </p:spPr>
            <p:txBody>
              <a:bodyPr/>
              <a:lstStyle/>
              <a:p>
                <a:r>
                  <a:rPr lang="fa-IR">
                    <a:noFill/>
                  </a:rPr>
                  <a:t> </a:t>
                </a:r>
              </a:p>
            </p:txBody>
          </p:sp>
        </mc:Fallback>
      </mc:AlternateContent>
      <p:pic>
        <p:nvPicPr>
          <p:cNvPr id="9" name="Picture 8"/>
          <p:cNvPicPr>
            <a:picLocks noChangeAspect="1"/>
          </p:cNvPicPr>
          <p:nvPr/>
        </p:nvPicPr>
        <p:blipFill>
          <a:blip r:embed="rId5"/>
          <a:stretch>
            <a:fillRect/>
          </a:stretch>
        </p:blipFill>
        <p:spPr>
          <a:xfrm>
            <a:off x="5871097" y="4038276"/>
            <a:ext cx="2905532" cy="1286055"/>
          </a:xfrm>
          <a:prstGeom prst="rect">
            <a:avLst/>
          </a:prstGeom>
        </p:spPr>
      </p:pic>
      <p:sp>
        <p:nvSpPr>
          <p:cNvPr id="28" name="Rounded Rectangle 175">
            <a:extLst>
              <a:ext uri="{FF2B5EF4-FFF2-40B4-BE49-F238E27FC236}">
                <a16:creationId xmlns:a16="http://schemas.microsoft.com/office/drawing/2014/main" xmlns="" id="{522A954B-B2D4-4C05-9517-FEA90B41B72C}"/>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sp>
        <p:nvSpPr>
          <p:cNvPr id="29" name="AutoShape 12" descr="5 Things That Affect Your Charging Speed | EVgo">
            <a:extLst>
              <a:ext uri="{FF2B5EF4-FFF2-40B4-BE49-F238E27FC236}">
                <a16:creationId xmlns:a16="http://schemas.microsoft.com/office/drawing/2014/main" xmlns="" id="{DA040FC8-D3D2-49BC-B847-070597E04B15}"/>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AutoShape 2" descr="What is the Depth of Discharge (DoD) Estimation of a Lithium Ion Battery?">
            <a:extLst>
              <a:ext uri="{FF2B5EF4-FFF2-40B4-BE49-F238E27FC236}">
                <a16:creationId xmlns:a16="http://schemas.microsoft.com/office/drawing/2014/main" xmlns="" id="{ED16E281-C645-4E9E-AD14-F5ED1803F8E2}"/>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AutoShape 10">
            <a:extLst>
              <a:ext uri="{FF2B5EF4-FFF2-40B4-BE49-F238E27FC236}">
                <a16:creationId xmlns:a16="http://schemas.microsoft.com/office/drawing/2014/main" xmlns="" id="{9343FB8D-A833-4C53-BE58-7413121483AB}"/>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5" name="AutoShape 3">
            <a:extLst>
              <a:ext uri="{FF2B5EF4-FFF2-40B4-BE49-F238E27FC236}">
                <a16:creationId xmlns:a16="http://schemas.microsoft.com/office/drawing/2014/main" xmlns="" id="{C7EEE27E-0227-4203-B443-0AF90AAE7FB8}"/>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6" name="AutoShape 3">
            <a:extLst>
              <a:ext uri="{FF2B5EF4-FFF2-40B4-BE49-F238E27FC236}">
                <a16:creationId xmlns:a16="http://schemas.microsoft.com/office/drawing/2014/main" xmlns="" id="{89E4BB67-69A3-4583-A734-D3D64F1BF5A4}"/>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7" name="AutoShape 3">
            <a:extLst>
              <a:ext uri="{FF2B5EF4-FFF2-40B4-BE49-F238E27FC236}">
                <a16:creationId xmlns:a16="http://schemas.microsoft.com/office/drawing/2014/main" xmlns="" id="{9DFE82B6-F631-4974-9D9E-6845493803BB}"/>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5" name="Rectangle 44">
            <a:extLst>
              <a:ext uri="{FF2B5EF4-FFF2-40B4-BE49-F238E27FC236}">
                <a16:creationId xmlns:a16="http://schemas.microsoft.com/office/drawing/2014/main" xmlns="" id="{044DA41C-2955-4D64-963D-78A5B342086E}"/>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6" name="Rectangle 45">
            <a:extLst>
              <a:ext uri="{FF2B5EF4-FFF2-40B4-BE49-F238E27FC236}">
                <a16:creationId xmlns:a16="http://schemas.microsoft.com/office/drawing/2014/main" xmlns="" id="{7DF61ADD-3B33-4D1D-B698-10C1117A7588}"/>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7" name="Rectangle 46">
            <a:extLst>
              <a:ext uri="{FF2B5EF4-FFF2-40B4-BE49-F238E27FC236}">
                <a16:creationId xmlns:a16="http://schemas.microsoft.com/office/drawing/2014/main" xmlns="" id="{9B442CD5-1A8F-441D-BAA4-97391F725306}"/>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8" name="Rectangle 47">
            <a:extLst>
              <a:ext uri="{FF2B5EF4-FFF2-40B4-BE49-F238E27FC236}">
                <a16:creationId xmlns:a16="http://schemas.microsoft.com/office/drawing/2014/main" xmlns="" id="{54BB3214-FEBC-45E5-8FC3-4D1484695B06}"/>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pic>
        <p:nvPicPr>
          <p:cNvPr id="49" name="Picture 48" descr="پرونده:Azad University logo.png - ویکی‌پدیا، دانشنامهٔ آزاد">
            <a:extLst>
              <a:ext uri="{FF2B5EF4-FFF2-40B4-BE49-F238E27FC236}">
                <a16:creationId xmlns:a16="http://schemas.microsoft.com/office/drawing/2014/main" xmlns="" id="{4F35BFF9-43DF-43B3-A58D-860E7E707AA3}"/>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64" name="TextBox 63">
            <a:extLst>
              <a:ext uri="{FF2B5EF4-FFF2-40B4-BE49-F238E27FC236}">
                <a16:creationId xmlns:a16="http://schemas.microsoft.com/office/drawing/2014/main" xmlns="" id="{00F5D181-501B-43BE-8881-1E121279D569}"/>
              </a:ext>
            </a:extLst>
          </p:cNvPr>
          <p:cNvSpPr txBox="1"/>
          <p:nvPr/>
        </p:nvSpPr>
        <p:spPr>
          <a:xfrm>
            <a:off x="320146" y="934180"/>
            <a:ext cx="3717685" cy="369332"/>
          </a:xfrm>
          <a:prstGeom prst="rect">
            <a:avLst/>
          </a:prstGeom>
          <a:noFill/>
        </p:spPr>
        <p:txBody>
          <a:bodyPr wrap="none" rtlCol="0">
            <a:spAutoFit/>
          </a:bodyPr>
          <a:lstStyle/>
          <a:p>
            <a:pPr algn="r" rtl="1" fontAlgn="base">
              <a:spcBef>
                <a:spcPct val="0"/>
              </a:spcBef>
              <a:spcAft>
                <a:spcPct val="0"/>
              </a:spcAft>
            </a:pPr>
            <a:r>
              <a:rPr lang="fa-IR" b="1" dirty="0">
                <a:cs typeface="B Nazanin" panose="00000400000000000000" pitchFamily="2" charset="-78"/>
              </a:rPr>
              <a:t>روش های تخمین وضعیت شارژ باتری (</a:t>
            </a:r>
            <a:r>
              <a:rPr lang="en-US" b="1" i="1" dirty="0">
                <a:latin typeface="Times New Roman" panose="02020603050405020304" pitchFamily="18" charset="0"/>
                <a:cs typeface="Times New Roman" panose="02020603050405020304" pitchFamily="18" charset="0"/>
              </a:rPr>
              <a:t>SOC</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sp>
        <p:nvSpPr>
          <p:cNvPr id="65" name="TextBox 64">
            <a:extLst>
              <a:ext uri="{FF2B5EF4-FFF2-40B4-BE49-F238E27FC236}">
                <a16:creationId xmlns:a16="http://schemas.microsoft.com/office/drawing/2014/main" xmlns="" id="{848B3226-069D-4ECD-BE80-CD925D666525}"/>
              </a:ext>
            </a:extLst>
          </p:cNvPr>
          <p:cNvSpPr txBox="1"/>
          <p:nvPr/>
        </p:nvSpPr>
        <p:spPr>
          <a:xfrm>
            <a:off x="1104598" y="5754989"/>
            <a:ext cx="3230372"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تخمین </a:t>
            </a:r>
            <a:r>
              <a:rPr lang="en-US" dirty="0">
                <a:cs typeface="B Lotus" panose="00000400000000000000" pitchFamily="2" charset="-78"/>
              </a:rPr>
              <a:t>SOC</a:t>
            </a:r>
            <a:r>
              <a:rPr lang="fa-IR" dirty="0">
                <a:cs typeface="B Lotus" panose="00000400000000000000" pitchFamily="2" charset="-78"/>
              </a:rPr>
              <a:t> بر اساس شمارش </a:t>
            </a:r>
            <a:r>
              <a:rPr lang="fa-IR" dirty="0" err="1">
                <a:cs typeface="B Lotus" panose="00000400000000000000" pitchFamily="2" charset="-78"/>
              </a:rPr>
              <a:t>کولن</a:t>
            </a:r>
            <a:r>
              <a:rPr lang="fa-IR" dirty="0">
                <a:cs typeface="B Lotus" panose="00000400000000000000" pitchFamily="2" charset="-78"/>
              </a:rPr>
              <a:t> </a:t>
            </a:r>
            <a:r>
              <a:rPr lang="fa-IR" dirty="0">
                <a:solidFill>
                  <a:srgbClr val="B9EDFF"/>
                </a:solidFill>
                <a:cs typeface="B Lotus" panose="00000400000000000000" pitchFamily="2" charset="-78"/>
              </a:rPr>
              <a:t>[1]</a:t>
            </a:r>
            <a:r>
              <a:rPr lang="fa-IR" dirty="0">
                <a:cs typeface="B Lotus" panose="00000400000000000000" pitchFamily="2" charset="-78"/>
              </a:rPr>
              <a:t>.</a:t>
            </a:r>
            <a:endParaRPr lang="en-US" dirty="0">
              <a:solidFill>
                <a:srgbClr val="B9EDFF"/>
              </a:solidFill>
              <a:cs typeface="B Lotus" panose="00000400000000000000" pitchFamily="2" charset="-78"/>
            </a:endParaRPr>
          </a:p>
        </p:txBody>
      </p:sp>
      <p:sp>
        <p:nvSpPr>
          <p:cNvPr id="31"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84</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6039136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6477000" y="2514600"/>
            <a:ext cx="23034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cs typeface="B Nazanin" panose="00000400000000000000" pitchFamily="2" charset="-78"/>
              </a:rPr>
              <a:t>ولتاژ مدار باز (</a:t>
            </a:r>
            <a:r>
              <a:rPr lang="en-US" b="1" i="1" dirty="0">
                <a:latin typeface="Times New Roman" panose="02020603050405020304" pitchFamily="18" charset="0"/>
                <a:cs typeface="Times New Roman" panose="02020603050405020304" pitchFamily="18" charset="0"/>
              </a:rPr>
              <a:t>OCV</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grpSp>
        <p:nvGrpSpPr>
          <p:cNvPr id="38"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8737600" y="2590800"/>
            <a:ext cx="381000" cy="381000"/>
            <a:chOff x="2078" y="1680"/>
            <a:chExt cx="1615" cy="1615"/>
          </a:xfrm>
        </p:grpSpPr>
        <p:sp>
          <p:nvSpPr>
            <p:cNvPr id="39"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2" name="TextBox 51">
            <a:extLst>
              <a:ext uri="{FF2B5EF4-FFF2-40B4-BE49-F238E27FC236}">
                <a16:creationId xmlns:a16="http://schemas.microsoft.com/office/drawing/2014/main" xmlns="" id="{0D7C9433-5674-4BC9-A282-6D982E5B3065}"/>
              </a:ext>
            </a:extLst>
          </p:cNvPr>
          <p:cNvSpPr txBox="1"/>
          <p:nvPr/>
        </p:nvSpPr>
        <p:spPr>
          <a:xfrm>
            <a:off x="4855882" y="2895600"/>
            <a:ext cx="65" cy="276999"/>
          </a:xfrm>
          <a:prstGeom prst="rect">
            <a:avLst/>
          </a:prstGeom>
          <a:noFill/>
        </p:spPr>
        <p:txBody>
          <a:bodyPr wrap="none" lIns="0" tIns="0" rIns="0" bIns="0" rtlCol="0">
            <a:spAutoFit/>
          </a:bodyPr>
          <a:lstStyle/>
          <a:p>
            <a:endParaRPr lang="en-US" dirty="0"/>
          </a:p>
        </p:txBody>
      </p:sp>
      <p:sp>
        <p:nvSpPr>
          <p:cNvPr id="24" name="TextBox 23"/>
          <p:cNvSpPr txBox="1"/>
          <p:nvPr/>
        </p:nvSpPr>
        <p:spPr>
          <a:xfrm>
            <a:off x="320146" y="934180"/>
            <a:ext cx="3717685" cy="369332"/>
          </a:xfrm>
          <a:prstGeom prst="rect">
            <a:avLst/>
          </a:prstGeom>
          <a:noFill/>
        </p:spPr>
        <p:txBody>
          <a:bodyPr wrap="none" rtlCol="0">
            <a:spAutoFit/>
          </a:bodyPr>
          <a:lstStyle/>
          <a:p>
            <a:pPr algn="r" rtl="1" fontAlgn="base">
              <a:spcBef>
                <a:spcPct val="0"/>
              </a:spcBef>
              <a:spcAft>
                <a:spcPct val="0"/>
              </a:spcAft>
            </a:pPr>
            <a:r>
              <a:rPr lang="fa-IR" b="1" dirty="0">
                <a:cs typeface="B Nazanin" panose="00000400000000000000" pitchFamily="2" charset="-78"/>
              </a:rPr>
              <a:t>روش های تخمین وضعیت شارژ باتری (</a:t>
            </a:r>
            <a:r>
              <a:rPr lang="en-US" b="1" i="1" dirty="0">
                <a:latin typeface="Times New Roman" panose="02020603050405020304" pitchFamily="18" charset="0"/>
                <a:cs typeface="Times New Roman" panose="02020603050405020304" pitchFamily="18" charset="0"/>
              </a:rPr>
              <a:t>SOC</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pic>
        <p:nvPicPr>
          <p:cNvPr id="3" name="Picture 2"/>
          <p:cNvPicPr>
            <a:picLocks noChangeAspect="1"/>
          </p:cNvPicPr>
          <p:nvPr/>
        </p:nvPicPr>
        <p:blipFill>
          <a:blip r:embed="rId3"/>
          <a:stretch>
            <a:fillRect/>
          </a:stretch>
        </p:blipFill>
        <p:spPr>
          <a:xfrm>
            <a:off x="6269607" y="3505200"/>
            <a:ext cx="1841042" cy="1893992"/>
          </a:xfrm>
          <a:prstGeom prst="rect">
            <a:avLst/>
          </a:prstGeom>
        </p:spPr>
      </p:pic>
      <p:sp>
        <p:nvSpPr>
          <p:cNvPr id="25" name="Rounded Rectangle 175">
            <a:extLst>
              <a:ext uri="{FF2B5EF4-FFF2-40B4-BE49-F238E27FC236}">
                <a16:creationId xmlns:a16="http://schemas.microsoft.com/office/drawing/2014/main" xmlns="" id="{B0A9F86E-7CF0-432E-AA46-04AFCEFE037D}"/>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sp>
        <p:nvSpPr>
          <p:cNvPr id="26" name="AutoShape 12" descr="5 Things That Affect Your Charging Speed | EVgo">
            <a:extLst>
              <a:ext uri="{FF2B5EF4-FFF2-40B4-BE49-F238E27FC236}">
                <a16:creationId xmlns:a16="http://schemas.microsoft.com/office/drawing/2014/main" xmlns="" id="{0E95D3DA-FDB6-4FE2-AAEB-3AB05E0ED1A3}"/>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AutoShape 2" descr="What is the Depth of Discharge (DoD) Estimation of a Lithium Ion Battery?">
            <a:extLst>
              <a:ext uri="{FF2B5EF4-FFF2-40B4-BE49-F238E27FC236}">
                <a16:creationId xmlns:a16="http://schemas.microsoft.com/office/drawing/2014/main" xmlns="" id="{8D1E0A22-85B7-4ADB-A481-FA35F1D222B4}"/>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10">
            <a:extLst>
              <a:ext uri="{FF2B5EF4-FFF2-40B4-BE49-F238E27FC236}">
                <a16:creationId xmlns:a16="http://schemas.microsoft.com/office/drawing/2014/main" xmlns="" id="{AEBA6AC3-ACC4-4CDF-85DB-632B7198D7FE}"/>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9" name="AutoShape 3">
            <a:extLst>
              <a:ext uri="{FF2B5EF4-FFF2-40B4-BE49-F238E27FC236}">
                <a16:creationId xmlns:a16="http://schemas.microsoft.com/office/drawing/2014/main" xmlns="" id="{42693DFD-3480-4F7A-AD10-E4259BDB5FD8}"/>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2" name="AutoShape 3">
            <a:extLst>
              <a:ext uri="{FF2B5EF4-FFF2-40B4-BE49-F238E27FC236}">
                <a16:creationId xmlns:a16="http://schemas.microsoft.com/office/drawing/2014/main" xmlns="" id="{AA1E5CE9-3038-43CE-8A56-960100E579DF}"/>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3" name="AutoShape 3">
            <a:extLst>
              <a:ext uri="{FF2B5EF4-FFF2-40B4-BE49-F238E27FC236}">
                <a16:creationId xmlns:a16="http://schemas.microsoft.com/office/drawing/2014/main" xmlns="" id="{0B0A0D4A-F5BD-40F7-94C7-288844499923}"/>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4" name="Rectangle 33">
            <a:extLst>
              <a:ext uri="{FF2B5EF4-FFF2-40B4-BE49-F238E27FC236}">
                <a16:creationId xmlns:a16="http://schemas.microsoft.com/office/drawing/2014/main" xmlns="" id="{212830D6-2ED2-4407-AE97-06E3B18D3B95}"/>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5" name="Rectangle 34">
            <a:extLst>
              <a:ext uri="{FF2B5EF4-FFF2-40B4-BE49-F238E27FC236}">
                <a16:creationId xmlns:a16="http://schemas.microsoft.com/office/drawing/2014/main" xmlns="" id="{0F116B75-4B6F-4ACF-ACC9-B05EFD88E56D}"/>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6" name="Rectangle 35">
            <a:extLst>
              <a:ext uri="{FF2B5EF4-FFF2-40B4-BE49-F238E27FC236}">
                <a16:creationId xmlns:a16="http://schemas.microsoft.com/office/drawing/2014/main" xmlns="" id="{718F4A34-B33A-4C4D-B937-20ACD46108E9}"/>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7" name="Rectangle 36">
            <a:extLst>
              <a:ext uri="{FF2B5EF4-FFF2-40B4-BE49-F238E27FC236}">
                <a16:creationId xmlns:a16="http://schemas.microsoft.com/office/drawing/2014/main" xmlns="" id="{38231380-D284-47B7-8807-DD698AA4AAA7}"/>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pic>
        <p:nvPicPr>
          <p:cNvPr id="45" name="Picture 44" descr="پرونده:Azad University logo.png - ویکی‌پدیا، دانشنامهٔ آزاد">
            <a:extLst>
              <a:ext uri="{FF2B5EF4-FFF2-40B4-BE49-F238E27FC236}">
                <a16:creationId xmlns:a16="http://schemas.microsoft.com/office/drawing/2014/main" xmlns="" id="{2AEE2930-8E3A-4897-9A34-A5ACD1D5820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48" name="TextBox 47">
            <a:extLst>
              <a:ext uri="{FF2B5EF4-FFF2-40B4-BE49-F238E27FC236}">
                <a16:creationId xmlns:a16="http://schemas.microsoft.com/office/drawing/2014/main" xmlns="" id="{8F6CBAFA-95C7-46DC-A05B-FEA9F2BF6ED2}"/>
              </a:ext>
            </a:extLst>
          </p:cNvPr>
          <p:cNvSpPr txBox="1"/>
          <p:nvPr/>
        </p:nvSpPr>
        <p:spPr>
          <a:xfrm>
            <a:off x="1746892" y="5867400"/>
            <a:ext cx="3267241"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نمودار </a:t>
            </a:r>
            <a:r>
              <a:rPr lang="en-US" dirty="0">
                <a:cs typeface="B Lotus" panose="00000400000000000000" pitchFamily="2" charset="-78"/>
              </a:rPr>
              <a:t> SOC/OCV</a:t>
            </a:r>
            <a:r>
              <a:rPr lang="fa-IR" dirty="0">
                <a:cs typeface="B Lotus" panose="00000400000000000000" pitchFamily="2" charset="-78"/>
              </a:rPr>
              <a:t>یک نمونه باتری </a:t>
            </a:r>
            <a:r>
              <a:rPr lang="fa-IR" dirty="0">
                <a:solidFill>
                  <a:srgbClr val="B9EDFF"/>
                </a:solidFill>
                <a:cs typeface="B Lotus" panose="00000400000000000000" pitchFamily="2" charset="-78"/>
              </a:rPr>
              <a:t>[1]</a:t>
            </a:r>
            <a:r>
              <a:rPr lang="fa-IR" dirty="0">
                <a:cs typeface="B Lotus" panose="00000400000000000000" pitchFamily="2" charset="-78"/>
              </a:rPr>
              <a:t>.</a:t>
            </a:r>
            <a:endParaRPr lang="en-US" dirty="0">
              <a:solidFill>
                <a:srgbClr val="B9EDFF"/>
              </a:solidFill>
              <a:cs typeface="B Lotus" panose="00000400000000000000" pitchFamily="2" charset="-78"/>
            </a:endParaRPr>
          </a:p>
        </p:txBody>
      </p:sp>
      <p:sp>
        <p:nvSpPr>
          <p:cNvPr id="30"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85</a:t>
            </a:fld>
            <a:endParaRPr lang="fa-IR" sz="1800" dirty="0">
              <a:solidFill>
                <a:schemeClr val="tx1"/>
              </a:solidFill>
              <a:cs typeface="B Lotus" panose="00000400000000000000" pitchFamily="2" charset="-78"/>
            </a:endParaRPr>
          </a:p>
        </p:txBody>
      </p:sp>
      <p:pic>
        <p:nvPicPr>
          <p:cNvPr id="2" name="Picture 1"/>
          <p:cNvPicPr>
            <a:picLocks noChangeAspect="1"/>
          </p:cNvPicPr>
          <p:nvPr/>
        </p:nvPicPr>
        <p:blipFill>
          <a:blip r:embed="rId5"/>
          <a:stretch>
            <a:fillRect/>
          </a:stretch>
        </p:blipFill>
        <p:spPr>
          <a:xfrm>
            <a:off x="161662" y="1303512"/>
            <a:ext cx="5956300" cy="4554470"/>
          </a:xfrm>
          <a:prstGeom prst="rect">
            <a:avLst/>
          </a:prstGeom>
        </p:spPr>
      </p:pic>
    </p:spTree>
    <p:extLst>
      <p:ext uri="{BB962C8B-B14F-4D97-AF65-F5344CB8AC3E}">
        <p14:creationId xmlns:p14="http://schemas.microsoft.com/office/powerpoint/2010/main" val="1596329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xmlns="" id="{0D7C9433-5674-4BC9-A282-6D982E5B3065}"/>
              </a:ext>
            </a:extLst>
          </p:cNvPr>
          <p:cNvSpPr txBox="1"/>
          <p:nvPr/>
        </p:nvSpPr>
        <p:spPr>
          <a:xfrm>
            <a:off x="4883132" y="3660199"/>
            <a:ext cx="65" cy="276999"/>
          </a:xfrm>
          <a:prstGeom prst="rect">
            <a:avLst/>
          </a:prstGeom>
          <a:noFill/>
        </p:spPr>
        <p:txBody>
          <a:bodyPr wrap="none" lIns="0" tIns="0" rIns="0" bIns="0" rtlCol="0">
            <a:spAutoFit/>
          </a:bodyPr>
          <a:lstStyle/>
          <a:p>
            <a:endParaRPr lang="en-US" dirty="0"/>
          </a:p>
        </p:txBody>
      </p:sp>
      <p:sp>
        <p:nvSpPr>
          <p:cNvPr id="4" name="AutoShape 2" descr="Lithium-Ion State of Charge (SoC) measurement - Coulomb Counter method - OCV"/>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2" descr="Lithium-ion Battery Internal Resistance Testing | Manufacturing &amp;  Inspection | Hioki"/>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stretch>
            <a:fillRect/>
          </a:stretch>
        </p:blipFill>
        <p:spPr>
          <a:xfrm>
            <a:off x="63500" y="1303512"/>
            <a:ext cx="6238176" cy="5024121"/>
          </a:xfrm>
          <a:prstGeom prst="rect">
            <a:avLst/>
          </a:prstGeom>
        </p:spPr>
      </p:pic>
      <p:sp>
        <p:nvSpPr>
          <p:cNvPr id="27" name="AutoShape 2" descr="Lithium-Ion State of Charge (SoC) measurement - Coulomb Counter method - OCV">
            <a:extLst>
              <a:ext uri="{FF2B5EF4-FFF2-40B4-BE49-F238E27FC236}">
                <a16:creationId xmlns:a16="http://schemas.microsoft.com/office/drawing/2014/main" xmlns="" id="{B70C6DFB-1A02-4744-A983-E9910E9867E6}"/>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Rounded Rectangle 175">
            <a:extLst>
              <a:ext uri="{FF2B5EF4-FFF2-40B4-BE49-F238E27FC236}">
                <a16:creationId xmlns:a16="http://schemas.microsoft.com/office/drawing/2014/main" xmlns="" id="{32885676-30C8-4DEE-B74C-88FB1B127E46}"/>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sp>
        <p:nvSpPr>
          <p:cNvPr id="29" name="AutoShape 12" descr="5 Things That Affect Your Charging Speed | EVgo">
            <a:extLst>
              <a:ext uri="{FF2B5EF4-FFF2-40B4-BE49-F238E27FC236}">
                <a16:creationId xmlns:a16="http://schemas.microsoft.com/office/drawing/2014/main" xmlns="" id="{25333ABC-CE3B-4D84-8828-12F19CA94138}"/>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AutoShape 2" descr="What is the Depth of Discharge (DoD) Estimation of a Lithium Ion Battery?">
            <a:extLst>
              <a:ext uri="{FF2B5EF4-FFF2-40B4-BE49-F238E27FC236}">
                <a16:creationId xmlns:a16="http://schemas.microsoft.com/office/drawing/2014/main" xmlns="" id="{3E06600B-A8F7-4969-8D15-D641A6B512E5}"/>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AutoShape 10">
            <a:extLst>
              <a:ext uri="{FF2B5EF4-FFF2-40B4-BE49-F238E27FC236}">
                <a16:creationId xmlns:a16="http://schemas.microsoft.com/office/drawing/2014/main" xmlns="" id="{06F59F1F-331F-4DA4-817A-701F3E87A87E}"/>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4" name="AutoShape 3">
            <a:extLst>
              <a:ext uri="{FF2B5EF4-FFF2-40B4-BE49-F238E27FC236}">
                <a16:creationId xmlns:a16="http://schemas.microsoft.com/office/drawing/2014/main" xmlns="" id="{3C314289-9097-4E98-80D5-E76C61F61573}"/>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5" name="AutoShape 3">
            <a:extLst>
              <a:ext uri="{FF2B5EF4-FFF2-40B4-BE49-F238E27FC236}">
                <a16:creationId xmlns:a16="http://schemas.microsoft.com/office/drawing/2014/main" xmlns="" id="{96AFC566-52A9-4352-8643-4061376F0B03}"/>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AutoShape 3">
            <a:extLst>
              <a:ext uri="{FF2B5EF4-FFF2-40B4-BE49-F238E27FC236}">
                <a16:creationId xmlns:a16="http://schemas.microsoft.com/office/drawing/2014/main" xmlns="" id="{C8EE1CC3-8069-4DB7-980E-00B48DFEEBB5}"/>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7" name="Rectangle 36">
            <a:extLst>
              <a:ext uri="{FF2B5EF4-FFF2-40B4-BE49-F238E27FC236}">
                <a16:creationId xmlns:a16="http://schemas.microsoft.com/office/drawing/2014/main" xmlns="" id="{23D3162C-E04A-43B8-B0EC-4CD4DAF8F701}"/>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5" name="Rectangle 44">
            <a:extLst>
              <a:ext uri="{FF2B5EF4-FFF2-40B4-BE49-F238E27FC236}">
                <a16:creationId xmlns:a16="http://schemas.microsoft.com/office/drawing/2014/main" xmlns="" id="{42D142D5-65DE-496F-8FC5-EC401D53DA29}"/>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6" name="Rectangle 45">
            <a:extLst>
              <a:ext uri="{FF2B5EF4-FFF2-40B4-BE49-F238E27FC236}">
                <a16:creationId xmlns:a16="http://schemas.microsoft.com/office/drawing/2014/main" xmlns="" id="{796D06F0-D8E6-4E84-9854-A9DE23F4D0CD}"/>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7" name="Rectangle 46">
            <a:extLst>
              <a:ext uri="{FF2B5EF4-FFF2-40B4-BE49-F238E27FC236}">
                <a16:creationId xmlns:a16="http://schemas.microsoft.com/office/drawing/2014/main" xmlns="" id="{7A40CFFB-68C7-410B-84C1-B7CF46C17C9B}"/>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pic>
        <p:nvPicPr>
          <p:cNvPr id="48" name="Picture 47" descr="پرونده:Azad University logo.png - ویکی‌پدیا، دانشنامهٔ آزاد">
            <a:extLst>
              <a:ext uri="{FF2B5EF4-FFF2-40B4-BE49-F238E27FC236}">
                <a16:creationId xmlns:a16="http://schemas.microsoft.com/office/drawing/2014/main" xmlns="" id="{E8E26B7E-4943-4452-A8C3-5DFBCB9CE7B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0" name="TextBox 49">
            <a:extLst>
              <a:ext uri="{FF2B5EF4-FFF2-40B4-BE49-F238E27FC236}">
                <a16:creationId xmlns:a16="http://schemas.microsoft.com/office/drawing/2014/main" xmlns="" id="{A9502E4B-C172-463C-8653-0651C349F4E8}"/>
              </a:ext>
            </a:extLst>
          </p:cNvPr>
          <p:cNvSpPr txBox="1"/>
          <p:nvPr/>
        </p:nvSpPr>
        <p:spPr>
          <a:xfrm>
            <a:off x="320146" y="934180"/>
            <a:ext cx="3717685" cy="369332"/>
          </a:xfrm>
          <a:prstGeom prst="rect">
            <a:avLst/>
          </a:prstGeom>
          <a:noFill/>
        </p:spPr>
        <p:txBody>
          <a:bodyPr wrap="none" rtlCol="0">
            <a:spAutoFit/>
          </a:bodyPr>
          <a:lstStyle/>
          <a:p>
            <a:pPr algn="r" rtl="1" fontAlgn="base">
              <a:spcBef>
                <a:spcPct val="0"/>
              </a:spcBef>
              <a:spcAft>
                <a:spcPct val="0"/>
              </a:spcAft>
            </a:pPr>
            <a:r>
              <a:rPr lang="fa-IR" b="1" dirty="0">
                <a:cs typeface="B Nazanin" panose="00000400000000000000" pitchFamily="2" charset="-78"/>
              </a:rPr>
              <a:t>روش های تخمین وضعیت شارژ باتری (</a:t>
            </a:r>
            <a:r>
              <a:rPr lang="en-US" b="1" i="1" dirty="0">
                <a:latin typeface="Times New Roman" panose="02020603050405020304" pitchFamily="18" charset="0"/>
                <a:cs typeface="Times New Roman" panose="02020603050405020304" pitchFamily="18" charset="0"/>
              </a:rPr>
              <a:t>SOC</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sp>
        <p:nvSpPr>
          <p:cNvPr id="51" name="TextBox 50">
            <a:extLst>
              <a:ext uri="{FF2B5EF4-FFF2-40B4-BE49-F238E27FC236}">
                <a16:creationId xmlns:a16="http://schemas.microsoft.com/office/drawing/2014/main" xmlns="" id="{276660C7-12E0-496C-9DDE-89D8F2D4D4AF}"/>
              </a:ext>
            </a:extLst>
          </p:cNvPr>
          <p:cNvSpPr txBox="1"/>
          <p:nvPr/>
        </p:nvSpPr>
        <p:spPr>
          <a:xfrm>
            <a:off x="1062597" y="6223484"/>
            <a:ext cx="4618572" cy="369332"/>
          </a:xfrm>
          <a:prstGeom prst="rect">
            <a:avLst/>
          </a:prstGeom>
          <a:noFill/>
        </p:spPr>
        <p:txBody>
          <a:bodyPr wrap="none" rtlCol="0">
            <a:spAutoFit/>
          </a:bodyPr>
          <a:lstStyle/>
          <a:p>
            <a:pPr algn="r" rtl="1" fontAlgn="base">
              <a:spcBef>
                <a:spcPct val="0"/>
              </a:spcBef>
              <a:spcAft>
                <a:spcPct val="0"/>
              </a:spcAft>
            </a:pPr>
            <a:r>
              <a:rPr lang="fa-IR" dirty="0">
                <a:cs typeface="B Lotus" panose="00000400000000000000" pitchFamily="2" charset="-78"/>
              </a:rPr>
              <a:t>استخراج خواص الکتریکی باتری توسط نمودار پاسخ پالس </a:t>
            </a:r>
            <a:r>
              <a:rPr lang="fa-IR" dirty="0">
                <a:solidFill>
                  <a:srgbClr val="B9EDFF"/>
                </a:solidFill>
                <a:cs typeface="B Lotus" panose="00000400000000000000" pitchFamily="2" charset="-78"/>
              </a:rPr>
              <a:t>[1]</a:t>
            </a:r>
            <a:r>
              <a:rPr lang="fa-IR" dirty="0">
                <a:cs typeface="B Lotus" panose="00000400000000000000" pitchFamily="2" charset="-78"/>
              </a:rPr>
              <a:t>.</a:t>
            </a:r>
            <a:endParaRPr lang="en-US" dirty="0">
              <a:solidFill>
                <a:srgbClr val="B9EDFF"/>
              </a:solidFill>
              <a:cs typeface="B Lotus" panose="00000400000000000000" pitchFamily="2" charset="-78"/>
            </a:endParaRPr>
          </a:p>
        </p:txBody>
      </p:sp>
      <p:sp>
        <p:nvSpPr>
          <p:cNvPr id="30"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6494325" y="1866180"/>
            <a:ext cx="23034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مبتنی بر مدل</a:t>
            </a:r>
            <a:endParaRPr lang="en-US" b="1" dirty="0">
              <a:solidFill>
                <a:srgbClr val="000000"/>
              </a:solidFill>
              <a:latin typeface="Times New Roman" panose="02020603050405020304" pitchFamily="18" charset="0"/>
              <a:cs typeface="B Nazanin" pitchFamily="2" charset="-78"/>
            </a:endParaRPr>
          </a:p>
        </p:txBody>
      </p:sp>
      <p:grpSp>
        <p:nvGrpSpPr>
          <p:cNvPr id="31"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8754925" y="1942380"/>
            <a:ext cx="381000" cy="381000"/>
            <a:chOff x="2078" y="1680"/>
            <a:chExt cx="1615" cy="1615"/>
          </a:xfrm>
        </p:grpSpPr>
        <p:sp>
          <p:nvSpPr>
            <p:cNvPr id="53"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4"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5"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6"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7"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58"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38"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86</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24064278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utoShape 8">
            <a:extLst>
              <a:ext uri="{FF2B5EF4-FFF2-40B4-BE49-F238E27FC236}">
                <a16:creationId xmlns:a16="http://schemas.microsoft.com/office/drawing/2014/main" xmlns="" id="{CF9E5B87-43A1-4646-AE69-F01C6BAFAD06}"/>
              </a:ext>
            </a:extLst>
          </p:cNvPr>
          <p:cNvSpPr>
            <a:spLocks noChangeAspect="1" noChangeArrowheads="1"/>
          </p:cNvSpPr>
          <p:nvPr/>
        </p:nvSpPr>
        <p:spPr bwMode="gray">
          <a:xfrm>
            <a:off x="6078535" y="2210332"/>
            <a:ext cx="2303465" cy="508000"/>
          </a:xfrm>
          <a:prstGeom prst="roundRect">
            <a:avLst>
              <a:gd name="adj" fmla="val 50000"/>
            </a:avLst>
          </a:prstGeom>
          <a:gradFill flip="none" rotWithShape="1">
            <a:gsLst>
              <a:gs pos="0">
                <a:srgbClr val="B7E7FF">
                  <a:gamma/>
                  <a:tint val="0"/>
                  <a:invGamma/>
                </a:srgbClr>
              </a:gs>
              <a:gs pos="100000">
                <a:srgbClr val="B7E7FF"/>
              </a:gs>
            </a:gsLst>
            <a:lin ang="10800000" scaled="1"/>
            <a:tileRect/>
          </a:gradFill>
          <a:ln w="28575" algn="ctr">
            <a:solidFill>
              <a:srgbClr val="C4E59F"/>
            </a:solidFill>
            <a:round/>
            <a:headEnd/>
            <a:tailEnd/>
          </a:ln>
          <a:effectLst/>
        </p:spPr>
        <p:txBody>
          <a:bodyPr wrap="none" anchor="ctr"/>
          <a:lstStyle/>
          <a:p>
            <a:pPr algn="r" rtl="1" fontAlgn="base">
              <a:spcBef>
                <a:spcPct val="0"/>
              </a:spcBef>
              <a:spcAft>
                <a:spcPct val="0"/>
              </a:spcAft>
            </a:pPr>
            <a:r>
              <a:rPr lang="fa-IR" b="1" dirty="0">
                <a:solidFill>
                  <a:srgbClr val="000000"/>
                </a:solidFill>
                <a:latin typeface="Times New Roman" panose="02020603050405020304" pitchFamily="18" charset="0"/>
                <a:cs typeface="B Nazanin" pitchFamily="2" charset="-78"/>
              </a:rPr>
              <a:t>مبتنی بر مدل</a:t>
            </a:r>
            <a:endParaRPr lang="en-US" b="1" dirty="0">
              <a:solidFill>
                <a:srgbClr val="000000"/>
              </a:solidFill>
              <a:latin typeface="Times New Roman" panose="02020603050405020304" pitchFamily="18" charset="0"/>
              <a:cs typeface="B Nazanin" pitchFamily="2" charset="-78"/>
            </a:endParaRPr>
          </a:p>
        </p:txBody>
      </p:sp>
      <p:grpSp>
        <p:nvGrpSpPr>
          <p:cNvPr id="38" name="Group 23">
            <a:extLst>
              <a:ext uri="{FF2B5EF4-FFF2-40B4-BE49-F238E27FC236}">
                <a16:creationId xmlns:a16="http://schemas.microsoft.com/office/drawing/2014/main" xmlns="" id="{A77ECBC8-8907-49C6-B868-8715395CD4AB}"/>
              </a:ext>
            </a:extLst>
          </p:cNvPr>
          <p:cNvGrpSpPr>
            <a:grpSpLocks noChangeAspect="1"/>
          </p:cNvGrpSpPr>
          <p:nvPr/>
        </p:nvGrpSpPr>
        <p:grpSpPr bwMode="auto">
          <a:xfrm>
            <a:off x="8339135" y="2286532"/>
            <a:ext cx="381000" cy="381000"/>
            <a:chOff x="2078" y="1680"/>
            <a:chExt cx="1615" cy="1615"/>
          </a:xfrm>
        </p:grpSpPr>
        <p:sp>
          <p:nvSpPr>
            <p:cNvPr id="39" name="Oval 24">
              <a:extLst>
                <a:ext uri="{FF2B5EF4-FFF2-40B4-BE49-F238E27FC236}">
                  <a16:creationId xmlns:a16="http://schemas.microsoft.com/office/drawing/2014/main" xmlns="" id="{1501B9F0-1BD0-4587-A5DA-8504002448CD}"/>
                </a:ext>
              </a:extLst>
            </p:cNvPr>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0" name="Oval 25">
              <a:extLst>
                <a:ext uri="{FF2B5EF4-FFF2-40B4-BE49-F238E27FC236}">
                  <a16:creationId xmlns:a16="http://schemas.microsoft.com/office/drawing/2014/main" xmlns="" id="{909C959D-95E6-47AB-BA03-A36E5558C646}"/>
                </a:ext>
              </a:extLst>
            </p:cNvPr>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1" name="Oval 26">
              <a:extLst>
                <a:ext uri="{FF2B5EF4-FFF2-40B4-BE49-F238E27FC236}">
                  <a16:creationId xmlns:a16="http://schemas.microsoft.com/office/drawing/2014/main" xmlns="" id="{DBE4DAAC-D3AA-4C03-8635-E677788322CA}"/>
                </a:ext>
              </a:extLst>
            </p:cNvPr>
            <p:cNvSpPr>
              <a:spLocks noChangeArrowheads="1"/>
            </p:cNvSpPr>
            <p:nvPr/>
          </p:nvSpPr>
          <p:spPr bwMode="gray">
            <a:xfrm>
              <a:off x="2254" y="1856"/>
              <a:ext cx="1262" cy="1264"/>
            </a:xfrm>
            <a:prstGeom prst="ellipse">
              <a:avLst/>
            </a:prstGeom>
            <a:gradFill rotWithShape="1">
              <a:gsLst>
                <a:gs pos="0">
                  <a:srgbClr val="8AD4CD">
                    <a:gamma/>
                    <a:tint val="0"/>
                    <a:invGamma/>
                  </a:srgbClr>
                </a:gs>
                <a:gs pos="50000">
                  <a:srgbClr val="8AD4CD"/>
                </a:gs>
                <a:gs pos="100000">
                  <a:srgbClr val="8AD4CD">
                    <a:gamma/>
                    <a:tint val="0"/>
                    <a:invGamma/>
                  </a:srgbClr>
                </a:gs>
              </a:gsLst>
              <a:lin ang="27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2" name="Oval 27">
              <a:extLst>
                <a:ext uri="{FF2B5EF4-FFF2-40B4-BE49-F238E27FC236}">
                  <a16:creationId xmlns:a16="http://schemas.microsoft.com/office/drawing/2014/main" xmlns="" id="{503A22F7-588D-4C3B-990F-521D103C8785}"/>
                </a:ext>
              </a:extLst>
            </p:cNvPr>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w="38100" algn="ctr">
              <a:noFill/>
              <a:round/>
              <a:headEnd/>
              <a:tailEnd/>
            </a:ln>
            <a:effec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3" name="Oval 28">
              <a:extLst>
                <a:ext uri="{FF2B5EF4-FFF2-40B4-BE49-F238E27FC236}">
                  <a16:creationId xmlns:a16="http://schemas.microsoft.com/office/drawing/2014/main" xmlns="" id="{DB14B947-3B24-4D3C-8BA6-1CDE3B23E877}"/>
                </a:ext>
              </a:extLst>
            </p:cNvPr>
            <p:cNvSpPr>
              <a:spLocks noChangeArrowheads="1"/>
            </p:cNvSpPr>
            <p:nvPr/>
          </p:nvSpPr>
          <p:spPr bwMode="gray">
            <a:xfrm>
              <a:off x="2337" y="1939"/>
              <a:ext cx="1096" cy="1098"/>
            </a:xfrm>
            <a:prstGeom prst="ellipse">
              <a:avLst/>
            </a:prstGeom>
            <a:gradFill rotWithShape="1">
              <a:gsLst>
                <a:gs pos="0">
                  <a:srgbClr val="8AD4CD">
                    <a:gamma/>
                    <a:shade val="54118"/>
                    <a:invGamma/>
                  </a:srgbClr>
                </a:gs>
                <a:gs pos="50000">
                  <a:srgbClr val="8AD4CD"/>
                </a:gs>
                <a:gs pos="100000">
                  <a:srgbClr val="8AD4CD">
                    <a:gamma/>
                    <a:shade val="54118"/>
                    <a:invGamma/>
                  </a:srgbClr>
                </a:gs>
              </a:gsLst>
              <a:lin ang="189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sp>
          <p:nvSpPr>
            <p:cNvPr id="44" name="Oval 29">
              <a:extLst>
                <a:ext uri="{FF2B5EF4-FFF2-40B4-BE49-F238E27FC236}">
                  <a16:creationId xmlns:a16="http://schemas.microsoft.com/office/drawing/2014/main" xmlns="" id="{EC52A3D0-6BC6-4E5D-88F2-AA4F423555B2}"/>
                </a:ext>
              </a:extLst>
            </p:cNvPr>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w="38100" algn="ctr">
              <a:noFill/>
              <a:round/>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latin typeface="Arial" pitchFamily="34" charset="0"/>
              </a:endParaRPr>
            </a:p>
          </p:txBody>
        </p:sp>
      </p:grpSp>
      <p:sp>
        <p:nvSpPr>
          <p:cNvPr id="52" name="TextBox 51">
            <a:extLst>
              <a:ext uri="{FF2B5EF4-FFF2-40B4-BE49-F238E27FC236}">
                <a16:creationId xmlns:a16="http://schemas.microsoft.com/office/drawing/2014/main" xmlns="" id="{0D7C9433-5674-4BC9-A282-6D982E5B3065}"/>
              </a:ext>
            </a:extLst>
          </p:cNvPr>
          <p:cNvSpPr txBox="1"/>
          <p:nvPr/>
        </p:nvSpPr>
        <p:spPr>
          <a:xfrm>
            <a:off x="4855882" y="2895600"/>
            <a:ext cx="65" cy="276999"/>
          </a:xfrm>
          <a:prstGeom prst="rect">
            <a:avLst/>
          </a:prstGeom>
          <a:noFill/>
        </p:spPr>
        <p:txBody>
          <a:bodyPr wrap="none" lIns="0" tIns="0" rIns="0" bIns="0" rtlCol="0">
            <a:spAutoFit/>
          </a:bodyPr>
          <a:lstStyle/>
          <a:p>
            <a:endParaRPr lang="en-US" dirty="0"/>
          </a:p>
        </p:txBody>
      </p:sp>
      <p:sp>
        <p:nvSpPr>
          <p:cNvPr id="4" name="AutoShape 2" descr="Lithium-Ion State of Charge (SoC) measurement - Coulomb Counter method - OCV"/>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2" descr="Lithium-ion Battery Internal Resistance Testing | Manufacturing &amp;  Inspection | Hioki"/>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6" name="Picture 25"/>
          <p:cNvPicPr/>
          <p:nvPr/>
        </p:nvPicPr>
        <p:blipFill rotWithShape="1">
          <a:blip r:embed="rId3">
            <a:extLst>
              <a:ext uri="{28A0092B-C50C-407E-A947-70E740481C1C}">
                <a14:useLocalDpi xmlns:a14="http://schemas.microsoft.com/office/drawing/2010/main" val="0"/>
              </a:ext>
            </a:extLst>
          </a:blip>
          <a:srcRect t="-1" b="1775"/>
          <a:stretch/>
        </p:blipFill>
        <p:spPr>
          <a:xfrm>
            <a:off x="134768" y="1321441"/>
            <a:ext cx="4876800" cy="2619652"/>
          </a:xfrm>
          <a:prstGeom prst="rect">
            <a:avLst/>
          </a:prstGeom>
        </p:spPr>
      </p:pic>
      <p:sp>
        <p:nvSpPr>
          <p:cNvPr id="3" name="Rectangle 2"/>
          <p:cNvSpPr/>
          <p:nvPr/>
        </p:nvSpPr>
        <p:spPr>
          <a:xfrm>
            <a:off x="1104643" y="3912241"/>
            <a:ext cx="2959465" cy="369332"/>
          </a:xfrm>
          <a:prstGeom prst="rect">
            <a:avLst/>
          </a:prstGeom>
        </p:spPr>
        <p:txBody>
          <a:bodyPr wrap="none">
            <a:spAutoFit/>
          </a:bodyPr>
          <a:lstStyle/>
          <a:p>
            <a:pPr algn="ctr" rtl="1"/>
            <a:r>
              <a:rPr lang="fa-IR" dirty="0" err="1">
                <a:latin typeface="Times New Roman" panose="02020603050405020304" pitchFamily="18" charset="0"/>
                <a:ea typeface="Calibri" panose="020F0502020204030204" pitchFamily="34" charset="0"/>
                <a:cs typeface="B Lotus" panose="00000400000000000000" pitchFamily="2" charset="-78"/>
              </a:rPr>
              <a:t>مشخصه‌یابی</a:t>
            </a:r>
            <a:r>
              <a:rPr lang="fa-IR" dirty="0">
                <a:latin typeface="Times New Roman" panose="02020603050405020304" pitchFamily="18" charset="0"/>
                <a:ea typeface="Calibri" panose="020F0502020204030204" pitchFamily="34" charset="0"/>
                <a:cs typeface="B Lotus" panose="00000400000000000000" pitchFamily="2" charset="-78"/>
              </a:rPr>
              <a:t> ترکیبی با پالس پرتوان </a:t>
            </a:r>
            <a:r>
              <a:rPr lang="fa-IR" dirty="0">
                <a:solidFill>
                  <a:srgbClr val="B9EDFF"/>
                </a:solidFill>
                <a:latin typeface="Times New Roman" panose="02020603050405020304" pitchFamily="18" charset="0"/>
                <a:ea typeface="Calibri" panose="020F0502020204030204" pitchFamily="34" charset="0"/>
                <a:cs typeface="B Lotus" panose="00000400000000000000" pitchFamily="2" charset="-78"/>
              </a:rPr>
              <a:t>[1]</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pic>
        <p:nvPicPr>
          <p:cNvPr id="27" name="Picture 26"/>
          <p:cNvPicPr/>
          <p:nvPr/>
        </p:nvPicPr>
        <p:blipFill>
          <a:blip r:embed="rId4">
            <a:extLst>
              <a:ext uri="{28A0092B-C50C-407E-A947-70E740481C1C}">
                <a14:useLocalDpi xmlns:a14="http://schemas.microsoft.com/office/drawing/2010/main" val="0"/>
              </a:ext>
            </a:extLst>
          </a:blip>
          <a:stretch>
            <a:fillRect/>
          </a:stretch>
        </p:blipFill>
        <p:spPr>
          <a:xfrm>
            <a:off x="477668" y="4297193"/>
            <a:ext cx="4191000" cy="2133600"/>
          </a:xfrm>
          <a:prstGeom prst="rect">
            <a:avLst/>
          </a:prstGeom>
        </p:spPr>
      </p:pic>
      <p:sp>
        <p:nvSpPr>
          <p:cNvPr id="28" name="Rectangle 27"/>
          <p:cNvSpPr/>
          <p:nvPr/>
        </p:nvSpPr>
        <p:spPr>
          <a:xfrm>
            <a:off x="520700" y="6417561"/>
            <a:ext cx="3885734" cy="369332"/>
          </a:xfrm>
          <a:prstGeom prst="rect">
            <a:avLst/>
          </a:prstGeom>
        </p:spPr>
        <p:txBody>
          <a:bodyPr wrap="square">
            <a:spAutoFit/>
          </a:bodyPr>
          <a:lstStyle/>
          <a:p>
            <a:pPr algn="ctr" rtl="1"/>
            <a:r>
              <a:rPr lang="fa-IR" dirty="0">
                <a:latin typeface="Times New Roman" panose="02020603050405020304" pitchFamily="18" charset="0"/>
                <a:ea typeface="Calibri" panose="020F0502020204030204" pitchFamily="34" charset="0"/>
                <a:cs typeface="B Lotus" panose="00000400000000000000" pitchFamily="2" charset="-78"/>
              </a:rPr>
              <a:t>نمودار </a:t>
            </a:r>
            <a:r>
              <a:rPr lang="en-US" dirty="0">
                <a:latin typeface="Times New Roman" panose="02020603050405020304" pitchFamily="18" charset="0"/>
                <a:ea typeface="Calibri" panose="020F0502020204030204" pitchFamily="34" charset="0"/>
                <a:cs typeface="B Lotus" panose="00000400000000000000" pitchFamily="2" charset="-78"/>
              </a:rPr>
              <a:t>SOC/OCV</a:t>
            </a:r>
            <a:r>
              <a:rPr lang="fa-IR" dirty="0">
                <a:latin typeface="Times New Roman" panose="02020603050405020304" pitchFamily="18" charset="0"/>
                <a:ea typeface="Calibri" panose="020F0502020204030204" pitchFamily="34" charset="0"/>
                <a:cs typeface="B Lotus" panose="00000400000000000000" pitchFamily="2" charset="-78"/>
              </a:rPr>
              <a:t> در دماهای مختلف </a:t>
            </a:r>
            <a:r>
              <a:rPr lang="fa-IR" dirty="0">
                <a:solidFill>
                  <a:srgbClr val="B9EDFF"/>
                </a:solidFill>
                <a:latin typeface="Times New Roman" panose="02020603050405020304" pitchFamily="18" charset="0"/>
                <a:ea typeface="Calibri" panose="020F0502020204030204" pitchFamily="34" charset="0"/>
                <a:cs typeface="B Lotus" panose="00000400000000000000" pitchFamily="2" charset="-78"/>
              </a:rPr>
              <a:t>[1]</a:t>
            </a:r>
            <a:r>
              <a:rPr lang="fa-IR" dirty="0">
                <a:latin typeface="Times New Roman" panose="02020603050405020304" pitchFamily="18" charset="0"/>
                <a:ea typeface="Calibri" panose="020F0502020204030204" pitchFamily="34" charset="0"/>
                <a:cs typeface="B Lotus" panose="00000400000000000000" pitchFamily="2" charset="-78"/>
              </a:rPr>
              <a:t>.</a:t>
            </a:r>
            <a:endParaRPr lang="en-US" dirty="0"/>
          </a:p>
        </p:txBody>
      </p:sp>
      <p:pic>
        <p:nvPicPr>
          <p:cNvPr id="7" name="Picture 6"/>
          <p:cNvPicPr>
            <a:picLocks noChangeAspect="1"/>
          </p:cNvPicPr>
          <p:nvPr/>
        </p:nvPicPr>
        <p:blipFill>
          <a:blip r:embed="rId5"/>
          <a:stretch>
            <a:fillRect/>
          </a:stretch>
        </p:blipFill>
        <p:spPr>
          <a:xfrm>
            <a:off x="5686179" y="2893986"/>
            <a:ext cx="3191121" cy="1832461"/>
          </a:xfrm>
          <a:prstGeom prst="rect">
            <a:avLst/>
          </a:prstGeom>
        </p:spPr>
      </p:pic>
      <p:sp>
        <p:nvSpPr>
          <p:cNvPr id="32" name="AutoShape 2" descr="Lithium-Ion State of Charge (SoC) measurement - Coulomb Counter method - OCV">
            <a:extLst>
              <a:ext uri="{FF2B5EF4-FFF2-40B4-BE49-F238E27FC236}">
                <a16:creationId xmlns:a16="http://schemas.microsoft.com/office/drawing/2014/main" xmlns="" id="{6A548917-3C9E-45D6-A811-9781D884A2F1}"/>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AutoShape 2" descr="Lithium-ion Battery Internal Resistance Testing | Manufacturing &amp;  Inspection | Hioki">
            <a:extLst>
              <a:ext uri="{FF2B5EF4-FFF2-40B4-BE49-F238E27FC236}">
                <a16:creationId xmlns:a16="http://schemas.microsoft.com/office/drawing/2014/main" xmlns="" id="{4BA4AC28-1458-4CBE-A989-D0D4811D6F3B}"/>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AutoShape 2" descr="Lithium-Ion State of Charge (SoC) measurement - Coulomb Counter method - OCV">
            <a:extLst>
              <a:ext uri="{FF2B5EF4-FFF2-40B4-BE49-F238E27FC236}">
                <a16:creationId xmlns:a16="http://schemas.microsoft.com/office/drawing/2014/main" xmlns="" id="{85BFF5CC-8780-4C7F-AD41-C610979AB89A}"/>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Rounded Rectangle 175">
            <a:extLst>
              <a:ext uri="{FF2B5EF4-FFF2-40B4-BE49-F238E27FC236}">
                <a16:creationId xmlns:a16="http://schemas.microsoft.com/office/drawing/2014/main" xmlns="" id="{D8E27344-2AB1-4A61-B14B-D9C7962F785E}"/>
              </a:ext>
            </a:extLst>
          </p:cNvPr>
          <p:cNvSpPr/>
          <p:nvPr/>
        </p:nvSpPr>
        <p:spPr bwMode="auto">
          <a:xfrm>
            <a:off x="6858000" y="971946"/>
            <a:ext cx="23890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fontAlgn="base">
              <a:spcBef>
                <a:spcPct val="0"/>
              </a:spcBef>
              <a:spcAft>
                <a:spcPct val="0"/>
              </a:spcAft>
              <a:defRPr/>
            </a:pPr>
            <a:r>
              <a:rPr lang="fa-IR" sz="2200" b="1" kern="0" dirty="0">
                <a:solidFill>
                  <a:srgbClr val="FFFFFF"/>
                </a:solidFill>
                <a:latin typeface="Times New Roman" panose="02020603050405020304" pitchFamily="18" charset="0"/>
                <a:cs typeface="B Nazanin" pitchFamily="2" charset="-78"/>
              </a:rPr>
              <a:t>سیستم مدیریت باتری</a:t>
            </a:r>
          </a:p>
        </p:txBody>
      </p:sp>
      <p:sp>
        <p:nvSpPr>
          <p:cNvPr id="36" name="AutoShape 12" descr="5 Things That Affect Your Charging Speed | EVgo">
            <a:extLst>
              <a:ext uri="{FF2B5EF4-FFF2-40B4-BE49-F238E27FC236}">
                <a16:creationId xmlns:a16="http://schemas.microsoft.com/office/drawing/2014/main" xmlns="" id="{3C8FD39E-D0A5-47C7-8912-540FCB6E5A36}"/>
              </a:ext>
            </a:extLst>
          </p:cNvPr>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AutoShape 2" descr="What is the Depth of Discharge (DoD) Estimation of a Lithium Ion Battery?">
            <a:extLst>
              <a:ext uri="{FF2B5EF4-FFF2-40B4-BE49-F238E27FC236}">
                <a16:creationId xmlns:a16="http://schemas.microsoft.com/office/drawing/2014/main" xmlns="" id="{C039CC4D-0D66-496A-9EBE-F7BFD36609D5}"/>
              </a:ext>
            </a:extLst>
          </p:cNvPr>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46" name="AutoShape 3">
            <a:extLst>
              <a:ext uri="{FF2B5EF4-FFF2-40B4-BE49-F238E27FC236}">
                <a16:creationId xmlns:a16="http://schemas.microsoft.com/office/drawing/2014/main" xmlns="" id="{5897B420-8EC3-4623-B9CD-873BD50E14B7}"/>
              </a:ext>
            </a:extLst>
          </p:cNvPr>
          <p:cNvSpPr>
            <a:spLocks noChangeArrowheads="1"/>
          </p:cNvSpPr>
          <p:nvPr/>
        </p:nvSpPr>
        <p:spPr bwMode="gray">
          <a:xfrm flipH="1">
            <a:off x="4188613" y="57140"/>
            <a:ext cx="2056086"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47" name="AutoShape 3">
            <a:extLst>
              <a:ext uri="{FF2B5EF4-FFF2-40B4-BE49-F238E27FC236}">
                <a16:creationId xmlns:a16="http://schemas.microsoft.com/office/drawing/2014/main" xmlns="" id="{29058428-9548-4415-A786-99DB42D1499B}"/>
              </a:ext>
            </a:extLst>
          </p:cNvPr>
          <p:cNvSpPr>
            <a:spLocks noChangeArrowheads="1"/>
          </p:cNvSpPr>
          <p:nvPr/>
        </p:nvSpPr>
        <p:spPr bwMode="gray">
          <a:xfrm flipH="1">
            <a:off x="2132529" y="57140"/>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8"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9" name="Rectangle 48">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0" name="Rectangle 49">
            <a:extLst>
              <a:ext uri="{FF2B5EF4-FFF2-40B4-BE49-F238E27FC236}">
                <a16:creationId xmlns:a16="http://schemas.microsoft.com/office/drawing/2014/main" xmlns="" id="{029B7FF5-A50E-4253-B09E-E39EEA90B68F}"/>
              </a:ext>
            </a:extLst>
          </p:cNvPr>
          <p:cNvSpPr/>
          <p:nvPr/>
        </p:nvSpPr>
        <p:spPr>
          <a:xfrm>
            <a:off x="2355191" y="66356"/>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1" name="Rectangle 50">
            <a:extLst>
              <a:ext uri="{FF2B5EF4-FFF2-40B4-BE49-F238E27FC236}">
                <a16:creationId xmlns:a16="http://schemas.microsoft.com/office/drawing/2014/main" xmlns="" id="{F2576E55-27E7-4A07-95C2-3356380EB505}"/>
              </a:ext>
            </a:extLst>
          </p:cNvPr>
          <p:cNvSpPr/>
          <p:nvPr/>
        </p:nvSpPr>
        <p:spPr>
          <a:xfrm>
            <a:off x="4495138" y="91457"/>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53" name="Rectangle 52">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pic>
        <p:nvPicPr>
          <p:cNvPr id="54" name="Picture 5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56" name="TextBox 55">
            <a:extLst>
              <a:ext uri="{FF2B5EF4-FFF2-40B4-BE49-F238E27FC236}">
                <a16:creationId xmlns:a16="http://schemas.microsoft.com/office/drawing/2014/main" xmlns="" id="{790F494B-120B-467C-BEB7-DD550B770790}"/>
              </a:ext>
            </a:extLst>
          </p:cNvPr>
          <p:cNvSpPr txBox="1"/>
          <p:nvPr/>
        </p:nvSpPr>
        <p:spPr>
          <a:xfrm>
            <a:off x="320146" y="934180"/>
            <a:ext cx="3717685" cy="369332"/>
          </a:xfrm>
          <a:prstGeom prst="rect">
            <a:avLst/>
          </a:prstGeom>
          <a:noFill/>
        </p:spPr>
        <p:txBody>
          <a:bodyPr wrap="none" rtlCol="0">
            <a:spAutoFit/>
          </a:bodyPr>
          <a:lstStyle/>
          <a:p>
            <a:pPr algn="r" rtl="1" fontAlgn="base">
              <a:spcBef>
                <a:spcPct val="0"/>
              </a:spcBef>
              <a:spcAft>
                <a:spcPct val="0"/>
              </a:spcAft>
            </a:pPr>
            <a:r>
              <a:rPr lang="fa-IR" b="1" dirty="0">
                <a:cs typeface="B Nazanin" panose="00000400000000000000" pitchFamily="2" charset="-78"/>
              </a:rPr>
              <a:t>روش های تخمین وضعیت شارژ باتری (</a:t>
            </a:r>
            <a:r>
              <a:rPr lang="en-US" b="1" i="1" dirty="0">
                <a:latin typeface="Times New Roman" panose="02020603050405020304" pitchFamily="18" charset="0"/>
                <a:cs typeface="Times New Roman" panose="02020603050405020304" pitchFamily="18" charset="0"/>
              </a:rPr>
              <a:t>SOC</a:t>
            </a:r>
            <a:r>
              <a:rPr lang="fa-IR" b="1" dirty="0">
                <a:cs typeface="B Nazanin" panose="00000400000000000000" pitchFamily="2" charset="-78"/>
              </a:rPr>
              <a:t>)</a:t>
            </a:r>
            <a:endParaRPr lang="en-US" b="1" dirty="0">
              <a:solidFill>
                <a:srgbClr val="000000"/>
              </a:solidFill>
              <a:latin typeface="Times New Roman" panose="02020603050405020304" pitchFamily="18" charset="0"/>
              <a:cs typeface="B Nazanin" pitchFamily="2" charset="-78"/>
            </a:endParaRPr>
          </a:p>
        </p:txBody>
      </p:sp>
      <p:sp>
        <p:nvSpPr>
          <p:cNvPr id="2" name="Slide Number Placeholder 1"/>
          <p:cNvSpPr>
            <a:spLocks noGrp="1"/>
          </p:cNvSpPr>
          <p:nvPr>
            <p:ph type="sldNum" sz="quarter" idx="12"/>
          </p:nvPr>
        </p:nvSpPr>
        <p:spPr/>
        <p:txBody>
          <a:bodyPr/>
          <a:lstStyle/>
          <a:p>
            <a:fld id="{7FC2E40A-4446-4E2B-B9AD-16F559E28E02}" type="slidenum">
              <a:rPr lang="en-US" smtClean="0"/>
              <a:t>87</a:t>
            </a:fld>
            <a:endParaRPr lang="en-US"/>
          </a:p>
        </p:txBody>
      </p:sp>
      <p:sp>
        <p:nvSpPr>
          <p:cNvPr id="55"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87</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7210666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descr="پرونده:Azad University logo.png - ویکی‌پدیا، دانشنامهٔ آزاد">
            <a:extLst>
              <a:ext uri="{FF2B5EF4-FFF2-40B4-BE49-F238E27FC236}">
                <a16:creationId xmlns:a16="http://schemas.microsoft.com/office/drawing/2014/main" xmlns="" id="{B260B773-F2C5-485B-BA12-93452E16621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6" name="TextBox 25">
            <a:extLst>
              <a:ext uri="{FF2B5EF4-FFF2-40B4-BE49-F238E27FC236}">
                <a16:creationId xmlns:a16="http://schemas.microsoft.com/office/drawing/2014/main" xmlns="" id="{90C43403-B77E-474E-A638-C5BD6540DB40}"/>
              </a:ext>
            </a:extLst>
          </p:cNvPr>
          <p:cNvSpPr txBox="1"/>
          <p:nvPr/>
        </p:nvSpPr>
        <p:spPr>
          <a:xfrm>
            <a:off x="2648411" y="686668"/>
            <a:ext cx="65" cy="276999"/>
          </a:xfrm>
          <a:prstGeom prst="rect">
            <a:avLst/>
          </a:prstGeom>
          <a:noFill/>
        </p:spPr>
        <p:txBody>
          <a:bodyPr wrap="none" lIns="0" tIns="0" rIns="0" bIns="0" rtlCol="0">
            <a:spAutoFit/>
          </a:bodyPr>
          <a:lstStyle/>
          <a:p>
            <a:endParaRPr lang="en-US" dirty="0"/>
          </a:p>
        </p:txBody>
      </p:sp>
      <p:sp>
        <p:nvSpPr>
          <p:cNvPr id="19" name="Text Box 151"/>
          <p:cNvSpPr txBox="1"/>
          <p:nvPr/>
        </p:nvSpPr>
        <p:spPr>
          <a:xfrm>
            <a:off x="190501" y="6477000"/>
            <a:ext cx="8686799" cy="184666"/>
          </a:xfrm>
          <a:prstGeom prst="rect">
            <a:avLst/>
          </a:prstGeom>
          <a:solidFill>
            <a:prstClr val="white"/>
          </a:solid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rtl="1">
              <a:spcAft>
                <a:spcPts val="1000"/>
              </a:spcAft>
            </a:pPr>
            <a:r>
              <a:rPr lang="fa-IR" sz="1200" dirty="0">
                <a:latin typeface="Times New Roman" panose="02020603050405020304" pitchFamily="18" charset="0"/>
                <a:ea typeface="Calibri" panose="020F0502020204030204" pitchFamily="34" charset="0"/>
                <a:cs typeface="B Lotus" panose="00000400000000000000" pitchFamily="2" charset="-78"/>
              </a:rPr>
              <a:t>توزیع </a:t>
            </a:r>
            <a:r>
              <a:rPr lang="en-US" sz="1200" dirty="0">
                <a:latin typeface="Times New Roman" panose="02020603050405020304" pitchFamily="18" charset="0"/>
                <a:ea typeface="Calibri" panose="020F0502020204030204" pitchFamily="34" charset="0"/>
                <a:cs typeface="B Lotus" panose="00000400000000000000" pitchFamily="2" charset="-78"/>
              </a:rPr>
              <a:t>SOC</a:t>
            </a:r>
            <a:r>
              <a:rPr lang="fa-IR" sz="1200" dirty="0">
                <a:latin typeface="Times New Roman" panose="02020603050405020304" pitchFamily="18" charset="0"/>
                <a:ea typeface="Calibri" panose="020F0502020204030204" pitchFamily="34" charset="0"/>
                <a:cs typeface="B Lotus" panose="00000400000000000000" pitchFamily="2" charset="-78"/>
              </a:rPr>
              <a:t> و نتایج پیاده سازی عملی روش‌های همسان‌سازی روش آستانه ثابت (الف)، دسته‌بندی </a:t>
            </a:r>
            <a:r>
              <a:rPr lang="en-US" sz="1200" dirty="0">
                <a:latin typeface="Times New Roman" panose="02020603050405020304" pitchFamily="18" charset="0"/>
                <a:ea typeface="Calibri" panose="020F0502020204030204" pitchFamily="34" charset="0"/>
                <a:cs typeface="B Lotus" panose="00000400000000000000" pitchFamily="2" charset="-78"/>
              </a:rPr>
              <a:t>k-mean</a:t>
            </a:r>
            <a:r>
              <a:rPr lang="fa-IR" sz="1200" dirty="0">
                <a:latin typeface="Times New Roman" panose="02020603050405020304" pitchFamily="18" charset="0"/>
                <a:ea typeface="Calibri" panose="020F0502020204030204" pitchFamily="34" charset="0"/>
                <a:cs typeface="B Lotus" panose="00000400000000000000" pitchFamily="2" charset="-78"/>
              </a:rPr>
              <a:t> بدون </a:t>
            </a:r>
            <a:r>
              <a:rPr lang="en-US" sz="1200" dirty="0">
                <a:latin typeface="Times New Roman" panose="02020603050405020304" pitchFamily="18" charset="0"/>
                <a:ea typeface="Calibri" panose="020F0502020204030204" pitchFamily="34" charset="0"/>
                <a:cs typeface="B Lotus" panose="00000400000000000000" pitchFamily="2" charset="-78"/>
              </a:rPr>
              <a:t>GA</a:t>
            </a:r>
            <a:r>
              <a:rPr lang="fa-IR" sz="1200" dirty="0">
                <a:latin typeface="Times New Roman" panose="02020603050405020304" pitchFamily="18" charset="0"/>
                <a:ea typeface="Calibri" panose="020F0502020204030204" pitchFamily="34" charset="0"/>
                <a:cs typeface="B Lotus" panose="00000400000000000000" pitchFamily="2" charset="-78"/>
              </a:rPr>
              <a:t>(ب)، خوشه‌بندی </a:t>
            </a:r>
            <a:r>
              <a:rPr lang="en-US" sz="1200" dirty="0">
                <a:latin typeface="Times New Roman" panose="02020603050405020304" pitchFamily="18" charset="0"/>
                <a:ea typeface="Calibri" panose="020F0502020204030204" pitchFamily="34" charset="0"/>
                <a:cs typeface="B Lotus" panose="00000400000000000000" pitchFamily="2" charset="-78"/>
              </a:rPr>
              <a:t>k-mean</a:t>
            </a:r>
            <a:r>
              <a:rPr lang="fa-IR" sz="1200" dirty="0">
                <a:latin typeface="Times New Roman" panose="02020603050405020304" pitchFamily="18" charset="0"/>
                <a:ea typeface="Calibri" panose="020F0502020204030204" pitchFamily="34" charset="0"/>
                <a:cs typeface="B Lotus" panose="00000400000000000000" pitchFamily="2" charset="-78"/>
              </a:rPr>
              <a:t> همراه با </a:t>
            </a:r>
            <a:r>
              <a:rPr lang="en-US" sz="1200" dirty="0">
                <a:latin typeface="Times New Roman" panose="02020603050405020304" pitchFamily="18" charset="0"/>
                <a:ea typeface="Calibri" panose="020F0502020204030204" pitchFamily="34" charset="0"/>
                <a:cs typeface="B Lotus" panose="00000400000000000000" pitchFamily="2" charset="-78"/>
              </a:rPr>
              <a:t>GA </a:t>
            </a:r>
            <a:r>
              <a:rPr lang="fa-IR" sz="1200" dirty="0">
                <a:latin typeface="Times New Roman" panose="02020603050405020304" pitchFamily="18" charset="0"/>
                <a:ea typeface="Calibri" panose="020F0502020204030204" pitchFamily="34" charset="0"/>
                <a:cs typeface="B Lotus" panose="00000400000000000000" pitchFamily="2" charset="-78"/>
              </a:rPr>
              <a:t> (ج) </a:t>
            </a:r>
            <a:r>
              <a:rPr lang="fa-IR" sz="1200" dirty="0">
                <a:solidFill>
                  <a:srgbClr val="5B9BD5"/>
                </a:solidFill>
                <a:latin typeface="Times New Roman" panose="02020603050405020304" pitchFamily="18" charset="0"/>
                <a:ea typeface="Calibri" panose="020F0502020204030204" pitchFamily="34" charset="0"/>
                <a:cs typeface="B Lotus" panose="00000400000000000000" pitchFamily="2" charset="-78"/>
              </a:rPr>
              <a:t>[1].</a:t>
            </a:r>
            <a:endParaRPr lang="en-US" sz="1200" i="0" dirty="0">
              <a:solidFill>
                <a:srgbClr val="262626"/>
              </a:solidFill>
              <a:effectLst/>
              <a:latin typeface="Times New Roman" panose="02020603050405020304" pitchFamily="18" charset="0"/>
              <a:ea typeface="Calibri" panose="020F0502020204030204" pitchFamily="34" charset="0"/>
              <a:cs typeface="B Lotus" panose="00000400000000000000" pitchFamily="2" charset="-78"/>
            </a:endParaRPr>
          </a:p>
        </p:txBody>
      </p:sp>
      <p:grpSp>
        <p:nvGrpSpPr>
          <p:cNvPr id="2" name="Group 1"/>
          <p:cNvGrpSpPr/>
          <p:nvPr/>
        </p:nvGrpSpPr>
        <p:grpSpPr>
          <a:xfrm>
            <a:off x="443114" y="847401"/>
            <a:ext cx="8153400" cy="5414358"/>
            <a:chOff x="1562354" y="1116935"/>
            <a:chExt cx="5157216" cy="5298794"/>
          </a:xfrm>
        </p:grpSpPr>
        <p:pic>
          <p:nvPicPr>
            <p:cNvPr id="18" name="Picture 17"/>
            <p:cNvPicPr/>
            <p:nvPr/>
          </p:nvPicPr>
          <p:blipFill rotWithShape="1">
            <a:blip r:embed="rId4" cstate="print">
              <a:extLst>
                <a:ext uri="{28A0092B-C50C-407E-A947-70E740481C1C}">
                  <a14:useLocalDpi xmlns:a14="http://schemas.microsoft.com/office/drawing/2010/main" val="0"/>
                </a:ext>
              </a:extLst>
            </a:blip>
            <a:srcRect l="-325" t="25282" b="49834"/>
            <a:stretch/>
          </p:blipFill>
          <p:spPr>
            <a:xfrm>
              <a:off x="1562354" y="1116935"/>
              <a:ext cx="5157216" cy="1755648"/>
            </a:xfrm>
            <a:prstGeom prst="rect">
              <a:avLst/>
            </a:prstGeom>
          </p:spPr>
        </p:pic>
        <p:pic>
          <p:nvPicPr>
            <p:cNvPr id="20" name="Picture 19"/>
            <p:cNvPicPr/>
            <p:nvPr/>
          </p:nvPicPr>
          <p:blipFill rotWithShape="1">
            <a:blip r:embed="rId4" cstate="print">
              <a:extLst>
                <a:ext uri="{28A0092B-C50C-407E-A947-70E740481C1C}">
                  <a14:useLocalDpi xmlns:a14="http://schemas.microsoft.com/office/drawing/2010/main" val="0"/>
                </a:ext>
              </a:extLst>
            </a:blip>
            <a:srcRect l="-528" t="50594" b="24880"/>
            <a:stretch/>
          </p:blipFill>
          <p:spPr>
            <a:xfrm>
              <a:off x="1562354" y="2869094"/>
              <a:ext cx="5157216" cy="1755648"/>
            </a:xfrm>
            <a:prstGeom prst="rect">
              <a:avLst/>
            </a:prstGeom>
          </p:spPr>
        </p:pic>
        <p:pic>
          <p:nvPicPr>
            <p:cNvPr id="21" name="Picture 20"/>
            <p:cNvPicPr/>
            <p:nvPr/>
          </p:nvPicPr>
          <p:blipFill rotWithShape="1">
            <a:blip r:embed="rId4" cstate="print">
              <a:extLst>
                <a:ext uri="{28A0092B-C50C-407E-A947-70E740481C1C}">
                  <a14:useLocalDpi xmlns:a14="http://schemas.microsoft.com/office/drawing/2010/main" val="0"/>
                </a:ext>
              </a:extLst>
            </a:blip>
            <a:srcRect t="75966"/>
            <a:stretch/>
          </p:blipFill>
          <p:spPr>
            <a:xfrm>
              <a:off x="1562354" y="4624742"/>
              <a:ext cx="5157216" cy="1755648"/>
            </a:xfrm>
            <a:prstGeom prst="rect">
              <a:avLst/>
            </a:prstGeom>
          </p:spPr>
        </p:pic>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52037" y="2691265"/>
              <a:ext cx="288925" cy="173347"/>
            </a:xfrm>
            <a:prstGeom prst="rect">
              <a:avLst/>
            </a:prstGeom>
          </p:spPr>
        </p:pic>
        <p:pic>
          <p:nvPicPr>
            <p:cNvPr id="24" name="Picture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2037" y="4480628"/>
              <a:ext cx="233045" cy="162552"/>
            </a:xfrm>
            <a:prstGeom prst="rect">
              <a:avLst/>
            </a:prstGeom>
          </p:spPr>
        </p:pic>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62831" y="6257621"/>
              <a:ext cx="211455" cy="158108"/>
            </a:xfrm>
            <a:prstGeom prst="rect">
              <a:avLst/>
            </a:prstGeom>
          </p:spPr>
        </p:pic>
      </p:grpSp>
      <p:sp>
        <p:nvSpPr>
          <p:cNvPr id="28" name="AutoShape 3"/>
          <p:cNvSpPr>
            <a:spLocks noChangeArrowheads="1"/>
          </p:cNvSpPr>
          <p:nvPr/>
        </p:nvSpPr>
        <p:spPr bwMode="gray">
          <a:xfrm flipH="1">
            <a:off x="2190754"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AutoShape 3"/>
          <p:cNvSpPr>
            <a:spLocks noChangeArrowheads="1"/>
          </p:cNvSpPr>
          <p:nvPr/>
        </p:nvSpPr>
        <p:spPr bwMode="gray">
          <a:xfrm flipH="1">
            <a:off x="148662" y="55997"/>
            <a:ext cx="2057400" cy="649224"/>
          </a:xfrm>
          <a:prstGeom prst="chevron">
            <a:avLst>
              <a:gd name="adj" fmla="val 17009"/>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1" name="Rectangle 30"/>
          <p:cNvSpPr/>
          <p:nvPr/>
        </p:nvSpPr>
        <p:spPr>
          <a:xfrm>
            <a:off x="418672" y="193150"/>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2" name="Rectangle 31"/>
          <p:cNvSpPr/>
          <p:nvPr/>
        </p:nvSpPr>
        <p:spPr>
          <a:xfrm>
            <a:off x="2393380" y="7004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5997"/>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4" name="Rectangle 33">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35"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6" name="Rectangle 35">
            <a:extLst>
              <a:ext uri="{FF2B5EF4-FFF2-40B4-BE49-F238E27FC236}">
                <a16:creationId xmlns:a16="http://schemas.microsoft.com/office/drawing/2014/main" xmlns="" id="{AC165A2D-60D3-440C-A112-7B419F7E72B2}"/>
              </a:ext>
            </a:extLst>
          </p:cNvPr>
          <p:cNvSpPr/>
          <p:nvPr/>
        </p:nvSpPr>
        <p:spPr>
          <a:xfrm>
            <a:off x="4525250"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2"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88</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8982448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Picture 163"/>
          <p:cNvPicPr/>
          <p:nvPr/>
        </p:nvPicPr>
        <p:blipFill>
          <a:blip r:embed="rId3">
            <a:extLst>
              <a:ext uri="{28A0092B-C50C-407E-A947-70E740481C1C}">
                <a14:useLocalDpi xmlns:a14="http://schemas.microsoft.com/office/drawing/2010/main" val="0"/>
              </a:ext>
            </a:extLst>
          </a:blip>
          <a:stretch>
            <a:fillRect/>
          </a:stretch>
        </p:blipFill>
        <p:spPr bwMode="auto">
          <a:xfrm>
            <a:off x="685800" y="1732935"/>
            <a:ext cx="7620000" cy="4202235"/>
          </a:xfrm>
          <a:prstGeom prst="rect">
            <a:avLst/>
          </a:prstGeom>
          <a:noFill/>
          <a:ln>
            <a:noFill/>
          </a:ln>
        </p:spPr>
      </p:pic>
      <p:sp>
        <p:nvSpPr>
          <p:cNvPr id="3" name="Rectangle 2"/>
          <p:cNvSpPr/>
          <p:nvPr/>
        </p:nvSpPr>
        <p:spPr>
          <a:xfrm>
            <a:off x="2224795" y="6070382"/>
            <a:ext cx="4011034"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ea typeface="Calibri" panose="020F0502020204030204" pitchFamily="34" charset="0"/>
                <a:cs typeface="B Lotus" panose="00000400000000000000" pitchFamily="2" charset="-78"/>
              </a:rPr>
              <a:t>شکل 5 </a:t>
            </a:r>
            <a:r>
              <a:rPr lang="fa-IR" dirty="0">
                <a:latin typeface="Times New Roman" panose="02020603050405020304" pitchFamily="18" charset="0"/>
                <a:cs typeface="B Lotus" panose="00000400000000000000" pitchFamily="2" charset="-78"/>
              </a:rPr>
              <a:t>شماتیک دیاگرام همسان سازی سلول به سلول.</a:t>
            </a:r>
            <a:endParaRPr lang="en-US" dirty="0">
              <a:latin typeface="Times New Roman" panose="02020603050405020304" pitchFamily="18" charset="0"/>
              <a:cs typeface="B Lotus" panose="00000400000000000000" pitchFamily="2" charset="-78"/>
            </a:endParaRPr>
          </a:p>
        </p:txBody>
      </p:sp>
      <p:sp>
        <p:nvSpPr>
          <p:cNvPr id="15"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17" name="Picture 16"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18"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4"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5" name="Rectangle 24">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6" name="Rectangle 25">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7"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8"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9" name="Rectangle 28">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2" name="Rectangle 31">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TextBox 32">
            <a:extLst>
              <a:ext uri="{FF2B5EF4-FFF2-40B4-BE49-F238E27FC236}">
                <a16:creationId xmlns:a16="http://schemas.microsoft.com/office/drawing/2014/main" xmlns="" id="{F43469DC-7F5B-471E-BD74-ED709E621F63}"/>
              </a:ext>
            </a:extLst>
          </p:cNvPr>
          <p:cNvSpPr txBox="1"/>
          <p:nvPr/>
        </p:nvSpPr>
        <p:spPr>
          <a:xfrm>
            <a:off x="7741141" y="1726687"/>
            <a:ext cx="1151276" cy="369332"/>
          </a:xfrm>
          <a:prstGeom prst="rect">
            <a:avLst/>
          </a:prstGeom>
          <a:noFill/>
        </p:spPr>
        <p:txBody>
          <a:bodyPr wrap="none" rtlCol="0">
            <a:spAutoFit/>
          </a:bodyPr>
          <a:lstStyle/>
          <a:p>
            <a:pPr algn="r" rtl="1"/>
            <a:r>
              <a:rPr lang="fa-IR" b="1" dirty="0">
                <a:cs typeface="B Nazanin" panose="00000400000000000000" pitchFamily="2" charset="-78"/>
              </a:rPr>
              <a:t>انتقال مجاور</a:t>
            </a:r>
          </a:p>
        </p:txBody>
      </p:sp>
      <p:graphicFrame>
        <p:nvGraphicFramePr>
          <p:cNvPr id="16" name="Table 15"/>
          <p:cNvGraphicFramePr>
            <a:graphicFrameLocks noGrp="1"/>
          </p:cNvGraphicFramePr>
          <p:nvPr>
            <p:extLst/>
          </p:nvPr>
        </p:nvGraphicFramePr>
        <p:xfrm>
          <a:off x="98296" y="1292475"/>
          <a:ext cx="4513526" cy="762000"/>
        </p:xfrm>
        <a:graphic>
          <a:graphicData uri="http://schemas.openxmlformats.org/drawingml/2006/table">
            <a:tbl>
              <a:tblPr rtl="1" firstRow="1" firstCol="1" bandRow="1"/>
              <a:tblGrid>
                <a:gridCol w="1048385">
                  <a:extLst>
                    <a:ext uri="{9D8B030D-6E8A-4147-A177-3AD203B41FA5}">
                      <a16:colId xmlns:a16="http://schemas.microsoft.com/office/drawing/2014/main" xmlns="" val="20001"/>
                    </a:ext>
                  </a:extLst>
                </a:gridCol>
                <a:gridCol w="570548">
                  <a:extLst>
                    <a:ext uri="{9D8B030D-6E8A-4147-A177-3AD203B41FA5}">
                      <a16:colId xmlns:a16="http://schemas.microsoft.com/office/drawing/2014/main" xmlns="" val="20002"/>
                    </a:ext>
                  </a:extLst>
                </a:gridCol>
                <a:gridCol w="618172">
                  <a:extLst>
                    <a:ext uri="{9D8B030D-6E8A-4147-A177-3AD203B41FA5}">
                      <a16:colId xmlns:a16="http://schemas.microsoft.com/office/drawing/2014/main" xmlns="" val="20003"/>
                    </a:ext>
                  </a:extLst>
                </a:gridCol>
                <a:gridCol w="978535">
                  <a:extLst>
                    <a:ext uri="{9D8B030D-6E8A-4147-A177-3AD203B41FA5}">
                      <a16:colId xmlns:a16="http://schemas.microsoft.com/office/drawing/2014/main" xmlns="" val="20004"/>
                    </a:ext>
                  </a:extLst>
                </a:gridCol>
                <a:gridCol w="556260">
                  <a:extLst>
                    <a:ext uri="{9D8B030D-6E8A-4147-A177-3AD203B41FA5}">
                      <a16:colId xmlns:a16="http://schemas.microsoft.com/office/drawing/2014/main" xmlns="" val="20005"/>
                    </a:ext>
                  </a:extLst>
                </a:gridCol>
                <a:gridCol w="741626">
                  <a:extLst>
                    <a:ext uri="{9D8B030D-6E8A-4147-A177-3AD203B41FA5}">
                      <a16:colId xmlns:a16="http://schemas.microsoft.com/office/drawing/2014/main" xmlns="" val="20006"/>
                    </a:ext>
                  </a:extLst>
                </a:gridCol>
              </a:tblGrid>
              <a:tr h="3810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سادگی</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الگوریتم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راندمان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err="1">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جانمایی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صرفه اقتصادی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امتیاز</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نهایی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1/6</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19"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89</a:t>
            </a:fld>
            <a:endParaRPr lang="fa-IR" sz="1800" dirty="0">
              <a:solidFill>
                <a:schemeClr val="tx1"/>
              </a:solidFill>
              <a:cs typeface="B Lotus" panose="00000400000000000000" pitchFamily="2" charset="-78"/>
            </a:endParaRPr>
          </a:p>
        </p:txBody>
      </p:sp>
    </p:spTree>
    <p:extLst>
      <p:ext uri="{BB962C8B-B14F-4D97-AF65-F5344CB8AC3E}">
        <p14:creationId xmlns:p14="http://schemas.microsoft.com/office/powerpoint/2010/main" val="3953353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p:nvPr/>
        </p:nvPicPr>
        <p:blipFill rotWithShape="1">
          <a:blip r:embed="rId3">
            <a:extLst>
              <a:ext uri="{28A0092B-C50C-407E-A947-70E740481C1C}">
                <a14:useLocalDpi xmlns:a14="http://schemas.microsoft.com/office/drawing/2010/main" val="0"/>
              </a:ext>
            </a:extLst>
          </a:blip>
          <a:srcRect l="7873"/>
          <a:stretch/>
        </p:blipFill>
        <p:spPr bwMode="auto">
          <a:xfrm>
            <a:off x="326604" y="2057400"/>
            <a:ext cx="8283996" cy="4045227"/>
          </a:xfrm>
          <a:prstGeom prst="rect">
            <a:avLst/>
          </a:prstGeom>
          <a:noFill/>
          <a:ln>
            <a:noFill/>
          </a:ln>
          <a:extLst>
            <a:ext uri="{53640926-AAD7-44D8-BBD7-CCE9431645EC}">
              <a14:shadowObscured xmlns:a14="http://schemas.microsoft.com/office/drawing/2010/main"/>
            </a:ext>
          </a:extLst>
        </p:spPr>
      </p:pic>
      <p:sp>
        <p:nvSpPr>
          <p:cNvPr id="18"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24" name="Picture 23"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25"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26"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27" name="Rectangle 26">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28" name="Rectangle 27">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29"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2" name="Rectangle 3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3" name="Rectangle 3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4" name="TextBox 33">
            <a:extLst>
              <a:ext uri="{FF2B5EF4-FFF2-40B4-BE49-F238E27FC236}">
                <a16:creationId xmlns:a16="http://schemas.microsoft.com/office/drawing/2014/main" xmlns="" id="{F43469DC-7F5B-471E-BD74-ED709E621F63}"/>
              </a:ext>
            </a:extLst>
          </p:cNvPr>
          <p:cNvSpPr txBox="1"/>
          <p:nvPr/>
        </p:nvSpPr>
        <p:spPr>
          <a:xfrm>
            <a:off x="7404509" y="1726687"/>
            <a:ext cx="1487908" cy="369332"/>
          </a:xfrm>
          <a:prstGeom prst="rect">
            <a:avLst/>
          </a:prstGeom>
          <a:noFill/>
        </p:spPr>
        <p:txBody>
          <a:bodyPr wrap="none" rtlCol="0">
            <a:spAutoFit/>
          </a:bodyPr>
          <a:lstStyle/>
          <a:p>
            <a:pPr algn="r" rtl="1"/>
            <a:r>
              <a:rPr lang="fa-IR" b="1" dirty="0">
                <a:cs typeface="B Nazanin" panose="00000400000000000000" pitchFamily="2" charset="-78"/>
              </a:rPr>
              <a:t>انتقال غیر مجاور</a:t>
            </a:r>
          </a:p>
        </p:txBody>
      </p:sp>
      <p:sp>
        <p:nvSpPr>
          <p:cNvPr id="35" name="Rectangle 34"/>
          <p:cNvSpPr/>
          <p:nvPr/>
        </p:nvSpPr>
        <p:spPr>
          <a:xfrm>
            <a:off x="2652245" y="6102627"/>
            <a:ext cx="3839514"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ea typeface="Calibri" panose="020F0502020204030204" pitchFamily="34" charset="0"/>
                <a:cs typeface="B Lotus" panose="00000400000000000000" pitchFamily="2" charset="-78"/>
              </a:rPr>
              <a:t>شکل 6 </a:t>
            </a:r>
            <a:r>
              <a:rPr lang="fa-IR" dirty="0">
                <a:latin typeface="Times New Roman" panose="02020603050405020304" pitchFamily="18" charset="0"/>
                <a:cs typeface="B Lotus" panose="00000400000000000000" pitchFamily="2" charset="-78"/>
              </a:rPr>
              <a:t>شماتیک دیاگرام همسان سازی سلول و پک.</a:t>
            </a:r>
            <a:endParaRPr lang="en-US" b="1" dirty="0">
              <a:solidFill>
                <a:srgbClr val="000000"/>
              </a:solidFill>
              <a:latin typeface="Times New Roman" panose="02020603050405020304" pitchFamily="18" charset="0"/>
              <a:cs typeface="B Nazanin" pitchFamily="2" charset="-78"/>
            </a:endParaRPr>
          </a:p>
        </p:txBody>
      </p:sp>
      <p:sp>
        <p:nvSpPr>
          <p:cNvPr id="1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90</a:t>
            </a:fld>
            <a:endParaRPr lang="fa-IR" sz="1800" dirty="0">
              <a:solidFill>
                <a:schemeClr val="tx1"/>
              </a:solidFill>
              <a:cs typeface="B Lotus" panose="00000400000000000000" pitchFamily="2" charset="-78"/>
            </a:endParaRPr>
          </a:p>
        </p:txBody>
      </p:sp>
      <p:graphicFrame>
        <p:nvGraphicFramePr>
          <p:cNvPr id="20" name="Table 19"/>
          <p:cNvGraphicFramePr>
            <a:graphicFrameLocks noGrp="1"/>
          </p:cNvGraphicFramePr>
          <p:nvPr>
            <p:extLst/>
          </p:nvPr>
        </p:nvGraphicFramePr>
        <p:xfrm>
          <a:off x="98296" y="1292475"/>
          <a:ext cx="4513526" cy="762000"/>
        </p:xfrm>
        <a:graphic>
          <a:graphicData uri="http://schemas.openxmlformats.org/drawingml/2006/table">
            <a:tbl>
              <a:tblPr rtl="1" firstRow="1" firstCol="1" bandRow="1"/>
              <a:tblGrid>
                <a:gridCol w="1048385">
                  <a:extLst>
                    <a:ext uri="{9D8B030D-6E8A-4147-A177-3AD203B41FA5}">
                      <a16:colId xmlns:a16="http://schemas.microsoft.com/office/drawing/2014/main" xmlns="" val="20001"/>
                    </a:ext>
                  </a:extLst>
                </a:gridCol>
                <a:gridCol w="570548">
                  <a:extLst>
                    <a:ext uri="{9D8B030D-6E8A-4147-A177-3AD203B41FA5}">
                      <a16:colId xmlns:a16="http://schemas.microsoft.com/office/drawing/2014/main" xmlns="" val="20002"/>
                    </a:ext>
                  </a:extLst>
                </a:gridCol>
                <a:gridCol w="618172">
                  <a:extLst>
                    <a:ext uri="{9D8B030D-6E8A-4147-A177-3AD203B41FA5}">
                      <a16:colId xmlns:a16="http://schemas.microsoft.com/office/drawing/2014/main" xmlns="" val="20003"/>
                    </a:ext>
                  </a:extLst>
                </a:gridCol>
                <a:gridCol w="978535">
                  <a:extLst>
                    <a:ext uri="{9D8B030D-6E8A-4147-A177-3AD203B41FA5}">
                      <a16:colId xmlns:a16="http://schemas.microsoft.com/office/drawing/2014/main" xmlns="" val="20004"/>
                    </a:ext>
                  </a:extLst>
                </a:gridCol>
                <a:gridCol w="556260">
                  <a:extLst>
                    <a:ext uri="{9D8B030D-6E8A-4147-A177-3AD203B41FA5}">
                      <a16:colId xmlns:a16="http://schemas.microsoft.com/office/drawing/2014/main" xmlns="" val="20005"/>
                    </a:ext>
                  </a:extLst>
                </a:gridCol>
                <a:gridCol w="741626">
                  <a:extLst>
                    <a:ext uri="{9D8B030D-6E8A-4147-A177-3AD203B41FA5}">
                      <a16:colId xmlns:a16="http://schemas.microsoft.com/office/drawing/2014/main" xmlns="" val="20006"/>
                    </a:ext>
                  </a:extLst>
                </a:gridCol>
              </a:tblGrid>
              <a:tr h="3810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سادگی</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الگوریتم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راندمان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err="1">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جانمایی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صرفه اقتصادی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امتیاز</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نهایی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3/9</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2/5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21" name="TextBox 20">
            <a:extLst>
              <a:ext uri="{FF2B5EF4-FFF2-40B4-BE49-F238E27FC236}">
                <a16:creationId xmlns:a16="http://schemas.microsoft.com/office/drawing/2014/main" xmlns="" id="{F43469DC-7F5B-471E-BD74-ED709E621F63}"/>
              </a:ext>
            </a:extLst>
          </p:cNvPr>
          <p:cNvSpPr txBox="1"/>
          <p:nvPr/>
        </p:nvSpPr>
        <p:spPr>
          <a:xfrm>
            <a:off x="4608424" y="1326578"/>
            <a:ext cx="1568057" cy="769441"/>
          </a:xfrm>
          <a:prstGeom prst="rect">
            <a:avLst/>
          </a:prstGeom>
          <a:noFill/>
        </p:spPr>
        <p:txBody>
          <a:bodyPr wrap="none" rtlCol="0">
            <a:spAutoFit/>
          </a:bodyPr>
          <a:lstStyle/>
          <a:p>
            <a:pPr algn="r" rtl="1"/>
            <a:r>
              <a:rPr lang="fa-IR" sz="1100" b="1" dirty="0">
                <a:cs typeface="B Nazanin" panose="00000400000000000000" pitchFamily="2" charset="-78"/>
              </a:rPr>
              <a:t>داده ورود جهت ارزیابی:</a:t>
            </a:r>
          </a:p>
          <a:p>
            <a:pPr marL="171450" indent="-171450" algn="r" rtl="1">
              <a:buFont typeface="Arial" panose="020B0604020202020204" pitchFamily="34" charset="0"/>
              <a:buChar char="•"/>
            </a:pPr>
            <a:r>
              <a:rPr lang="fa-IR" sz="1100" dirty="0">
                <a:cs typeface="B Nazanin" panose="00000400000000000000" pitchFamily="2" charset="-78"/>
              </a:rPr>
              <a:t>12 سلول سری 3/1 </a:t>
            </a:r>
            <a:r>
              <a:rPr lang="en-US" sz="1100" dirty="0">
                <a:cs typeface="B Nazanin" panose="00000400000000000000" pitchFamily="2" charset="-78"/>
              </a:rPr>
              <a:t>Ah</a:t>
            </a:r>
            <a:endParaRPr lang="fa-IR" sz="1100" dirty="0">
              <a:cs typeface="B Nazanin" panose="00000400000000000000" pitchFamily="2" charset="-78"/>
            </a:endParaRPr>
          </a:p>
          <a:p>
            <a:pPr marL="171450" indent="-171450" algn="r" rtl="1">
              <a:buFont typeface="Arial" panose="020B0604020202020204" pitchFamily="34" charset="0"/>
              <a:buChar char="•"/>
            </a:pPr>
            <a:r>
              <a:rPr lang="fa-IR" sz="1100" dirty="0">
                <a:cs typeface="B Nazanin" panose="00000400000000000000" pitchFamily="2" charset="-78"/>
              </a:rPr>
              <a:t>جریان همسان سازی 0/5 </a:t>
            </a:r>
            <a:r>
              <a:rPr lang="en-US" sz="1100" dirty="0">
                <a:cs typeface="B Nazanin" panose="00000400000000000000" pitchFamily="2" charset="-78"/>
              </a:rPr>
              <a:t>A</a:t>
            </a:r>
          </a:p>
          <a:p>
            <a:pPr marL="171450" indent="-171450" algn="r" rtl="1">
              <a:buFont typeface="Arial" panose="020B0604020202020204" pitchFamily="34" charset="0"/>
              <a:buChar char="•"/>
            </a:pPr>
            <a:endParaRPr lang="fa-IR" sz="1100" dirty="0">
              <a:cs typeface="B Nazanin" panose="00000400000000000000" pitchFamily="2" charset="-78"/>
            </a:endParaRPr>
          </a:p>
        </p:txBody>
      </p:sp>
    </p:spTree>
    <p:extLst>
      <p:ext uri="{BB962C8B-B14F-4D97-AF65-F5344CB8AC3E}">
        <p14:creationId xmlns:p14="http://schemas.microsoft.com/office/powerpoint/2010/main" val="26446931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p:nvPr/>
        </p:nvPicPr>
        <p:blipFill>
          <a:blip r:embed="rId3">
            <a:extLst>
              <a:ext uri="{28A0092B-C50C-407E-A947-70E740481C1C}">
                <a14:useLocalDpi xmlns:a14="http://schemas.microsoft.com/office/drawing/2010/main" val="0"/>
              </a:ext>
            </a:extLst>
          </a:blip>
          <a:stretch>
            <a:fillRect/>
          </a:stretch>
        </p:blipFill>
        <p:spPr bwMode="auto">
          <a:xfrm>
            <a:off x="457200" y="2054475"/>
            <a:ext cx="7924800" cy="3916079"/>
          </a:xfrm>
          <a:prstGeom prst="rect">
            <a:avLst/>
          </a:prstGeom>
          <a:noFill/>
          <a:ln>
            <a:noFill/>
          </a:ln>
        </p:spPr>
      </p:pic>
      <p:sp>
        <p:nvSpPr>
          <p:cNvPr id="34" name="Rounded Rectangle 175">
            <a:extLst>
              <a:ext uri="{FF2B5EF4-FFF2-40B4-BE49-F238E27FC236}">
                <a16:creationId xmlns:a16="http://schemas.microsoft.com/office/drawing/2014/main" xmlns="" id="{D8E27344-2AB1-4A61-B14B-D9C7962F785E}"/>
              </a:ext>
            </a:extLst>
          </p:cNvPr>
          <p:cNvSpPr/>
          <p:nvPr/>
        </p:nvSpPr>
        <p:spPr bwMode="auto">
          <a:xfrm>
            <a:off x="6324600" y="1066930"/>
            <a:ext cx="2922494" cy="418072"/>
          </a:xfrm>
          <a:prstGeom prst="roundRect">
            <a:avLst/>
          </a:prstGeom>
          <a:solidFill>
            <a:srgbClr val="3D81BF">
              <a:lumMod val="75000"/>
            </a:srgbClr>
          </a:solidFill>
          <a:ln w="9525" cap="flat" cmpd="sng" algn="ctr">
            <a:solidFill>
              <a:srgbClr val="000000"/>
            </a:solidFill>
            <a:prstDash val="solid"/>
            <a:round/>
            <a:headEnd type="none" w="med" len="med"/>
            <a:tailEnd type="none" w="med" len="med"/>
          </a:ln>
          <a:effectLst>
            <a:reflection blurRad="6350" stA="50000" endA="300" endPos="55000" dir="5400000" sy="-100000" algn="bl" rotWithShape="0"/>
          </a:effectLst>
          <a:scene3d>
            <a:camera prst="isometricOffAxis2Left"/>
            <a:lightRig rig="threePt" dir="t"/>
          </a:scene3d>
        </p:spPr>
        <p:txBody>
          <a:bodyPr vert="horz" wrap="square" lIns="91440" tIns="45720" rIns="91440" bIns="45720" numCol="1" rtlCol="0" anchor="t" anchorCtr="0" compatLnSpc="1">
            <a:prstTxWarp prst="textNoShape">
              <a:avLst/>
            </a:prstTxWarp>
          </a:bodyPr>
          <a:lstStyle/>
          <a:p>
            <a:pPr lvl="0" algn="ctr" rtl="1" fontAlgn="base">
              <a:spcBef>
                <a:spcPct val="0"/>
              </a:spcBef>
              <a:spcAft>
                <a:spcPct val="0"/>
              </a:spcAft>
            </a:pPr>
            <a:r>
              <a:rPr lang="fa-IR" sz="20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2000" b="1" dirty="0">
              <a:solidFill>
                <a:srgbClr val="FFFFFF"/>
              </a:solidFill>
              <a:latin typeface="Times New Roman" panose="02020603050405020304" pitchFamily="18" charset="0"/>
              <a:cs typeface="B Nazanin" panose="00000400000000000000" pitchFamily="2" charset="-78"/>
            </a:endParaRPr>
          </a:p>
        </p:txBody>
      </p:sp>
      <p:pic>
        <p:nvPicPr>
          <p:cNvPr id="35" name="Picture 34" descr="پرونده:Azad University logo.png - ویکی‌پدیا، دانشنامهٔ آزاد">
            <a:extLst>
              <a:ext uri="{FF2B5EF4-FFF2-40B4-BE49-F238E27FC236}">
                <a16:creationId xmlns:a16="http://schemas.microsoft.com/office/drawing/2014/main" xmlns="" id="{FA988D60-670C-406B-B8FB-D5A0053424E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0"/>
            <a:ext cx="533400" cy="822959"/>
          </a:xfrm>
          <a:prstGeom prst="rect">
            <a:avLst/>
          </a:prstGeom>
          <a:noFill/>
          <a:ln>
            <a:noFill/>
          </a:ln>
        </p:spPr>
      </p:pic>
      <p:sp>
        <p:nvSpPr>
          <p:cNvPr id="36" name="AutoShape 10">
            <a:extLst>
              <a:ext uri="{FF2B5EF4-FFF2-40B4-BE49-F238E27FC236}">
                <a16:creationId xmlns:a16="http://schemas.microsoft.com/office/drawing/2014/main" xmlns="" id="{96E6A76C-5024-445C-8373-4A127C8598B1}"/>
              </a:ext>
            </a:extLst>
          </p:cNvPr>
          <p:cNvSpPr>
            <a:spLocks noChangeArrowheads="1"/>
          </p:cNvSpPr>
          <p:nvPr/>
        </p:nvSpPr>
        <p:spPr bwMode="gray">
          <a:xfrm flipH="1">
            <a:off x="6244699" y="57140"/>
            <a:ext cx="2137301" cy="649224"/>
          </a:xfrm>
          <a:prstGeom prst="chevron">
            <a:avLst>
              <a:gd name="adj" fmla="val 17842"/>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algn="ctr" fontAlgn="base">
              <a:spcBef>
                <a:spcPct val="0"/>
              </a:spcBef>
              <a:spcAft>
                <a:spcPct val="0"/>
              </a:spcAft>
            </a:pPr>
            <a:endParaRPr lang="en-US" kern="0">
              <a:solidFill>
                <a:srgbClr val="3D81BF"/>
              </a:solidFill>
            </a:endParaRPr>
          </a:p>
        </p:txBody>
      </p:sp>
      <p:sp>
        <p:nvSpPr>
          <p:cNvPr id="37" name="AutoShape 3">
            <a:extLst>
              <a:ext uri="{FF2B5EF4-FFF2-40B4-BE49-F238E27FC236}">
                <a16:creationId xmlns:a16="http://schemas.microsoft.com/office/drawing/2014/main" xmlns="" id="{C71EB997-3681-42CE-8D12-DC0BC893643A}"/>
              </a:ext>
            </a:extLst>
          </p:cNvPr>
          <p:cNvSpPr>
            <a:spLocks noChangeArrowheads="1"/>
          </p:cNvSpPr>
          <p:nvPr/>
        </p:nvSpPr>
        <p:spPr bwMode="gray">
          <a:xfrm flipH="1">
            <a:off x="161662" y="57140"/>
            <a:ext cx="1970868"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38" name="Rectangle 37">
            <a:extLst>
              <a:ext uri="{FF2B5EF4-FFF2-40B4-BE49-F238E27FC236}">
                <a16:creationId xmlns:a16="http://schemas.microsoft.com/office/drawing/2014/main" xmlns="" id="{C48087A2-0F0F-40A0-A837-05942D40B928}"/>
              </a:ext>
            </a:extLst>
          </p:cNvPr>
          <p:cNvSpPr/>
          <p:nvPr/>
        </p:nvSpPr>
        <p:spPr>
          <a:xfrm>
            <a:off x="431672" y="189466"/>
            <a:ext cx="1443038" cy="338554"/>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مقالات اخیر</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39" name="Rectangle 38">
            <a:extLst>
              <a:ext uri="{FF2B5EF4-FFF2-40B4-BE49-F238E27FC236}">
                <a16:creationId xmlns:a16="http://schemas.microsoft.com/office/drawing/2014/main" xmlns="" id="{BF9CF44D-C94F-4B09-AF24-15EACD7BE0F4}"/>
              </a:ext>
            </a:extLst>
          </p:cNvPr>
          <p:cNvSpPr/>
          <p:nvPr/>
        </p:nvSpPr>
        <p:spPr>
          <a:xfrm>
            <a:off x="6499957" y="197162"/>
            <a:ext cx="1626786" cy="323165"/>
          </a:xfrm>
          <a:prstGeom prst="rect">
            <a:avLst/>
          </a:prstGeom>
        </p:spPr>
        <p:txBody>
          <a:bodyPr wrap="square">
            <a:spAutoFit/>
          </a:bodyPr>
          <a:lstStyle/>
          <a:p>
            <a:pPr lvl="0" algn="ctr" fontAlgn="base">
              <a:spcBef>
                <a:spcPct val="0"/>
              </a:spcBef>
              <a:spcAft>
                <a:spcPct val="0"/>
              </a:spcAft>
              <a:defRPr/>
            </a:pPr>
            <a:r>
              <a:rPr lang="fa-IR" sz="1500" b="1" kern="0" dirty="0" err="1">
                <a:solidFill>
                  <a:srgbClr val="FFFFFF"/>
                </a:solidFill>
                <a:latin typeface="Times New Roman" panose="02020603050405020304" pitchFamily="18" charset="0"/>
                <a:cs typeface="B Nazanin" pitchFamily="2" charset="-78"/>
              </a:rPr>
              <a:t>باتریها</a:t>
            </a:r>
            <a:endParaRPr lang="en-US" sz="1500" b="1" kern="0" dirty="0">
              <a:solidFill>
                <a:srgbClr val="FFFFFF"/>
              </a:solidFill>
              <a:latin typeface="Times New Roman" panose="02020603050405020304" pitchFamily="18" charset="0"/>
              <a:cs typeface="B Nazanin" pitchFamily="2" charset="-78"/>
            </a:endParaRPr>
          </a:p>
        </p:txBody>
      </p:sp>
      <p:sp>
        <p:nvSpPr>
          <p:cNvPr id="40" name="AutoShape 10">
            <a:extLst>
              <a:ext uri="{FF2B5EF4-FFF2-40B4-BE49-F238E27FC236}">
                <a16:creationId xmlns:a16="http://schemas.microsoft.com/office/drawing/2014/main" xmlns="" id="{50B159E1-0AA0-4C32-86C7-52F5C5E0D242}"/>
              </a:ext>
            </a:extLst>
          </p:cNvPr>
          <p:cNvSpPr>
            <a:spLocks noChangeArrowheads="1"/>
          </p:cNvSpPr>
          <p:nvPr/>
        </p:nvSpPr>
        <p:spPr bwMode="gray">
          <a:xfrm flipH="1">
            <a:off x="2105458" y="54854"/>
            <a:ext cx="2137301" cy="651510"/>
          </a:xfrm>
          <a:prstGeom prst="chevron">
            <a:avLst>
              <a:gd name="adj" fmla="val 17842"/>
            </a:avLst>
          </a:prstGeom>
          <a:gradFill rotWithShape="1">
            <a:gsLst>
              <a:gs pos="0">
                <a:srgbClr val="3659EC">
                  <a:gamma/>
                  <a:shade val="46275"/>
                  <a:invGamma/>
                </a:srgbClr>
              </a:gs>
              <a:gs pos="50000">
                <a:srgbClr val="3659EC"/>
              </a:gs>
              <a:gs pos="100000">
                <a:srgbClr val="3659EC">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1" name="AutoShape 3">
            <a:extLst>
              <a:ext uri="{FF2B5EF4-FFF2-40B4-BE49-F238E27FC236}">
                <a16:creationId xmlns:a16="http://schemas.microsoft.com/office/drawing/2014/main" xmlns="" id="{DBA5C955-0E66-467E-8B5F-EF4EE5F8F3FA}"/>
              </a:ext>
            </a:extLst>
          </p:cNvPr>
          <p:cNvSpPr>
            <a:spLocks noChangeArrowheads="1"/>
          </p:cNvSpPr>
          <p:nvPr/>
        </p:nvSpPr>
        <p:spPr bwMode="gray">
          <a:xfrm flipH="1">
            <a:off x="4215687" y="54854"/>
            <a:ext cx="2056085" cy="651510"/>
          </a:xfrm>
          <a:prstGeom prst="chevron">
            <a:avLst>
              <a:gd name="adj" fmla="val 17009"/>
            </a:avLst>
          </a:prstGeom>
          <a:gradFill rotWithShape="1">
            <a:gsLst>
              <a:gs pos="0">
                <a:srgbClr val="84B09A">
                  <a:gamma/>
                  <a:shade val="46275"/>
                  <a:invGamma/>
                </a:srgbClr>
              </a:gs>
              <a:gs pos="50000">
                <a:srgbClr val="84B09A"/>
              </a:gs>
              <a:gs pos="100000">
                <a:srgbClr val="84B09A">
                  <a:gamma/>
                  <a:shade val="46275"/>
                  <a:invGamma/>
                </a:srgbClr>
              </a:gs>
            </a:gsLst>
            <a:lin ang="2700000" scaled="1"/>
          </a:gra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3D81BF"/>
              </a:solidFill>
              <a:effectLst/>
              <a:uLnTx/>
              <a:uFillTx/>
            </a:endParaRPr>
          </a:p>
        </p:txBody>
      </p:sp>
      <p:sp>
        <p:nvSpPr>
          <p:cNvPr id="42" name="Rectangle 41">
            <a:extLst>
              <a:ext uri="{FF2B5EF4-FFF2-40B4-BE49-F238E27FC236}">
                <a16:creationId xmlns:a16="http://schemas.microsoft.com/office/drawing/2014/main" xmlns="" id="{4DE55AA0-934E-4757-A2D4-1C4E49036DCD}"/>
              </a:ext>
            </a:extLst>
          </p:cNvPr>
          <p:cNvSpPr/>
          <p:nvPr/>
        </p:nvSpPr>
        <p:spPr>
          <a:xfrm>
            <a:off x="2402046" y="64070"/>
            <a:ext cx="1600200"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همسان سازی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3" name="Rectangle 42">
            <a:extLst>
              <a:ext uri="{FF2B5EF4-FFF2-40B4-BE49-F238E27FC236}">
                <a16:creationId xmlns:a16="http://schemas.microsoft.com/office/drawing/2014/main" xmlns="" id="{AC165A2D-60D3-440C-A112-7B419F7E72B2}"/>
              </a:ext>
            </a:extLst>
          </p:cNvPr>
          <p:cNvSpPr/>
          <p:nvPr/>
        </p:nvSpPr>
        <p:spPr>
          <a:xfrm>
            <a:off x="4529582" y="89171"/>
            <a:ext cx="1443038" cy="584775"/>
          </a:xfrm>
          <a:prstGeom prst="rect">
            <a:avLst/>
          </a:prstGeom>
        </p:spPr>
        <p:txBody>
          <a:bodyPr wrap="square">
            <a:spAutoFit/>
          </a:bodyPr>
          <a:lstStyle/>
          <a:p>
            <a:pPr lvl="0" algn="ctr" rtl="1" fontAlgn="base">
              <a:spcBef>
                <a:spcPct val="0"/>
              </a:spcBef>
              <a:spcAft>
                <a:spcPct val="0"/>
              </a:spcAft>
            </a:pPr>
            <a:r>
              <a:rPr lang="fa-IR" sz="1600" b="1" dirty="0">
                <a:solidFill>
                  <a:srgbClr val="FFFFFF"/>
                </a:solidFill>
                <a:latin typeface="Times New Roman" panose="02020603050405020304" pitchFamily="18" charset="0"/>
                <a:cs typeface="B Nazanin" panose="00000400000000000000" pitchFamily="2" charset="-78"/>
              </a:rPr>
              <a:t>سیستم مدیریت باتری</a:t>
            </a:r>
            <a:endParaRPr lang="en-US" sz="1600" b="1" dirty="0">
              <a:solidFill>
                <a:srgbClr val="FFFFFF"/>
              </a:solidFill>
              <a:latin typeface="Times New Roman" panose="02020603050405020304" pitchFamily="18" charset="0"/>
              <a:cs typeface="B Nazanin" panose="00000400000000000000" pitchFamily="2" charset="-78"/>
            </a:endParaRPr>
          </a:p>
        </p:txBody>
      </p:sp>
      <p:sp>
        <p:nvSpPr>
          <p:cNvPr id="44" name="TextBox 43">
            <a:extLst>
              <a:ext uri="{FF2B5EF4-FFF2-40B4-BE49-F238E27FC236}">
                <a16:creationId xmlns:a16="http://schemas.microsoft.com/office/drawing/2014/main" xmlns="" id="{F43469DC-7F5B-471E-BD74-ED709E621F63}"/>
              </a:ext>
            </a:extLst>
          </p:cNvPr>
          <p:cNvSpPr txBox="1"/>
          <p:nvPr/>
        </p:nvSpPr>
        <p:spPr>
          <a:xfrm>
            <a:off x="7055055" y="1726687"/>
            <a:ext cx="1837362" cy="369332"/>
          </a:xfrm>
          <a:prstGeom prst="rect">
            <a:avLst/>
          </a:prstGeom>
          <a:noFill/>
        </p:spPr>
        <p:txBody>
          <a:bodyPr wrap="none" rtlCol="0">
            <a:spAutoFit/>
          </a:bodyPr>
          <a:lstStyle/>
          <a:p>
            <a:pPr algn="r" rtl="1"/>
            <a:r>
              <a:rPr lang="fa-IR" b="1" dirty="0">
                <a:cs typeface="B Nazanin" panose="00000400000000000000" pitchFamily="2" charset="-78"/>
              </a:rPr>
              <a:t>انتقال سلول به سلول</a:t>
            </a:r>
          </a:p>
        </p:txBody>
      </p:sp>
      <p:sp>
        <p:nvSpPr>
          <p:cNvPr id="45" name="Rectangle 44"/>
          <p:cNvSpPr/>
          <p:nvPr/>
        </p:nvSpPr>
        <p:spPr>
          <a:xfrm>
            <a:off x="2414084" y="6188077"/>
            <a:ext cx="4011034" cy="369332"/>
          </a:xfrm>
          <a:prstGeom prst="rect">
            <a:avLst/>
          </a:prstGeom>
        </p:spPr>
        <p:txBody>
          <a:bodyPr wrap="none">
            <a:spAutoFit/>
          </a:bodyPr>
          <a:lstStyle/>
          <a:p>
            <a:pPr algn="ctr" rtl="1" fontAlgn="base">
              <a:spcBef>
                <a:spcPct val="0"/>
              </a:spcBef>
              <a:spcAft>
                <a:spcPct val="0"/>
              </a:spcAft>
            </a:pPr>
            <a:r>
              <a:rPr lang="fa-IR" dirty="0">
                <a:latin typeface="Times New Roman" panose="02020603050405020304" pitchFamily="18" charset="0"/>
                <a:ea typeface="Calibri" panose="020F0502020204030204" pitchFamily="34" charset="0"/>
                <a:cs typeface="B Lotus" panose="00000400000000000000" pitchFamily="2" charset="-78"/>
              </a:rPr>
              <a:t>شکل 7 </a:t>
            </a:r>
            <a:r>
              <a:rPr lang="fa-IR" dirty="0">
                <a:latin typeface="Times New Roman" panose="02020603050405020304" pitchFamily="18" charset="0"/>
                <a:cs typeface="B Lotus" panose="00000400000000000000" pitchFamily="2" charset="-78"/>
              </a:rPr>
              <a:t>شماتیک دیاگرام همسان سازی سلول به سلول.</a:t>
            </a:r>
            <a:endParaRPr lang="en-US" dirty="0">
              <a:latin typeface="Times New Roman" panose="02020603050405020304" pitchFamily="18" charset="0"/>
              <a:cs typeface="B Lotus" panose="00000400000000000000" pitchFamily="2" charset="-78"/>
            </a:endParaRPr>
          </a:p>
        </p:txBody>
      </p:sp>
      <p:sp>
        <p:nvSpPr>
          <p:cNvPr id="17" name="Slide Number Placeholder 3">
            <a:extLst>
              <a:ext uri="{FF2B5EF4-FFF2-40B4-BE49-F238E27FC236}">
                <a16:creationId xmlns:a16="http://schemas.microsoft.com/office/drawing/2014/main" xmlns="" id="{FEFB061F-8AAB-4535-B272-1BA4D5A77191}"/>
              </a:ext>
            </a:extLst>
          </p:cNvPr>
          <p:cNvSpPr txBox="1">
            <a:spLocks/>
          </p:cNvSpPr>
          <p:nvPr/>
        </p:nvSpPr>
        <p:spPr>
          <a:xfrm>
            <a:off x="8965" y="6090313"/>
            <a:ext cx="676835" cy="767687"/>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1"/>
            <a:fld id="{E8ADF199-8047-440E-B02B-E80683B392F2}" type="slidenum">
              <a:rPr lang="fa-IR" sz="1800" smtClean="0">
                <a:solidFill>
                  <a:schemeClr val="tx1"/>
                </a:solidFill>
                <a:cs typeface="B Lotus" panose="00000400000000000000" pitchFamily="2" charset="-78"/>
              </a:rPr>
              <a:pPr rtl="1"/>
              <a:t>91</a:t>
            </a:fld>
            <a:endParaRPr lang="fa-IR" sz="1800" dirty="0">
              <a:solidFill>
                <a:schemeClr val="tx1"/>
              </a:solidFill>
              <a:cs typeface="B Lotus" panose="00000400000000000000" pitchFamily="2" charset="-78"/>
            </a:endParaRPr>
          </a:p>
        </p:txBody>
      </p:sp>
      <p:graphicFrame>
        <p:nvGraphicFramePr>
          <p:cNvPr id="18" name="Table 17"/>
          <p:cNvGraphicFramePr>
            <a:graphicFrameLocks noGrp="1"/>
          </p:cNvGraphicFramePr>
          <p:nvPr>
            <p:extLst/>
          </p:nvPr>
        </p:nvGraphicFramePr>
        <p:xfrm>
          <a:off x="98296" y="1292475"/>
          <a:ext cx="4513526" cy="762000"/>
        </p:xfrm>
        <a:graphic>
          <a:graphicData uri="http://schemas.openxmlformats.org/drawingml/2006/table">
            <a:tbl>
              <a:tblPr rtl="1" firstRow="1" firstCol="1" bandRow="1"/>
              <a:tblGrid>
                <a:gridCol w="1048385">
                  <a:extLst>
                    <a:ext uri="{9D8B030D-6E8A-4147-A177-3AD203B41FA5}">
                      <a16:colId xmlns:a16="http://schemas.microsoft.com/office/drawing/2014/main" xmlns="" val="20001"/>
                    </a:ext>
                  </a:extLst>
                </a:gridCol>
                <a:gridCol w="570548">
                  <a:extLst>
                    <a:ext uri="{9D8B030D-6E8A-4147-A177-3AD203B41FA5}">
                      <a16:colId xmlns:a16="http://schemas.microsoft.com/office/drawing/2014/main" xmlns="" val="20002"/>
                    </a:ext>
                  </a:extLst>
                </a:gridCol>
                <a:gridCol w="618172">
                  <a:extLst>
                    <a:ext uri="{9D8B030D-6E8A-4147-A177-3AD203B41FA5}">
                      <a16:colId xmlns:a16="http://schemas.microsoft.com/office/drawing/2014/main" xmlns="" val="20003"/>
                    </a:ext>
                  </a:extLst>
                </a:gridCol>
                <a:gridCol w="978535">
                  <a:extLst>
                    <a:ext uri="{9D8B030D-6E8A-4147-A177-3AD203B41FA5}">
                      <a16:colId xmlns:a16="http://schemas.microsoft.com/office/drawing/2014/main" xmlns="" val="20004"/>
                    </a:ext>
                  </a:extLst>
                </a:gridCol>
                <a:gridCol w="556260">
                  <a:extLst>
                    <a:ext uri="{9D8B030D-6E8A-4147-A177-3AD203B41FA5}">
                      <a16:colId xmlns:a16="http://schemas.microsoft.com/office/drawing/2014/main" xmlns="" val="20005"/>
                    </a:ext>
                  </a:extLst>
                </a:gridCol>
                <a:gridCol w="741626">
                  <a:extLst>
                    <a:ext uri="{9D8B030D-6E8A-4147-A177-3AD203B41FA5}">
                      <a16:colId xmlns:a16="http://schemas.microsoft.com/office/drawing/2014/main" xmlns="" val="20006"/>
                    </a:ext>
                  </a:extLst>
                </a:gridCol>
              </a:tblGrid>
              <a:tr h="381000">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سادگی</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a:t>
                      </a: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الگوریتم</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راندمان</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err="1">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جانمایی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صرفه اقتصادی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سرعت</a:t>
                      </a:r>
                      <a:endParaRPr lang="en-US" sz="1400" i="0" kern="120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marL="0" marR="0" algn="ctr" defTabSz="914400" rtl="1" eaLnBrk="1" latinLnBrk="0" hangingPunct="1">
                        <a:spcBef>
                          <a:spcPts val="600"/>
                        </a:spcBef>
                        <a:spcAft>
                          <a:spcPts val="600"/>
                        </a:spcAft>
                      </a:pPr>
                      <a:r>
                        <a:rPr lang="fa-IR"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امتیاز</a:t>
                      </a:r>
                      <a:r>
                        <a:rPr lang="fa-IR" sz="1400" i="0" kern="1200" baseline="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rPr>
                        <a:t> نهایی</a:t>
                      </a:r>
                      <a:endParaRPr lang="en-US" sz="1400" i="0" kern="1200" dirty="0">
                        <a:solidFill>
                          <a:schemeClr val="tx1"/>
                        </a:solidFill>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0"/>
                  </a:ext>
                </a:extLst>
              </a:tr>
              <a:tr h="381000">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1/4</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spcBef>
                          <a:spcPts val="600"/>
                        </a:spcBef>
                        <a:spcAft>
                          <a:spcPts val="600"/>
                        </a:spcAft>
                      </a:pPr>
                      <a:r>
                        <a:rPr lang="fa-IR" sz="1400" i="0" dirty="0">
                          <a:effectLst/>
                          <a:latin typeface="Times New Roman" panose="02020603050405020304" pitchFamily="18" charset="0"/>
                          <a:ea typeface="Calibri" panose="020F0502020204030204" pitchFamily="34" charset="0"/>
                          <a:cs typeface="B Lotus" panose="00000400000000000000" pitchFamily="2" charset="-78"/>
                        </a:rPr>
                        <a:t>3/5</a:t>
                      </a:r>
                      <a:endParaRPr lang="en-US" sz="1200" i="1" dirty="0">
                        <a:effectLst/>
                        <a:latin typeface="Times New Roman" panose="02020603050405020304" pitchFamily="18" charset="0"/>
                        <a:ea typeface="Calibri" panose="020F0502020204030204" pitchFamily="34" charset="0"/>
                        <a:cs typeface="B Lotus" panose="00000400000000000000"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19" name="TextBox 18">
            <a:extLst>
              <a:ext uri="{FF2B5EF4-FFF2-40B4-BE49-F238E27FC236}">
                <a16:creationId xmlns:a16="http://schemas.microsoft.com/office/drawing/2014/main" xmlns="" id="{F43469DC-7F5B-471E-BD74-ED709E621F63}"/>
              </a:ext>
            </a:extLst>
          </p:cNvPr>
          <p:cNvSpPr txBox="1"/>
          <p:nvPr/>
        </p:nvSpPr>
        <p:spPr>
          <a:xfrm>
            <a:off x="4608424" y="1326578"/>
            <a:ext cx="1568057" cy="769441"/>
          </a:xfrm>
          <a:prstGeom prst="rect">
            <a:avLst/>
          </a:prstGeom>
          <a:noFill/>
        </p:spPr>
        <p:txBody>
          <a:bodyPr wrap="none" rtlCol="0">
            <a:spAutoFit/>
          </a:bodyPr>
          <a:lstStyle/>
          <a:p>
            <a:pPr algn="r" rtl="1"/>
            <a:r>
              <a:rPr lang="fa-IR" sz="1100" b="1" dirty="0">
                <a:cs typeface="B Nazanin" panose="00000400000000000000" pitchFamily="2" charset="-78"/>
              </a:rPr>
              <a:t>داده ورود جهت ارزیابی:</a:t>
            </a:r>
          </a:p>
          <a:p>
            <a:pPr marL="171450" indent="-171450" algn="r" rtl="1">
              <a:buFont typeface="Arial" panose="020B0604020202020204" pitchFamily="34" charset="0"/>
              <a:buChar char="•"/>
            </a:pPr>
            <a:r>
              <a:rPr lang="fa-IR" sz="1100" dirty="0">
                <a:cs typeface="B Nazanin" panose="00000400000000000000" pitchFamily="2" charset="-78"/>
              </a:rPr>
              <a:t>12 سلول سری 3/1 </a:t>
            </a:r>
            <a:r>
              <a:rPr lang="en-US" sz="1100" dirty="0">
                <a:cs typeface="B Nazanin" panose="00000400000000000000" pitchFamily="2" charset="-78"/>
              </a:rPr>
              <a:t>Ah</a:t>
            </a:r>
            <a:endParaRPr lang="fa-IR" sz="1100" dirty="0">
              <a:cs typeface="B Nazanin" panose="00000400000000000000" pitchFamily="2" charset="-78"/>
            </a:endParaRPr>
          </a:p>
          <a:p>
            <a:pPr marL="171450" indent="-171450" algn="r" rtl="1">
              <a:buFont typeface="Arial" panose="020B0604020202020204" pitchFamily="34" charset="0"/>
              <a:buChar char="•"/>
            </a:pPr>
            <a:r>
              <a:rPr lang="fa-IR" sz="1100" dirty="0">
                <a:cs typeface="B Nazanin" panose="00000400000000000000" pitchFamily="2" charset="-78"/>
              </a:rPr>
              <a:t>جریان همسان سازی 0/5 </a:t>
            </a:r>
            <a:r>
              <a:rPr lang="en-US" sz="1100" dirty="0">
                <a:cs typeface="B Nazanin" panose="00000400000000000000" pitchFamily="2" charset="-78"/>
              </a:rPr>
              <a:t>A</a:t>
            </a:r>
          </a:p>
          <a:p>
            <a:pPr marL="171450" indent="-171450" algn="r" rtl="1">
              <a:buFont typeface="Arial" panose="020B0604020202020204" pitchFamily="34" charset="0"/>
              <a:buChar char="•"/>
            </a:pPr>
            <a:endParaRPr lang="fa-IR" sz="1100" dirty="0">
              <a:cs typeface="B Nazanin" panose="00000400000000000000" pitchFamily="2" charset="-78"/>
            </a:endParaRPr>
          </a:p>
        </p:txBody>
      </p:sp>
    </p:spTree>
    <p:extLst>
      <p:ext uri="{BB962C8B-B14F-4D97-AF65-F5344CB8AC3E}">
        <p14:creationId xmlns:p14="http://schemas.microsoft.com/office/powerpoint/2010/main" val="36463875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57290</TotalTime>
  <Words>5049</Words>
  <Application>Microsoft Office PowerPoint</Application>
  <PresentationFormat>On-screen Show (4:3)</PresentationFormat>
  <Paragraphs>1175</Paragraphs>
  <Slides>91</Slides>
  <Notes>91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91</vt:i4>
      </vt:variant>
    </vt:vector>
  </HeadingPairs>
  <TitlesOfParts>
    <vt:vector size="101" baseType="lpstr">
      <vt:lpstr>Arial</vt:lpstr>
      <vt:lpstr>B Lotus</vt:lpstr>
      <vt:lpstr>B Nasim</vt:lpstr>
      <vt:lpstr>B Nazanin</vt:lpstr>
      <vt:lpstr>Calibri</vt:lpstr>
      <vt:lpstr>Cambria Math</vt:lpstr>
      <vt:lpstr>Corbel</vt:lpstr>
      <vt:lpstr>Times New Roman</vt:lpstr>
      <vt:lpstr>Clarity</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Leila Sharifi</dc:creator>
  <cp:lastModifiedBy>Mahdi</cp:lastModifiedBy>
  <cp:revision>985</cp:revision>
  <cp:lastPrinted>2024-08-16T08:38:49Z</cp:lastPrinted>
  <dcterms:created xsi:type="dcterms:W3CDTF">2016-11-13T13:15:11Z</dcterms:created>
  <dcterms:modified xsi:type="dcterms:W3CDTF">2024-08-23T15:41:49Z</dcterms:modified>
</cp:coreProperties>
</file>